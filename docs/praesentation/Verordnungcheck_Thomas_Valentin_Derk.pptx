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8" r:id="rId39"/>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a:t>
            </a:r>
            <a:endParaRPr lang="en-US" dirty="0"/>
          </a:p>
          <a:p>
            <a:r>
              <a:rPr lang="en-US" dirty="0"/>
              <a:t>Rechts, woraus die Kosten bestehen: Die KI kostet je nach Kanal nur 70 bis 142 € im Jahr, die Plattform 520 €, für alle Kanäle gleich. Der größte Posten ist die Eingabezeit der Rezeption: 218 € beim Scan bis 1.454 € beim Abtippen im Chat.</a:t>
            </a:r>
            <a:endParaRPr lang="en-US" dirty="0"/>
          </a:p>
          <a:p>
            <a:r>
              <a:rPr lang="en-US" dirty="0"/>
              <a:t>Deshalb steht in der Tabelle je Kanal ein eigener Betrag: von 823 € (Scan) bis 2.054 € (Chat).</a:t>
            </a:r>
            <a:endParaRPr lang="en-US" dirty="0"/>
          </a:p>
          <a:p>
            <a:r>
              <a:rPr lang="en-US" dirty="0"/>
              <a:t>Wir haben bewusst nicht den günstigsten Kanal gewählt, sondern das Formular: keine Lesefehler, und die Patientendaten werden ersetzt, bevor das Modell sie sieht. Qualität und Datenschutz gehen vor rund 700 € im Jahr. Foto und Scan sind der nächste Schritt; eine Foto- und Scan-Variante läuft als Prototyp, liest aber Ankreuzfelder noch oft falsch und war nicht in der Testbatterie.</a:t>
            </a:r>
            <a:endParaRPr lang="en-US" dirty="0"/>
          </a:p>
          <a:p>
            <a:r>
              <a:rPr lang="en-US" dirty="0"/>
              <a:t>Fazit Tool-Vergleich: n8n, gpt-4.1-mini, Supabase mit RAG, Formular plus Chat.</a:t>
            </a:r>
            <a:endParaRPr lang="en-US" dirty="0"/>
          </a:p>
          <a:p>
            <a:r>
              <a:rPr lang="en-US" dirty="0"/>
              <a:t>Falls gefragt: Die Eingabezeiten sind Annahmen und werden im Pilot gemessen. Einmalige Einrichtung ist nicht enthalten.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Der Ablauf in fünf Schritten. Die dunklen Kästen sind Code: Fakten berechnen und Ampel bilden. Die hellen nutzen das Sprachmodell.</a:t>
            </a:r>
          </a:p>
          <a:p>
            <a:r>
              <a:t>Der Leitsatz ist kein Dogma, sondern Ergebnis unserer Tests – das zeige ich auf der nächsten Folie.</a:t>
            </a:r>
          </a:p>
          <a:p>
            <a:r>
              <a:t>PII-Reduktion, also Reduktion personenbezogener Daten (Architekturhinweis): Läuft die Eingabe über den Chat, geht der Text zuerst durch das NER-Modell bert-base-multilingual-cased-ner-hrl plus Regeln. Bei der Formular-Eingabe geht es regelbasiert weiter, Feld für Feld. Im Cloud-Prototyp greifen im Chat heute nur die Regeln, das Modell läuft lokal – echte Daten gehören deshalb nur in das Formular.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Die übrigen Entscheidungen jeweils mit Alternative.</a:t>
            </a:r>
          </a:p>
          <a:p>
            <a:r>
              <a:t>Hervorheben: Patientendaten ersetzen wir, bevor das Modell sie sieht – das ist auch der Übergang zur Governance.</a:t>
            </a:r>
          </a:p>
          <a:p>
            <a:r>
              <a:t>Und: Der Mensch entscheidet. Das ist nicht nur fachlich richtig, sondern auch für die rechtliche Einordnung wichtig.</a:t>
            </a:r>
          </a:p>
          <a:p>
            <a:r>
              <a:t>Zur PII-Reduktion: Chat über NER-Modell (bert-base-multilingual-cased-ner-hrl) plus Regeln, Formular rein regelbasiert (Folie 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1,5 min (IHK: rechtliche Rahmenbedingungen).</a:t>
            </a:r>
          </a:p>
          <a:p>
            <a:r>
              <a:t>Verordnungen sind Gesundheitsdaten nach Art. 9 DSGVO.</a:t>
            </a:r>
          </a:p>
          <a:p>
            <a:r>
              <a:t>Im Prototyp verarbeiten wir nur synthetische Daten – damit fallen keine personenbezogenen Daten an.</a:t>
            </a:r>
          </a:p>
          <a:p>
            <a:r>
              <a:t>Für den Echtbetrieb ist die Rechtsgrundlage Art. 9 Abs. 2 lit. h mit § 22 BDSG – die gleiche Grundlage, auf der die Praxis heute schon Verordnungen verarbeitet.</a:t>
            </a:r>
          </a:p>
          <a:p>
            <a:r>
              <a:t>Zusätzlich zum Datenschutz gilt das Berufsgeheimnis nach § 203 StGB: Unsere Dienstleister sind mitwirkende Personen und müssen zur Verschwiegenheit verpflichtet werden.</a:t>
            </a:r>
          </a:p>
          <a:p>
            <a:r>
              <a:t>Offen vor Echtbetrieb: Datenschutz-Folgenabschätzung, OpenAI mit EU-Datenresidenz oder Data Privacy Framework.</a:t>
            </a:r>
          </a:p>
          <a:p>
            <a:r>
              <a:t>Übergabe an Derk: Wie gut funktioniert das heute?</a:t>
            </a:r>
          </a:p>
          <a:p>
            <a:r>
              <a:t>Datenminimierung technisch: Im Chat erkennt das NER-Modell Namen auch ohne Rollenwort, ergänzt um Regeln; im Formular ersetzen Regeln die Felder deterministisch. In der Cloud läuft im Chat bisher nur der Regelteil (Folie 16).</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Cloud-Workflow („Verordnungcheck_gemerged“) über das Formular. Ablauf: Formular ausfüllen, absenden, Ergebnis zeigen, kurz das Protokoll in Supabase.
Zwei Fälle: ein grüner und ein roter. Beim roten den Korrekturhinweis und die Fundstelle vorlesen.
Vorher: Workflow nur mit aktiver Anmeldung freischalten, Testlauf am Morgen. Backup-Video vorher im Tab öffnen, Screenshots als zweiten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Cloud-Workflow; Merge-Workflow und v4 bleiben als lauffähiger Rückfall.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Die Ergebnisse der formalen Evaluation vom 27.10. stehen auf der vorigen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96,6 % richtige Ampeln (Ziel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DERK · ca. 1 min (IHK: Einsatzplanung, Prototyp als Anwendungsbeispiel).</a:t>
            </a:r>
          </a:p>
          <a:p>
            <a:r>
              <a:t>Das ist der Workflow so, wie er in der n8n Cloud läuft. Von links: Eingang über Formular oder Chat, dann rechnet der Code die Fakten.</a:t>
            </a:r>
          </a:p>
          <a:p>
            <a:r>
              <a:t>In der Mitte die vier Prüfer, rechts die Ampel, das Protokoll in Supabase und die Antwort an das Formular.</a:t>
            </a:r>
          </a:p>
          <a:p>
            <a:r>
              <a:t>Merkpunkt: Was sich als Regel aufschreiben lässt, rechnet der Code. Das Sprachmodell formuliert und sucht im Regelwerk.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Stand 28.10.2026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Stand 28.10.2026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1.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Stand 28.10.2026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txBody>
          <a:bodyPr/>
          <a:p/>
        </p:txBody>
      </p:sp>
      <p:sp>
        <p:nvSpPr>
          <p:cNvPr id="7" name="Kopf Thomas"/>
          <p:cNvSpPr/>
          <p:nvPr/>
        </p:nvSpPr>
        <p:spPr>
          <a:xfrm>
            <a:off x="548640" y="1325880"/>
            <a:ext cx="3566160" cy="868680"/>
          </a:xfrm>
          <a:prstGeom prst="roundRect">
            <a:avLst>
              <a:gd name="adj" fmla="val 8421"/>
            </a:avLst>
          </a:prstGeom>
          <a:solidFill>
            <a:schemeClr val="tx2"/>
          </a:solidFill>
          <a:ln/>
        </p:spPr>
        <p:txBody>
          <a:bodyPr/>
          <a:p/>
        </p:txBody>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IHK-Kriterien: Ist/Soll · Einsatzfelder · Roter Faden</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txBody>
          <a:bodyPr/>
          <a:p/>
        </p:txBody>
      </p:sp>
      <p:sp>
        <p:nvSpPr>
          <p:cNvPr id="15" name="Kopf Valentin"/>
          <p:cNvSpPr/>
          <p:nvPr/>
        </p:nvSpPr>
        <p:spPr>
          <a:xfrm>
            <a:off x="4297680" y="1325880"/>
            <a:ext cx="3566160" cy="868680"/>
          </a:xfrm>
          <a:prstGeom prst="roundRect">
            <a:avLst>
              <a:gd name="adj" fmla="val 8421"/>
            </a:avLst>
          </a:prstGeom>
          <a:solidFill>
            <a:schemeClr val="accent1"/>
          </a:solidFill>
          <a:ln/>
        </p:spPr>
        <p:txBody>
          <a:bodyPr/>
          <a:p/>
        </p:txBody>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IHK-Kriterien: Tool-Vergleich · Tool-Auswahl</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txBody>
          <a:bodyPr/>
          <a:p/>
        </p:txBody>
      </p:sp>
      <p:sp>
        <p:nvSpPr>
          <p:cNvPr id="23" name="Kopf Derk"/>
          <p:cNvSpPr/>
          <p:nvPr/>
        </p:nvSpPr>
        <p:spPr>
          <a:xfrm>
            <a:off x="8046720" y="1325880"/>
            <a:ext cx="3566160" cy="868680"/>
          </a:xfrm>
          <a:prstGeom prst="roundRect">
            <a:avLst>
              <a:gd name="adj" fmla="val 8421"/>
            </a:avLst>
          </a:prstGeom>
          <a:solidFill>
            <a:schemeClr val="accent3"/>
          </a:solidFill>
          <a:ln/>
        </p:spPr>
        <p:txBody>
          <a:bodyPr/>
          <a:p/>
        </p:txBody>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10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IHK-Kriterien: Einsatzplanung · Erfolgsmessung</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30 min · Orthografie und Schreibstil verantworten wir gemeinsam im Vier-Augen-Prinzip</a:t>
            </a:r>
            <a:endParaRPr lang="en-US" sz="13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txBody>
          <a:bodyPr/>
          <a:p/>
        </p:txBody>
      </p:sp>
      <p:sp>
        <p:nvSpPr>
          <p:cNvPr id="7" name="Symbolkreis"/>
          <p:cNvSpPr/>
          <p:nvPr/>
        </p:nvSpPr>
        <p:spPr>
          <a:xfrm>
            <a:off x="731520" y="1527048"/>
            <a:ext cx="530352" cy="530352"/>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txBody>
          <a:bodyPr/>
          <a:p/>
        </p:txBody>
      </p:sp>
      <p:sp>
        <p:nvSpPr>
          <p:cNvPr id="12" name="Symbolkreis"/>
          <p:cNvSpPr/>
          <p:nvPr/>
        </p:nvSpPr>
        <p:spPr>
          <a:xfrm>
            <a:off x="4206240" y="1527048"/>
            <a:ext cx="530352" cy="530352"/>
          </a:xfrm>
          <a:prstGeom prst="ellipse">
            <a:avLst/>
          </a:prstGeom>
          <a:solidFill>
            <a:schemeClr val="accent1"/>
          </a:solidFill>
          <a:ln/>
        </p:spPr>
        <p:txBody>
          <a:bodyPr/>
          <a:p/>
        </p:txBody>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txBody>
          <a:bodyPr/>
          <a:p/>
        </p:txBody>
      </p:sp>
      <p:sp>
        <p:nvSpPr>
          <p:cNvPr id="17" name="Symbolkreis"/>
          <p:cNvSpPr/>
          <p:nvPr/>
        </p:nvSpPr>
        <p:spPr>
          <a:xfrm>
            <a:off x="731520" y="3008376"/>
            <a:ext cx="530352" cy="530352"/>
          </a:xfrm>
          <a:prstGeom prst="ellipse">
            <a:avLst/>
          </a:prstGeom>
          <a:solidFill>
            <a:schemeClr val="accent1"/>
          </a:solidFill>
          <a:ln/>
        </p:spPr>
        <p:txBody>
          <a:bodyPr/>
          <a:p/>
        </p:txBody>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1,9 %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txBody>
          <a:bodyPr/>
          <a:p/>
        </p:txBody>
      </p:sp>
      <p:sp>
        <p:nvSpPr>
          <p:cNvPr id="22" name="Symbolkreis"/>
          <p:cNvSpPr/>
          <p:nvPr/>
        </p:nvSpPr>
        <p:spPr>
          <a:xfrm>
            <a:off x="4206240" y="3008376"/>
            <a:ext cx="530352" cy="530352"/>
          </a:xfrm>
          <a:prstGeom prst="ellipse">
            <a:avLst/>
          </a:prstGeom>
          <a:solidFill>
            <a:schemeClr val="accent1"/>
          </a:solidFill>
          <a:ln/>
        </p:spPr>
        <p:txBody>
          <a:bodyPr/>
          <a:p/>
        </p:txBody>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txBody>
          <a:bodyPr/>
          <a:p/>
        </p:txBody>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3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txBody>
          <a:bodyPr/>
          <a:p/>
        </p:txBody>
      </p:sp>
      <p:sp>
        <p:nvSpPr>
          <p:cNvPr id="13" name="Symbolkreis"/>
          <p:cNvSpPr/>
          <p:nvPr/>
        </p:nvSpPr>
        <p:spPr>
          <a:xfrm>
            <a:off x="7955280" y="1508760"/>
            <a:ext cx="530352" cy="530352"/>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txBody>
          <a:bodyPr/>
          <a:p/>
        </p:txBody>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txBody>
          <a:bodyPr/>
          <a:p/>
        </p:txBody>
      </p:sp>
      <p:sp>
        <p:nvSpPr>
          <p:cNvPr id="7" name="Symbolkreis"/>
          <p:cNvSpPr/>
          <p:nvPr/>
        </p:nvSpPr>
        <p:spPr>
          <a:xfrm>
            <a:off x="1225296" y="1481328"/>
            <a:ext cx="658368" cy="658368"/>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txBody>
          <a:bodyPr/>
          <a:p/>
        </p:txBody>
      </p:sp>
      <p:sp>
        <p:nvSpPr>
          <p:cNvPr id="13" name="Prozessschritt"/>
          <p:cNvSpPr/>
          <p:nvPr/>
        </p:nvSpPr>
        <p:spPr>
          <a:xfrm>
            <a:off x="2811780" y="1325880"/>
            <a:ext cx="2011680" cy="2011680"/>
          </a:xfrm>
          <a:prstGeom prst="roundRect">
            <a:avLst>
              <a:gd name="adj" fmla="val 3636"/>
            </a:avLst>
          </a:prstGeom>
          <a:solidFill>
            <a:schemeClr val="bg2"/>
          </a:solidFill>
          <a:ln/>
        </p:spPr>
        <p:txBody>
          <a:bodyPr/>
          <a:p/>
        </p:txBody>
      </p:sp>
      <p:sp>
        <p:nvSpPr>
          <p:cNvPr id="14" name="Symbolkreis"/>
          <p:cNvSpPr/>
          <p:nvPr/>
        </p:nvSpPr>
        <p:spPr>
          <a:xfrm>
            <a:off x="3488436" y="1481328"/>
            <a:ext cx="658368" cy="658368"/>
          </a:xfrm>
          <a:prstGeom prst="ellipse">
            <a:avLst/>
          </a:prstGeom>
          <a:solidFill>
            <a:schemeClr val="accent5"/>
          </a:solidFill>
          <a:ln/>
        </p:spPr>
        <p:txBody>
          <a:bodyPr/>
          <a:p/>
        </p:txBody>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txBody>
          <a:bodyPr/>
          <a:p/>
        </p:txBody>
      </p:sp>
      <p:sp>
        <p:nvSpPr>
          <p:cNvPr id="19" name="Prozessschritt"/>
          <p:cNvSpPr/>
          <p:nvPr/>
        </p:nvSpPr>
        <p:spPr>
          <a:xfrm>
            <a:off x="5074920" y="1325880"/>
            <a:ext cx="2011680" cy="2011680"/>
          </a:xfrm>
          <a:prstGeom prst="roundRect">
            <a:avLst>
              <a:gd name="adj" fmla="val 3636"/>
            </a:avLst>
          </a:prstGeom>
          <a:solidFill>
            <a:schemeClr val="bg2"/>
          </a:solidFill>
          <a:ln/>
        </p:spPr>
        <p:txBody>
          <a:bodyPr/>
          <a:p/>
        </p:txBody>
      </p:sp>
      <p:sp>
        <p:nvSpPr>
          <p:cNvPr id="20" name="Symbolkreis"/>
          <p:cNvSpPr/>
          <p:nvPr/>
        </p:nvSpPr>
        <p:spPr>
          <a:xfrm>
            <a:off x="5751576" y="1481328"/>
            <a:ext cx="658368" cy="658368"/>
          </a:xfrm>
          <a:prstGeom prst="ellipse">
            <a:avLst/>
          </a:prstGeom>
          <a:solidFill>
            <a:schemeClr val="accent1"/>
          </a:solidFill>
          <a:ln/>
        </p:spPr>
        <p:txBody>
          <a:bodyPr/>
          <a:p/>
        </p:txBody>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txBody>
          <a:bodyPr/>
          <a:p/>
        </p:txBody>
      </p:sp>
      <p:sp>
        <p:nvSpPr>
          <p:cNvPr id="26" name="Prozessschritt"/>
          <p:cNvSpPr/>
          <p:nvPr/>
        </p:nvSpPr>
        <p:spPr>
          <a:xfrm>
            <a:off x="7338060" y="1325880"/>
            <a:ext cx="2011680" cy="2011680"/>
          </a:xfrm>
          <a:prstGeom prst="roundRect">
            <a:avLst>
              <a:gd name="adj" fmla="val 3636"/>
            </a:avLst>
          </a:prstGeom>
          <a:solidFill>
            <a:schemeClr val="bg2"/>
          </a:solidFill>
          <a:ln/>
        </p:spPr>
        <p:txBody>
          <a:bodyPr/>
          <a:p/>
        </p:txBody>
      </p:sp>
      <p:sp>
        <p:nvSpPr>
          <p:cNvPr id="27" name="Symbolkreis"/>
          <p:cNvSpPr/>
          <p:nvPr/>
        </p:nvSpPr>
        <p:spPr>
          <a:xfrm>
            <a:off x="8014716" y="1481328"/>
            <a:ext cx="658368" cy="658368"/>
          </a:xfrm>
          <a:prstGeom prst="ellipse">
            <a:avLst/>
          </a:prstGeom>
          <a:solidFill>
            <a:schemeClr val="accent5"/>
          </a:solidFill>
          <a:ln/>
        </p:spPr>
        <p:txBody>
          <a:bodyPr/>
          <a:p/>
        </p:txBody>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1,9 %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txBody>
          <a:bodyPr/>
          <a:p/>
        </p:txBody>
      </p:sp>
      <p:sp>
        <p:nvSpPr>
          <p:cNvPr id="33" name="Prozessschritt"/>
          <p:cNvSpPr/>
          <p:nvPr/>
        </p:nvSpPr>
        <p:spPr>
          <a:xfrm>
            <a:off x="9601200" y="1325880"/>
            <a:ext cx="2011680" cy="2011680"/>
          </a:xfrm>
          <a:prstGeom prst="roundRect">
            <a:avLst>
              <a:gd name="adj" fmla="val 3636"/>
            </a:avLst>
          </a:prstGeom>
          <a:solidFill>
            <a:schemeClr val="bg2"/>
          </a:solidFill>
          <a:ln/>
        </p:spPr>
        <p:txBody>
          <a:bodyPr/>
          <a:p/>
        </p:txBody>
      </p:sp>
      <p:sp>
        <p:nvSpPr>
          <p:cNvPr id="34" name="Symbolkreis"/>
          <p:cNvSpPr/>
          <p:nvPr/>
        </p:nvSpPr>
        <p:spPr>
          <a:xfrm>
            <a:off x="10277856" y="1481328"/>
            <a:ext cx="658368" cy="658368"/>
          </a:xfrm>
          <a:prstGeom prst="ellipse">
            <a:avLst/>
          </a:prstGeom>
          <a:solidFill>
            <a:schemeClr val="accent5"/>
          </a:solidFill>
          <a:ln/>
        </p:spPr>
        <p:txBody>
          <a:bodyPr/>
          <a:p/>
        </p:txBody>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txBody>
          <a:bodyPr/>
          <a:p/>
        </p:txBody>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txBody>
          <a:bodyPr/>
          <a:p/>
        </p:txBody>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txBody>
          <a:bodyPr/>
          <a:p/>
        </p:txBody>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49"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Matrix"/>
          <p:cNvSpPr/>
          <p:nvPr/>
        </p:nvSpPr>
        <p:spPr>
          <a:xfrm>
            <a:off x="1965960" y="1325880"/>
            <a:ext cx="5074920" cy="3611880"/>
          </a:xfrm>
          <a:prstGeom prst="roundRect">
            <a:avLst>
              <a:gd name="adj" fmla="val 2025"/>
            </a:avLst>
          </a:prstGeom>
          <a:solidFill>
            <a:schemeClr val="bg2"/>
          </a:solidFill>
          <a:ln/>
        </p:spPr>
        <p:txBody>
          <a:bodyPr/>
          <a:p/>
        </p:txBody>
      </p:sp>
      <p:sp>
        <p:nvSpPr>
          <p:cNvPr id="9" name="Hilfslinie"/>
          <p:cNvSpPr/>
          <p:nvPr/>
        </p:nvSpPr>
        <p:spPr>
          <a:xfrm>
            <a:off x="4503420" y="1463040"/>
            <a:ext cx="0" cy="3337560"/>
          </a:xfrm>
          <a:prstGeom prst="line">
            <a:avLst/>
          </a:prstGeom>
          <a:noFill/>
          <a:ln w="12700">
            <a:solidFill>
              <a:srgbClr val="C9D6D3"/>
            </a:solidFill>
            <a:prstDash val="dash"/>
          </a:ln>
        </p:spPr>
        <p:txBody>
          <a:bodyPr/>
          <a:p/>
        </p:txBody>
      </p:sp>
      <p:sp>
        <p:nvSpPr>
          <p:cNvPr id="10" name="Hilfslinie"/>
          <p:cNvSpPr/>
          <p:nvPr/>
        </p:nvSpPr>
        <p:spPr>
          <a:xfrm>
            <a:off x="2103120" y="3131820"/>
            <a:ext cx="4800600" cy="0"/>
          </a:xfrm>
          <a:prstGeom prst="line">
            <a:avLst/>
          </a:prstGeom>
          <a:noFill/>
          <a:ln w="12700">
            <a:solidFill>
              <a:srgbClr val="C9D6D3"/>
            </a:solidFill>
            <a:prstDash val="dash"/>
          </a:ln>
        </p:spPr>
        <p:txBody>
          <a:bodyPr/>
          <a:p/>
        </p:txBody>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txBody>
          <a:bodyPr/>
          <a:p/>
        </p:txBody>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txBody>
          <a:bodyPr/>
          <a:p/>
        </p:txBody>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txBody>
          <a:bodyPr/>
          <a:p/>
        </p:txBody>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txBody>
          <a:bodyPr/>
          <a:p/>
        </p:txBody>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txBody>
          <a:bodyPr/>
          <a:p/>
        </p:txBody>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txBody>
          <a:bodyPr/>
          <a:p/>
        </p:txBody>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txBody>
          <a:bodyPr/>
          <a:p/>
        </p:txBody>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txBody>
          <a:bodyPr/>
          <a:p/>
        </p:txBody>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txBody>
          <a:bodyPr/>
          <a:p/>
        </p:txBody>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txBody>
          <a:bodyPr/>
          <a:p/>
        </p:txBody>
      </p:sp>
      <p:sp>
        <p:nvSpPr>
          <p:cNvPr id="36" name="Symbolkreis"/>
          <p:cNvSpPr/>
          <p:nvPr/>
        </p:nvSpPr>
        <p:spPr>
          <a:xfrm>
            <a:off x="7589520" y="1508760"/>
            <a:ext cx="548640" cy="548640"/>
          </a:xfrm>
          <a:prstGeom prst="ellipse">
            <a:avLst/>
          </a:prstGeom>
          <a:solidFill>
            <a:schemeClr val="accent2"/>
          </a:solidFill>
          <a:ln/>
        </p:spPr>
        <p:txBody>
          <a:bodyPr/>
          <a:p/>
        </p:txBody>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txBody>
          <a:bodyPr/>
          <a:p/>
        </p:txBody>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4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txBody>
          <a:bodyPr/>
          <a:p/>
        </p:txBody>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txBody>
          <a:bodyPr/>
          <a:p/>
        </p:txBody>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txBody>
          <a:bodyPr/>
          <a:p/>
        </p:txBody>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txBody>
          <a:bodyPr/>
          <a:p/>
        </p:txBody>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txBody>
          <a:bodyPr/>
          <a:p/>
        </p:txBody>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txBody>
          <a:bodyPr/>
          <a:p/>
        </p:txBody>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txBody>
          <a:bodyPr/>
          <a:p/>
        </p:txBody>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txBody>
          <a:bodyPr/>
          <a:p/>
        </p:txBody>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txBody>
          <a:bodyPr/>
          <a:p/>
        </p:txBody>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26"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txBody>
          <a:bodyPr/>
          <a:p/>
        </p:txBody>
      </p:sp>
      <p:sp>
        <p:nvSpPr>
          <p:cNvPr id="7" name="Symbolkreis"/>
          <p:cNvSpPr/>
          <p:nvPr/>
        </p:nvSpPr>
        <p:spPr>
          <a:xfrm>
            <a:off x="731520" y="1463040"/>
            <a:ext cx="502920" cy="50292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txBody>
          <a:bodyPr/>
          <a:p/>
        </p:txBody>
      </p:sp>
      <p:sp>
        <p:nvSpPr>
          <p:cNvPr id="12" name="Schritt"/>
          <p:cNvSpPr/>
          <p:nvPr/>
        </p:nvSpPr>
        <p:spPr>
          <a:xfrm>
            <a:off x="2811780" y="1325880"/>
            <a:ext cx="2011680" cy="1600200"/>
          </a:xfrm>
          <a:prstGeom prst="roundRect">
            <a:avLst>
              <a:gd name="adj" fmla="val 4571"/>
            </a:avLst>
          </a:prstGeom>
          <a:solidFill>
            <a:schemeClr val="bg2"/>
          </a:solidFill>
          <a:ln/>
        </p:spPr>
        <p:txBody>
          <a:bodyPr/>
          <a:p/>
        </p:txBody>
      </p:sp>
      <p:sp>
        <p:nvSpPr>
          <p:cNvPr id="13" name="Symbolkreis"/>
          <p:cNvSpPr/>
          <p:nvPr/>
        </p:nvSpPr>
        <p:spPr>
          <a:xfrm>
            <a:off x="2994660" y="1463040"/>
            <a:ext cx="502920" cy="50292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txBody>
          <a:bodyPr/>
          <a:p/>
        </p:txBody>
      </p:sp>
      <p:sp>
        <p:nvSpPr>
          <p:cNvPr id="18" name="Schritt"/>
          <p:cNvSpPr/>
          <p:nvPr/>
        </p:nvSpPr>
        <p:spPr>
          <a:xfrm>
            <a:off x="5074920" y="1325880"/>
            <a:ext cx="2011680" cy="1600200"/>
          </a:xfrm>
          <a:prstGeom prst="roundRect">
            <a:avLst>
              <a:gd name="adj" fmla="val 4571"/>
            </a:avLst>
          </a:prstGeom>
          <a:solidFill>
            <a:schemeClr val="bg2"/>
          </a:solidFill>
          <a:ln/>
        </p:spPr>
        <p:txBody>
          <a:bodyPr/>
          <a:p/>
        </p:txBody>
      </p:sp>
      <p:sp>
        <p:nvSpPr>
          <p:cNvPr id="19" name="Symbolkreis"/>
          <p:cNvSpPr/>
          <p:nvPr/>
        </p:nvSpPr>
        <p:spPr>
          <a:xfrm>
            <a:off x="5257800" y="1463040"/>
            <a:ext cx="502920" cy="50292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txBody>
          <a:bodyPr/>
          <a:p/>
        </p:txBody>
      </p:sp>
      <p:sp>
        <p:nvSpPr>
          <p:cNvPr id="24" name="Schritt"/>
          <p:cNvSpPr/>
          <p:nvPr/>
        </p:nvSpPr>
        <p:spPr>
          <a:xfrm>
            <a:off x="7338060" y="1325880"/>
            <a:ext cx="2011680" cy="1600200"/>
          </a:xfrm>
          <a:prstGeom prst="roundRect">
            <a:avLst>
              <a:gd name="adj" fmla="val 4571"/>
            </a:avLst>
          </a:prstGeom>
          <a:solidFill>
            <a:schemeClr val="bg2"/>
          </a:solidFill>
          <a:ln/>
        </p:spPr>
        <p:txBody>
          <a:bodyPr/>
          <a:p/>
        </p:txBody>
      </p:sp>
      <p:sp>
        <p:nvSpPr>
          <p:cNvPr id="25" name="Symbolkreis"/>
          <p:cNvSpPr/>
          <p:nvPr/>
        </p:nvSpPr>
        <p:spPr>
          <a:xfrm>
            <a:off x="7520940" y="1463040"/>
            <a:ext cx="502920" cy="50292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txBody>
          <a:bodyPr/>
          <a:p/>
        </p:txBody>
      </p:sp>
      <p:sp>
        <p:nvSpPr>
          <p:cNvPr id="30" name="Schritt"/>
          <p:cNvSpPr/>
          <p:nvPr/>
        </p:nvSpPr>
        <p:spPr>
          <a:xfrm>
            <a:off x="9601200" y="1325880"/>
            <a:ext cx="2011680" cy="1600200"/>
          </a:xfrm>
          <a:prstGeom prst="roundRect">
            <a:avLst>
              <a:gd name="adj" fmla="val 4571"/>
            </a:avLst>
          </a:prstGeom>
          <a:solidFill>
            <a:schemeClr val="bg2"/>
          </a:solidFill>
          <a:ln/>
        </p:spPr>
        <p:txBody>
          <a:bodyPr/>
          <a:p/>
        </p:txBody>
      </p:sp>
      <p:sp>
        <p:nvSpPr>
          <p:cNvPr id="31" name="Symbolkreis"/>
          <p:cNvSpPr/>
          <p:nvPr/>
        </p:nvSpPr>
        <p:spPr>
          <a:xfrm>
            <a:off x="9784080" y="1463040"/>
            <a:ext cx="502920" cy="502920"/>
          </a:xfrm>
          <a:prstGeom prst="ellipse">
            <a:avLst/>
          </a:prstGeom>
          <a:solidFill>
            <a:schemeClr val="accent1"/>
          </a:solidFill>
          <a:ln/>
        </p:spPr>
        <p:txBody>
          <a:bodyPr/>
          <a:p/>
        </p:txBody>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36"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 Cent und ca. 34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txBody>
          <a:bodyPr/>
          <a:p/>
        </p:txBody>
      </p:sp>
      <p:sp>
        <p:nvSpPr>
          <p:cNvPr id="8" name="Symbolkreis"/>
          <p:cNvSpPr/>
          <p:nvPr/>
        </p:nvSpPr>
        <p:spPr>
          <a:xfrm>
            <a:off x="8823960" y="1508760"/>
            <a:ext cx="548640" cy="548640"/>
          </a:xfrm>
          <a:prstGeom prst="ellipse">
            <a:avLst/>
          </a:prstGeom>
          <a:solidFill>
            <a:schemeClr val="accent2"/>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rund 57.000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txBody>
          <a:bodyPr/>
          <a:p/>
        </p:txBody>
      </p:sp>
      <p:sp>
        <p:nvSpPr>
          <p:cNvPr id="8" name="Symbolkreis"/>
          <p:cNvSpPr/>
          <p:nvPr/>
        </p:nvSpPr>
        <p:spPr>
          <a:xfrm>
            <a:off x="8823960" y="1508760"/>
            <a:ext cx="548640" cy="548640"/>
          </a:xfrm>
          <a:prstGeom prst="ellipse">
            <a:avLst/>
          </a:prstGeom>
          <a:solidFill>
            <a:schemeClr val="accent1"/>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txBody>
          <a:bodyPr/>
          <a:p/>
        </p:txBody>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txBody>
          <a:bodyPr/>
          <a:p/>
        </p:txBody>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txBody>
          <a:bodyPr/>
          <a:p/>
        </p:txBody>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8"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400" b="1" dirty="0">
                <a:solidFill>
                  <a:schemeClr val="tx2"/>
                </a:solidFill>
                <a:latin typeface="Cambria" pitchFamily="34" charset="0"/>
                <a:ea typeface="Cambria" pitchFamily="34" charset="-122"/>
                <a:cs typeface="Cambria" pitchFamily="34" charset="-120"/>
              </a:rPr>
              <a:t>Eingabekanal und Gesamtkosten (Total Cost of Ownership –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3154680"/>
        </p:xfrm>
        <a:graphic>
          <a:graphicData uri="http://schemas.openxmlformats.org/drawingml/2006/table">
            <a:tbl>
              <a:tblPr/>
              <a:tblGrid>
                <a:gridCol w="2011680"/>
                <a:gridCol w="1280160"/>
                <a:gridCol w="3108960"/>
                <a:gridCol w="1463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lgn="r">
                        <a:buNone/>
                      </a:pPr>
                      <a:r>
                        <a:rPr lang="en-US" sz="1300" b="1" dirty="0">
                          <a:solidFill>
                            <a:srgbClr val="FFFFFF"/>
                          </a:solidFill>
                          <a:latin typeface="Calibri" pitchFamily="34" charset="0"/>
                          <a:ea typeface="Calibri" pitchFamily="34" charset="-122"/>
                          <a:cs typeface="Calibri" pitchFamily="34" charset="-120"/>
                        </a:rPr>
                        <a:t>Kosten pro Jahr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486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keine Lesefehler; Patientendaten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lgn="r">
                        <a:buNone/>
                      </a:pPr>
                      <a:r>
                        <a:rPr lang="en-US" sz="1500" dirty="0" b="1">
                          <a:solidFill>
                            <a:srgbClr val="2A9D8F"/>
                          </a:solidFill>
                          <a:latin typeface="Calibri" pitchFamily="34" charset="0"/>
                          <a:ea typeface="Calibri" pitchFamily="34" charset="-122"/>
                          <a:cs typeface="Calibri" pitchFamily="34" charset="-120"/>
                        </a:rPr>
                        <a:t>1.680 €</a:t>
                      </a:r>
                      <a:endParaRPr lang="en-US" sz="1300" dirty="0">
                        <a:latin typeface="Calibri" charset="0"/>
                        <a:ea typeface="Calibri" charset="0"/>
                        <a:cs typeface="Calibri" charset="0"/>
                      </a:endParaRPr>
                    </a:p>
                    <a:p>
                      <a:pPr indent="0" marL="0" algn="r">
                        <a:buNone/>
                      </a:pPr>
                      <a:r>
                        <a:rPr lang="en-US" sz="1000" dirty="0" b="0">
                          <a:solidFill>
                            <a:srgbClr val="1B2B30"/>
                          </a:solidFill>
                          <a:latin typeface="Calibri" pitchFamily="34" charset="0"/>
                          <a:ea typeface="Calibri" pitchFamily="34" charset="-122"/>
                          <a:cs typeface="Calibri" pitchFamily="34" charset="-120"/>
                        </a:rPr>
                        <a:t>Eingabe 1,5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486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lgn="r">
                        <a:buNone/>
                      </a:pPr>
                      <a:r>
                        <a:rPr lang="en-US" sz="1500" dirty="0" b="1">
                          <a:solidFill>
                            <a:srgbClr val="1B2B30"/>
                          </a:solidFill>
                          <a:latin typeface="Calibri" pitchFamily="34" charset="0"/>
                          <a:ea typeface="Calibri" pitchFamily="34" charset="-122"/>
                          <a:cs typeface="Calibri" pitchFamily="34" charset="-120"/>
                        </a:rPr>
                        <a:t>2.054 €</a:t>
                      </a:r>
                      <a:endParaRPr lang="en-US" sz="1300" dirty="0">
                        <a:latin typeface="Calibri" charset="0"/>
                        <a:ea typeface="Calibri" charset="0"/>
                        <a:cs typeface="Calibri" charset="0"/>
                      </a:endParaRPr>
                    </a:p>
                    <a:p>
                      <a:pPr indent="0" marL="0" algn="r">
                        <a:buNone/>
                      </a:pPr>
                      <a:r>
                        <a:rPr lang="en-US" sz="1000" dirty="0" b="0">
                          <a:solidFill>
                            <a:srgbClr val="1B2B30"/>
                          </a:solidFill>
                          <a:latin typeface="Calibri" pitchFamily="34" charset="0"/>
                          <a:ea typeface="Calibri" pitchFamily="34" charset="-122"/>
                          <a:cs typeface="Calibri" pitchFamily="34" charset="-120"/>
                        </a:rPr>
                        <a:t>Eingabe 2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Prototyp</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Schnellste Eingabe, aber im Test Ankreuzfelder oft falsch gelesen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lgn="r">
                        <a:buNone/>
                      </a:pPr>
                      <a:r>
                        <a:rPr lang="en-US" sz="1500" dirty="0" b="1">
                          <a:solidFill>
                            <a:srgbClr val="1B2B30"/>
                          </a:solidFill>
                          <a:latin typeface="Calibri" pitchFamily="34" charset="0"/>
                          <a:ea typeface="Calibri" pitchFamily="34" charset="-122"/>
                          <a:cs typeface="Calibri" pitchFamily="34" charset="-120"/>
                        </a:rPr>
                        <a:t>983 €</a:t>
                      </a:r>
                      <a:endParaRPr lang="en-US" sz="1300" dirty="0">
                        <a:latin typeface="Calibri" charset="0"/>
                        <a:ea typeface="Calibri" charset="0"/>
                        <a:cs typeface="Calibri" charset="0"/>
                      </a:endParaRPr>
                    </a:p>
                    <a:p>
                      <a:pPr indent="0" marL="0" algn="r">
                        <a:buNone/>
                      </a:pPr>
                      <a:r>
                        <a:rPr lang="en-US" sz="1000" dirty="0" b="0">
                          <a:solidFill>
                            <a:srgbClr val="1B2B30"/>
                          </a:solidFill>
                          <a:latin typeface="Calibri" pitchFamily="34" charset="0"/>
                          <a:ea typeface="Calibri" pitchFamily="34" charset="-122"/>
                          <a:cs typeface="Calibri" pitchFamily="34" charset="-120"/>
                        </a:rPr>
                        <a:t>Eingabe 0,5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486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Scan nur mit Scanner am Empfang; Messenger: Gesundheitsdaten bei Meta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lgn="r">
                        <a:buNone/>
                      </a:pPr>
                      <a:r>
                        <a:rPr lang="en-US" sz="1500" dirty="0" b="1">
                          <a:solidFill>
                            <a:srgbClr val="1B2B30"/>
                          </a:solidFill>
                          <a:latin typeface="Calibri" pitchFamily="34" charset="0"/>
                          <a:ea typeface="Calibri" pitchFamily="34" charset="-122"/>
                          <a:cs typeface="Calibri" pitchFamily="34" charset="-120"/>
                        </a:rPr>
                        <a:t>823 €</a:t>
                      </a:r>
                      <a:endParaRPr lang="en-US" sz="1300" dirty="0">
                        <a:latin typeface="Calibri" charset="0"/>
                        <a:ea typeface="Calibri" charset="0"/>
                        <a:cs typeface="Calibri" charset="0"/>
                      </a:endParaRPr>
                    </a:p>
                    <a:p>
                      <a:pPr indent="0" marL="0" algn="r">
                        <a:buNone/>
                      </a:pPr>
                      <a:r>
                        <a:rPr lang="en-US" sz="1000" dirty="0" b="0">
                          <a:solidFill>
                            <a:srgbClr val="1B2B30"/>
                          </a:solidFill>
                          <a:latin typeface="Calibri" pitchFamily="34" charset="0"/>
                          <a:ea typeface="Calibri" pitchFamily="34" charset="-122"/>
                          <a:cs typeface="Calibri" pitchFamily="34" charset="-120"/>
                        </a:rPr>
                        <a:t>Scan, Eingabe 0,3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a:t>
                      </a:r>
                      <a:br>
                        <a:rPr lang="en-US" sz="1300" b="1" dirty="0">
                          <a:solidFill>
                            <a:srgbClr val="1B2B30"/>
                          </a:solidFill>
                          <a:latin typeface="Calibri" pitchFamily="34" charset="0"/>
                          <a:ea typeface="Calibri" pitchFamily="34" charset="-122"/>
                          <a:cs typeface="Calibri" pitchFamily="34" charset="-120"/>
                        </a:rPr>
                      </a:br>
                      <a:r>
                        <a:rPr lang="en-US" sz="1300" b="1" dirty="0">
                          <a:solidFill>
                            <a:srgbClr val="1B2B30"/>
                          </a:solidFill>
                          <a:latin typeface="Calibri" pitchFamily="34" charset="0"/>
                          <a:ea typeface="Calibri" pitchFamily="34" charset="-122"/>
                          <a:cs typeface="Calibri" pitchFamily="34" charset="-120"/>
                        </a:rPr>
                        <a:t>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keine Eingabe; Schnittstelle zur Praxissoftware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lgn="r">
                        <a:buNone/>
                      </a:pPr>
                      <a:r>
                        <a:rPr lang="en-US" sz="1500" dirty="0" b="1">
                          <a:solidFill>
                            <a:srgbClr val="1B2B30"/>
                          </a:solidFill>
                          <a:latin typeface="Calibri" pitchFamily="34" charset="0"/>
                          <a:ea typeface="Calibri" pitchFamily="34" charset="-122"/>
                          <a:cs typeface="Calibri" pitchFamily="34" charset="-120"/>
                        </a:rPr>
                        <a:t>offen</a:t>
                      </a:r>
                      <a:endParaRPr lang="en-US" sz="1300" dirty="0">
                        <a:latin typeface="Calibri" charset="0"/>
                        <a:ea typeface="Calibri" charset="0"/>
                        <a:cs typeface="Calibri" charset="0"/>
                      </a:endParaRPr>
                    </a:p>
                    <a:p>
                      <a:pPr indent="0" marL="0" algn="r">
                        <a:buNone/>
                      </a:pPr>
                      <a:r>
                        <a:rPr lang="en-US" sz="1000" dirty="0" b="0">
                          <a:solidFill>
                            <a:srgbClr val="1B2B30"/>
                          </a:solidFill>
                          <a:latin typeface="Calibri" pitchFamily="34" charset="0"/>
                          <a:ea typeface="Calibri" pitchFamily="34" charset="-122"/>
                          <a:cs typeface="Calibri" pitchFamily="34" charset="-120"/>
                        </a:rPr>
                        <a:t>Schnittstelle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txBody>
          <a:bodyPr/>
          <a:p/>
        </p:txBody>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Woraus die Kosten bestehen</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 je nach Kanal</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Plattform (n8n, Supabase), für alle gleich</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520 € / Jahr</a:t>
            </a:r>
            <a:endParaRPr lang="en-US" sz="2400" dirty="0"/>
          </a:p>
        </p:txBody>
      </p:sp>
      <p:sp>
        <p:nvSpPr>
          <p:cNvPr id="13" name="Text 9"/>
          <p:cNvSpPr txBox="1"/>
          <p:nvPr/>
        </p:nvSpPr>
        <p:spPr>
          <a:xfrm>
            <a:off x="8823960" y="3703320"/>
            <a:ext cx="2606040" cy="274320"/>
          </a:xfrm>
          <a:prstGeom prst="rect">
            <a:avLst/>
          </a:prstGeom>
          <a:noFill/>
          <a:ln/>
        </p:spPr>
        <p:txBody>
          <a:bodyPr wrap="square" lIns="0" tIns="0" rIns="0" bIns="0" rtlCol="0" anchor="t"/>
          <a:lstStyle/>
          <a:p>
            <a:pPr indent="0" marL="0">
              <a:buNone/>
            </a:pPr>
            <a:r>
              <a:rPr lang="en-US" sz="1200" dirty="0">
                <a:solidFill>
                  <a:schemeClr val="bg2"/>
                </a:solidFill>
              </a:rPr>
              <a:t>Eingabezeit der Rezeption</a:t>
            </a:r>
            <a:endParaRPr lang="en-US" sz="1200" dirty="0"/>
          </a:p>
        </p:txBody>
      </p:sp>
      <p:sp>
        <p:nvSpPr>
          <p:cNvPr id="14" name="Text 10"/>
          <p:cNvSpPr txBox="1"/>
          <p:nvPr/>
        </p:nvSpPr>
        <p:spPr>
          <a:xfrm>
            <a:off x="8823960" y="3959352"/>
            <a:ext cx="2606040" cy="502920"/>
          </a:xfrm>
          <a:prstGeom prst="rect">
            <a:avLst/>
          </a:prstGeom>
          <a:noFill/>
          <a:ln/>
        </p:spPr>
        <p:txBody>
          <a:bodyPr wrap="square" lIns="0" tIns="0" rIns="0" bIns="0" rtlCol="0" anchor="t"/>
          <a:lstStyle/>
          <a:p>
            <a:pPr indent="0" marL="0">
              <a:buNone/>
            </a:pPr>
            <a:r>
              <a:rPr lang="en-US" sz="2400" b="1" dirty="0">
                <a:solidFill>
                  <a:srgbClr val="E76F51"/>
                </a:solidFill>
                <a:latin typeface="Cambria" pitchFamily="34" charset="0"/>
                <a:ea typeface="Cambria" pitchFamily="34" charset="-122"/>
                <a:cs typeface="Cambria" pitchFamily="34" charset="-120"/>
              </a:rPr>
              <a:t>218–1.454 € / Jahr</a:t>
            </a:r>
            <a:endParaRPr lang="en-US" sz="2400" dirty="0"/>
          </a:p>
        </p:txBody>
      </p:sp>
      <p:sp>
        <p:nvSpPr>
          <p:cNvPr id="15" name="Text 11"/>
          <p:cNvSpPr txBox="1"/>
          <p:nvPr/>
        </p:nvSpPr>
        <p:spPr>
          <a:xfrm>
            <a:off x="8823960" y="4736592"/>
            <a:ext cx="2606040" cy="82296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2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Basis: 40 Verordnungen pro Woche, ca. 2.080 im Jahr · Eingabezeit zu 20,97 €/h (Folie 9); Eingabezeiten sind Annahmen, im Pilot zu messen · Plattform: n8n Starter und Supabase Pro · ohne einmalige Einrichtung · TCO vom 19.10.2026, Plattformpreise abgerufen am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
        <p:nvSpPr>
          <p:cNvPr id="26" name="Text 12"/>
          <p:cNvSpPr txBox="1"/>
          <p:nvPr/>
        </p:nvSpPr>
        <p:spPr>
          <a:xfrm>
            <a:off x="548640" y="4709160"/>
            <a:ext cx="7863840" cy="640080"/>
          </a:xfrm>
          <a:prstGeom prst="rect">
            <a:avLst/>
          </a:prstGeom>
          <a:noFill/>
          <a:ln/>
        </p:spPr>
        <p:txBody>
          <a:bodyPr wrap="square" lIns="0" tIns="0" rIns="0" bIns="0" rtlCol="0" anchor="t"/>
          <a:lstStyle/>
          <a:p>
            <a:pPr indent="0" marL="0">
              <a:buNone/>
            </a:pPr>
            <a:r>
              <a:rPr lang="en-US" sz="1300" i="0" dirty="0" b="1">
                <a:solidFill>
                  <a:srgbClr val="143D3B"/>
                </a:solidFill>
              </a:rPr>
              <a:t>Warum das Formular und nicht der günstigste Kanal? </a:t>
            </a:r>
            <a:r>
              <a:rPr lang="en-US" sz="1300" i="0" dirty="0" b="0">
                <a:solidFill>
                  <a:srgbClr val="143D3B"/>
                </a:solidFill>
              </a:rPr>
              <a:t>Keine Lesefehler, und die Patientendaten werden ersetzt, bevor das Modell sie sieht. Qualität und Datenschutz gehen vor rund 700 € im Jahr. Foto und Scan sind der nächste Schritt.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1720000"/>
          </a:xfrm>
          <a:prstGeom prst="roundRect">
            <a:avLst>
              <a:gd name="adj" fmla="val 3636"/>
            </a:avLst>
          </a:prstGeom>
          <a:solidFill>
            <a:schemeClr val="bg2"/>
          </a:solidFill>
          <a:ln/>
        </p:spPr>
        <p:txBody>
          <a:bodyPr/>
          <a:p/>
        </p:txBody>
      </p:sp>
      <p:sp>
        <p:nvSpPr>
          <p:cNvPr id="7" name="Symbolkreis"/>
          <p:cNvSpPr/>
          <p:nvPr/>
        </p:nvSpPr>
        <p:spPr>
          <a:xfrm>
            <a:off x="731520" y="1463040"/>
            <a:ext cx="548640" cy="54864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112000"/>
            <a:ext cx="237744" cy="146304"/>
          </a:xfrm>
          <a:prstGeom prst="triangle">
            <a:avLst/>
          </a:prstGeom>
          <a:solidFill>
            <a:schemeClr val="accent5"/>
          </a:solidFill>
          <a:ln/>
        </p:spPr>
        <p:txBody>
          <a:bodyPr/>
          <a:p/>
        </p:txBody>
      </p:sp>
      <p:sp>
        <p:nvSpPr>
          <p:cNvPr id="12" name="Schritt Erfassen"/>
          <p:cNvSpPr/>
          <p:nvPr/>
        </p:nvSpPr>
        <p:spPr>
          <a:xfrm>
            <a:off x="2811780" y="1325880"/>
            <a:ext cx="2011680" cy="1720000"/>
          </a:xfrm>
          <a:prstGeom prst="roundRect">
            <a:avLst>
              <a:gd name="adj" fmla="val 3636"/>
            </a:avLst>
          </a:prstGeom>
          <a:solidFill>
            <a:schemeClr val="bg2"/>
          </a:solidFill>
          <a:ln/>
        </p:spPr>
        <p:txBody>
          <a:bodyPr/>
          <a:p/>
        </p:txBody>
      </p:sp>
      <p:sp>
        <p:nvSpPr>
          <p:cNvPr id="13" name="Symbolkreis"/>
          <p:cNvSpPr/>
          <p:nvPr/>
        </p:nvSpPr>
        <p:spPr>
          <a:xfrm>
            <a:off x="2994660" y="1463040"/>
            <a:ext cx="548640" cy="54864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Patientendaten ersetzen, Angaben ins Schema (Hinweis unten)</a:t>
            </a:r>
            <a:endParaRPr lang="en-US" sz="1300" dirty="0"/>
          </a:p>
        </p:txBody>
      </p:sp>
      <p:sp>
        <p:nvSpPr>
          <p:cNvPr id="17" name="Pfeil"/>
          <p:cNvSpPr/>
          <p:nvPr/>
        </p:nvSpPr>
        <p:spPr>
          <a:xfrm rot="5400000">
            <a:off x="4832604" y="2112000"/>
            <a:ext cx="237744" cy="146304"/>
          </a:xfrm>
          <a:prstGeom prst="triangle">
            <a:avLst/>
          </a:prstGeom>
          <a:solidFill>
            <a:schemeClr val="accent5"/>
          </a:solidFill>
          <a:ln/>
        </p:spPr>
        <p:txBody>
          <a:bodyPr/>
          <a:p/>
        </p:txBody>
      </p:sp>
      <p:sp>
        <p:nvSpPr>
          <p:cNvPr id="18" name="Schritt Fakten"/>
          <p:cNvSpPr/>
          <p:nvPr/>
        </p:nvSpPr>
        <p:spPr>
          <a:xfrm>
            <a:off x="5074920" y="1325880"/>
            <a:ext cx="2011680" cy="1720000"/>
          </a:xfrm>
          <a:prstGeom prst="roundRect">
            <a:avLst>
              <a:gd name="adj" fmla="val 3636"/>
            </a:avLst>
          </a:prstGeom>
          <a:solidFill>
            <a:schemeClr val="tx2"/>
          </a:solidFill>
          <a:ln/>
        </p:spPr>
        <p:txBody>
          <a:bodyPr/>
          <a:p/>
        </p:txBody>
      </p:sp>
      <p:sp>
        <p:nvSpPr>
          <p:cNvPr id="19" name="Symbolkreis"/>
          <p:cNvSpPr/>
          <p:nvPr/>
        </p:nvSpPr>
        <p:spPr>
          <a:xfrm>
            <a:off x="5257800" y="1463040"/>
            <a:ext cx="548640" cy="548640"/>
          </a:xfrm>
          <a:prstGeom prst="ellipse">
            <a:avLst/>
          </a:prstGeom>
          <a:solidFill>
            <a:schemeClr val="accent2"/>
          </a:solidFill>
          <a:ln/>
        </p:spPr>
        <p:txBody>
          <a:bodyPr/>
          <a:p/>
        </p:txBody>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112000"/>
            <a:ext cx="237744" cy="146304"/>
          </a:xfrm>
          <a:prstGeom prst="triangle">
            <a:avLst/>
          </a:prstGeom>
          <a:solidFill>
            <a:schemeClr val="accent5"/>
          </a:solidFill>
          <a:ln/>
        </p:spPr>
        <p:txBody>
          <a:bodyPr/>
          <a:p/>
        </p:txBody>
      </p:sp>
      <p:sp>
        <p:nvSpPr>
          <p:cNvPr id="24" name="Schritt 4 Prüfer"/>
          <p:cNvSpPr/>
          <p:nvPr/>
        </p:nvSpPr>
        <p:spPr>
          <a:xfrm>
            <a:off x="7338060" y="1325880"/>
            <a:ext cx="2011680" cy="1720000"/>
          </a:xfrm>
          <a:prstGeom prst="roundRect">
            <a:avLst>
              <a:gd name="adj" fmla="val 3636"/>
            </a:avLst>
          </a:prstGeom>
          <a:solidFill>
            <a:schemeClr val="bg2"/>
          </a:solidFill>
          <a:ln/>
        </p:spPr>
        <p:txBody>
          <a:bodyPr/>
          <a:p/>
        </p:txBody>
      </p:sp>
      <p:sp>
        <p:nvSpPr>
          <p:cNvPr id="25" name="Symbolkreis"/>
          <p:cNvSpPr/>
          <p:nvPr/>
        </p:nvSpPr>
        <p:spPr>
          <a:xfrm>
            <a:off x="7520940" y="1463040"/>
            <a:ext cx="548640" cy="54864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112000"/>
            <a:ext cx="237744" cy="146304"/>
          </a:xfrm>
          <a:prstGeom prst="triangle">
            <a:avLst/>
          </a:prstGeom>
          <a:solidFill>
            <a:schemeClr val="accent5"/>
          </a:solidFill>
          <a:ln/>
        </p:spPr>
        <p:txBody>
          <a:bodyPr/>
          <a:p/>
        </p:txBody>
      </p:sp>
      <p:sp>
        <p:nvSpPr>
          <p:cNvPr id="30" name="Schritt Ampel"/>
          <p:cNvSpPr/>
          <p:nvPr/>
        </p:nvSpPr>
        <p:spPr>
          <a:xfrm>
            <a:off x="9601200" y="1325880"/>
            <a:ext cx="2011680" cy="1720000"/>
          </a:xfrm>
          <a:prstGeom prst="roundRect">
            <a:avLst>
              <a:gd name="adj" fmla="val 3636"/>
            </a:avLst>
          </a:prstGeom>
          <a:solidFill>
            <a:schemeClr val="tx2"/>
          </a:solidFill>
          <a:ln/>
        </p:spPr>
        <p:txBody>
          <a:bodyPr/>
          <a:p/>
        </p:txBody>
      </p:sp>
      <p:sp>
        <p:nvSpPr>
          <p:cNvPr id="31" name="Symbolkreis"/>
          <p:cNvSpPr/>
          <p:nvPr/>
        </p:nvSpPr>
        <p:spPr>
          <a:xfrm>
            <a:off x="9784080" y="1463040"/>
            <a:ext cx="548640" cy="548640"/>
          </a:xfrm>
          <a:prstGeom prst="ellipse">
            <a:avLst/>
          </a:prstGeom>
          <a:solidFill>
            <a:schemeClr val="accent2"/>
          </a:solidFill>
          <a:ln/>
        </p:spPr>
        <p:txBody>
          <a:bodyPr/>
          <a:p/>
        </p:txBody>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095000"/>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4590000"/>
            <a:ext cx="5394960" cy="1610000"/>
          </a:xfrm>
          <a:prstGeom prst="roundRect">
            <a:avLst>
              <a:gd name="adj" fmla="val 3556"/>
            </a:avLst>
          </a:prstGeom>
          <a:solidFill>
            <a:schemeClr val="bg2"/>
          </a:solidFill>
          <a:ln/>
        </p:spPr>
        <p:txBody>
          <a:bodyPr/>
          <a:p/>
        </p:txBody>
      </p:sp>
      <p:sp>
        <p:nvSpPr>
          <p:cNvPr id="37" name="Symbolkreis"/>
          <p:cNvSpPr/>
          <p:nvPr/>
        </p:nvSpPr>
        <p:spPr>
          <a:xfrm>
            <a:off x="777240" y="4727160"/>
            <a:ext cx="502920" cy="502920"/>
          </a:xfrm>
          <a:prstGeom prst="ellipse">
            <a:avLst/>
          </a:prstGeom>
          <a:solidFill>
            <a:schemeClr val="accent1"/>
          </a:solidFill>
          <a:ln/>
        </p:spPr>
        <p:txBody>
          <a:bodyPr/>
          <a:p/>
        </p:txBody>
      </p:sp>
      <p:pic>
        <p:nvPicPr>
          <p:cNvPr id="38" name="Symbol" descr="preencoded.png">    </p:cNvPr>
          <p:cNvPicPr>
            <a:picLocks noChangeAspect="1"/>
          </p:cNvPicPr>
          <p:nvPr/>
        </p:nvPicPr>
        <p:blipFill>
          <a:blip r:embed="rId7"/>
          <a:stretch>
            <a:fillRect/>
          </a:stretch>
        </p:blipFill>
        <p:spPr>
          <a:xfrm>
            <a:off x="902970" y="4852890"/>
            <a:ext cx="251460" cy="251460"/>
          </a:xfrm>
          <a:prstGeom prst="rect">
            <a:avLst/>
          </a:prstGeom>
        </p:spPr>
      </p:pic>
      <p:sp>
        <p:nvSpPr>
          <p:cNvPr id="39" name="Text 30"/>
          <p:cNvSpPr txBox="1"/>
          <p:nvPr/>
        </p:nvSpPr>
        <p:spPr>
          <a:xfrm>
            <a:off x="1417320" y="472716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5260000"/>
            <a:ext cx="4937760" cy="9000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n8n Cloud: Workflow, Formular, Chat</a:t>
            </a:r>
            <a:endParaRPr lang="en-US" sz="1400" dirty="0"/>
          </a:p>
          <a:p>
            <a:pPr marL="177800" indent="-177800">
              <a:spcAft>
                <a:spcPts val="300"/>
              </a:spcAft>
              <a:buSzPct val="100000"/>
              <a:buChar char="•"/>
            </a:pPr>
            <a:r>
              <a:rPr lang="en-US" sz="1200" dirty="0">
                <a:solidFill>
                  <a:schemeClr val="tx1"/>
                </a:solidFill>
              </a:rPr>
              <a:t>OpenAI gpt-4.1-mini, text-embedding-3-small</a:t>
            </a:r>
            <a:endParaRPr lang="en-US" sz="1400" dirty="0"/>
          </a:p>
          <a:p>
            <a:pPr marL="177800" indent="-177800">
              <a:spcAft>
                <a:spcPts val="300"/>
              </a:spcAft>
              <a:buSzPct val="100000"/>
              <a:buChar char="•"/>
            </a:pPr>
            <a:r>
              <a:rPr lang="en-US" sz="1200" dirty="0">
                <a:solidFill>
                  <a:schemeClr val="tx1"/>
                </a:solidFill>
              </a:rPr>
              <a:t>Supabase (Frankfurt): Wissensbasis, Protokoll</a:t>
            </a:r>
            <a:endParaRPr lang="en-US" sz="1400" dirty="0"/>
          </a:p>
          <a:p>
            <a:pPr marL="177800" indent="-177800">
              <a:spcAft>
                <a:spcPts val="300"/>
              </a:spcAft>
              <a:buSzPct val="100000"/>
              <a:buChar char="•"/>
            </a:pPr>
            <a:r>
              <a:rPr lang="en-US" sz="1200" dirty="0">
                <a:solidFill>
                  <a:schemeClr val="tx1"/>
                </a:solidFill>
              </a:rPr>
              <a:t>GitHub: Exporte, Tests, Doku</a:t>
            </a:r>
            <a:endParaRPr lang="en-US" sz="1400" dirty="0"/>
          </a:p>
        </p:txBody>
      </p:sp>
      <p:sp>
        <p:nvSpPr>
          <p:cNvPr id="41" name="Leitsatz"/>
          <p:cNvSpPr/>
          <p:nvPr/>
        </p:nvSpPr>
        <p:spPr>
          <a:xfrm>
            <a:off x="6126480" y="4590000"/>
            <a:ext cx="5513832" cy="1610000"/>
          </a:xfrm>
          <a:prstGeom prst="roundRect">
            <a:avLst>
              <a:gd name="adj" fmla="val 3556"/>
            </a:avLst>
          </a:prstGeom>
          <a:solidFill>
            <a:schemeClr val="tx2"/>
          </a:solidFill>
          <a:ln/>
        </p:spPr>
        <p:txBody>
          <a:bodyPr/>
          <a:p/>
        </p:txBody>
      </p:sp>
      <p:sp>
        <p:nvSpPr>
          <p:cNvPr id="42" name="Symbolkreis"/>
          <p:cNvSpPr/>
          <p:nvPr/>
        </p:nvSpPr>
        <p:spPr>
          <a:xfrm>
            <a:off x="6355080" y="4727160"/>
            <a:ext cx="502920" cy="502920"/>
          </a:xfrm>
          <a:prstGeom prst="ellipse">
            <a:avLst/>
          </a:prstGeom>
          <a:solidFill>
            <a:schemeClr val="accent2"/>
          </a:solidFill>
          <a:ln/>
        </p:spPr>
        <p:txBody>
          <a:bodyPr/>
          <a:p/>
        </p:txBody>
      </p:sp>
      <p:pic>
        <p:nvPicPr>
          <p:cNvPr id="43" name="Symbol" descr="preencoded.png">    </p:cNvPr>
          <p:cNvPicPr>
            <a:picLocks noChangeAspect="1"/>
          </p:cNvPicPr>
          <p:nvPr/>
        </p:nvPicPr>
        <p:blipFill>
          <a:blip r:embed="rId8"/>
          <a:stretch>
            <a:fillRect/>
          </a:stretch>
        </p:blipFill>
        <p:spPr>
          <a:xfrm>
            <a:off x="6480810" y="4852890"/>
            <a:ext cx="251460" cy="251460"/>
          </a:xfrm>
          <a:prstGeom prst="rect">
            <a:avLst/>
          </a:prstGeom>
        </p:spPr>
      </p:pic>
      <p:sp>
        <p:nvSpPr>
          <p:cNvPr id="44" name="Text 34"/>
          <p:cNvSpPr txBox="1"/>
          <p:nvPr/>
        </p:nvSpPr>
        <p:spPr>
          <a:xfrm>
            <a:off x="6995160" y="472716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5260000"/>
            <a:ext cx="5074920" cy="90000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5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
        <p:nvSpPr>
          <p:cNvPr id="46" name="Hinweis PII-Reduktion"/>
          <p:cNvSpPr/>
          <p:nvPr/>
        </p:nvSpPr>
        <p:spPr>
          <a:xfrm>
            <a:off x="548640" y="3420000"/>
            <a:ext cx="11064240" cy="1060000"/>
          </a:xfrm>
          <a:prstGeom prst="roundRect">
            <a:avLst>
              <a:gd name="adj" fmla="val 3556"/>
            </a:avLst>
          </a:prstGeom>
          <a:solidFill>
            <a:schemeClr val="bg1"/>
          </a:solidFill>
          <a:ln w="19050">
            <a:solidFill>
              <a:schemeClr val="accent1"/>
            </a:solidFill>
          </a:ln>
        </p:spPr>
        <p:txBody>
          <a:bodyPr/>
          <a:p/>
        </p:txBody>
      </p:sp>
      <p:sp>
        <p:nvSpPr>
          <p:cNvPr id="47" name="Trenner"/>
          <p:cNvSpPr/>
          <p:nvPr/>
        </p:nvSpPr>
        <p:spPr>
          <a:xfrm>
            <a:off x="2700000" y="3550000"/>
            <a:ext cx="12700" cy="800000"/>
          </a:xfrm>
          <a:prstGeom prst="rect">
            <a:avLst/>
          </a:prstGeom>
          <a:solidFill>
            <a:schemeClr val="accent1"/>
          </a:solidFill>
          <a:ln/>
        </p:spPr>
        <p:txBody>
          <a:bodyPr/>
          <a:p/>
        </p:txBody>
      </p:sp>
      <p:sp>
        <p:nvSpPr>
          <p:cNvPr id="48" name="Trenner"/>
          <p:cNvSpPr/>
          <p:nvPr/>
        </p:nvSpPr>
        <p:spPr>
          <a:xfrm>
            <a:off x="7000000" y="3550000"/>
            <a:ext cx="12700" cy="560000"/>
          </a:xfrm>
          <a:prstGeom prst="rect">
            <a:avLst/>
          </a:prstGeom>
          <a:solidFill>
            <a:schemeClr val="accent1"/>
          </a:solidFill>
          <a:ln/>
        </p:spPr>
        <p:txBody>
          <a:bodyPr/>
          <a:p/>
        </p:txBody>
      </p:sp>
      <p:sp>
        <p:nvSpPr>
          <p:cNvPr id="49" name="Hinweis Label"/>
          <p:cNvSpPr txBox="1"/>
          <p:nvPr/>
        </p:nvSpPr>
        <p:spPr>
          <a:xfrm>
            <a:off x="731520" y="3520000"/>
            <a:ext cx="1850000" cy="860000"/>
          </a:xfrm>
          <a:prstGeom prst="rect">
            <a:avLst/>
          </a:prstGeom>
          <a:noFill/>
          <a:ln/>
        </p:spPr>
        <p:txBody>
          <a:bodyPr wrap="square" lIns="0" tIns="0" rIns="0" bIns="0" rtlCol="0" anchor="ctr"/>
          <a:lstStyle/>
          <a:p>
            <a:pPr indent="0" marL="0">
              <a:spcAft>
                <a:spcPts val="3"/>
              </a:spcAft>
              <a:buNone/>
            </a:pPr>
            <a:r>
              <a:rPr lang="de-DE" sz="1500" dirty="0" b="1">
                <a:solidFill>
                  <a:schemeClr val="tx2"/>
                </a:solidFill>
              </a:rPr>
              <a:t>PII-Reduktion</a:t>
            </a:r>
            <a:br>
              <a:rPr lang="de-DE" sz="1500" dirty="0" b="1">
                <a:solidFill>
                  <a:schemeClr val="tx2"/>
                </a:solidFill>
              </a:rPr>
            </a:br>
            <a:r>
              <a:rPr lang="de-DE" sz="1100" dirty="0" b="1">
                <a:solidFill>
                  <a:schemeClr val="tx2"/>
                </a:solidFill>
              </a:rPr>
              <a:t>(personenbezogene Daten)</a:t>
            </a:r>
          </a:p>
          <a:p>
            <a:pPr indent="0" marL="0">
              <a:buNone/>
            </a:pPr>
            <a:r>
              <a:rPr lang="de-DE" sz="1100" dirty="0" i="1">
                <a:solidFill>
                  <a:schemeClr val="accent5"/>
                </a:solidFill>
              </a:rPr>
              <a:t>vor dem Sprachmodell</a:t>
            </a:r>
          </a:p>
        </p:txBody>
      </p:sp>
      <p:sp>
        <p:nvSpPr>
          <p:cNvPr id="50" name="Hinweis Chat"/>
          <p:cNvSpPr txBox="1"/>
          <p:nvPr/>
        </p:nvSpPr>
        <p:spPr>
          <a:xfrm>
            <a:off x="2880000" y="3530000"/>
            <a:ext cx="398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Chat (Freitext)</a:t>
            </a:r>
          </a:p>
          <a:p>
            <a:pPr indent="0" marL="0">
              <a:buNone/>
            </a:pPr>
            <a:r>
              <a:rPr lang="de-DE" sz="1200" dirty="0">
                <a:solidFill>
                  <a:schemeClr val="tx1"/>
                </a:solidFill>
              </a:rPr>
              <a:t>NER-Modell bert-base-multilingual-cased-ner-hrl plus Regeln: erkennt Namen auch ohne Rollenwort</a:t>
            </a:r>
          </a:p>
        </p:txBody>
      </p:sp>
      <p:sp>
        <p:nvSpPr>
          <p:cNvPr id="51" name="Hinweis Formular"/>
          <p:cNvSpPr txBox="1"/>
          <p:nvPr/>
        </p:nvSpPr>
        <p:spPr>
          <a:xfrm>
            <a:off x="7180000" y="3530000"/>
            <a:ext cx="430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Formular (Muster 13)</a:t>
            </a:r>
          </a:p>
          <a:p>
            <a:pPr indent="0" marL="0">
              <a:buNone/>
            </a:pPr>
            <a:r>
              <a:rPr lang="de-DE" sz="1200" dirty="0">
                <a:solidFill>
                  <a:schemeClr val="tx1"/>
                </a:solidFill>
              </a:rPr>
              <a:t>Regelbasiert, Feld für Feld: Identifikatoren werden durch Marker ersetzt, Freitexte entfernt</a:t>
            </a:r>
          </a:p>
        </p:txBody>
      </p:sp>
      <p:sp>
        <p:nvSpPr>
          <p:cNvPr id="52" name="Hinweis Stand"/>
          <p:cNvSpPr txBox="1"/>
          <p:nvPr/>
        </p:nvSpPr>
        <p:spPr>
          <a:xfrm>
            <a:off x="2880000" y="4180000"/>
            <a:ext cx="8600000" cy="230000"/>
          </a:xfrm>
          <a:prstGeom prst="rect">
            <a:avLst/>
          </a:prstGeom>
          <a:noFill/>
          <a:ln/>
        </p:spPr>
        <p:txBody>
          <a:bodyPr wrap="square" lIns="0" tIns="0" rIns="0" bIns="0" rtlCol="0" anchor="t"/>
          <a:lstStyle/>
          <a:p>
            <a:pPr indent="0" marL="0">
              <a:buNone/>
            </a:pPr>
            <a:r>
              <a:rPr lang="de-DE" sz="1100" dirty="0" i="1">
                <a:solidFill>
                  <a:schemeClr val="accent5"/>
                </a:solidFill>
              </a:rPr>
              <a:t>Cloud-Prototyp heute: Das NER-Modell läuft nur lokal, im Chat greifen dort die Regeln. Echte Daten nur über das Formular.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txBody>
          <a:bodyPr/>
          <a:p/>
        </p:txBody>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kritische Fehlalarme 12 (v1) → 0 (v4) · Testbatterie 27.10.: 83,1 % im Blindtest, 96,6 % nach fünf weiteren Regeln im Code · 71 automatische Prüfungen</a:t>
            </a:r>
            <a:pPr indent="0" marL="0">
              <a:buNone/>
            </a:pP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Chat: NER-Modell plus Regeln, Formular: Regeln; Original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txBody>
          <a:bodyPr/>
          <a:p/>
        </p:txBody>
      </p:sp>
      <p:sp>
        <p:nvSpPr>
          <p:cNvPr id="7" name="Nummer"/>
          <p:cNvSpPr/>
          <p:nvPr/>
        </p:nvSpPr>
        <p:spPr>
          <a:xfrm>
            <a:off x="731520" y="1499616"/>
            <a:ext cx="512064" cy="512064"/>
          </a:xfrm>
          <a:prstGeom prst="ellipse">
            <a:avLst/>
          </a:prstGeom>
          <a:solidFill>
            <a:schemeClr val="accent1"/>
          </a:solidFill>
          <a:ln/>
        </p:spPr>
        <p:txBody>
          <a:bodyPr/>
          <a:p/>
        </p:txBody>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txBody>
          <a:bodyPr/>
          <a:p/>
        </p:txBody>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txBody>
          <a:bodyPr/>
          <a:p/>
        </p:txBody>
      </p:sp>
      <p:sp>
        <p:nvSpPr>
          <p:cNvPr id="15" name="Nummer"/>
          <p:cNvSpPr/>
          <p:nvPr/>
        </p:nvSpPr>
        <p:spPr>
          <a:xfrm>
            <a:off x="731520" y="2523744"/>
            <a:ext cx="512064" cy="512064"/>
          </a:xfrm>
          <a:prstGeom prst="ellipse">
            <a:avLst/>
          </a:prstGeom>
          <a:solidFill>
            <a:schemeClr val="accent1"/>
          </a:solidFill>
          <a:ln/>
        </p:spPr>
        <p:txBody>
          <a:bodyPr/>
          <a:p/>
        </p:txBody>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txBody>
          <a:bodyPr/>
          <a:p/>
        </p:txBody>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txBody>
          <a:bodyPr/>
          <a:p/>
        </p:txBody>
      </p:sp>
      <p:sp>
        <p:nvSpPr>
          <p:cNvPr id="23" name="Nummer"/>
          <p:cNvSpPr/>
          <p:nvPr/>
        </p:nvSpPr>
        <p:spPr>
          <a:xfrm>
            <a:off x="731520" y="3547872"/>
            <a:ext cx="512064" cy="512064"/>
          </a:xfrm>
          <a:prstGeom prst="ellipse">
            <a:avLst/>
          </a:prstGeom>
          <a:solidFill>
            <a:schemeClr val="accent1"/>
          </a:solidFill>
          <a:ln/>
        </p:spPr>
        <p:txBody>
          <a:bodyPr/>
          <a:p/>
        </p:txBody>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txBody>
          <a:bodyPr/>
          <a:p/>
        </p:txBody>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txBody>
          <a:bodyPr/>
          <a:p/>
        </p:txBody>
      </p:sp>
      <p:sp>
        <p:nvSpPr>
          <p:cNvPr id="31" name="Nummer"/>
          <p:cNvSpPr/>
          <p:nvPr/>
        </p:nvSpPr>
        <p:spPr>
          <a:xfrm>
            <a:off x="731520" y="4572000"/>
            <a:ext cx="512064" cy="512064"/>
          </a:xfrm>
          <a:prstGeom prst="ellipse">
            <a:avLst/>
          </a:prstGeom>
          <a:solidFill>
            <a:schemeClr val="accent1"/>
          </a:solidFill>
          <a:ln/>
        </p:spPr>
        <p:txBody>
          <a:bodyPr/>
          <a:p/>
        </p:txBody>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txBody>
          <a:bodyPr/>
          <a:p/>
        </p:txBody>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txBody>
          <a:bodyPr/>
          <a:p/>
        </p:txBody>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40"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txBody>
          <a:bodyPr/>
          <a:p/>
        </p:txBody>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 Chat: NER-Modell plus Regeln, Formular: Regeln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Der Workflow in n8n: vom Formular zur Ampel</a:t>
            </a:r>
            <a:endParaRPr lang="en-US" sz="2800" dirty="0"/>
          </a:p>
        </p:txBody>
      </p:sp>
      <p:sp>
        <p:nvSpPr>
          <p:cNvPr id="4"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5" name="Personen-Symbol" descr="preencoded.png">    </p:cNvPr>
          <p:cNvPicPr>
            <a:picLocks noChangeAspect="1"/>
          </p:cNvPicPr>
          <p:nvPr/>
        </p:nvPicPr>
        <p:blipFill>
          <a:blip r:embed="rId2"/>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
        <p:nvSpPr>
          <p:cNvPr id="8" name="Einordnung"/>
          <p:cNvSpPr/>
          <p:nvPr/>
        </p:nvSpPr>
        <p:spPr>
          <a:xfrm>
            <a:off x="8625840" y="1325880"/>
            <a:ext cx="3014472" cy="4526280"/>
          </a:xfrm>
          <a:prstGeom prst="roundRect">
            <a:avLst>
              <a:gd name="adj" fmla="val 2010"/>
            </a:avLst>
          </a:prstGeom>
          <a:solidFill>
            <a:schemeClr val="tx2"/>
          </a:solidFill>
          <a:ln/>
        </p:spPr>
        <p:txBody>
          <a:bodyPr/>
          <a:p/>
        </p:txBody>
      </p:sp>
      <p:sp>
        <p:nvSpPr>
          <p:cNvPr id="9" name="Text 4"/>
          <p:cNvSpPr txBox="1"/>
          <p:nvPr/>
        </p:nvSpPr>
        <p:spPr>
          <a:xfrm>
            <a:off x="8854440" y="1463040"/>
            <a:ext cx="2557272"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Was man sieht</a:t>
            </a:r>
            <a:endParaRPr lang="en-US" sz="1800" dirty="0"/>
          </a:p>
        </p:txBody>
      </p:sp>
      <p:sp>
        <p:nvSpPr>
          <p:cNvPr id="10" name="Text 5"/>
          <p:cNvSpPr txBox="1"/>
          <p:nvPr/>
        </p:nvSpPr>
        <p:spPr>
          <a:xfrm>
            <a:off x="8854440" y="1965960"/>
            <a:ext cx="2557272"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35 Knoten, ein Workflow für Formular und Chat</a:t>
            </a:r>
            <a:endParaRPr lang="en-US" sz="1400" dirty="0"/>
          </a:p>
          <a:p>
            <a:pPr marL="177800" indent="-177800">
              <a:spcAft>
                <a:spcPts val="500"/>
              </a:spcAft>
              <a:buSzPct val="100000"/>
              <a:buChar char="•"/>
            </a:pPr>
            <a:r>
              <a:rPr lang="en-US" sz="1300" dirty="0">
                <a:solidFill>
                  <a:schemeClr val="bg1"/>
                </a:solidFill>
              </a:rPr>
              <a:t>Code-Knoten rechnen Fristen, Höchstmenge, Leitsymptomatik und Frequenz</a:t>
            </a:r>
            <a:endParaRPr lang="en-US" sz="1400" dirty="0"/>
          </a:p>
          <a:p>
            <a:pPr marL="177800" indent="-177800">
              <a:spcAft>
                <a:spcPts val="500"/>
              </a:spcAft>
              <a:buSzPct val="100000"/>
              <a:buChar char="•"/>
            </a:pPr>
            <a:r>
              <a:rPr lang="en-US" sz="1300" dirty="0">
                <a:solidFill>
                  <a:schemeClr val="bg1"/>
                </a:solidFill>
              </a:rPr>
              <a:t>Vier Prüf-Agenten: Formal, Diagnose, Mengen, Fristen</a:t>
            </a:r>
            <a:endParaRPr lang="en-US" sz="1400" dirty="0"/>
          </a:p>
          <a:p>
            <a:pPr marL="177800" indent="-177800">
              <a:spcAft>
                <a:spcPts val="500"/>
              </a:spcAft>
              <a:buSzPct val="100000"/>
              <a:buChar char="•"/>
            </a:pPr>
            <a:r>
              <a:rPr lang="en-US" sz="1300" dirty="0">
                <a:solidFill>
                  <a:schemeClr val="bg1"/>
                </a:solidFill>
              </a:rPr>
              <a:t>Die Ampel bildet der Code aus den Befunden</a:t>
            </a:r>
            <a:endParaRPr lang="en-US" sz="1400" dirty="0"/>
          </a:p>
          <a:p>
            <a:pPr marL="177800" indent="-177800">
              <a:spcAft>
                <a:spcPts val="500"/>
              </a:spcAft>
              <a:buSzPct val="100000"/>
              <a:buChar char="•"/>
            </a:pPr>
            <a:r>
              <a:rPr lang="en-US" sz="1300" dirty="0">
                <a:solidFill>
                  <a:schemeClr val="bg1"/>
                </a:solidFill>
              </a:rPr>
              <a:t>Test-Läufe: Median 34 s je Prüfung</a:t>
            </a:r>
            <a:endParaRPr lang="en-US" sz="1400" dirty="0"/>
          </a:p>
          <a:p>
            <a:pPr marL="0" indent="0">
              <a:spcBef>
                <a:spcPts val="1800"/>
              </a:spcBef>
              <a:spcAft>
                <a:spcPts val="500"/>
              </a:spcAft>
              <a:buNone/>
            </a:pPr>
            <a:r>
              <a:rPr lang="en-US" sz="1300" dirty="0" b="1">
                <a:solidFill>
                  <a:schemeClr val="bg1"/>
                </a:solidFill>
              </a:rPr>
              <a:t>Merkpunkt: Was sich als Regel aufschreiben lässt, rechnet der Code.</a:t>
            </a:r>
            <a:endParaRPr lang="en-US" sz="1400" dirty="0"/>
          </a:p>
        </p:txBody>
      </p:sp>
      <p:sp>
        <p:nvSpPr>
          <p:cNvPr id="11"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Screenshot aus der n8n Cloud, Workflow „Verordnungcheck_gemerged“ · Stand 28.10.2026</a:t>
            </a:r>
            <a:endParaRPr lang="en-US" sz="1000" dirty="0"/>
          </a:p>
        </p:txBody>
      </p:sp>
      <p:sp>
        <p:nvSpPr>
          <p:cNvPr id="12" name="Werkzeug"/>
          <p:cNvSpPr/>
          <p:nvPr/>
        </p:nvSpPr>
        <p:spPr>
          <a:xfrm>
            <a:off x="548640" y="5336505"/>
            <a:ext cx="7905750" cy="515655"/>
          </a:xfrm>
          <a:prstGeom prst="roundRect">
            <a:avLst>
              <a:gd name="adj" fmla="val 3200"/>
            </a:avLst>
          </a:prstGeom>
          <a:solidFill>
            <a:schemeClr val="bg2"/>
          </a:solidFill>
          <a:ln/>
        </p:spPr>
        <p:txBody>
          <a:bodyPr/>
          <a:p/>
        </p:txBody>
      </p:sp>
      <p:sp>
        <p:nvSpPr>
          <p:cNvPr id="13" name="Text 20"/>
          <p:cNvSpPr txBox="1"/>
          <p:nvPr/>
        </p:nvSpPr>
        <p:spPr>
          <a:xfrm>
            <a:off x="731520" y="5409657"/>
            <a:ext cx="7539990" cy="369351"/>
          </a:xfrm>
          <a:prstGeom prst="rect">
            <a:avLst/>
          </a:prstGeom>
          <a:noFill/>
          <a:ln/>
        </p:spPr>
        <p:txBody>
          <a:bodyPr wrap="square" lIns="0" tIns="0" rIns="0" bIns="0" rtlCol="0" anchor="t"/>
          <a:lstStyle/>
          <a:p>
            <a:pPr indent="0" marL="0">
              <a:buNone/>
            </a:pPr>
            <a:r>
              <a:rPr lang="en-US" sz="1300" dirty="0">
                <a:solidFill>
                  <a:schemeClr val="tx1"/>
                </a:solidFill>
              </a:rPr>
              <a:t>Lesen von links nach rechts: Eingang (Formular oder Chat) → Fakten im Code → vier Prüfer → Ampel → Protokoll in Supabase → Antwort an das Formular.</a:t>
            </a:r>
            <a:endParaRPr lang="en-US" sz="1400" dirty="0"/>
          </a:p>
        </p:txBody>
      </p:sp>
      <p:pic>
        <p:nvPicPr>
          <p:cNvPr id="14" name="Screenshot n8n Workflow" descr="n8n-workflow.png"/>
          <p:cNvPicPr>
            <a:picLocks noChangeAspect="1"/>
          </p:cNvPicPr>
          <p:nvPr/>
        </p:nvPicPr>
        <p:blipFill>
          <a:blip r:embed="rId3"/>
          <a:stretch>
            <a:fillRect/>
          </a:stretch>
        </p:blipFill>
        <p:spPr>
          <a:xfrm>
            <a:off x="548640" y="1325880"/>
            <a:ext cx="7905750" cy="3919185"/>
          </a:xfrm>
          <a:prstGeom prst="rect">
            <a:avLst/>
          </a:prstGeom>
          <a:ln w="9525">
            <a:solidFill>
              <a:srgbClr val="C9D3D0"/>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txBody>
          <a:bodyPr/>
          <a:p/>
        </p:txBody>
      </p:sp>
      <p:sp>
        <p:nvSpPr>
          <p:cNvPr id="7" name="Symbolkreis"/>
          <p:cNvSpPr/>
          <p:nvPr/>
        </p:nvSpPr>
        <p:spPr>
          <a:xfrm>
            <a:off x="777240" y="1481328"/>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txBody>
          <a:bodyPr/>
          <a:p/>
        </p:txBody>
      </p:sp>
      <p:sp>
        <p:nvSpPr>
          <p:cNvPr id="12" name="Prüf-Agent"/>
          <p:cNvSpPr/>
          <p:nvPr/>
        </p:nvSpPr>
        <p:spPr>
          <a:xfrm>
            <a:off x="4297680" y="1325880"/>
            <a:ext cx="3566160" cy="2103120"/>
          </a:xfrm>
          <a:prstGeom prst="roundRect">
            <a:avLst>
              <a:gd name="adj" fmla="val 3478"/>
            </a:avLst>
          </a:prstGeom>
          <a:solidFill>
            <a:schemeClr val="tx2"/>
          </a:solidFill>
          <a:ln/>
        </p:spPr>
        <p:txBody>
          <a:bodyPr/>
          <a:p/>
        </p:txBody>
      </p:sp>
      <p:sp>
        <p:nvSpPr>
          <p:cNvPr id="13" name="Symbolkreis"/>
          <p:cNvSpPr/>
          <p:nvPr/>
        </p:nvSpPr>
        <p:spPr>
          <a:xfrm>
            <a:off x="4526280" y="1481328"/>
            <a:ext cx="548640" cy="548640"/>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txBody>
          <a:bodyPr/>
          <a:p/>
        </p:txBody>
      </p:sp>
      <p:sp>
        <p:nvSpPr>
          <p:cNvPr id="18" name="Ausgabe"/>
          <p:cNvSpPr/>
          <p:nvPr/>
        </p:nvSpPr>
        <p:spPr>
          <a:xfrm>
            <a:off x="8046720" y="1325880"/>
            <a:ext cx="3566160" cy="2103120"/>
          </a:xfrm>
          <a:prstGeom prst="roundRect">
            <a:avLst>
              <a:gd name="adj" fmla="val 3478"/>
            </a:avLst>
          </a:prstGeom>
          <a:solidFill>
            <a:schemeClr val="bg2"/>
          </a:solidFill>
          <a:ln/>
        </p:spPr>
        <p:txBody>
          <a:bodyPr/>
          <a:p/>
        </p:txBody>
      </p:sp>
      <p:sp>
        <p:nvSpPr>
          <p:cNvPr id="19" name="Symbolkreis"/>
          <p:cNvSpPr/>
          <p:nvPr/>
        </p:nvSpPr>
        <p:spPr>
          <a:xfrm>
            <a:off x="8275320" y="1481328"/>
            <a:ext cx="548640" cy="548640"/>
          </a:xfrm>
          <a:prstGeom prst="ellipse">
            <a:avLst/>
          </a:prstGeom>
          <a:solidFill>
            <a:schemeClr val="accent3"/>
          </a:solidFill>
          <a:ln/>
        </p:spPr>
        <p:txBody>
          <a:bodyPr/>
          <a:p/>
        </p:txBody>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txBody>
          <a:bodyPr/>
          <a:p/>
        </p:txBody>
      </p:sp>
      <p:sp>
        <p:nvSpPr>
          <p:cNvPr id="24" name="Symbolkreis"/>
          <p:cNvSpPr/>
          <p:nvPr/>
        </p:nvSpPr>
        <p:spPr>
          <a:xfrm>
            <a:off x="777240" y="3749040"/>
            <a:ext cx="502920" cy="502920"/>
          </a:xfrm>
          <a:prstGeom prst="ellipse">
            <a:avLst/>
          </a:prstGeom>
          <a:solidFill>
            <a:schemeClr val="accent3"/>
          </a:solidFill>
          <a:ln/>
        </p:spPr>
        <p:txBody>
          <a:bodyPr/>
          <a:p/>
        </p:txBody>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txBody>
          <a:bodyPr/>
          <a:p/>
        </p:txBody>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txBody>
          <a:bodyPr/>
          <a:p/>
        </p:txBody>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txBody>
          <a:bodyPr/>
          <a:p/>
        </p:txBody>
      </p:sp>
      <p:sp>
        <p:nvSpPr>
          <p:cNvPr id="7" name="Symbolkreis"/>
          <p:cNvSpPr/>
          <p:nvPr/>
        </p:nvSpPr>
        <p:spPr>
          <a:xfrm>
            <a:off x="777240" y="1645920"/>
            <a:ext cx="594360" cy="59436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txBody>
          <a:bodyPr/>
          <a:p/>
        </p:txBody>
      </p:sp>
      <p:sp>
        <p:nvSpPr>
          <p:cNvPr id="12" name="Symbolkreis"/>
          <p:cNvSpPr/>
          <p:nvPr/>
        </p:nvSpPr>
        <p:spPr>
          <a:xfrm>
            <a:off x="3584448" y="1645920"/>
            <a:ext cx="594360" cy="594360"/>
          </a:xfrm>
          <a:prstGeom prst="ellipse">
            <a:avLst/>
          </a:prstGeom>
          <a:solidFill>
            <a:schemeClr val="accent3"/>
          </a:solidFill>
          <a:ln/>
        </p:spPr>
        <p:txBody>
          <a:bodyPr/>
          <a:p/>
        </p:txBody>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nacheinander, ca. 30–35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txBody>
          <a:bodyPr/>
          <a:p/>
        </p:txBody>
      </p:sp>
      <p:sp>
        <p:nvSpPr>
          <p:cNvPr id="17" name="Symbolkreis"/>
          <p:cNvSpPr/>
          <p:nvPr/>
        </p:nvSpPr>
        <p:spPr>
          <a:xfrm>
            <a:off x="6391656" y="1645920"/>
            <a:ext cx="594360" cy="594360"/>
          </a:xfrm>
          <a:prstGeom prst="ellipse">
            <a:avLst/>
          </a:prstGeom>
          <a:solidFill>
            <a:schemeClr val="accent3"/>
          </a:solidFill>
          <a:ln/>
        </p:spPr>
        <p:txBody>
          <a:bodyPr/>
          <a:p/>
        </p:txBody>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txBody>
          <a:bodyPr/>
          <a:p/>
        </p:txBody>
      </p:sp>
      <p:sp>
        <p:nvSpPr>
          <p:cNvPr id="22" name="Symbolkreis"/>
          <p:cNvSpPr/>
          <p:nvPr/>
        </p:nvSpPr>
        <p:spPr>
          <a:xfrm>
            <a:off x="9198864" y="1645920"/>
            <a:ext cx="594360" cy="594360"/>
          </a:xfrm>
          <a:prstGeom prst="ellipse">
            <a:avLst/>
          </a:prstGeom>
          <a:solidFill>
            <a:schemeClr val="accent3"/>
          </a:solidFill>
          <a:ln/>
        </p:spPr>
        <p:txBody>
          <a:bodyPr/>
          <a:p/>
        </p:txBody>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txBody>
          <a:bodyPr/>
          <a:p/>
        </p:txBody>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txBody>
          <a:bodyPr/>
          <a:p/>
        </p:txBody>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txBody>
          <a:bodyPr/>
          <a:p/>
        </p:txBody>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txBody>
          <a:bodyPr/>
          <a:p/>
        </p:txBody>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Formular: tobsi1911.app.n8n.cloud/form/verordnungs-check-cloud · Rückfall: Backup-Video, Screenshots je Ampelfarbe</a:t>
            </a:r>
            <a:endParaRPr lang="en-US" sz="14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27.10.2026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txBody>
          <a:bodyPr/>
          <a:p/>
        </p:txBody>
      </p:sp>
      <p:sp>
        <p:nvSpPr>
          <p:cNvPr id="7" name="Symbolkreis"/>
          <p:cNvSpPr/>
          <p:nvPr/>
        </p:nvSpPr>
        <p:spPr>
          <a:xfrm>
            <a:off x="822960" y="1508760"/>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Cloud-Workflow (Hauptstand)</a:t>
            </a:r>
            <a:endParaRPr lang="en-US" sz="1400" dirty="0"/>
          </a:p>
          <a:p>
            <a:pPr indent="0" marL="0">
              <a:buNone/>
            </a:pPr>
            <a:r>
              <a:rPr lang="en-US" sz="1400" dirty="0">
                <a:solidFill>
                  <a:schemeClr val="tx1"/>
                </a:solidFill>
              </a:rPr>
              <a:t>Zusammenführung in n8n Cloud, Chat-Redaktion als Regel-Code (NER-Modell nur lokal), fünf neue Regeln im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Merge-Workflow und v4 (Rückfall)</a:t>
            </a:r>
            <a:endParaRPr lang="en-US" sz="1400" dirty="0"/>
          </a:p>
          <a:p>
            <a:pPr indent="0" marL="0">
              <a:buNone/>
            </a:pPr>
            <a:r>
              <a:rPr lang="en-US" sz="1400" dirty="0">
                <a:solidFill>
                  <a:schemeClr val="tx1"/>
                </a:solidFill>
              </a:rPr>
              <a:t>unverändert, lauffähig; der Chat nutzt dort den NER-Redaktionsdienst</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Prototyp: offener Link, nur synthetische Daten; Echtbetrieb nur mit Anmeldung</a:t>
            </a:r>
            <a:pPr indent="0" marL="0">
              <a:buNone/>
            </a:pP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damals ohne Hinweis; seit 27.10. Hinweis (Teamentscheidung)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Testbatterie in der Cloud, Lauf 1 (Blindtest, 59 Fälle × 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83,1 % richtige Ampeln, 5 rote übersehen → Regeln fehlten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Fünf Regeln in den Code, Lauf 2 und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96,6 %, keine rote übersehen, 1 Fehlalarm → bedingt bereit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Ergebnisse in Supabase (Tabelle testlaeufe) · Laufzeit Median 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Ergebnis der Testbatterie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Zielwert"/>
          <p:cNvSpPr/>
          <p:nvPr/>
        </p:nvSpPr>
        <p:spPr>
          <a:xfrm>
            <a:off x="548640" y="1325880"/>
            <a:ext cx="3566160" cy="4526280"/>
          </a:xfrm>
          <a:prstGeom prst="roundRect">
            <a:avLst>
              <a:gd name="adj" fmla="val 2051"/>
            </a:avLst>
          </a:prstGeom>
          <a:solidFill>
            <a:schemeClr val="tx2"/>
          </a:solidFill>
          <a:ln/>
        </p:spPr>
        <p:txBody>
          <a:bodyPr/>
          <a:p/>
        </p:txBody>
      </p:sp>
      <p:sp>
        <p:nvSpPr>
          <p:cNvPr id="9" name="Symbolkreis"/>
          <p:cNvSpPr/>
          <p:nvPr/>
        </p:nvSpPr>
        <p:spPr>
          <a:xfrm>
            <a:off x="822960" y="1508760"/>
            <a:ext cx="548640" cy="548640"/>
          </a:xfrm>
          <a:prstGeom prst="ellipse">
            <a:avLst/>
          </a:prstGeom>
          <a:solidFill>
            <a:schemeClr val="accent3"/>
          </a:solidFill>
          <a:ln/>
        </p:spPr>
        <p:txBody>
          <a:bodyPr/>
          <a:p/>
        </p:txBody>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Ergebnis</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96,6 %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auf 59 Fällen × 3 Läufe (Ziel ≥ 98 %); im Blindtest vorher 83,1 %</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Bewertung: 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 (Lauf 1 → Lauf 2 +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 → 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 → 1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noch nicht 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97 % → 99 %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94,9 % → 96,6 %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34 s ✗ / ca. 3 Cent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Set E"/>
          <p:cNvSpPr/>
          <p:nvPr/>
        </p:nvSpPr>
        <p:spPr>
          <a:xfrm>
            <a:off x="548640" y="1325880"/>
            <a:ext cx="2560320" cy="2377440"/>
          </a:xfrm>
          <a:prstGeom prst="roundRect">
            <a:avLst>
              <a:gd name="adj" fmla="val 3077"/>
            </a:avLst>
          </a:prstGeom>
          <a:solidFill>
            <a:schemeClr val="tx2"/>
          </a:solidFill>
          <a:ln/>
        </p:spPr>
        <p:txBody>
          <a:bodyPr/>
          <a:p/>
        </p:txBody>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txBody>
          <a:bodyPr/>
          <a:p/>
        </p:txBody>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txBody>
          <a:bodyPr/>
          <a:p/>
        </p:txBody>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txBody>
          <a:bodyPr/>
          <a:p/>
        </p:txBody>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txBody>
          <a:bodyPr/>
          <a:p/>
        </p:txBody>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txBody>
          <a:bodyPr/>
          <a:p/>
        </p:txBody>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txBody>
          <a:bodyPr/>
          <a:p/>
        </p:txBody>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 Lauf: 123 Fälle, 253 Prüfungen, ca. 45 min, ca. 3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Alle 123 Fälle in Supabase (100 Testbatterie + 23 Prüfvorlage), Ergebnisse in testlaeufe · 10 Fälle brauchen die Verordnungsfall-Prüfung und sind noch nicht gewertet</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Phase"/>
          <p:cNvSpPr/>
          <p:nvPr/>
        </p:nvSpPr>
        <p:spPr>
          <a:xfrm>
            <a:off x="548640" y="1325880"/>
            <a:ext cx="2651760" cy="3657600"/>
          </a:xfrm>
          <a:prstGeom prst="roundRect">
            <a:avLst>
              <a:gd name="adj" fmla="val 2759"/>
            </a:avLst>
          </a:prstGeom>
          <a:solidFill>
            <a:schemeClr val="bg2"/>
          </a:solidFill>
          <a:ln/>
        </p:spPr>
        <p:txBody>
          <a:bodyPr/>
          <a:p/>
        </p:txBody>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txBody>
          <a:bodyPr/>
          <a:p/>
        </p:txBody>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txBody>
          <a:bodyPr/>
          <a:p/>
        </p:txBody>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txBody>
          <a:bodyPr/>
          <a:p/>
        </p:txBody>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txBody>
          <a:bodyPr/>
          <a:p/>
        </p:txBody>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txBody>
          <a:bodyPr/>
          <a:p/>
        </p:txBody>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txBody>
          <a:bodyPr/>
          <a:p/>
        </p:txBody>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txBody>
          <a:bodyPr/>
          <a:p/>
        </p:txBody>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txBody>
          <a:bodyPr/>
          <a:p/>
        </p:txBody>
      </p:sp>
      <p:sp>
        <p:nvSpPr>
          <p:cNvPr id="37" name="Symbolkreis"/>
          <p:cNvSpPr/>
          <p:nvPr/>
        </p:nvSpPr>
        <p:spPr>
          <a:xfrm>
            <a:off x="731520" y="5257800"/>
            <a:ext cx="548640" cy="548640"/>
          </a:xfrm>
          <a:prstGeom prst="ellipse">
            <a:avLst/>
          </a:prstGeom>
          <a:solidFill>
            <a:schemeClr val="accent3"/>
          </a:solidFill>
          <a:ln/>
        </p:spPr>
        <p:txBody>
          <a:bodyPr/>
          <a:p/>
        </p:txBody>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4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txBody>
          <a:bodyPr/>
          <a:p/>
        </p:txBody>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27.10.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2 Läufe + Nachtest ✓</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10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Lernpunkt"/>
          <p:cNvSpPr/>
          <p:nvPr/>
        </p:nvSpPr>
        <p:spPr>
          <a:xfrm>
            <a:off x="548640" y="1325880"/>
            <a:ext cx="3611880" cy="2103120"/>
          </a:xfrm>
          <a:prstGeom prst="roundRect">
            <a:avLst>
              <a:gd name="adj" fmla="val 3478"/>
            </a:avLst>
          </a:prstGeom>
          <a:solidFill>
            <a:schemeClr val="bg2"/>
          </a:solidFill>
          <a:ln/>
        </p:spPr>
        <p:txBody>
          <a:bodyPr/>
          <a:p/>
        </p:txBody>
      </p:sp>
      <p:sp>
        <p:nvSpPr>
          <p:cNvPr id="9" name="Symbolkreis"/>
          <p:cNvSpPr/>
          <p:nvPr/>
        </p:nvSpPr>
        <p:spPr>
          <a:xfrm>
            <a:off x="777240" y="1554480"/>
            <a:ext cx="548640" cy="548640"/>
          </a:xfrm>
          <a:prstGeom prst="ellipse">
            <a:avLst/>
          </a:prstGeom>
          <a:solidFill>
            <a:schemeClr val="accent1"/>
          </a:solidFill>
          <a:ln/>
        </p:spPr>
        <p:txBody>
          <a:bodyPr/>
          <a:p/>
        </p:txBody>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txBody>
          <a:bodyPr/>
          <a:p/>
        </p:txBody>
      </p:sp>
      <p:sp>
        <p:nvSpPr>
          <p:cNvPr id="14" name="Symbolkreis"/>
          <p:cNvSpPr/>
          <p:nvPr/>
        </p:nvSpPr>
        <p:spPr>
          <a:xfrm>
            <a:off x="4572000" y="1554480"/>
            <a:ext cx="548640" cy="548640"/>
          </a:xfrm>
          <a:prstGeom prst="ellipse">
            <a:avLst/>
          </a:prstGeom>
          <a:solidFill>
            <a:schemeClr val="accent1"/>
          </a:solidFill>
          <a:ln/>
        </p:spPr>
        <p:txBody>
          <a:bodyPr/>
          <a:p/>
        </p:txBody>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durch die Testbatterie: 83,1 % → 96,6 % allein durch fünf Regeln im Code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txBody>
          <a:bodyPr/>
          <a:p/>
        </p:txBody>
      </p:sp>
      <p:sp>
        <p:nvSpPr>
          <p:cNvPr id="19" name="Symbolkreis"/>
          <p:cNvSpPr/>
          <p:nvPr/>
        </p:nvSpPr>
        <p:spPr>
          <a:xfrm>
            <a:off x="777240" y="3840480"/>
            <a:ext cx="548640" cy="54864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txBody>
          <a:bodyPr/>
          <a:p/>
        </p:txBody>
      </p:sp>
      <p:sp>
        <p:nvSpPr>
          <p:cNvPr id="24" name="Symbolkreis"/>
          <p:cNvSpPr/>
          <p:nvPr/>
        </p:nvSpPr>
        <p:spPr>
          <a:xfrm>
            <a:off x="4572000" y="3840480"/>
            <a:ext cx="548640" cy="548640"/>
          </a:xfrm>
          <a:prstGeom prst="ellipse">
            <a:avLst/>
          </a:prstGeom>
          <a:solidFill>
            <a:schemeClr val="accent1"/>
          </a:solidFill>
          <a:ln/>
        </p:spPr>
        <p:txBody>
          <a:bodyPr/>
          <a:p/>
        </p:txBody>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txBody>
          <a:bodyPr/>
          <a:p/>
        </p:txBody>
      </p:sp>
      <p:sp>
        <p:nvSpPr>
          <p:cNvPr id="29" name="Symbolkreis"/>
          <p:cNvSpPr/>
          <p:nvPr/>
        </p:nvSpPr>
        <p:spPr>
          <a:xfrm>
            <a:off x="8366760" y="1508760"/>
            <a:ext cx="548640" cy="548640"/>
          </a:xfrm>
          <a:prstGeom prst="ellipse">
            <a:avLst/>
          </a:prstGeom>
          <a:solidFill>
            <a:schemeClr val="accent2"/>
          </a:solidFill>
          <a:ln/>
        </p:spPr>
        <p:txBody>
          <a:bodyPr/>
          <a:p/>
        </p:txBody>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txBody>
          <a:bodyPr/>
          <a:p/>
        </p:txBody>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96,6 %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richtige Ampeln (Ziel 98 %)</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txBody>
          <a:bodyPr/>
          <a:p/>
        </p:txBody>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txBody>
          <a:bodyPr/>
          <a:p/>
        </p:txBody>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txBody>
          <a:bodyPr/>
          <a:p/>
        </p:txBody>
      </p:sp>
      <p:sp>
        <p:nvSpPr>
          <p:cNvPr id="19" name="Symbolkreis"/>
          <p:cNvSpPr/>
          <p:nvPr/>
        </p:nvSpPr>
        <p:spPr>
          <a:xfrm>
            <a:off x="822960" y="4343400"/>
            <a:ext cx="640080" cy="64008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Vorher die KBV-Liste und die Verordnungsfall-Prüfung in den Code bringen.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