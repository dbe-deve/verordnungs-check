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88" r:id="rId39"/>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omas: Ist/Soll und Business Case" id="{08e1af5e-f8a9-583c-8d40-b6b3db30f4fc}">
          <p14:sldIdLst>
            <p14:sldId id="256"/>
            <p14:sldId id="257"/>
            <p14:sldId id="258"/>
            <p14:sldId id="259"/>
            <p14:sldId id="260"/>
            <p14:sldId id="261"/>
            <p14:sldId id="262"/>
            <p14:sldId id="263"/>
            <p14:sldId id="264"/>
          </p14:sldIdLst>
        </p14:section>
        <p14:section name="Valentin: Tools, Architektur, Governance" id="{02f19e3a-5fca-1286-d7fa-fb5ea9c6faf8}">
          <p14:sldIdLst>
            <p14:sldId id="265"/>
            <p14:sldId id="266"/>
            <p14:sldId id="267"/>
            <p14:sldId id="268"/>
            <p14:sldId id="269"/>
            <p14:sldId id="270"/>
            <p14:sldId id="271"/>
            <p14:sldId id="272"/>
            <p14:sldId id="273"/>
            <p14:sldId id="274"/>
            <p14:sldId id="275"/>
            <p14:sldId id="276"/>
          </p14:sldIdLst>
        </p14:section>
        <p14:section name="Derk: Prüfer, Messung, Einsatz" id="{9b1e7dc9-36d9-17b6-6ebd-eebe1c662378}">
          <p14:sldIdLst>
            <p14:sldId id="277"/>
            <p14:sldId id="278"/>
            <p14:sldId id="279"/>
            <p14:sldId id="280"/>
            <p14:sldId id="281"/>
            <p14:sldId id="282"/>
            <p14:sldId id="283"/>
            <p14:sldId id="284"/>
          </p14:sldIdLst>
        </p14:section>
        <p14:section name="Thomas: Schluss" id="{5e50832c-fa30-6364-1b44-6334a5d3da1b}">
          <p14:sldIdLst>
            <p14:sldId id="285"/>
            <p14:sldId id="286"/>
          </p14:sldIdLst>
        </p14:section>
        <p14:section name="Anhang" id="{386a4d56-2371-1b8e-e67c-975d33f57ed2}">
          <p14:sldIdLst>
            <p14:sldId id="28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slide" Target="slides/slide26.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slide" Target="slides/slide31.xml"/><Relationship Id="rId32" Type="http://schemas.openxmlformats.org/officeDocument/2006/relationships/slide" Target="slides/slide32.xml"/><Relationship Id="rId33" Type="http://schemas.openxmlformats.org/officeDocument/2006/relationships/slide" Target="slides/slide33.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39" Type="http://schemas.openxmlformats.org/officeDocument/2006/relationships/slide" Target="slides/slide2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2343B"/>
                </a:solidFill>
                <a:latin typeface="+mn-lt"/>
              </a:defRPr>
            </a:pPr>
            <a:r>
              <a:rPr sz="1400" b="0" i="0" u="none" strike="noStrike">
                <a:solidFill>
                  <a:srgbClr val="12343B"/>
                </a:solidFill>
                <a:latin typeface="+mn-lt"/>
              </a:rPr>
              <a:t>Eingesparte Arbeitgeberkosten je Quartal in €</a:t>
            </a:r>
          </a:p>
        </c:rich>
      </c:tx>
      <c:layout/>
      <c:overlay val="0"/>
    </c:title>
    <c:autoTitleDeleted val="0"/>
    <c:plotArea>
      <c:layout/>
      <c:barChart>
        <c:barDir val="col"/>
        <c:grouping val="stacked"/>
        <c:varyColors val="0"/>
        <c:ser>
          <c:idx val="0"/>
          <c:order val="0"/>
          <c:tx>
            <c:strRef>
              <c:f>Sheet1!$B$1</c:f>
              <c:strCache>
                <c:ptCount val="1"/>
                <c:pt idx="0">
                  <c:v>Jahr 1 (Anlauf)</c:v>
                </c:pt>
              </c:strCache>
            </c:strRef>
          </c:tx>
          <c:spPr>
            <a:solidFill>
              <a:srgbClr val="2A9D8F"/>
            </a:solidFill>
            <a:effectLst/>
          </c:spPr>
          <c:invertIfNegative val="0"/>
          <c:dLbls>
            <c:numFmt formatCode="#,##0;;" sourceLinked="0"/>
            <c:txPr>
              <a:bodyPr/>
              <a:lstStyle/>
              <a:p>
                <a:pPr>
                  <a:defRPr b="0" i="0" strike="noStrike" sz="11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Sheet1!$A$2:$A$9</c:f>
              <c:multiLvlStrCache>
                <c:ptCount val="8"/>
                <c:lvl>
                  <c:pt idx="0">
                    <c:v>Q1</c:v>
                  </c:pt>
                  <c:pt idx="1">
                    <c:v>Q2</c:v>
                  </c:pt>
                  <c:pt idx="2">
                    <c:v>Q3</c:v>
                  </c:pt>
                  <c:pt idx="3">
                    <c:v>Q4</c:v>
                  </c:pt>
                  <c:pt idx="4">
                    <c:v>Q5</c:v>
                  </c:pt>
                  <c:pt idx="5">
                    <c:v>Q6</c:v>
                  </c:pt>
                  <c:pt idx="6">
                    <c:v>Q7</c:v>
                  </c:pt>
                  <c:pt idx="7">
                    <c:v>Q8</c:v>
                  </c:pt>
                </c:lvl>
              </c:multiLvlStrCache>
            </c:multiLvlStrRef>
          </c:cat>
          <c:val>
            <c:numRef>
              <c:f>Sheet1!$B$2:$B$9</c:f>
              <c:numCache>
                <c:formatCode>General</c:formatCode>
                <c:ptCount val="8"/>
                <c:pt idx="0">
                  <c:v>361</c:v>
                </c:pt>
                <c:pt idx="1">
                  <c:v>722</c:v>
                </c:pt>
                <c:pt idx="2">
                  <c:v>903</c:v>
                </c:pt>
                <c:pt idx="3">
                  <c:v>1084</c:v>
                </c:pt>
                <c:pt idx="4">
                  <c:v>0</c:v>
                </c:pt>
                <c:pt idx="5">
                  <c:v>0</c:v>
                </c:pt>
                <c:pt idx="6">
                  <c:v>0</c:v>
                </c:pt>
                <c:pt idx="7">
                  <c:v>0</c:v>
                </c:pt>
              </c:numCache>
            </c:numRef>
          </c:val>
        </c:ser>
        <c:ser>
          <c:idx val="1"/>
          <c:order val="1"/>
          <c:tx>
            <c:strRef>
              <c:f>Sheet1!$C$1</c:f>
              <c:strCache>
                <c:ptCount val="1"/>
                <c:pt idx="0">
                  <c:v>ab Jahr 2</c:v>
                </c:pt>
              </c:strCache>
            </c:strRef>
          </c:tx>
          <c:spPr>
            <a:solidFill>
              <a:srgbClr val="12343B"/>
            </a:solidFill>
            <a:effectLst/>
          </c:spPr>
          <c:invertIfNegative val="0"/>
          <c:dLbls>
            <c:numFmt formatCode="#,##0;;" sourceLinked="0"/>
            <c:txPr>
              <a:bodyPr/>
              <a:lstStyle/>
              <a:p>
                <a:pPr>
                  <a:defRPr b="0" i="0" strike="noStrike" sz="11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Sheet1!$A$2:$A$9</c:f>
              <c:multiLvlStrCache>
                <c:ptCount val="8"/>
                <c:lvl>
                  <c:pt idx="0">
                    <c:v>Q1</c:v>
                  </c:pt>
                  <c:pt idx="1">
                    <c:v>Q2</c:v>
                  </c:pt>
                  <c:pt idx="2">
                    <c:v>Q3</c:v>
                  </c:pt>
                  <c:pt idx="3">
                    <c:v>Q4</c:v>
                  </c:pt>
                  <c:pt idx="4">
                    <c:v>Q5</c:v>
                  </c:pt>
                  <c:pt idx="5">
                    <c:v>Q6</c:v>
                  </c:pt>
                  <c:pt idx="6">
                    <c:v>Q7</c:v>
                  </c:pt>
                  <c:pt idx="7">
                    <c:v>Q8</c:v>
                  </c:pt>
                </c:lvl>
              </c:multiLvlStrCache>
            </c:multiLvlStrRef>
          </c:cat>
          <c:val>
            <c:numRef>
              <c:f>Sheet1!$C$2:$C$9</c:f>
              <c:numCache>
                <c:formatCode>General</c:formatCode>
                <c:ptCount val="8"/>
                <c:pt idx="0">
                  <c:v>0</c:v>
                </c:pt>
                <c:pt idx="1">
                  <c:v>0</c:v>
                </c:pt>
                <c:pt idx="2">
                  <c:v>0</c:v>
                </c:pt>
                <c:pt idx="3">
                  <c:v>0</c:v>
                </c:pt>
                <c:pt idx="4">
                  <c:v>1084</c:v>
                </c:pt>
                <c:pt idx="5">
                  <c:v>1084</c:v>
                </c:pt>
                <c:pt idx="6">
                  <c:v>1084</c:v>
                </c:pt>
                <c:pt idx="7">
                  <c:v>1084</c:v>
                </c:pt>
              </c:numCache>
            </c:numRef>
          </c:val>
        </c:ser>
        <c:dLbls>
          <c:numFmt formatCode="#,##0;;" sourceLinked="0"/>
          <c:txPr>
            <a:bodyPr/>
            <a:lstStyle/>
            <a:p>
              <a:pPr>
                <a:defRPr b="0" i="0" strike="noStrike" sz="1100" u="none">
                  <a:solidFill>
                    <a:srgbClr val="FFFFFF"/>
                  </a:solidFill>
                  <a:latin typeface="+mn-lt"/>
                </a:defRPr>
              </a:pPr>
            </a:p>
          </c:txPr>
          <c:dLblPos val="inEnd"/>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C6B73"/>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DDE6E4"/>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B7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C6B7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THOMAS · ca. 30 Sekunden.
Begrüßung, Team vorstellen. Thema in einem Satz: Wir prüfen ärztliche Heilmittelverordnungen mit KI, bevor die Behandlung beginnt, damit die Rezeption weniger Zeit mit Verwaltung verbringt.
Hinweis: Die Praxis ist anonymisiert, alle Testdaten sind synthetisch.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THOMAS · ca. 1 min.
Wer präsentiert was. Die Reihenfolge folgt den IHK-Kriterien: Ist/Soll und Einsatzfelder, dann Tool-Vergleich und Tool-Auswahl, dann Einsatzplanung und Erfolgsmessung, am Ende Reflexion.
Roter Faden: weniger Verwaltung, mehr Zeit für Patienten.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THOMAS · ca. 1,5 min (IHK: Ist/Soll, Rahmenbedingungen).
Rahmenbedingungen nach IHK-Leitfaden: Branche, Größe, Standorte, Relevanz von KI.
Zwei Praxen: In der einen werden gesetzlich Versicherte behandelt, in der anderen Privatpatienten. Die Terminvergabe ist zentral – das greife ich bei den Einsatzfeldern wieder auf.
Rechts das Formular, um das es geht: Muster 13. Jede Kassenverordnung kommt so an, und die Rezeption prüft jedes Feld, bevor behandelt wird. Die Regeln dafür sind öffentlich – das ist später unser Vorteil für die Wissensbasis.
KI setzt die Praxis bisher nirgends ein.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THOMAS · ca. 1 min (IHK: Ist/Soll, Ist-Analyse).
Unsere Zahlen sind nicht geschätzt, sondern erfragt: eine Stunde Interview mit der Mitinhaberin, Fragebogen mit 13 Fragen, die wichtigsten zuerst.
Links die erste Seite im Original, rechts der Nachtrag: Die Frage nach der bisherigen KI-Nutzung hatten wir im ersten Bogen nicht. Wir haben sie nachgeholt und als eigenen Nachtrag dokumentiert, statt das Original zu ändern.
Ergebnis: keine KI in der Praxis. Das ist kein Ausreißer – laut Destatis nutzte 2024 nur jedes fünfte Unternehmen KI, bei kleinen Unternehmen sind es laut IW gut ein Drittel.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THOMAS · ca. 2 min (IHK: Ist/Soll).
Ablauf heute: Die Rezeption prüft bei der Annahme (im Schnitt 6 min) und noch einmal vor der Abrechnung (ca. 2 min). Bei ca. 40 neuen Kassenverordnungen pro Woche sind das ca. 5,3 Stunden pro Woche.
Kernaussage: 90 % der Fehler entstehen bei Doppel- und Folgeverordnungen. Die Praxissoftware zeigt nicht, wie viele Einheiten ein Patient beim selben Arzt schon hatte. Menschliche Doppelkontrollen sind höchstens ca. 85 % wirksam.
Absetzungen: nur ca. 10 Fälle bzw. ca. 500 € pro Jahr. Der Hebel ist also die Prüfzeit, nicht die Absetzung.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THOMAS · ca. 2,25 min (IHK: Einsatzfelder im Unternehmen).
Bereiche Rezeption, Therapie und Verwaltung an beiden Standorten durchgegangen und jedes Einsatzfeld nach Nutzen und Machbarkeit eingeordnet.
Terminvergabe hat hohen Nutzen, braucht aber eine Schnittstelle zur Praxissoftware. Abrechnung liegt beim Dienstleister. Therapieberichte enthalten Gesundheitsdaten im Freitext – höheres Risiko.
Privatpraxis: Den Verordnungs-Check kann man dort nicht einfach übertragen. Für Privatpatienten gibt es kein Muster 13, keine Fristen und keine Höchstmengen. Das Risiko liegt woanders: Der Patient bleibt auf der Differenz zwischen Rechnung und Erstattung sitzen. Dafür passt ein Erstattungshinweis vor Behandlungsbeginn – ein Hinweis, keine Zusage.
Die zentrale Terminvergabe ist die Weiche zwischen beiden.
Begründung für den Pilot: größtes Problem, öffentliche Regeln, keine Schnittstelle, geringes Risiko, messbar.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THOMAS · ca. 1,5 min (IHK: Ist/Soll, Ziele und Erfolgsindikatoren).
Soll: Die KI prüft vor Behandlungsbeginn, zeigt eine Ampel mit Fundstelle, die Rezeption entscheidet.
Der IHK-Leitfaden verlangt konkrete Erfolgsindikatoren als späteren Kontrollmaßstab. Die vier Ziele hier greift Derk in der Erfolgsmessung wieder auf.
Wichtig: Die Schlussprüfung fällt erst weg, wenn der Parallelbetrieb bestanden 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THOMAS · ca. 1,5 min (IHK: Ist/Soll, Nutzen).
Im ersten Jahr steigt die Ersparnis von 25 % auf 75 % der Prüfzeit, ab dem zweiten Jahr bleibt sie bei 75 %.
Ergebnis: ca. 3.070 € im ersten Jahr, ca. 4.300 € pro Jahr ab dem zweiten Jahr. Das sind rund 4 Stunden pro Woche, also etwa ein halber Minijob.
Wichtig: Der Hebel ist die Zeit, nicht die Absetzungen.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THOMAS · ca. 1 min (IHK: Ist/Soll).
Jede Zahl hat eine Herkunft: gemessen im Interview oder als Annahme gekennzeichnet.
Drei Punkte zur Einordnung: keine Doppelzählung, vermeiden statt ersetzen, Betriebskosten werden gegengerechnet – die KI-Kosten selbst sind klein, das zeigt Valentin gleich im Tool-Vergleich.
Übergabe an Valentin: Mit welchen Werkzeugen erreichen wir 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VALENTIN · ca. 1 min (IHK: Tool-Vergleich).
Wir sind schrittweise vorgegangen, wie es der IHK-Leitfaden verlangt: Anforderungen, Kriterien, Vorauswahl, Praxistest, Fazit.
Jede Anforderung kommt aus Thomas' Ist/Soll und ist einem der fünf IHK-Kriterien zugeordnet. Auf den nächsten Folien vergleichen wir dort, wo wir wirklich entschieden haben: Orchestrierung, Sprachmodell, Wissensbasis, Eingabekanal.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VALENTIN · ca. 1,25 min (IHK: Tool-Vergleich).
Offen ansprechen: n8n ist im Capstone vorgegeben. Wir haben es trotzdem bewertet.
Entscheidend war: Sprachmodell, Vektorsuche, eigene Rechenlogik und Datenbank in einem Werkzeug. Copilot Studio kennen wir, aber die Rechenlogik und Supabase sind dort umständlicher.
Eine reine Regel-Engine scheidet aus, weil die Eingabe Freitext ist und die Regeln in PDFs stehen.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VALENTIN · ca. 1,25 min (IHK: Tool-Vergleich).
Warum das kleine Modell: Die harte Logik rechnet der Code. Das Modell muss lesen, suchen und formulieren – dafür reicht mini. Größere Modelle hätten unseren wichtigsten Fehler nicht gelöst; das hat erst Code geschafft.
EU-Hosting ist für den Echtbetrieb wichtig, im Prototyp arbeiten wir nur mit synthetischen Daten.
Embeddings: Beim Zusammenführen mit meinem Formular-Stand haben wir gelernt, dass das Embedding-Modell zur geladenen Wissensbasis passen muss. Das Chat-Modell haben wir vereinheitlicht, damit die Evaluation vergleichbar bleibt – eine bewusste Entscheidung, keine technische Notwendigkeit.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VALENTIN · ca. 1 min (IHK: Tool-Vergleich).
Kernargument für RAG: Die Rezeption muss jeden Befund nachvollziehen können. Mit RAG nennt jeder Befund seine Fundstelle. Und wenn die KBV ihre Liste zum Jahreswechsel ändert, laden wir neu – kein Training.
Supabase, weil wir ohnehin eine Datenbank für das Protokoll brauchen; die Vektorsuche ist dort eingebaut, und die Daten liegen in Frankfurt.
Was genau in der Wissensbasis steckt, zeige ich auf der nächsten Folie.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VALENTIN · ca. 1 min (IHK: Tool-Vergleich, Tool-Auswahl).
So sehen unsere Quellen im Original aus. Alle drei sind frei zugänglich – deshalb können wir jeden Befund mit Fundstelle belegen.
Die Suche liefert die passende Stelle, aber was als Regel feststeht, rechnet der Code: Fristen aus der Richtlinie, Höchstmenge und Leitsymptomatik aus dem Katalog.
Rechts die ehrliche Grenze: Die KBV-Liste ist eine Tabelle mit zwei Codes und Spalten je Fachbereich. Das Modell findet den Eintrag, wertet ihn aber nicht zuverlässig aus. Deshalb gehört auch diese Liste in den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VALENTIN · ca. 1,25 min (IHK: Tool-Vergleich, Fazit).</a:t>
            </a:r>
            <a:endParaRPr lang="en-US" dirty="0"/>
          </a:p>
          <a:p>
            <a:r>
              <a:rPr lang="en-US" dirty="0"/>
              <a:t>Rechts, woraus die Kosten bestehen: Die KI kostet je nach Kanal nur 70 bis 142 € im Jahr, die Plattform 520 €, für alle Kanäle gleich. Der größte Posten ist die Eingabezeit der Rezeption: 218 € beim Scan bis 1.454 € beim Abtippen im Chat.</a:t>
            </a:r>
            <a:endParaRPr lang="en-US" dirty="0"/>
          </a:p>
          <a:p>
            <a:r>
              <a:rPr lang="en-US" dirty="0"/>
              <a:t>Deshalb steht in der Tabelle je Kanal ein eigener Betrag: von 823 € (Scan) bis 2.054 € (Chat).</a:t>
            </a:r>
            <a:endParaRPr lang="en-US" dirty="0"/>
          </a:p>
          <a:p>
            <a:r>
              <a:rPr lang="en-US" dirty="0"/>
              <a:t>Wir haben bewusst nicht den günstigsten Kanal gewählt, sondern das Formular: keine Lesefehler, und die Patientendaten werden ersetzt, bevor das Modell sie sieht. Qualität und Datenschutz gehen vor rund 700 € im Jahr. Foto und Scan sind der nächste Schritt; eine Scan-Variante läuft als Prototyp, ist aber noch nicht getestet.</a:t>
            </a:r>
            <a:endParaRPr lang="en-US" dirty="0"/>
          </a:p>
          <a:p>
            <a:r>
              <a:rPr lang="en-US" dirty="0"/>
              <a:t>Fazit Tool-Vergleich: n8n, gpt-4.1-mini, Supabase mit RAG, Formular plus Chat.</a:t>
            </a:r>
            <a:endParaRPr lang="en-US" dirty="0"/>
          </a:p>
          <a:p>
            <a:r>
              <a:rPr lang="en-US" dirty="0"/>
              <a:t>Falls gefragt: Die Eingabezeiten sind Annahmen und werden im Pilot gemessen. Einmalige Einrichtung ist nicht enthalten.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VALENTIN · ca. 1,25 min (IHK: Tool-Auswahl und Einsatzplanung).</a:t>
            </a:r>
          </a:p>
          <a:p>
            <a:r>
              <a:t>Der Ablauf in fünf Schritten. Die dunklen Kästen sind Code: Fakten berechnen und Ampel bilden. Die hellen nutzen das Sprachmodell.</a:t>
            </a:r>
          </a:p>
          <a:p>
            <a:r>
              <a:t>Der Leitsatz ist kein Dogma, sondern Ergebnis unserer Tests – das zeige ich auf der nächsten Folie.</a:t>
            </a:r>
          </a:p>
          <a:p>
            <a:r>
              <a:t>PII-Reduktion, also Reduktion personenbezogener Daten (Architekturhinweis): Läuft die Eingabe über den Chat, geht der Text zuerst durch das NER-Modell bert-base-multilingual-cased-ner-hrl plus Regeln. Bei der Formular-Eingabe geht es regelbasiert weiter, Feld für Feld. Im Cloud-Prototyp greifen im Chat heute nur die Regeln, das Modell läuft lokal – echte Daten gehören deshalb nur in das Formular.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VALENTIN · ca. 1,5 min (IHK: Tool-Auswahl).
Das ist unsere wichtigste Architekturentscheidung. Jede Zeile hat einen Beleg aus unseren Tests.
Besonders eindrücklich: Das Modell hat einen Knie-Code der Wirbelsäule zugeordnet – mit Fundstelle und plausibler Begründung. Für die Rezeption ist so ein Fehler kaum zu erkennen.
Das Muster hat sich am 23.10. wiederholt: bei der Leitsymptomatik. Deshalb steht auch diese Regel jetzt im Code.
Ergebnis: kritische Fehlalarme von 12 auf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VALENTIN · ca. 1,25 min (IHK: Tool-Auswahl und Einsatzplanung).</a:t>
            </a:r>
          </a:p>
          <a:p>
            <a:r>
              <a:t>Die übrigen Entscheidungen jeweils mit Alternative.</a:t>
            </a:r>
          </a:p>
          <a:p>
            <a:r>
              <a:t>Hervorheben: Patientendaten ersetzen wir, bevor das Modell sie sieht – das ist auch der Übergang zur Governance.</a:t>
            </a:r>
          </a:p>
          <a:p>
            <a:r>
              <a:t>Und: Der Mensch entscheidet. Das ist nicht nur fachlich richtig, sondern auch für die rechtliche Einordnung wichtig.</a:t>
            </a:r>
          </a:p>
          <a:p>
            <a:r>
              <a:t>Zur PII-Reduktion: Chat über NER-Modell (bert-base-multilingual-cased-ner-hrl) plus Regeln, Formular rein regelbasiert (Folie 16).</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VALENTIN · ca. 2 min (IHK: Tool-Auswahl und Einsatzplanung, rechtliche Rahmenbedingungen).
Wir prüfen in vier Schritten nach der KI-Verordnung (EU) 2024/1689.
1. Ja, es ist ein KI-System. Wir als Entwickler sind Anbieter, die Praxis Betreiberin.
2. Keine verbotene Praxis nach Art. 5.
3. Hochrisiko über Produktrecht nur, wenn es ein Medizinprodukt wäre. Unsere Zweckbestimmung ist administrativ: formale Gültigkeit für die Abrechnung. Keine Diagnose, keine Therapieempfehlung. Laut MDCG-Leitlinie 2019-11 ist Abrechnungs- und Verwaltungssoftware in der Regel kein Medizinprodukt.
4. Anhang III Nr. 5 a klingt ähnlich, trifft aber nicht: Er gilt für Behörden oder Stellen in deren Namen, die über Ansprüche auf öffentliche Leistungen entscheiden. Wir sind eine private Praxis und prüfen ein Dokument; die Kasse entscheidet.
Wichtig: Die Einordnung hängt an der Zweckbestimmung. Würde das System später Therapie vorschlagen oder für eine Kasse Leistungen bewilligen, müssten wir neu prüfen.
Falls gefragt: Hochrisiko-Pflichten gelten nach dem KI-Omnibus (VO (EU) 2026/1744) ohnehin erst ab 02.12.2027 (Anhang III) bzw. 02.08.2028 (Anhang 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VALENTIN · ca. 1 min (IHK: rechtliche Rahmenbedingungen).
Kein Hochrisiko heißt nicht pflichtfrei.
Art. 4 KI-Kompetenz gilt seit Februar 2025. Durch den KI-Omnibus ist es seit Juli 2026 eine Förderpflicht: Maßnahmen ergreifen statt Kompetenz garantieren. Wir setzen das mit einer dokumentierten Einweisung um.
Art. 50 Abs. 1 Transparenz gilt seit 2. August 2026 – bei uns ohnehin offensichtlich, wir kennzeichnen trotzdem.
Die Hochrisiko-Pflichten wie menschliche Aufsicht und Protokollierung übernehmen wir freiwillig.
Die Pflichten für das Basismodell trägt OpenAI.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VALENTIN · ca. 1,5 min (IHK: rechtliche Rahmenbedingungen).</a:t>
            </a:r>
          </a:p>
          <a:p>
            <a:r>
              <a:t>Verordnungen sind Gesundheitsdaten nach Art. 9 DSGVO.</a:t>
            </a:r>
          </a:p>
          <a:p>
            <a:r>
              <a:t>Im Prototyp verarbeiten wir nur synthetische Daten – damit fallen keine personenbezogenen Daten an.</a:t>
            </a:r>
          </a:p>
          <a:p>
            <a:r>
              <a:t>Für den Echtbetrieb ist die Rechtsgrundlage Art. 9 Abs. 2 lit. h mit § 22 BDSG – die gleiche Grundlage, auf der die Praxis heute schon Verordnungen verarbeitet.</a:t>
            </a:r>
          </a:p>
          <a:p>
            <a:r>
              <a:t>Zusätzlich zum Datenschutz gilt das Berufsgeheimnis nach § 203 StGB: Unsere Dienstleister sind mitwirkende Personen und müssen zur Verschwiegenheit verpflichtet werden.</a:t>
            </a:r>
          </a:p>
          <a:p>
            <a:r>
              <a:t>Offen vor Echtbetrieb: Datenschutz-Folgenabschätzung, OpenAI mit EU-Datenresidenz oder Data Privacy Framework.</a:t>
            </a:r>
          </a:p>
          <a:p>
            <a:r>
              <a:t>Übergabe an Derk: Wie gut funktioniert das heute?</a:t>
            </a:r>
          </a:p>
          <a:p>
            <a:r>
              <a:t>Datenminimierung technisch: Im Chat erkennt das NER-Modell Namen auch ohne Rollenwort, ergänzt um Regeln; im Formular ersetzen Regeln die Felder deterministisch. In der Cloud läuft im Chat bisher nur der Regelteil (Folie 16).</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DERK · ca. 1,5 min (IHK: Einsatzplanung, Prototyp als Anwendungsbeispiel).
Alle vier Prüfer folgen demselben Bauplan: Eingabe, Agent, Ausgabe. Das macht sie einzeln testbar.
Wichtig: Die berechneten Fakten aus dem Code sind für die Prüfer verbindlich. So kann das Modell nicht gegen die Rechnung argumentieren.
Jeder Befund hat eine Fundstelle – sonst darf er höchstens ein Hinweis sein.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DERK · ca. 2 min (IHK: Einsatzplanung).
Je Prüfer: Mandat, welche Fakten er vom Code bekommt, und ein Beispiel aus den Tests.
Der wichtigste Ausbau ist die Verordnungsfall-Prüfung: Sie deckt die Folgeverordnungen ab, und dort entstehen laut Field Study 90 % der Fehler.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DERK · ca. 3 min (IHK: Prototyp als Anwendungsbeispiel).
Live-Demo im Cloud-Workflow („Verordnungcheck_gemerged“) über das Formular. Ablauf: Formular ausfüllen, absenden, Ergebnis zeigen, kurz das Protokoll in Supabase.
Zwei Fälle: ein grüner und ein roter. Beim roten den Korrekturhinweis und die Fundstelle vorlesen.
Vorher: Workflow nur mit aktiver Anmeldung freischalten, Testlauf am Morgen. Backup-Video vorher im Tab öffnen, Screenshots als zweiten Rückfall bereithalten.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DERK · ca. 1,5 min (IHK: Einsatzplanung, Prototyp).
Hauptstand ist der Cloud-Workflow; Merge-Workflow und v4 bleiben als lauffähiger Rückfall.
Die Tabelle zeigt ehrlich, wie wir arbeiten: testen, Fehler finden, Ursache klären, beheben, erneut testen.
Offener Punkt: Der Hinweis auf besonderen Verordnungsbedarf ist per Prompt nicht zuverlässig. Lösung nach unserem Leitsatz: die KBV-Liste als Tabelle in den Code.
Zahlen: Läufe 914–933 vom 23.10.; 13 von 20 einwandfrei, die übrigen sind die behobenen Fehlalarme, 4 verpasste KBV-Hinweise und 1 Abbruch.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DERK · ca. 1,5 min (IHK: Erfolgsmessung).
Zielwert: mindestens 98 % richtige Ampeln auf mindestens 50 neuen Fällen, jeder Fall dreimal. Höchstens ein Fehler.
Die harten Bedingungen: kein übersehener roter Fall, höchstens ein kritischer Fehlalarm. Begründung: Ein übersehener Fehler kostet Geld, zu viele Fehlalarme zerstören das Vertrauen.
Referenzstandard sind ausschließlich die Regelwerke, nicht die Meinung des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DERK · ca. 1,5 min (IHK: Erfolgsmessung).
100 neue Fälle, aufgeteilt in ein Evaluationsset, das wir nie zum Nachbessern anschauen, und ein Entwicklungsset.
Das Evaluationsset erfüllt alle Vorgaben: genug grüne, gelbe, rote und Grenzfälle, je Prüfer mindestens fünf rote.
Wichtig: Wir lernen nicht auf den Test – keine Codes aus den Testfällen im Prompt.
Die Ergebnisse der formalen Evaluation vom 27.10. stehen auf der vorigen Folie.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DERK · ca. 2 min (IHK: Einsatzplanung).
Vier Phasen. In der Vorbereitung setzen wir um, was Valentin rechtlich gezeigt hat: Anmeldung, Auftragsverarbeitung, Einweisung.
Sechs Wochen Parallelbetrieb: Die Rezeption prüft wie bisher, das System läuft mit. Erst bei mindestens 98 % Übereinstimmung und keinem übersehenen roten Fall geht es weiter.
Die Phasen hängen direkt am Einsparziel aus dem Business Case: −50 % und −75 %.
Rückfallebene: Die Praxis kann jederzeit wie heute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DERK · ca. 1,5 min (IHK: Einsatzplanung).
Die Risiken mit Gegenmaßnahme. Die ersten beiden haben dieselbe Antwort wie unsere Architektur: Was eine Regel ist, kommt in den Code.
Zeitplan bis zur Prüfung.
Übergabe an Thomas für den Schluss.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THOMAS · ca. 1,5 min (IHK: Reflexion, roter Faden).
Vier Lernpunkte. Der zweite hat sich bis zuletzt bestätigt: Wo eine Regel feststeht, schlägt Code jedes noch so gute Prompting.
Für künftige Projekte: erst die Praxis verstehen, dann bauen; früh messen; die rechtliche Einordnung hängt an der Zweckbestimmung; und die Tool-Auswahl ist nicht statisch.
Auch die Teamarbeit erwähnen: Wechsel von vier auf drei Personen mit klarer Streichliste.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THOMAS · ca. 1,5 min (IHK: Fazit, roter Faden).
Zurück zum Anfang: weniger Verwaltung, mehr Zeit für Patienten.
Drei Zahlen: 96,6 % richtige Ampeln (Ziel 98 %) gegen höchstens ca. 85 % bei menschlicher Doppelkontrolle; Fehler vor der Behandlung statt bei der Abrechnung; ab dem zweiten Jahr ca. 4.300 € pro Jahr an Prüfzeit.
Empfehlung: Pilot im Parallelbetrieb, sechs Wochen, dann entscheiden.
Dank und Übergang zu Fragen.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ANHANG · nicht vortragen, nur bei Rückfragen zeigen.
Quellen zur rechtlichen Einordnung. Bei Nachfragen zum KI-Omnibus: Verordnung (EU) 2026/1744, im Amtsblatt am 24.07.2026, in Kraft seit 27.07.2026.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DERK · ca. 1 min (IHK: Einsatzplanung, Prototyp als Anwendungsbeispiel).</a:t>
            </a:r>
          </a:p>
          <a:p>
            <a:r>
              <a:t>Das ist der Workflow so, wie er in der n8n Cloud läuft. Von links: Eingang über Formular oder Chat, dann rechnet der Code die Fakten.</a:t>
            </a:r>
          </a:p>
          <a:p>
            <a:r>
              <a:t>In der Mitte die vier Prüfer, rechts die Ampel, das Protokoll in Supabase und die Antwort an das Formular.</a:t>
            </a:r>
          </a:p>
          <a:p>
            <a:r>
              <a:t>Merkpunkt: Was sich als Regel aufschreiben lässt, rechnet der Code. Das Sprachmodell formuliert und sucht im Regelwerk.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el dunkel">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8686800" cy="109728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r>
              <a:rPr lang="en-US" sz="4400" b="1" dirty="0">
                <a:solidFill>
                  <a:schemeClr val="bg1"/>
                </a:solidFill>
                <a:latin typeface="Cambria" pitchFamily="34" charset="0"/>
                <a:ea typeface="Cambria" pitchFamily="34" charset="-122"/>
                <a:cs typeface="Cambria" pitchFamily="34" charset="-120"/>
              </a:rPr>
              <a:t>Titel</a:t>
            </a:r>
            <a:endParaRPr lang="en-US" sz="4400" dirty="0"/>
          </a:p>
        </p:txBody>
      </p:sp>
      <p:sp>
        <p:nvSpPr>
          <p:cNvPr id="3" name="Text 0"/>
          <p:cNvSpPr/>
          <p:nvPr>
            <p:ph idx="101" type="body" hasCustomPrompt="1"/>
          </p:nvPr>
        </p:nvSpPr>
        <p:spPr>
          <a:xfrm>
            <a:off x="731520" y="3337560"/>
            <a:ext cx="8686800" cy="1280160"/>
          </a:xfrm>
          <a:prstGeom prst="rect">
            <a:avLst/>
          </a:prstGeom>
          <a:noFill/>
          <a:ln/>
        </p:spPr>
        <p:txBody>
          <a:bodyPr wrap="square" rtlCol="0"/>
          <a:lstStyle>
            <a:lvl1pPr indent="0" marL="0">
              <a:buNone/>
              <a:defRPr lang="en-US" sz="2000" dirty="0">
                <a:solidFill>
                  <a:schemeClr val="accent2"/>
                </a:solidFill>
                <a:latin typeface="Calibri" pitchFamily="34" charset="0"/>
                <a:ea typeface="Calibri" pitchFamily="34" charset="-122"/>
                <a:cs typeface="Calibri" pitchFamily="34" charset="-120"/>
              </a:defRPr>
            </a:lvl1pPr>
          </a:lstStyle>
          <a:p>
            <a:pPr indent="0" marL="0">
              <a:buNone/>
            </a:pPr>
            <a:r>
              <a:rPr lang="en-US" sz="2000" dirty="0">
                <a:solidFill>
                  <a:schemeClr val="accent2"/>
                </a:solidFill>
                <a:latin typeface="Calibri" pitchFamily="34" charset="0"/>
                <a:ea typeface="Calibri" pitchFamily="34" charset="-122"/>
                <a:cs typeface="Calibri" pitchFamily="34" charset="-120"/>
              </a:rPr>
              <a:t>Untertitel</a:t>
            </a: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hal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rtlCol="0"/>
          <a:lstStyle>
            <a:lvl1pPr algn="l" indent="0" marL="0">
              <a:buNone/>
              <a:defRPr lang="en-US" sz="2800" b="1" dirty="0">
                <a:solidFill>
                  <a:schemeClr val="tx2"/>
                </a:solidFill>
                <a:latin typeface="Cambria" pitchFamily="34" charset="0"/>
                <a:ea typeface="Cambria" pitchFamily="34" charset="-122"/>
                <a:cs typeface="Cambria" pitchFamily="34" charset="-120"/>
              </a:defRPr>
            </a:lvl1pPr>
          </a:lstStyle>
          <a:p>
            <a:pPr algn="l" indent="0" marL="0">
              <a:buNone/>
            </a:pPr>
            <a:r>
              <a:rPr lang="en-US" sz="2800" b="1" dirty="0">
                <a:solidFill>
                  <a:schemeClr val="tx2"/>
                </a:solidFill>
                <a:latin typeface="Cambria" pitchFamily="34" charset="0"/>
                <a:ea typeface="Cambria" pitchFamily="34" charset="-122"/>
                <a:cs typeface="Cambria" pitchFamily="34" charset="-120"/>
              </a:rPr>
              <a:t>Titel</a:t>
            </a:r>
            <a:endParaRPr lang="en-US" sz="2800" dirty="0"/>
          </a:p>
        </p:txBody>
      </p:sp>
      <p:sp>
        <p:nvSpPr>
          <p:cNvPr id="3"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accent5"/>
                </a:solidFill>
                <a:latin typeface="Calibri" pitchFamily="34" charset="0"/>
                <a:ea typeface="Calibri" pitchFamily="34" charset="-122"/>
                <a:cs typeface="Calibri" pitchFamily="34" charset="-120"/>
              </a:rPr>
              <a:t>Verordnungs-Check · IHK-Präsentation · Stand 28.10.2026</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halt dunkel">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rtlCol="0"/>
          <a:lstStyle>
            <a:lvl1pPr algn="l" indent="0" marL="0">
              <a:buNone/>
              <a:defRPr lang="en-US" sz="2800" b="1" dirty="0">
                <a:solidFill>
                  <a:schemeClr val="bg1"/>
                </a:solidFill>
                <a:latin typeface="Cambria" pitchFamily="34" charset="0"/>
                <a:ea typeface="Cambria" pitchFamily="34" charset="-122"/>
                <a:cs typeface="Cambria" pitchFamily="34" charset="-120"/>
              </a:defRPr>
            </a:lvl1pPr>
          </a:lstStyle>
          <a:p>
            <a:pPr algn="l" indent="0" marL="0">
              <a:buNone/>
            </a:pPr>
            <a:r>
              <a:rPr lang="en-US" sz="2800" b="1" dirty="0">
                <a:solidFill>
                  <a:schemeClr val="bg1"/>
                </a:solidFill>
                <a:latin typeface="Cambria" pitchFamily="34" charset="0"/>
                <a:ea typeface="Cambria" pitchFamily="34" charset="-122"/>
                <a:cs typeface="Cambria" pitchFamily="34" charset="-120"/>
              </a:rPr>
              <a:t>Titel</a:t>
            </a:r>
            <a:endParaRPr lang="en-US" sz="2800" dirty="0"/>
          </a:p>
        </p:txBody>
      </p:sp>
      <p:sp>
        <p:nvSpPr>
          <p:cNvPr id="3"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bg2"/>
                </a:solidFill>
                <a:latin typeface="Calibri" pitchFamily="34" charset="0"/>
                <a:ea typeface="Calibri" pitchFamily="34" charset="-122"/>
                <a:cs typeface="Calibri" pitchFamily="34" charset="-120"/>
              </a:rPr>
              <a:t>Verordnungs-Check · IHK-Präsentation · Stand 28.10.2026</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chart" Target="../charts/chart1.xml"/><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3.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slideLayout" Target="../slideLayouts/slideLayout3.xml"/><Relationship Id="rId1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2-1.png"/><Relationship Id="rId3" Type="http://schemas.openxmlformats.org/officeDocument/2006/relationships/image" Target="../media/image1.png"/><Relationship Id="rId4" Type="http://schemas.openxmlformats.org/officeDocument/2006/relationships/notesSlide" Target="../notesSlides/notesSlide33.xml"/></Relationships>
</file>

<file path=ppt/slides/_rels/slide23.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3.xml"/><Relationship Id="rId7"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slideLayout" Target="../slideLayouts/slideLayout4.xml"/><Relationship Id="rId7"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3.xml"/><Relationship Id="rId4"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3.xml"/><Relationship Id="rId4"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3.xml"/><Relationship Id="rId3"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3.xml"/><Relationship Id="rId4"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3.xml"/><Relationship Id="rId3"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slideLayout" Target="../slideLayouts/slideLayout3.xml"/><Relationship Id="rId8"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4.xml"/><Relationship Id="rId4"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3.xml"/><Relationship Id="rId3"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8686800" cy="109728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Der Verordnungs-Check</a:t>
            </a:r>
            <a:endParaRPr lang="en-US" sz="4400" dirty="0"/>
          </a:p>
        </p:txBody>
      </p:sp>
      <p:sp>
        <p:nvSpPr>
          <p:cNvPr id="3" name="Text 0"/>
          <p:cNvSpPr/>
          <p:nvPr>
            <p:ph idx="101" type="body" hasCustomPrompt="1"/>
          </p:nvPr>
        </p:nvSpPr>
        <p:spPr>
          <a:xfrm>
            <a:off x="731520" y="3337560"/>
            <a:ext cx="8686800" cy="1280160"/>
          </a:xfrm>
          <a:prstGeom prst="rect">
            <a:avLst/>
          </a:prstGeom>
          <a:noFill/>
          <a:ln/>
        </p:spPr>
        <p:txBody>
          <a:bodyPr wrap="square" lIns="0" tIns="0" rIns="0" bIns="0" rtlCol="0" anchor="t"/>
          <a:lstStyle/>
          <a:p>
            <a:pPr indent="0" marL="0">
              <a:buNone/>
            </a:pPr>
            <a:r>
              <a:rPr lang="en-US" sz="2000" dirty="0">
                <a:solidFill>
                  <a:schemeClr val="accent2"/>
                </a:solidFill>
                <a:latin typeface="Calibri" pitchFamily="34" charset="0"/>
                <a:ea typeface="Calibri" pitchFamily="34" charset="-122"/>
                <a:cs typeface="Calibri" pitchFamily="34" charset="-120"/>
              </a:rPr>
              <a:t>Weniger Admin, mehr Zeit für Patienten</a:t>
            </a:r>
            <a:endParaRPr lang="en-US" sz="2000" dirty="0"/>
          </a:p>
          <a:p>
            <a:pPr indent="0" marL="0">
              <a:buNone/>
            </a:pPr>
            <a:r>
              <a:rPr lang="en-US" sz="2000" dirty="0">
                <a:solidFill>
                  <a:schemeClr val="accent2"/>
                </a:solidFill>
                <a:latin typeface="Calibri" pitchFamily="34" charset="0"/>
                <a:ea typeface="Calibri" pitchFamily="34" charset="-122"/>
                <a:cs typeface="Calibri" pitchFamily="34" charset="-120"/>
              </a:rPr>
              <a:t>IHK-Präsentation · Stand 28.10.2026</a:t>
            </a:r>
            <a:endParaRPr lang="en-US" sz="2000" dirty="0"/>
          </a:p>
        </p:txBody>
      </p:sp>
      <p:sp>
        <p:nvSpPr>
          <p:cNvPr id="4" name="Rolleninhaber"/>
          <p:cNvSpPr/>
          <p:nvPr/>
        </p:nvSpPr>
        <p:spPr>
          <a:xfrm>
            <a:off x="10195560" y="457200"/>
            <a:ext cx="1463040" cy="438912"/>
          </a:xfrm>
          <a:prstGeom prst="roundRect">
            <a:avLst>
              <a:gd name="adj" fmla="val 50000"/>
            </a:avLst>
          </a:prstGeom>
          <a:solidFill>
            <a:schemeClr val="bg1"/>
          </a:solidFill>
          <a:ln/>
        </p:spPr>
        <p:txBody>
          <a:bodyPr/>
          <a:p/>
        </p:txBody>
      </p:sp>
      <p:pic>
        <p:nvPicPr>
          <p:cNvPr id="5"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6"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tx2"/>
                </a:solidFill>
              </a:rPr>
              <a:t>Thomas</a:t>
            </a:r>
            <a:endParaRPr lang="en-US" sz="1500" dirty="0"/>
          </a:p>
        </p:txBody>
      </p:sp>
      <p:sp>
        <p:nvSpPr>
          <p:cNvPr id="7" name="Text 4"/>
          <p:cNvSpPr txBox="1"/>
          <p:nvPr/>
        </p:nvSpPr>
        <p:spPr>
          <a:xfrm>
            <a:off x="731520" y="4846320"/>
            <a:ext cx="8229600" cy="365760"/>
          </a:xfrm>
          <a:prstGeom prst="rect">
            <a:avLst/>
          </a:prstGeom>
          <a:noFill/>
          <a:ln/>
        </p:spPr>
        <p:txBody>
          <a:bodyPr wrap="square" lIns="0" tIns="0" rIns="0" bIns="0" rtlCol="0" anchor="t"/>
          <a:lstStyle/>
          <a:p>
            <a:pPr indent="0" marL="0">
              <a:buNone/>
            </a:pPr>
            <a:r>
              <a:rPr lang="en-US" sz="1600" dirty="0">
                <a:solidFill>
                  <a:schemeClr val="bg1"/>
                </a:solidFill>
              </a:rPr>
              <a:t>Thomas Kullmann · Valentin Klamka · Derk Ermler</a:t>
            </a:r>
            <a:endParaRPr lang="en-US" sz="1600" dirty="0"/>
          </a:p>
        </p:txBody>
      </p:sp>
      <p:sp>
        <p:nvSpPr>
          <p:cNvPr id="8" name="Text 5"/>
          <p:cNvSpPr txBox="1"/>
          <p:nvPr/>
        </p:nvSpPr>
        <p:spPr>
          <a:xfrm>
            <a:off x="731520" y="5257800"/>
            <a:ext cx="9144000" cy="365760"/>
          </a:xfrm>
          <a:prstGeom prst="rect">
            <a:avLst/>
          </a:prstGeom>
          <a:noFill/>
          <a:ln/>
        </p:spPr>
        <p:txBody>
          <a:bodyPr wrap="square" lIns="0" tIns="0" rIns="0" bIns="0" rtlCol="0" anchor="t"/>
          <a:lstStyle/>
          <a:p>
            <a:pPr indent="0" marL="0">
              <a:buNone/>
            </a:pPr>
            <a:r>
              <a:rPr lang="en-US" sz="1300" dirty="0">
                <a:solidFill>
                  <a:schemeClr val="bg2"/>
                </a:solidFill>
              </a:rPr>
              <a:t>KI-gestützte Prüfung von Heilmittelverordnungen (Physiotherapie, GKV, Muster 13) · Praxis anonymisiert, nur synthetische Testdaten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Ablauf: drei Rollen, ein roter Faden</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tx2"/>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Thomas</a:t>
            </a:r>
            <a:endParaRPr lang="en-US" sz="1500" dirty="0"/>
          </a:p>
        </p:txBody>
      </p:sp>
      <p:sp>
        <p:nvSpPr>
          <p:cNvPr id="6" name="Block Thomas"/>
          <p:cNvSpPr/>
          <p:nvPr/>
        </p:nvSpPr>
        <p:spPr>
          <a:xfrm>
            <a:off x="548640" y="1325880"/>
            <a:ext cx="3566160" cy="4206240"/>
          </a:xfrm>
          <a:prstGeom prst="roundRect">
            <a:avLst>
              <a:gd name="adj" fmla="val 2051"/>
            </a:avLst>
          </a:prstGeom>
          <a:solidFill>
            <a:schemeClr val="bg2"/>
          </a:solidFill>
          <a:ln/>
        </p:spPr>
        <p:txBody>
          <a:bodyPr/>
          <a:p/>
        </p:txBody>
      </p:sp>
      <p:sp>
        <p:nvSpPr>
          <p:cNvPr id="7" name="Kopf Thomas"/>
          <p:cNvSpPr/>
          <p:nvPr/>
        </p:nvSpPr>
        <p:spPr>
          <a:xfrm>
            <a:off x="548640" y="1325880"/>
            <a:ext cx="3566160" cy="868680"/>
          </a:xfrm>
          <a:prstGeom prst="roundRect">
            <a:avLst>
              <a:gd name="adj" fmla="val 8421"/>
            </a:avLst>
          </a:prstGeom>
          <a:solidFill>
            <a:schemeClr val="tx2"/>
          </a:solidFill>
          <a:ln/>
        </p:spPr>
        <p:txBody>
          <a:bodyPr/>
          <a:p/>
        </p:txBody>
      </p:sp>
      <p:sp>
        <p:nvSpPr>
          <p:cNvPr id="8" name="Text 5"/>
          <p:cNvSpPr txBox="1"/>
          <p:nvPr/>
        </p:nvSpPr>
        <p:spPr>
          <a:xfrm>
            <a:off x="777240" y="1435608"/>
            <a:ext cx="2651760" cy="384048"/>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Thomas</a:t>
            </a:r>
            <a:endParaRPr lang="en-US" sz="2000" dirty="0"/>
          </a:p>
        </p:txBody>
      </p:sp>
      <p:sp>
        <p:nvSpPr>
          <p:cNvPr id="9" name="Text 6"/>
          <p:cNvSpPr txBox="1"/>
          <p:nvPr/>
        </p:nvSpPr>
        <p:spPr>
          <a:xfrm>
            <a:off x="777240" y="1828800"/>
            <a:ext cx="2651760" cy="292608"/>
          </a:xfrm>
          <a:prstGeom prst="rect">
            <a:avLst/>
          </a:prstGeom>
          <a:noFill/>
          <a:ln/>
        </p:spPr>
        <p:txBody>
          <a:bodyPr wrap="square" lIns="0" tIns="0" rIns="0" bIns="0" rtlCol="0" anchor="t"/>
          <a:lstStyle/>
          <a:p>
            <a:pPr indent="0" marL="0">
              <a:buNone/>
            </a:pPr>
            <a:r>
              <a:rPr lang="en-US" sz="1300" dirty="0">
                <a:solidFill>
                  <a:schemeClr val="bg1"/>
                </a:solidFill>
              </a:rPr>
              <a:t>ca. 10 min</a:t>
            </a:r>
            <a:endParaRPr lang="en-US" sz="1300" dirty="0"/>
          </a:p>
        </p:txBody>
      </p:sp>
      <p:pic>
        <p:nvPicPr>
          <p:cNvPr id="10" name="Personen-Symbol" descr="preencoded.png">    </p:cNvPr>
          <p:cNvPicPr>
            <a:picLocks noChangeAspect="1"/>
          </p:cNvPicPr>
          <p:nvPr/>
        </p:nvPicPr>
        <p:blipFill>
          <a:blip r:embed="rId2"/>
          <a:stretch>
            <a:fillRect/>
          </a:stretch>
        </p:blipFill>
        <p:spPr>
          <a:xfrm>
            <a:off x="3520440" y="1581912"/>
            <a:ext cx="347472" cy="347472"/>
          </a:xfrm>
          <a:prstGeom prst="rect">
            <a:avLst/>
          </a:prstGeom>
        </p:spPr>
      </p:pic>
      <p:sp>
        <p:nvSpPr>
          <p:cNvPr id="11" name="Text 7"/>
          <p:cNvSpPr txBox="1"/>
          <p:nvPr/>
        </p:nvSpPr>
        <p:spPr>
          <a:xfrm>
            <a:off x="777240" y="2331720"/>
            <a:ext cx="3108960" cy="320040"/>
          </a:xfrm>
          <a:prstGeom prst="rect">
            <a:avLst/>
          </a:prstGeom>
          <a:noFill/>
          <a:ln/>
        </p:spPr>
        <p:txBody>
          <a:bodyPr wrap="square" lIns="0" tIns="0" rIns="0" bIns="0" rtlCol="0" anchor="t"/>
          <a:lstStyle/>
          <a:p>
            <a:pPr indent="0" marL="0">
              <a:buNone/>
            </a:pPr>
            <a:r>
              <a:rPr lang="en-US" sz="1300" i="1" dirty="0">
                <a:solidFill>
                  <a:schemeClr val="accent5"/>
                </a:solidFill>
              </a:rPr>
              <a:t>Koordination, Ist/Soll &amp; Business Case</a:t>
            </a:r>
            <a:endParaRPr lang="en-US" sz="1300" dirty="0"/>
          </a:p>
        </p:txBody>
      </p:sp>
      <p:sp>
        <p:nvSpPr>
          <p:cNvPr id="12" name="Text 8"/>
          <p:cNvSpPr txBox="1"/>
          <p:nvPr/>
        </p:nvSpPr>
        <p:spPr>
          <a:xfrm>
            <a:off x="777240" y="2788920"/>
            <a:ext cx="3154680" cy="201168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chemeClr val="tx1"/>
                </a:solidFill>
              </a:rPr>
              <a:t>Unternehmen, Field Study, Ist</a:t>
            </a:r>
            <a:endParaRPr lang="en-US" sz="1400" dirty="0"/>
          </a:p>
          <a:p>
            <a:pPr marL="177800" indent="-177800">
              <a:spcAft>
                <a:spcPts val="500"/>
              </a:spcAft>
              <a:buSzPct val="100000"/>
              <a:buChar char="•"/>
            </a:pPr>
            <a:r>
              <a:rPr lang="en-US" sz="1500" dirty="0">
                <a:solidFill>
                  <a:schemeClr val="tx1"/>
                </a:solidFill>
              </a:rPr>
              <a:t>Einsatzfelder an zwei Standorten</a:t>
            </a:r>
            <a:endParaRPr lang="en-US" sz="1400" dirty="0"/>
          </a:p>
          <a:p>
            <a:pPr marL="177800" indent="-177800">
              <a:spcAft>
                <a:spcPts val="500"/>
              </a:spcAft>
              <a:buSzPct val="100000"/>
              <a:buChar char="•"/>
            </a:pPr>
            <a:r>
              <a:rPr lang="en-US" sz="1500" dirty="0">
                <a:solidFill>
                  <a:schemeClr val="tx1"/>
                </a:solidFill>
              </a:rPr>
              <a:t>Soll, Ziele, Business Case</a:t>
            </a:r>
            <a:endParaRPr lang="en-US" sz="1400" dirty="0"/>
          </a:p>
          <a:p>
            <a:pPr marL="177800" indent="-177800">
              <a:spcAft>
                <a:spcPts val="500"/>
              </a:spcAft>
              <a:buSzPct val="100000"/>
              <a:buChar char="•"/>
            </a:pPr>
            <a:r>
              <a:rPr lang="en-US" sz="1500" dirty="0">
                <a:solidFill>
                  <a:schemeClr val="tx1"/>
                </a:solidFill>
              </a:rPr>
              <a:t>Schluss: Reflexion und Fazit</a:t>
            </a:r>
            <a:endParaRPr lang="en-US" sz="1400" dirty="0"/>
          </a:p>
        </p:txBody>
      </p:sp>
      <p:sp>
        <p:nvSpPr>
          <p:cNvPr id="13" name="Text 9"/>
          <p:cNvSpPr txBox="1"/>
          <p:nvPr/>
        </p:nvSpPr>
        <p:spPr>
          <a:xfrm>
            <a:off x="777240" y="4892040"/>
            <a:ext cx="3108960" cy="502920"/>
          </a:xfrm>
          <a:prstGeom prst="rect">
            <a:avLst/>
          </a:prstGeom>
          <a:noFill/>
          <a:ln/>
        </p:spPr>
        <p:txBody>
          <a:bodyPr wrap="square" lIns="0" tIns="0" rIns="0" bIns="0" rtlCol="0" anchor="t"/>
          <a:lstStyle/>
          <a:p>
            <a:pPr indent="0" marL="0">
              <a:buNone/>
            </a:pPr>
            <a:r>
              <a:rPr lang="en-US" sz="1200" b="1" dirty="0">
                <a:solidFill>
                  <a:schemeClr val="tx2"/>
                </a:solidFill>
              </a:rPr>
              <a:t>IHK-Kriterien: Ist/Soll · Einsatzfelder · Roter Faden</a:t>
            </a:r>
            <a:endParaRPr lang="en-US" sz="1200" dirty="0"/>
          </a:p>
        </p:txBody>
      </p:sp>
      <p:sp>
        <p:nvSpPr>
          <p:cNvPr id="14" name="Block Valentin"/>
          <p:cNvSpPr/>
          <p:nvPr/>
        </p:nvSpPr>
        <p:spPr>
          <a:xfrm>
            <a:off x="4297680" y="1325880"/>
            <a:ext cx="3566160" cy="4206240"/>
          </a:xfrm>
          <a:prstGeom prst="roundRect">
            <a:avLst>
              <a:gd name="adj" fmla="val 2051"/>
            </a:avLst>
          </a:prstGeom>
          <a:solidFill>
            <a:schemeClr val="bg2"/>
          </a:solidFill>
          <a:ln/>
        </p:spPr>
        <p:txBody>
          <a:bodyPr/>
          <a:p/>
        </p:txBody>
      </p:sp>
      <p:sp>
        <p:nvSpPr>
          <p:cNvPr id="15" name="Kopf Valentin"/>
          <p:cNvSpPr/>
          <p:nvPr/>
        </p:nvSpPr>
        <p:spPr>
          <a:xfrm>
            <a:off x="4297680" y="1325880"/>
            <a:ext cx="3566160" cy="868680"/>
          </a:xfrm>
          <a:prstGeom prst="roundRect">
            <a:avLst>
              <a:gd name="adj" fmla="val 8421"/>
            </a:avLst>
          </a:prstGeom>
          <a:solidFill>
            <a:schemeClr val="accent1"/>
          </a:solidFill>
          <a:ln/>
        </p:spPr>
        <p:txBody>
          <a:bodyPr/>
          <a:p/>
        </p:txBody>
      </p:sp>
      <p:sp>
        <p:nvSpPr>
          <p:cNvPr id="16" name="Text 12"/>
          <p:cNvSpPr txBox="1"/>
          <p:nvPr/>
        </p:nvSpPr>
        <p:spPr>
          <a:xfrm>
            <a:off x="4526280" y="1435608"/>
            <a:ext cx="2651760" cy="384048"/>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Valentin</a:t>
            </a:r>
            <a:endParaRPr lang="en-US" sz="2000" dirty="0"/>
          </a:p>
        </p:txBody>
      </p:sp>
      <p:sp>
        <p:nvSpPr>
          <p:cNvPr id="17" name="Text 13"/>
          <p:cNvSpPr txBox="1"/>
          <p:nvPr/>
        </p:nvSpPr>
        <p:spPr>
          <a:xfrm>
            <a:off x="4526280" y="1828800"/>
            <a:ext cx="2651760" cy="292608"/>
          </a:xfrm>
          <a:prstGeom prst="rect">
            <a:avLst/>
          </a:prstGeom>
          <a:noFill/>
          <a:ln/>
        </p:spPr>
        <p:txBody>
          <a:bodyPr wrap="square" lIns="0" tIns="0" rIns="0" bIns="0" rtlCol="0" anchor="t"/>
          <a:lstStyle/>
          <a:p>
            <a:pPr indent="0" marL="0">
              <a:buNone/>
            </a:pPr>
            <a:r>
              <a:rPr lang="en-US" sz="1300" dirty="0">
                <a:solidFill>
                  <a:schemeClr val="bg1"/>
                </a:solidFill>
              </a:rPr>
              <a:t>ca. 10 min</a:t>
            </a:r>
            <a:endParaRPr lang="en-US" sz="1300" dirty="0"/>
          </a:p>
        </p:txBody>
      </p:sp>
      <p:pic>
        <p:nvPicPr>
          <p:cNvPr id="18" name="Personen-Symbol" descr="preencoded.png">    </p:cNvPr>
          <p:cNvPicPr>
            <a:picLocks noChangeAspect="1"/>
          </p:cNvPicPr>
          <p:nvPr/>
        </p:nvPicPr>
        <p:blipFill>
          <a:blip r:embed="rId3"/>
          <a:stretch>
            <a:fillRect/>
          </a:stretch>
        </p:blipFill>
        <p:spPr>
          <a:xfrm>
            <a:off x="7269480" y="1581912"/>
            <a:ext cx="347472" cy="347472"/>
          </a:xfrm>
          <a:prstGeom prst="rect">
            <a:avLst/>
          </a:prstGeom>
        </p:spPr>
      </p:pic>
      <p:sp>
        <p:nvSpPr>
          <p:cNvPr id="19" name="Text 14"/>
          <p:cNvSpPr txBox="1"/>
          <p:nvPr/>
        </p:nvSpPr>
        <p:spPr>
          <a:xfrm>
            <a:off x="4526280" y="2331720"/>
            <a:ext cx="3108960" cy="320040"/>
          </a:xfrm>
          <a:prstGeom prst="rect">
            <a:avLst/>
          </a:prstGeom>
          <a:noFill/>
          <a:ln/>
        </p:spPr>
        <p:txBody>
          <a:bodyPr wrap="square" lIns="0" tIns="0" rIns="0" bIns="0" rtlCol="0" anchor="t"/>
          <a:lstStyle/>
          <a:p>
            <a:pPr indent="0" marL="0">
              <a:buNone/>
            </a:pPr>
            <a:r>
              <a:rPr lang="en-US" sz="1300" i="1" dirty="0">
                <a:solidFill>
                  <a:schemeClr val="accent5"/>
                </a:solidFill>
              </a:rPr>
              <a:t>Tools, Architektur &amp; Governance</a:t>
            </a:r>
            <a:endParaRPr lang="en-US" sz="1300" dirty="0"/>
          </a:p>
        </p:txBody>
      </p:sp>
      <p:sp>
        <p:nvSpPr>
          <p:cNvPr id="20" name="Text 15"/>
          <p:cNvSpPr txBox="1"/>
          <p:nvPr/>
        </p:nvSpPr>
        <p:spPr>
          <a:xfrm>
            <a:off x="4526280" y="2788920"/>
            <a:ext cx="3154680" cy="201168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chemeClr val="tx1"/>
                </a:solidFill>
              </a:rPr>
              <a:t>Tool-Vergleich: warum, warum nicht</a:t>
            </a:r>
            <a:endParaRPr lang="en-US" sz="1400" dirty="0"/>
          </a:p>
          <a:p>
            <a:pPr marL="177800" indent="-177800">
              <a:spcAft>
                <a:spcPts val="500"/>
              </a:spcAft>
              <a:buSzPct val="100000"/>
              <a:buChar char="•"/>
            </a:pPr>
            <a:r>
              <a:rPr lang="en-US" sz="1500" dirty="0">
                <a:solidFill>
                  <a:schemeClr val="tx1"/>
                </a:solidFill>
              </a:rPr>
              <a:t>Architekturentscheidungen</a:t>
            </a:r>
            <a:endParaRPr lang="en-US" sz="1400" dirty="0"/>
          </a:p>
          <a:p>
            <a:pPr marL="177800" indent="-177800">
              <a:spcAft>
                <a:spcPts val="500"/>
              </a:spcAft>
              <a:buSzPct val="100000"/>
              <a:buChar char="•"/>
            </a:pPr>
            <a:r>
              <a:rPr lang="en-US" sz="1500" dirty="0">
                <a:solidFill>
                  <a:schemeClr val="tx1"/>
                </a:solidFill>
              </a:rPr>
              <a:t>EU AI Act und DSGVO</a:t>
            </a:r>
            <a:endParaRPr lang="en-US" sz="1400" dirty="0"/>
          </a:p>
        </p:txBody>
      </p:sp>
      <p:sp>
        <p:nvSpPr>
          <p:cNvPr id="21" name="Text 16"/>
          <p:cNvSpPr txBox="1"/>
          <p:nvPr/>
        </p:nvSpPr>
        <p:spPr>
          <a:xfrm>
            <a:off x="4526280" y="4892040"/>
            <a:ext cx="3108960" cy="502920"/>
          </a:xfrm>
          <a:prstGeom prst="rect">
            <a:avLst/>
          </a:prstGeom>
          <a:noFill/>
          <a:ln/>
        </p:spPr>
        <p:txBody>
          <a:bodyPr wrap="square" lIns="0" tIns="0" rIns="0" bIns="0" rtlCol="0" anchor="t"/>
          <a:lstStyle/>
          <a:p>
            <a:pPr indent="0" marL="0">
              <a:buNone/>
            </a:pPr>
            <a:r>
              <a:rPr lang="en-US" sz="1200" b="1" dirty="0">
                <a:solidFill>
                  <a:schemeClr val="accent1"/>
                </a:solidFill>
              </a:rPr>
              <a:t>IHK-Kriterien: Tool-Vergleich · Tool-Auswahl</a:t>
            </a:r>
            <a:endParaRPr lang="en-US" sz="1200" dirty="0"/>
          </a:p>
        </p:txBody>
      </p:sp>
      <p:sp>
        <p:nvSpPr>
          <p:cNvPr id="22" name="Block Derk"/>
          <p:cNvSpPr/>
          <p:nvPr/>
        </p:nvSpPr>
        <p:spPr>
          <a:xfrm>
            <a:off x="8046720" y="1325880"/>
            <a:ext cx="3566160" cy="4206240"/>
          </a:xfrm>
          <a:prstGeom prst="roundRect">
            <a:avLst>
              <a:gd name="adj" fmla="val 2051"/>
            </a:avLst>
          </a:prstGeom>
          <a:solidFill>
            <a:schemeClr val="bg2"/>
          </a:solidFill>
          <a:ln/>
        </p:spPr>
        <p:txBody>
          <a:bodyPr/>
          <a:p/>
        </p:txBody>
      </p:sp>
      <p:sp>
        <p:nvSpPr>
          <p:cNvPr id="23" name="Kopf Derk"/>
          <p:cNvSpPr/>
          <p:nvPr/>
        </p:nvSpPr>
        <p:spPr>
          <a:xfrm>
            <a:off x="8046720" y="1325880"/>
            <a:ext cx="3566160" cy="868680"/>
          </a:xfrm>
          <a:prstGeom prst="roundRect">
            <a:avLst>
              <a:gd name="adj" fmla="val 8421"/>
            </a:avLst>
          </a:prstGeom>
          <a:solidFill>
            <a:schemeClr val="accent3"/>
          </a:solidFill>
          <a:ln/>
        </p:spPr>
        <p:txBody>
          <a:bodyPr/>
          <a:p/>
        </p:txBody>
      </p:sp>
      <p:sp>
        <p:nvSpPr>
          <p:cNvPr id="24" name="Text 19"/>
          <p:cNvSpPr txBox="1"/>
          <p:nvPr/>
        </p:nvSpPr>
        <p:spPr>
          <a:xfrm>
            <a:off x="8275320" y="1435608"/>
            <a:ext cx="2651760" cy="384048"/>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Derk</a:t>
            </a:r>
            <a:endParaRPr lang="en-US" sz="2000" dirty="0"/>
          </a:p>
        </p:txBody>
      </p:sp>
      <p:sp>
        <p:nvSpPr>
          <p:cNvPr id="25" name="Text 20"/>
          <p:cNvSpPr txBox="1"/>
          <p:nvPr/>
        </p:nvSpPr>
        <p:spPr>
          <a:xfrm>
            <a:off x="8275320" y="1828800"/>
            <a:ext cx="2651760" cy="292608"/>
          </a:xfrm>
          <a:prstGeom prst="rect">
            <a:avLst/>
          </a:prstGeom>
          <a:noFill/>
          <a:ln/>
        </p:spPr>
        <p:txBody>
          <a:bodyPr wrap="square" lIns="0" tIns="0" rIns="0" bIns="0" rtlCol="0" anchor="t"/>
          <a:lstStyle/>
          <a:p>
            <a:pPr indent="0" marL="0">
              <a:buNone/>
            </a:pPr>
            <a:r>
              <a:rPr lang="en-US" sz="1300" dirty="0">
                <a:solidFill>
                  <a:schemeClr val="bg1"/>
                </a:solidFill>
              </a:rPr>
              <a:t>ca. 10 min</a:t>
            </a:r>
            <a:endParaRPr lang="en-US" sz="1300" dirty="0"/>
          </a:p>
        </p:txBody>
      </p:sp>
      <p:pic>
        <p:nvPicPr>
          <p:cNvPr id="26" name="Personen-Symbol" descr="preencoded.png">    </p:cNvPr>
          <p:cNvPicPr>
            <a:picLocks noChangeAspect="1"/>
          </p:cNvPicPr>
          <p:nvPr/>
        </p:nvPicPr>
        <p:blipFill>
          <a:blip r:embed="rId4"/>
          <a:stretch>
            <a:fillRect/>
          </a:stretch>
        </p:blipFill>
        <p:spPr>
          <a:xfrm>
            <a:off x="11018520" y="1581912"/>
            <a:ext cx="347472" cy="347472"/>
          </a:xfrm>
          <a:prstGeom prst="rect">
            <a:avLst/>
          </a:prstGeom>
        </p:spPr>
      </p:pic>
      <p:sp>
        <p:nvSpPr>
          <p:cNvPr id="27" name="Text 21"/>
          <p:cNvSpPr txBox="1"/>
          <p:nvPr/>
        </p:nvSpPr>
        <p:spPr>
          <a:xfrm>
            <a:off x="8275320" y="2331720"/>
            <a:ext cx="3108960" cy="320040"/>
          </a:xfrm>
          <a:prstGeom prst="rect">
            <a:avLst/>
          </a:prstGeom>
          <a:noFill/>
          <a:ln/>
        </p:spPr>
        <p:txBody>
          <a:bodyPr wrap="square" lIns="0" tIns="0" rIns="0" bIns="0" rtlCol="0" anchor="t"/>
          <a:lstStyle/>
          <a:p>
            <a:pPr indent="0" marL="0">
              <a:buNone/>
            </a:pPr>
            <a:r>
              <a:rPr lang="en-US" sz="1300" i="1" dirty="0">
                <a:solidFill>
                  <a:schemeClr val="accent5"/>
                </a:solidFill>
              </a:rPr>
              <a:t>Build, Demo &amp; Evaluation</a:t>
            </a:r>
            <a:endParaRPr lang="en-US" sz="1300" dirty="0"/>
          </a:p>
        </p:txBody>
      </p:sp>
      <p:sp>
        <p:nvSpPr>
          <p:cNvPr id="28" name="Text 22"/>
          <p:cNvSpPr txBox="1"/>
          <p:nvPr/>
        </p:nvSpPr>
        <p:spPr>
          <a:xfrm>
            <a:off x="8275320" y="2788920"/>
            <a:ext cx="3154680" cy="201168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chemeClr val="tx1"/>
                </a:solidFill>
              </a:rPr>
              <a:t>Die vier Prüfer</a:t>
            </a:r>
            <a:endParaRPr lang="en-US" sz="1400" dirty="0"/>
          </a:p>
          <a:p>
            <a:pPr marL="177800" indent="-177800">
              <a:spcAft>
                <a:spcPts val="500"/>
              </a:spcAft>
              <a:buSzPct val="100000"/>
              <a:buChar char="•"/>
            </a:pPr>
            <a:r>
              <a:rPr lang="en-US" sz="1500" dirty="0">
                <a:solidFill>
                  <a:schemeClr val="tx1"/>
                </a:solidFill>
              </a:rPr>
              <a:t>Live-Demo</a:t>
            </a:r>
            <a:endParaRPr lang="en-US" sz="1400" dirty="0"/>
          </a:p>
          <a:p>
            <a:pPr marL="177800" indent="-177800">
              <a:spcAft>
                <a:spcPts val="500"/>
              </a:spcAft>
              <a:buSzPct val="100000"/>
              <a:buChar char="•"/>
            </a:pPr>
            <a:r>
              <a:rPr lang="en-US" sz="1500" dirty="0">
                <a:solidFill>
                  <a:schemeClr val="tx1"/>
                </a:solidFill>
              </a:rPr>
              <a:t>Erfolgsmessung, Testbatterie</a:t>
            </a:r>
            <a:endParaRPr lang="en-US" sz="1400" dirty="0"/>
          </a:p>
          <a:p>
            <a:pPr marL="177800" indent="-177800">
              <a:spcAft>
                <a:spcPts val="500"/>
              </a:spcAft>
              <a:buSzPct val="100000"/>
              <a:buChar char="•"/>
            </a:pPr>
            <a:r>
              <a:rPr lang="en-US" sz="1500" dirty="0">
                <a:solidFill>
                  <a:schemeClr val="tx1"/>
                </a:solidFill>
              </a:rPr>
              <a:t>Einsatzplanung und Risiken</a:t>
            </a:r>
            <a:endParaRPr lang="en-US" sz="1400" dirty="0"/>
          </a:p>
        </p:txBody>
      </p:sp>
      <p:sp>
        <p:nvSpPr>
          <p:cNvPr id="29" name="Text 23"/>
          <p:cNvSpPr txBox="1"/>
          <p:nvPr/>
        </p:nvSpPr>
        <p:spPr>
          <a:xfrm>
            <a:off x="8275320" y="4892040"/>
            <a:ext cx="3108960" cy="502920"/>
          </a:xfrm>
          <a:prstGeom prst="rect">
            <a:avLst/>
          </a:prstGeom>
          <a:noFill/>
          <a:ln/>
        </p:spPr>
        <p:txBody>
          <a:bodyPr wrap="square" lIns="0" tIns="0" rIns="0" bIns="0" rtlCol="0" anchor="t"/>
          <a:lstStyle/>
          <a:p>
            <a:pPr indent="0" marL="0">
              <a:buNone/>
            </a:pPr>
            <a:r>
              <a:rPr lang="en-US" sz="1200" b="1" dirty="0">
                <a:solidFill>
                  <a:schemeClr val="accent3"/>
                </a:solidFill>
              </a:rPr>
              <a:t>IHK-Kriterien: Einsatzplanung · Erfolgsmessung</a:t>
            </a:r>
            <a:endParaRPr lang="en-US" sz="1200" dirty="0"/>
          </a:p>
        </p:txBody>
      </p:sp>
      <p:sp>
        <p:nvSpPr>
          <p:cNvPr id="30" name="Text 24"/>
          <p:cNvSpPr txBox="1"/>
          <p:nvPr/>
        </p:nvSpPr>
        <p:spPr>
          <a:xfrm>
            <a:off x="548640" y="5669280"/>
            <a:ext cx="11064240" cy="320040"/>
          </a:xfrm>
          <a:prstGeom prst="rect">
            <a:avLst/>
          </a:prstGeom>
          <a:noFill/>
          <a:ln/>
        </p:spPr>
        <p:txBody>
          <a:bodyPr wrap="square" lIns="0" tIns="0" rIns="0" bIns="0" rtlCol="0" anchor="t"/>
          <a:lstStyle/>
          <a:p>
            <a:pPr indent="0" marL="0">
              <a:buNone/>
            </a:pPr>
            <a:r>
              <a:rPr lang="en-US" sz="1300" b="1" dirty="0">
                <a:solidFill>
                  <a:schemeClr val="tx2"/>
                </a:solidFill>
              </a:rPr>
              <a:t>Gesamt ca. 30 min · Orthografie und Schreibstil verantworten wir gemeinsam im Vier-Augen-Prinzip</a:t>
            </a:r>
            <a:endParaRPr lang="en-US" sz="1300" dirty="0"/>
          </a:p>
        </p:txBody>
      </p:sp>
      <p:sp>
        <p:nvSpPr>
          <p:cNvPr id="31"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Das Unternehmen: Physiotherapie im GKV-System</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tx2"/>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Thomas</a:t>
            </a:r>
            <a:endParaRPr lang="en-US" sz="1500" dirty="0"/>
          </a:p>
        </p:txBody>
      </p:sp>
      <p:sp>
        <p:nvSpPr>
          <p:cNvPr id="6" name="Kennzahl"/>
          <p:cNvSpPr/>
          <p:nvPr/>
        </p:nvSpPr>
        <p:spPr>
          <a:xfrm>
            <a:off x="548640" y="1325880"/>
            <a:ext cx="3291840" cy="1325880"/>
          </a:xfrm>
          <a:prstGeom prst="roundRect">
            <a:avLst>
              <a:gd name="adj" fmla="val 5517"/>
            </a:avLst>
          </a:prstGeom>
          <a:solidFill>
            <a:schemeClr val="bg2"/>
          </a:solidFill>
          <a:ln/>
        </p:spPr>
        <p:txBody>
          <a:bodyPr/>
          <a:p/>
        </p:txBody>
      </p:sp>
      <p:sp>
        <p:nvSpPr>
          <p:cNvPr id="7" name="Symbolkreis"/>
          <p:cNvSpPr/>
          <p:nvPr/>
        </p:nvSpPr>
        <p:spPr>
          <a:xfrm>
            <a:off x="731520" y="1527048"/>
            <a:ext cx="530352" cy="530352"/>
          </a:xfrm>
          <a:prstGeom prst="ellipse">
            <a:avLst/>
          </a:prstGeom>
          <a:solidFill>
            <a:schemeClr val="accent1"/>
          </a:solidFill>
          <a:ln/>
        </p:spPr>
        <p:txBody>
          <a:bodyPr/>
          <a:p/>
        </p:txBody>
      </p:sp>
      <p:pic>
        <p:nvPicPr>
          <p:cNvPr id="8" name="Symbol" descr="preencoded.png">    </p:cNvPr>
          <p:cNvPicPr>
            <a:picLocks noChangeAspect="1"/>
          </p:cNvPicPr>
          <p:nvPr/>
        </p:nvPicPr>
        <p:blipFill>
          <a:blip r:embed="rId2"/>
          <a:stretch>
            <a:fillRect/>
          </a:stretch>
        </p:blipFill>
        <p:spPr>
          <a:xfrm>
            <a:off x="864108" y="1659636"/>
            <a:ext cx="265176" cy="265176"/>
          </a:xfrm>
          <a:prstGeom prst="rect">
            <a:avLst/>
          </a:prstGeom>
        </p:spPr>
      </p:pic>
      <p:sp>
        <p:nvSpPr>
          <p:cNvPr id="9" name="Text 5"/>
          <p:cNvSpPr txBox="1"/>
          <p:nvPr/>
        </p:nvSpPr>
        <p:spPr>
          <a:xfrm>
            <a:off x="1417320" y="1435608"/>
            <a:ext cx="2286000" cy="502920"/>
          </a:xfrm>
          <a:prstGeom prst="rect">
            <a:avLst/>
          </a:prstGeom>
          <a:noFill/>
          <a:ln/>
        </p:spPr>
        <p:txBody>
          <a:bodyPr wrap="square" lIns="0" tIns="0" rIns="0" bIns="0" rtlCol="0" anchor="t"/>
          <a:lstStyle/>
          <a:p>
            <a:pPr indent="0" marL="0">
              <a:buNone/>
            </a:pPr>
            <a:r>
              <a:rPr lang="en-US" sz="2800" b="1" dirty="0">
                <a:solidFill>
                  <a:schemeClr val="tx2"/>
                </a:solidFill>
                <a:latin typeface="Cambria" pitchFamily="34" charset="0"/>
                <a:ea typeface="Cambria" pitchFamily="34" charset="-122"/>
                <a:cs typeface="Cambria" pitchFamily="34" charset="-120"/>
              </a:rPr>
              <a:t>2 Praxen</a:t>
            </a:r>
            <a:endParaRPr lang="en-US" sz="2800" dirty="0"/>
          </a:p>
        </p:txBody>
      </p:sp>
      <p:sp>
        <p:nvSpPr>
          <p:cNvPr id="10" name="Text 6"/>
          <p:cNvSpPr txBox="1"/>
          <p:nvPr/>
        </p:nvSpPr>
        <p:spPr>
          <a:xfrm>
            <a:off x="1417320" y="1965960"/>
            <a:ext cx="2331720" cy="594360"/>
          </a:xfrm>
          <a:prstGeom prst="rect">
            <a:avLst/>
          </a:prstGeom>
          <a:noFill/>
          <a:ln/>
        </p:spPr>
        <p:txBody>
          <a:bodyPr wrap="square" lIns="0" tIns="0" rIns="0" bIns="0" rtlCol="0" anchor="t"/>
          <a:lstStyle/>
          <a:p>
            <a:pPr indent="0" marL="0">
              <a:buNone/>
            </a:pPr>
            <a:r>
              <a:rPr lang="en-US" sz="1200" dirty="0">
                <a:solidFill>
                  <a:schemeClr val="tx1"/>
                </a:solidFill>
              </a:rPr>
              <a:t>ca. 10 Mitarbeitende; GKV und privat getrennt, Terminvergabe zentral</a:t>
            </a:r>
            <a:endParaRPr lang="en-US" sz="1200" dirty="0"/>
          </a:p>
        </p:txBody>
      </p:sp>
      <p:sp>
        <p:nvSpPr>
          <p:cNvPr id="11" name="Kennzahl"/>
          <p:cNvSpPr/>
          <p:nvPr/>
        </p:nvSpPr>
        <p:spPr>
          <a:xfrm>
            <a:off x="4023360" y="1325880"/>
            <a:ext cx="3291840" cy="1325880"/>
          </a:xfrm>
          <a:prstGeom prst="roundRect">
            <a:avLst>
              <a:gd name="adj" fmla="val 5517"/>
            </a:avLst>
          </a:prstGeom>
          <a:solidFill>
            <a:schemeClr val="bg2"/>
          </a:solidFill>
          <a:ln/>
        </p:spPr>
        <p:txBody>
          <a:bodyPr/>
          <a:p/>
        </p:txBody>
      </p:sp>
      <p:sp>
        <p:nvSpPr>
          <p:cNvPr id="12" name="Symbolkreis"/>
          <p:cNvSpPr/>
          <p:nvPr/>
        </p:nvSpPr>
        <p:spPr>
          <a:xfrm>
            <a:off x="4206240" y="1527048"/>
            <a:ext cx="530352" cy="530352"/>
          </a:xfrm>
          <a:prstGeom prst="ellipse">
            <a:avLst/>
          </a:prstGeom>
          <a:solidFill>
            <a:schemeClr val="accent1"/>
          </a:solidFill>
          <a:ln/>
        </p:spPr>
        <p:txBody>
          <a:bodyPr/>
          <a:p/>
        </p:txBody>
      </p:sp>
      <p:pic>
        <p:nvPicPr>
          <p:cNvPr id="13" name="Symbol" descr="preencoded.png">    </p:cNvPr>
          <p:cNvPicPr>
            <a:picLocks noChangeAspect="1"/>
          </p:cNvPicPr>
          <p:nvPr/>
        </p:nvPicPr>
        <p:blipFill>
          <a:blip r:embed="rId3"/>
          <a:stretch>
            <a:fillRect/>
          </a:stretch>
        </p:blipFill>
        <p:spPr>
          <a:xfrm>
            <a:off x="4338828" y="1659636"/>
            <a:ext cx="265176" cy="265176"/>
          </a:xfrm>
          <a:prstGeom prst="rect">
            <a:avLst/>
          </a:prstGeom>
        </p:spPr>
      </p:pic>
      <p:sp>
        <p:nvSpPr>
          <p:cNvPr id="14" name="Text 9"/>
          <p:cNvSpPr txBox="1"/>
          <p:nvPr/>
        </p:nvSpPr>
        <p:spPr>
          <a:xfrm>
            <a:off x="4892040" y="1435608"/>
            <a:ext cx="2286000" cy="502920"/>
          </a:xfrm>
          <a:prstGeom prst="rect">
            <a:avLst/>
          </a:prstGeom>
          <a:noFill/>
          <a:ln/>
        </p:spPr>
        <p:txBody>
          <a:bodyPr wrap="square" lIns="0" tIns="0" rIns="0" bIns="0" rtlCol="0" anchor="t"/>
          <a:lstStyle/>
          <a:p>
            <a:pPr indent="0" marL="0">
              <a:buNone/>
            </a:pPr>
            <a:r>
              <a:rPr lang="en-US" sz="2800" b="1" dirty="0">
                <a:solidFill>
                  <a:schemeClr val="tx2"/>
                </a:solidFill>
                <a:latin typeface="Cambria" pitchFamily="34" charset="0"/>
                <a:ea typeface="Cambria" pitchFamily="34" charset="-122"/>
                <a:cs typeface="Cambria" pitchFamily="34" charset="-120"/>
              </a:rPr>
              <a:t>ca. 40</a:t>
            </a:r>
            <a:endParaRPr lang="en-US" sz="2800" dirty="0"/>
          </a:p>
        </p:txBody>
      </p:sp>
      <p:sp>
        <p:nvSpPr>
          <p:cNvPr id="15" name="Text 10"/>
          <p:cNvSpPr txBox="1"/>
          <p:nvPr/>
        </p:nvSpPr>
        <p:spPr>
          <a:xfrm>
            <a:off x="4892040" y="1965960"/>
            <a:ext cx="2331720" cy="594360"/>
          </a:xfrm>
          <a:prstGeom prst="rect">
            <a:avLst/>
          </a:prstGeom>
          <a:noFill/>
          <a:ln/>
        </p:spPr>
        <p:txBody>
          <a:bodyPr wrap="square" lIns="0" tIns="0" rIns="0" bIns="0" rtlCol="0" anchor="t"/>
          <a:lstStyle/>
          <a:p>
            <a:pPr indent="0" marL="0">
              <a:buNone/>
            </a:pPr>
            <a:r>
              <a:rPr lang="en-US" sz="1200" dirty="0">
                <a:solidFill>
                  <a:schemeClr val="tx1"/>
                </a:solidFill>
              </a:rPr>
              <a:t>neue Kassenverordnungen pro Woche</a:t>
            </a:r>
            <a:endParaRPr lang="en-US" sz="1200" dirty="0"/>
          </a:p>
        </p:txBody>
      </p:sp>
      <p:sp>
        <p:nvSpPr>
          <p:cNvPr id="16" name="Kennzahl"/>
          <p:cNvSpPr/>
          <p:nvPr/>
        </p:nvSpPr>
        <p:spPr>
          <a:xfrm>
            <a:off x="548640" y="2807208"/>
            <a:ext cx="3291840" cy="1325880"/>
          </a:xfrm>
          <a:prstGeom prst="roundRect">
            <a:avLst>
              <a:gd name="adj" fmla="val 5517"/>
            </a:avLst>
          </a:prstGeom>
          <a:solidFill>
            <a:schemeClr val="bg2"/>
          </a:solidFill>
          <a:ln/>
        </p:spPr>
        <p:txBody>
          <a:bodyPr/>
          <a:p/>
        </p:txBody>
      </p:sp>
      <p:sp>
        <p:nvSpPr>
          <p:cNvPr id="17" name="Symbolkreis"/>
          <p:cNvSpPr/>
          <p:nvPr/>
        </p:nvSpPr>
        <p:spPr>
          <a:xfrm>
            <a:off x="731520" y="3008376"/>
            <a:ext cx="530352" cy="530352"/>
          </a:xfrm>
          <a:prstGeom prst="ellipse">
            <a:avLst/>
          </a:prstGeom>
          <a:solidFill>
            <a:schemeClr val="accent1"/>
          </a:solidFill>
          <a:ln/>
        </p:spPr>
        <p:txBody>
          <a:bodyPr/>
          <a:p/>
        </p:txBody>
      </p:sp>
      <p:pic>
        <p:nvPicPr>
          <p:cNvPr id="18" name="Symbol" descr="preencoded.png">    </p:cNvPr>
          <p:cNvPicPr>
            <a:picLocks noChangeAspect="1"/>
          </p:cNvPicPr>
          <p:nvPr/>
        </p:nvPicPr>
        <p:blipFill>
          <a:blip r:embed="rId4"/>
          <a:stretch>
            <a:fillRect/>
          </a:stretch>
        </p:blipFill>
        <p:spPr>
          <a:xfrm>
            <a:off x="864108" y="3140964"/>
            <a:ext cx="265176" cy="265176"/>
          </a:xfrm>
          <a:prstGeom prst="rect">
            <a:avLst/>
          </a:prstGeom>
        </p:spPr>
      </p:pic>
      <p:sp>
        <p:nvSpPr>
          <p:cNvPr id="19" name="Text 13"/>
          <p:cNvSpPr txBox="1"/>
          <p:nvPr/>
        </p:nvSpPr>
        <p:spPr>
          <a:xfrm>
            <a:off x="1417320" y="2916936"/>
            <a:ext cx="2286000" cy="502920"/>
          </a:xfrm>
          <a:prstGeom prst="rect">
            <a:avLst/>
          </a:prstGeom>
          <a:noFill/>
          <a:ln/>
        </p:spPr>
        <p:txBody>
          <a:bodyPr wrap="square" lIns="0" tIns="0" rIns="0" bIns="0" rtlCol="0" anchor="t"/>
          <a:lstStyle/>
          <a:p>
            <a:pPr indent="0" marL="0">
              <a:buNone/>
            </a:pPr>
            <a:r>
              <a:rPr lang="en-US" sz="2800" b="1" dirty="0">
                <a:solidFill>
                  <a:schemeClr val="tx2"/>
                </a:solidFill>
                <a:latin typeface="Cambria" pitchFamily="34" charset="0"/>
                <a:ea typeface="Cambria" pitchFamily="34" charset="-122"/>
                <a:cs typeface="Cambria" pitchFamily="34" charset="-120"/>
              </a:rPr>
              <a:t>1,9 %</a:t>
            </a:r>
            <a:endParaRPr lang="en-US" sz="2800" dirty="0"/>
          </a:p>
        </p:txBody>
      </p:sp>
      <p:sp>
        <p:nvSpPr>
          <p:cNvPr id="20" name="Text 14"/>
          <p:cNvSpPr txBox="1"/>
          <p:nvPr/>
        </p:nvSpPr>
        <p:spPr>
          <a:xfrm>
            <a:off x="1417320" y="3447288"/>
            <a:ext cx="2331720" cy="594360"/>
          </a:xfrm>
          <a:prstGeom prst="rect">
            <a:avLst/>
          </a:prstGeom>
          <a:noFill/>
          <a:ln/>
        </p:spPr>
        <p:txBody>
          <a:bodyPr wrap="square" lIns="0" tIns="0" rIns="0" bIns="0" rtlCol="0" anchor="t"/>
          <a:lstStyle/>
          <a:p>
            <a:pPr indent="0" marL="0">
              <a:buNone/>
            </a:pPr>
            <a:r>
              <a:rPr lang="en-US" sz="1200" dirty="0">
                <a:solidFill>
                  <a:schemeClr val="tx1"/>
                </a:solidFill>
              </a:rPr>
              <a:t>vom Umsatz an den externen Abrechnungsdienstleister</a:t>
            </a:r>
            <a:endParaRPr lang="en-US" sz="1200" dirty="0"/>
          </a:p>
        </p:txBody>
      </p:sp>
      <p:sp>
        <p:nvSpPr>
          <p:cNvPr id="21" name="Kennzahl"/>
          <p:cNvSpPr/>
          <p:nvPr/>
        </p:nvSpPr>
        <p:spPr>
          <a:xfrm>
            <a:off x="4023360" y="2807208"/>
            <a:ext cx="3291840" cy="1325880"/>
          </a:xfrm>
          <a:prstGeom prst="roundRect">
            <a:avLst>
              <a:gd name="adj" fmla="val 5517"/>
            </a:avLst>
          </a:prstGeom>
          <a:solidFill>
            <a:schemeClr val="bg2"/>
          </a:solidFill>
          <a:ln/>
        </p:spPr>
        <p:txBody>
          <a:bodyPr/>
          <a:p/>
        </p:txBody>
      </p:sp>
      <p:sp>
        <p:nvSpPr>
          <p:cNvPr id="22" name="Symbolkreis"/>
          <p:cNvSpPr/>
          <p:nvPr/>
        </p:nvSpPr>
        <p:spPr>
          <a:xfrm>
            <a:off x="4206240" y="3008376"/>
            <a:ext cx="530352" cy="530352"/>
          </a:xfrm>
          <a:prstGeom prst="ellipse">
            <a:avLst/>
          </a:prstGeom>
          <a:solidFill>
            <a:schemeClr val="accent1"/>
          </a:solidFill>
          <a:ln/>
        </p:spPr>
        <p:txBody>
          <a:bodyPr/>
          <a:p/>
        </p:txBody>
      </p:sp>
      <p:pic>
        <p:nvPicPr>
          <p:cNvPr id="23" name="Symbol" descr="preencoded.png">    </p:cNvPr>
          <p:cNvPicPr>
            <a:picLocks noChangeAspect="1"/>
          </p:cNvPicPr>
          <p:nvPr/>
        </p:nvPicPr>
        <p:blipFill>
          <a:blip r:embed="rId5"/>
          <a:stretch>
            <a:fillRect/>
          </a:stretch>
        </p:blipFill>
        <p:spPr>
          <a:xfrm>
            <a:off x="4338828" y="3140964"/>
            <a:ext cx="265176" cy="265176"/>
          </a:xfrm>
          <a:prstGeom prst="rect">
            <a:avLst/>
          </a:prstGeom>
        </p:spPr>
      </p:pic>
      <p:sp>
        <p:nvSpPr>
          <p:cNvPr id="24" name="Text 17"/>
          <p:cNvSpPr txBox="1"/>
          <p:nvPr/>
        </p:nvSpPr>
        <p:spPr>
          <a:xfrm>
            <a:off x="4892040" y="2916936"/>
            <a:ext cx="2286000" cy="502920"/>
          </a:xfrm>
          <a:prstGeom prst="rect">
            <a:avLst/>
          </a:prstGeom>
          <a:noFill/>
          <a:ln/>
        </p:spPr>
        <p:txBody>
          <a:bodyPr wrap="square" lIns="0" tIns="0" rIns="0" bIns="0" rtlCol="0" anchor="t"/>
          <a:lstStyle/>
          <a:p>
            <a:pPr indent="0" marL="0">
              <a:buNone/>
            </a:pPr>
            <a:r>
              <a:rPr lang="en-US" sz="2800" b="1" dirty="0">
                <a:solidFill>
                  <a:schemeClr val="tx2"/>
                </a:solidFill>
                <a:latin typeface="Cambria" pitchFamily="34" charset="0"/>
                <a:ea typeface="Cambria" pitchFamily="34" charset="-122"/>
                <a:cs typeface="Cambria" pitchFamily="34" charset="-120"/>
              </a:rPr>
              <a:t>keine KI</a:t>
            </a:r>
            <a:endParaRPr lang="en-US" sz="2800" dirty="0"/>
          </a:p>
        </p:txBody>
      </p:sp>
      <p:sp>
        <p:nvSpPr>
          <p:cNvPr id="25" name="Text 18"/>
          <p:cNvSpPr txBox="1"/>
          <p:nvPr/>
        </p:nvSpPr>
        <p:spPr>
          <a:xfrm>
            <a:off x="4892040" y="3447288"/>
            <a:ext cx="2331720" cy="594360"/>
          </a:xfrm>
          <a:prstGeom prst="rect">
            <a:avLst/>
          </a:prstGeom>
          <a:noFill/>
          <a:ln/>
        </p:spPr>
        <p:txBody>
          <a:bodyPr wrap="square" lIns="0" tIns="0" rIns="0" bIns="0" rtlCol="0" anchor="t"/>
          <a:lstStyle/>
          <a:p>
            <a:pPr indent="0" marL="0">
              <a:buNone/>
            </a:pPr>
            <a:r>
              <a:rPr lang="en-US" sz="1200" dirty="0">
                <a:solidFill>
                  <a:schemeClr val="tx1"/>
                </a:solidFill>
              </a:rPr>
              <a:t>in keinem Bereich, an keinem Standort</a:t>
            </a:r>
            <a:endParaRPr lang="en-US" sz="1200" dirty="0"/>
          </a:p>
        </p:txBody>
      </p:sp>
      <p:sp>
        <p:nvSpPr>
          <p:cNvPr id="26" name="Rahmen"/>
          <p:cNvSpPr/>
          <p:nvPr/>
        </p:nvSpPr>
        <p:spPr>
          <a:xfrm>
            <a:off x="548640" y="4343400"/>
            <a:ext cx="6766560" cy="1600200"/>
          </a:xfrm>
          <a:prstGeom prst="roundRect">
            <a:avLst>
              <a:gd name="adj" fmla="val 4571"/>
            </a:avLst>
          </a:prstGeom>
          <a:solidFill>
            <a:schemeClr val="tx2"/>
          </a:solidFill>
          <a:ln/>
        </p:spPr>
        <p:txBody>
          <a:bodyPr/>
          <a:p/>
        </p:txBody>
      </p:sp>
      <p:sp>
        <p:nvSpPr>
          <p:cNvPr id="27" name="Text 20"/>
          <p:cNvSpPr txBox="1"/>
          <p:nvPr/>
        </p:nvSpPr>
        <p:spPr>
          <a:xfrm>
            <a:off x="822960" y="4434840"/>
            <a:ext cx="6217920" cy="347472"/>
          </a:xfrm>
          <a:prstGeom prst="rect">
            <a:avLst/>
          </a:prstGeom>
          <a:noFill/>
          <a:ln/>
        </p:spPr>
        <p:txBody>
          <a:bodyPr wrap="square" lIns="0" tIns="0" rIns="0" bIns="0" rtlCol="0" anchor="t"/>
          <a:lstStyle/>
          <a:p>
            <a:pPr indent="0" marL="0">
              <a:buNone/>
            </a:pPr>
            <a:r>
              <a:rPr lang="en-US" sz="1600" b="1" dirty="0">
                <a:solidFill>
                  <a:schemeClr val="bg1"/>
                </a:solidFill>
                <a:latin typeface="Cambria" pitchFamily="34" charset="0"/>
                <a:ea typeface="Cambria" pitchFamily="34" charset="-122"/>
                <a:cs typeface="Cambria" pitchFamily="34" charset="-120"/>
              </a:rPr>
              <a:t>Warum die Verordnung so wichtig ist</a:t>
            </a:r>
            <a:endParaRPr lang="en-US" sz="1600" dirty="0"/>
          </a:p>
        </p:txBody>
      </p:sp>
      <p:sp>
        <p:nvSpPr>
          <p:cNvPr id="28" name="Text 21"/>
          <p:cNvSpPr txBox="1"/>
          <p:nvPr/>
        </p:nvSpPr>
        <p:spPr>
          <a:xfrm>
            <a:off x="822960" y="4828032"/>
            <a:ext cx="6309360" cy="105156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bg1"/>
                </a:solidFill>
              </a:rPr>
              <a:t>Jede Kassenbehandlung braucht eine gültige Verordnung auf Muster 13.</a:t>
            </a:r>
            <a:endParaRPr lang="en-US" sz="1400" dirty="0"/>
          </a:p>
          <a:p>
            <a:pPr marL="177800" indent="-177800">
              <a:spcAft>
                <a:spcPts val="500"/>
              </a:spcAft>
              <a:buSzPct val="100000"/>
              <a:buChar char="•"/>
            </a:pPr>
            <a:r>
              <a:rPr lang="en-US" sz="1300" dirty="0">
                <a:solidFill>
                  <a:schemeClr val="bg1"/>
                </a:solidFill>
              </a:rPr>
              <a:t>Was gültig ist, regeln öffentliche Regelwerke von G-BA und KBV.</a:t>
            </a:r>
            <a:endParaRPr lang="en-US" sz="1400" dirty="0"/>
          </a:p>
          <a:p>
            <a:pPr marL="177800" indent="-177800">
              <a:spcAft>
                <a:spcPts val="500"/>
              </a:spcAft>
              <a:buSzPct val="100000"/>
              <a:buChar char="•"/>
            </a:pPr>
            <a:r>
              <a:rPr lang="en-US" sz="1300" dirty="0">
                <a:solidFill>
                  <a:schemeClr val="bg1"/>
                </a:solidFill>
              </a:rPr>
              <a:t>Fehler entdeckt? Dann kürzt die Kasse die Vergütung (Absetzung).</a:t>
            </a:r>
            <a:endParaRPr lang="en-US" sz="1400" dirty="0"/>
          </a:p>
        </p:txBody>
      </p:sp>
      <p:sp>
        <p:nvSpPr>
          <p:cNvPr id="29" name="Muster 13 (Blankoformular mit Feldnummern) Rahmen"/>
          <p:cNvSpPr/>
          <p:nvPr/>
        </p:nvSpPr>
        <p:spPr>
          <a:xfrm>
            <a:off x="8170795" y="1289304"/>
            <a:ext cx="2888243" cy="4325112"/>
          </a:xfrm>
          <a:prstGeom prst="rect">
            <a:avLst/>
          </a:prstGeom>
          <a:solidFill>
            <a:srgbClr val="FFFFFF"/>
          </a:solidFill>
          <a:ln w="9525">
            <a:solidFill>
              <a:srgbClr val="C9D6D3"/>
            </a:solidFill>
            <a:prstDash val="solid"/>
          </a:ln>
          <a:effectLst>
            <a:outerShdw sx="100000" sy="100000" kx="0" ky="0" algn="bl" rotWithShape="0" blurRad="50800" dist="25400" dir="5400000">
              <a:srgbClr val="000000">
                <a:alpha val="18000"/>
              </a:srgbClr>
            </a:outerShdw>
          </a:effectLst>
        </p:spPr>
        <p:txBody>
          <a:bodyPr/>
          <a:p/>
        </p:txBody>
      </p:sp>
      <p:pic>
        <p:nvPicPr>
          <p:cNvPr id="30" name="Muster 13 (Blankoformular mit Feldnummern)" descr="Muster 13 (Blankoformular mit Feldnummern)">    </p:cNvPr>
          <p:cNvPicPr>
            <a:picLocks noChangeAspect="1"/>
          </p:cNvPicPr>
          <p:nvPr/>
        </p:nvPicPr>
        <p:blipFill>
          <a:blip r:embed="rId6"/>
          <a:stretch>
            <a:fillRect/>
          </a:stretch>
        </p:blipFill>
        <p:spPr>
          <a:xfrm>
            <a:off x="8207371" y="1325880"/>
            <a:ext cx="2815091" cy="4251960"/>
          </a:xfrm>
          <a:prstGeom prst="rect">
            <a:avLst/>
          </a:prstGeom>
        </p:spPr>
      </p:pic>
      <p:sp>
        <p:nvSpPr>
          <p:cNvPr id="31" name="Text 23"/>
          <p:cNvSpPr txBox="1"/>
          <p:nvPr/>
        </p:nvSpPr>
        <p:spPr>
          <a:xfrm>
            <a:off x="7452360" y="5650992"/>
            <a:ext cx="4325112" cy="292608"/>
          </a:xfrm>
          <a:prstGeom prst="rect">
            <a:avLst/>
          </a:prstGeom>
          <a:noFill/>
          <a:ln/>
        </p:spPr>
        <p:txBody>
          <a:bodyPr wrap="square" lIns="0" tIns="0" rIns="0" bIns="0" rtlCol="0" anchor="t"/>
          <a:lstStyle/>
          <a:p>
            <a:pPr algn="ctr" indent="0" marL="0">
              <a:buNone/>
            </a:pPr>
            <a:r>
              <a:rPr lang="en-US" sz="1100" i="1" dirty="0">
                <a:solidFill>
                  <a:schemeClr val="accent5"/>
                </a:solidFill>
              </a:rPr>
              <a:t>Muster 13: Diese Felder prüft die Rezeption heute von Hand</a:t>
            </a:r>
            <a:endParaRPr lang="en-US" sz="1100" dirty="0"/>
          </a:p>
        </p:txBody>
      </p:sp>
      <p:sp>
        <p:nvSpPr>
          <p:cNvPr id="32" name="Text 24"/>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Quellen: Field Study 16.10.2026 und Nachtrag 23.10.2026 · Bild: KV Sachsen-Anhalt, Ausfüllhilfe Muster 13, Stand 01.01.2021 (Blankoformular)</a:t>
            </a:r>
            <a:endParaRPr lang="en-US" sz="1000" dirty="0"/>
          </a:p>
        </p:txBody>
      </p:sp>
      <p:sp>
        <p:nvSpPr>
          <p:cNvPr id="33"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Field Study: gefragt statt geraten</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tx2"/>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Thomas</a:t>
            </a:r>
            <a:endParaRPr lang="en-US" sz="1500" dirty="0"/>
          </a:p>
        </p:txBody>
      </p:sp>
      <p:sp>
        <p:nvSpPr>
          <p:cNvPr id="6" name="Ist-Interview, Fragebogen Seite 1 Rahmen"/>
          <p:cNvSpPr/>
          <p:nvPr/>
        </p:nvSpPr>
        <p:spPr>
          <a:xfrm>
            <a:off x="512064" y="1289304"/>
            <a:ext cx="3502152" cy="4016017"/>
          </a:xfrm>
          <a:prstGeom prst="rect">
            <a:avLst/>
          </a:prstGeom>
          <a:solidFill>
            <a:srgbClr val="FFFFFF"/>
          </a:solidFill>
          <a:ln w="9525">
            <a:solidFill>
              <a:srgbClr val="C9D6D3"/>
            </a:solidFill>
            <a:prstDash val="solid"/>
          </a:ln>
          <a:effectLst>
            <a:outerShdw sx="100000" sy="100000" kx="0" ky="0" algn="bl" rotWithShape="0" blurRad="50800" dist="25400" dir="5400000">
              <a:srgbClr val="000000">
                <a:alpha val="18000"/>
              </a:srgbClr>
            </a:outerShdw>
          </a:effectLst>
        </p:spPr>
        <p:txBody>
          <a:bodyPr/>
          <a:p/>
        </p:txBody>
      </p:sp>
      <p:pic>
        <p:nvPicPr>
          <p:cNvPr id="7" name="Ist-Interview, Fragebogen Seite 1" descr="Ist-Interview, Fragebogen Seite 1">    </p:cNvPr>
          <p:cNvPicPr>
            <a:picLocks noChangeAspect="1"/>
          </p:cNvPicPr>
          <p:nvPr/>
        </p:nvPicPr>
        <p:blipFill>
          <a:blip r:embed="rId2"/>
          <a:stretch>
            <a:fillRect/>
          </a:stretch>
        </p:blipFill>
        <p:spPr>
          <a:xfrm>
            <a:off x="548640" y="1325880"/>
            <a:ext cx="3429000" cy="3942865"/>
          </a:xfrm>
          <a:prstGeom prst="rect">
            <a:avLst/>
          </a:prstGeom>
        </p:spPr>
      </p:pic>
      <p:sp>
        <p:nvSpPr>
          <p:cNvPr id="8" name="Text 4"/>
          <p:cNvSpPr txBox="1"/>
          <p:nvPr/>
        </p:nvSpPr>
        <p:spPr>
          <a:xfrm>
            <a:off x="457200" y="5341897"/>
            <a:ext cx="3611880" cy="274320"/>
          </a:xfrm>
          <a:prstGeom prst="rect">
            <a:avLst/>
          </a:prstGeom>
          <a:noFill/>
          <a:ln/>
        </p:spPr>
        <p:txBody>
          <a:bodyPr wrap="square" lIns="0" tIns="0" rIns="0" bIns="0" rtlCol="0" anchor="t"/>
          <a:lstStyle/>
          <a:p>
            <a:pPr algn="ctr" indent="0" marL="0">
              <a:buNone/>
            </a:pPr>
            <a:r>
              <a:rPr lang="en-US" sz="1100" i="1" dirty="0">
                <a:solidFill>
                  <a:schemeClr val="accent5"/>
                </a:solidFill>
              </a:rPr>
              <a:t>Ist-Interview 16.10.2026 · Seite 1 von 4</a:t>
            </a:r>
            <a:endParaRPr lang="en-US" sz="1100" dirty="0"/>
          </a:p>
        </p:txBody>
      </p:sp>
      <p:sp>
        <p:nvSpPr>
          <p:cNvPr id="9" name="Nachtrag zum Ist-Interview Rahmen"/>
          <p:cNvSpPr/>
          <p:nvPr/>
        </p:nvSpPr>
        <p:spPr>
          <a:xfrm>
            <a:off x="4123944" y="1289304"/>
            <a:ext cx="3502152" cy="4209929"/>
          </a:xfrm>
          <a:prstGeom prst="rect">
            <a:avLst/>
          </a:prstGeom>
          <a:solidFill>
            <a:srgbClr val="FFFFFF"/>
          </a:solidFill>
          <a:ln w="9525">
            <a:solidFill>
              <a:srgbClr val="C9D6D3"/>
            </a:solidFill>
            <a:prstDash val="solid"/>
          </a:ln>
          <a:effectLst>
            <a:outerShdw sx="100000" sy="100000" kx="0" ky="0" algn="bl" rotWithShape="0" blurRad="50800" dist="25400" dir="5400000">
              <a:srgbClr val="000000">
                <a:alpha val="18000"/>
              </a:srgbClr>
            </a:outerShdw>
          </a:effectLst>
        </p:spPr>
        <p:txBody>
          <a:bodyPr/>
          <a:p/>
        </p:txBody>
      </p:sp>
      <p:pic>
        <p:nvPicPr>
          <p:cNvPr id="10" name="Nachtrag zum Ist-Interview" descr="Nachtrag zum Ist-Interview">    </p:cNvPr>
          <p:cNvPicPr>
            <a:picLocks noChangeAspect="1"/>
          </p:cNvPicPr>
          <p:nvPr/>
        </p:nvPicPr>
        <p:blipFill>
          <a:blip r:embed="rId3"/>
          <a:stretch>
            <a:fillRect/>
          </a:stretch>
        </p:blipFill>
        <p:spPr>
          <a:xfrm>
            <a:off x="4160520" y="1325880"/>
            <a:ext cx="3429000" cy="4136777"/>
          </a:xfrm>
          <a:prstGeom prst="rect">
            <a:avLst/>
          </a:prstGeom>
        </p:spPr>
      </p:pic>
      <p:sp>
        <p:nvSpPr>
          <p:cNvPr id="11" name="Text 6"/>
          <p:cNvSpPr txBox="1"/>
          <p:nvPr/>
        </p:nvSpPr>
        <p:spPr>
          <a:xfrm>
            <a:off x="4069080" y="5535809"/>
            <a:ext cx="3611880" cy="274320"/>
          </a:xfrm>
          <a:prstGeom prst="rect">
            <a:avLst/>
          </a:prstGeom>
          <a:noFill/>
          <a:ln/>
        </p:spPr>
        <p:txBody>
          <a:bodyPr wrap="square" lIns="0" tIns="0" rIns="0" bIns="0" rtlCol="0" anchor="t"/>
          <a:lstStyle/>
          <a:p>
            <a:pPr algn="ctr" indent="0" marL="0">
              <a:buNone/>
            </a:pPr>
            <a:r>
              <a:rPr lang="en-US" sz="1100" i="1" dirty="0">
                <a:solidFill>
                  <a:schemeClr val="accent5"/>
                </a:solidFill>
              </a:rPr>
              <a:t>Nachtrag 23.10.2026 · KI-Nutzung, Standorte</a:t>
            </a:r>
            <a:endParaRPr lang="en-US" sz="1100" dirty="0"/>
          </a:p>
        </p:txBody>
      </p:sp>
      <p:sp>
        <p:nvSpPr>
          <p:cNvPr id="12" name="Methode"/>
          <p:cNvSpPr/>
          <p:nvPr/>
        </p:nvSpPr>
        <p:spPr>
          <a:xfrm>
            <a:off x="7726680" y="1325880"/>
            <a:ext cx="3913632" cy="4526280"/>
          </a:xfrm>
          <a:prstGeom prst="roundRect">
            <a:avLst>
              <a:gd name="adj" fmla="val 1869"/>
            </a:avLst>
          </a:prstGeom>
          <a:solidFill>
            <a:schemeClr val="tx2"/>
          </a:solidFill>
          <a:ln/>
        </p:spPr>
        <p:txBody>
          <a:bodyPr/>
          <a:p/>
        </p:txBody>
      </p:sp>
      <p:sp>
        <p:nvSpPr>
          <p:cNvPr id="13" name="Symbolkreis"/>
          <p:cNvSpPr/>
          <p:nvPr/>
        </p:nvSpPr>
        <p:spPr>
          <a:xfrm>
            <a:off x="7955280" y="1508760"/>
            <a:ext cx="530352" cy="530352"/>
          </a:xfrm>
          <a:prstGeom prst="ellipse">
            <a:avLst/>
          </a:prstGeom>
          <a:solidFill>
            <a:schemeClr val="accent2"/>
          </a:solidFill>
          <a:ln/>
        </p:spPr>
        <p:txBody>
          <a:bodyPr/>
          <a:p/>
        </p:txBody>
      </p:sp>
      <p:pic>
        <p:nvPicPr>
          <p:cNvPr id="14" name="Symbol" descr="preencoded.png">    </p:cNvPr>
          <p:cNvPicPr>
            <a:picLocks noChangeAspect="1"/>
          </p:cNvPicPr>
          <p:nvPr/>
        </p:nvPicPr>
        <p:blipFill>
          <a:blip r:embed="rId4"/>
          <a:stretch>
            <a:fillRect/>
          </a:stretch>
        </p:blipFill>
        <p:spPr>
          <a:xfrm>
            <a:off x="8087868" y="1641348"/>
            <a:ext cx="265176" cy="265176"/>
          </a:xfrm>
          <a:prstGeom prst="rect">
            <a:avLst/>
          </a:prstGeom>
        </p:spPr>
      </p:pic>
      <p:sp>
        <p:nvSpPr>
          <p:cNvPr id="15" name="Text 9"/>
          <p:cNvSpPr txBox="1"/>
          <p:nvPr/>
        </p:nvSpPr>
        <p:spPr>
          <a:xfrm>
            <a:off x="8641080" y="1554480"/>
            <a:ext cx="2834640" cy="438912"/>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Methode</a:t>
            </a:r>
            <a:endParaRPr lang="en-US" sz="1800" dirty="0"/>
          </a:p>
        </p:txBody>
      </p:sp>
      <p:sp>
        <p:nvSpPr>
          <p:cNvPr id="16" name="Text 10"/>
          <p:cNvSpPr txBox="1"/>
          <p:nvPr/>
        </p:nvSpPr>
        <p:spPr>
          <a:xfrm>
            <a:off x="7955280" y="2194560"/>
            <a:ext cx="3474720" cy="205740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bg1"/>
                </a:solidFill>
              </a:rPr>
              <a:t>1 Stunde mit der Mitinhaberin, 13 Fragen, Pflichtfragen markiert</a:t>
            </a:r>
            <a:endParaRPr lang="en-US" sz="1400" dirty="0"/>
          </a:p>
          <a:p>
            <a:pPr marL="177800" indent="-177800">
              <a:spcAft>
                <a:spcPts val="500"/>
              </a:spcAft>
              <a:buSzPct val="100000"/>
              <a:buChar char="•"/>
            </a:pPr>
            <a:r>
              <a:rPr lang="en-US" sz="1300" dirty="0">
                <a:solidFill>
                  <a:schemeClr val="bg1"/>
                </a:solidFill>
              </a:rPr>
              <a:t>Zahlen mit Einheit: Minuten, Fälle, €</a:t>
            </a:r>
            <a:endParaRPr lang="en-US" sz="1400" dirty="0"/>
          </a:p>
          <a:p>
            <a:pPr marL="177800" indent="-177800">
              <a:spcAft>
                <a:spcPts val="500"/>
              </a:spcAft>
              <a:buSzPct val="100000"/>
              <a:buChar char="•"/>
            </a:pPr>
            <a:r>
              <a:rPr lang="en-US" sz="1300" dirty="0">
                <a:solidFill>
                  <a:schemeClr val="bg1"/>
                </a:solidFill>
              </a:rPr>
              <a:t>Einverständnis zur anonymisierten Verwendung (F13)</a:t>
            </a:r>
            <a:endParaRPr lang="en-US" sz="1400" dirty="0"/>
          </a:p>
          <a:p>
            <a:pPr marL="177800" indent="-177800">
              <a:spcAft>
                <a:spcPts val="500"/>
              </a:spcAft>
              <a:buSzPct val="100000"/>
              <a:buChar char="•"/>
            </a:pPr>
            <a:r>
              <a:rPr lang="en-US" sz="1300" dirty="0">
                <a:solidFill>
                  <a:schemeClr val="bg1"/>
                </a:solidFill>
              </a:rPr>
              <a:t>Nachtrag statt nachträglich geändertem Original</a:t>
            </a:r>
            <a:endParaRPr lang="en-US" sz="1400" dirty="0"/>
          </a:p>
        </p:txBody>
      </p:sp>
      <p:sp>
        <p:nvSpPr>
          <p:cNvPr id="17" name="Trennlinie"/>
          <p:cNvSpPr/>
          <p:nvPr/>
        </p:nvSpPr>
        <p:spPr>
          <a:xfrm>
            <a:off x="7955280" y="4315968"/>
            <a:ext cx="3474720" cy="0"/>
          </a:xfrm>
          <a:prstGeom prst="line">
            <a:avLst/>
          </a:prstGeom>
          <a:noFill/>
          <a:ln w="9525">
            <a:solidFill>
              <a:srgbClr val="5C6B73"/>
            </a:solidFill>
            <a:prstDash val="solid"/>
          </a:ln>
        </p:spPr>
        <p:txBody>
          <a:bodyPr/>
          <a:p/>
        </p:txBody>
      </p:sp>
      <p:sp>
        <p:nvSpPr>
          <p:cNvPr id="18" name="Text 12"/>
          <p:cNvSpPr txBox="1"/>
          <p:nvPr/>
        </p:nvSpPr>
        <p:spPr>
          <a:xfrm>
            <a:off x="7955280" y="4434840"/>
            <a:ext cx="3474720" cy="1280160"/>
          </a:xfrm>
          <a:prstGeom prst="rect">
            <a:avLst/>
          </a:prstGeom>
          <a:noFill/>
          <a:ln/>
        </p:spPr>
        <p:txBody>
          <a:bodyPr wrap="square" lIns="0" tIns="0" rIns="0" bIns="0" rtlCol="0" anchor="t"/>
          <a:lstStyle/>
          <a:p>
            <a:pPr indent="0" marL="0">
              <a:buNone/>
            </a:pPr>
            <a:r>
              <a:rPr lang="en-US" sz="1300" b="1" dirty="0">
                <a:solidFill>
                  <a:schemeClr val="accent2"/>
                </a:solidFill>
              </a:rPr>
              <a:t>Keine KI ist der Normalfall: </a:t>
            </a:r>
            <a:pPr indent="0" marL="0">
              <a:buNone/>
            </a:pPr>
            <a:r>
              <a:rPr lang="en-US" sz="1300" dirty="0">
                <a:solidFill>
                  <a:schemeClr val="bg1"/>
                </a:solidFill>
              </a:rPr>
              <a:t>2024 nutzten 20 % der Unternehmen KI (Destatis), kleine Unternehmen 36 % (IW-Befragung).</a:t>
            </a:r>
            <a:endParaRPr lang="en-US" sz="1300" dirty="0"/>
          </a:p>
        </p:txBody>
      </p:sp>
      <p:sp>
        <p:nvSpPr>
          <p:cNvPr id="19" name="Text 13"/>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Quellen: eigene Field Study (Fragebogen, Nachtrag) · Destatis und IW zitiert nach IHK-Rahmenplan „KI-Tool-Experte/Expertin (IHK)“</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Ist-Situation: So prüft die Praxis heute</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tx2"/>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Thomas</a:t>
            </a:r>
            <a:endParaRPr lang="en-US" sz="1500" dirty="0"/>
          </a:p>
        </p:txBody>
      </p:sp>
      <p:sp>
        <p:nvSpPr>
          <p:cNvPr id="6" name="Prozessschritt"/>
          <p:cNvSpPr/>
          <p:nvPr/>
        </p:nvSpPr>
        <p:spPr>
          <a:xfrm>
            <a:off x="548640" y="1325880"/>
            <a:ext cx="2011680" cy="2011680"/>
          </a:xfrm>
          <a:prstGeom prst="roundRect">
            <a:avLst>
              <a:gd name="adj" fmla="val 3636"/>
            </a:avLst>
          </a:prstGeom>
          <a:solidFill>
            <a:schemeClr val="bg2"/>
          </a:solidFill>
          <a:ln/>
        </p:spPr>
        <p:txBody>
          <a:bodyPr/>
          <a:p/>
        </p:txBody>
      </p:sp>
      <p:sp>
        <p:nvSpPr>
          <p:cNvPr id="7" name="Symbolkreis"/>
          <p:cNvSpPr/>
          <p:nvPr/>
        </p:nvSpPr>
        <p:spPr>
          <a:xfrm>
            <a:off x="1225296" y="1481328"/>
            <a:ext cx="658368" cy="658368"/>
          </a:xfrm>
          <a:prstGeom prst="ellipse">
            <a:avLst/>
          </a:prstGeom>
          <a:solidFill>
            <a:schemeClr val="accent1"/>
          </a:solidFill>
          <a:ln/>
        </p:spPr>
        <p:txBody>
          <a:bodyPr/>
          <a:p/>
        </p:txBody>
      </p:sp>
      <p:pic>
        <p:nvPicPr>
          <p:cNvPr id="8" name="Symbol" descr="preencoded.png">    </p:cNvPr>
          <p:cNvPicPr>
            <a:picLocks noChangeAspect="1"/>
          </p:cNvPicPr>
          <p:nvPr/>
        </p:nvPicPr>
        <p:blipFill>
          <a:blip r:embed="rId2"/>
          <a:stretch>
            <a:fillRect/>
          </a:stretch>
        </p:blipFill>
        <p:spPr>
          <a:xfrm>
            <a:off x="1389888" y="1645920"/>
            <a:ext cx="329184" cy="329184"/>
          </a:xfrm>
          <a:prstGeom prst="rect">
            <a:avLst/>
          </a:prstGeom>
        </p:spPr>
      </p:pic>
      <p:sp>
        <p:nvSpPr>
          <p:cNvPr id="9" name="Text 5"/>
          <p:cNvSpPr txBox="1"/>
          <p:nvPr/>
        </p:nvSpPr>
        <p:spPr>
          <a:xfrm>
            <a:off x="640080" y="2240280"/>
            <a:ext cx="1828800" cy="320040"/>
          </a:xfrm>
          <a:prstGeom prst="rect">
            <a:avLst/>
          </a:prstGeom>
          <a:noFill/>
          <a:ln/>
        </p:spPr>
        <p:txBody>
          <a:bodyPr wrap="square" lIns="0" tIns="0" rIns="0" bIns="0" rtlCol="0" anchor="t"/>
          <a:lstStyle/>
          <a:p>
            <a:pPr algn="ctr" indent="0" marL="0">
              <a:buNone/>
            </a:pPr>
            <a:r>
              <a:rPr lang="en-US" sz="1500" b="1" dirty="0">
                <a:solidFill>
                  <a:schemeClr val="tx2"/>
                </a:solidFill>
              </a:rPr>
              <a:t>Annahme</a:t>
            </a:r>
            <a:endParaRPr lang="en-US" sz="1500" dirty="0"/>
          </a:p>
        </p:txBody>
      </p:sp>
      <p:sp>
        <p:nvSpPr>
          <p:cNvPr id="10" name="Text 6"/>
          <p:cNvSpPr txBox="1"/>
          <p:nvPr/>
        </p:nvSpPr>
        <p:spPr>
          <a:xfrm>
            <a:off x="640080" y="2560320"/>
            <a:ext cx="1828800" cy="365760"/>
          </a:xfrm>
          <a:prstGeom prst="rect">
            <a:avLst/>
          </a:prstGeom>
          <a:noFill/>
          <a:ln/>
        </p:spPr>
        <p:txBody>
          <a:bodyPr wrap="square" lIns="0" tIns="0" rIns="0" bIns="0" rtlCol="0" anchor="t"/>
          <a:lstStyle/>
          <a:p>
            <a:pPr algn="ctr" indent="0" marL="0">
              <a:buNone/>
            </a:pPr>
            <a:r>
              <a:rPr lang="en-US" sz="1200" dirty="0">
                <a:solidFill>
                  <a:schemeClr val="accent5"/>
                </a:solidFill>
              </a:rPr>
              <a:t>Rezeption prüft die Verordnung</a:t>
            </a:r>
            <a:endParaRPr lang="en-US" sz="1200" dirty="0"/>
          </a:p>
        </p:txBody>
      </p:sp>
      <p:sp>
        <p:nvSpPr>
          <p:cNvPr id="11" name="Text 7"/>
          <p:cNvSpPr txBox="1"/>
          <p:nvPr/>
        </p:nvSpPr>
        <p:spPr>
          <a:xfrm>
            <a:off x="640080" y="2926080"/>
            <a:ext cx="1828800" cy="320040"/>
          </a:xfrm>
          <a:prstGeom prst="rect">
            <a:avLst/>
          </a:prstGeom>
          <a:noFill/>
          <a:ln/>
        </p:spPr>
        <p:txBody>
          <a:bodyPr wrap="square" lIns="0" tIns="0" rIns="0" bIns="0" rtlCol="0" anchor="t"/>
          <a:lstStyle/>
          <a:p>
            <a:pPr algn="ctr" indent="0" marL="0">
              <a:buNone/>
            </a:pPr>
            <a:r>
              <a:rPr lang="en-US" sz="1300" b="1" dirty="0">
                <a:solidFill>
                  <a:schemeClr val="accent1"/>
                </a:solidFill>
              </a:rPr>
              <a:t>Ø 6 min</a:t>
            </a:r>
            <a:endParaRPr lang="en-US" sz="1300" dirty="0"/>
          </a:p>
        </p:txBody>
      </p:sp>
      <p:sp>
        <p:nvSpPr>
          <p:cNvPr id="12" name="Pfeil"/>
          <p:cNvSpPr/>
          <p:nvPr/>
        </p:nvSpPr>
        <p:spPr>
          <a:xfrm rot="5400000">
            <a:off x="2569464" y="2258568"/>
            <a:ext cx="237744" cy="146304"/>
          </a:xfrm>
          <a:prstGeom prst="triangle">
            <a:avLst/>
          </a:prstGeom>
          <a:solidFill>
            <a:schemeClr val="accent5"/>
          </a:solidFill>
          <a:ln/>
        </p:spPr>
        <p:txBody>
          <a:bodyPr/>
          <a:p/>
        </p:txBody>
      </p:sp>
      <p:sp>
        <p:nvSpPr>
          <p:cNvPr id="13" name="Prozessschritt"/>
          <p:cNvSpPr/>
          <p:nvPr/>
        </p:nvSpPr>
        <p:spPr>
          <a:xfrm>
            <a:off x="2811780" y="1325880"/>
            <a:ext cx="2011680" cy="2011680"/>
          </a:xfrm>
          <a:prstGeom prst="roundRect">
            <a:avLst>
              <a:gd name="adj" fmla="val 3636"/>
            </a:avLst>
          </a:prstGeom>
          <a:solidFill>
            <a:schemeClr val="bg2"/>
          </a:solidFill>
          <a:ln/>
        </p:spPr>
        <p:txBody>
          <a:bodyPr/>
          <a:p/>
        </p:txBody>
      </p:sp>
      <p:sp>
        <p:nvSpPr>
          <p:cNvPr id="14" name="Symbolkreis"/>
          <p:cNvSpPr/>
          <p:nvPr/>
        </p:nvSpPr>
        <p:spPr>
          <a:xfrm>
            <a:off x="3488436" y="1481328"/>
            <a:ext cx="658368" cy="658368"/>
          </a:xfrm>
          <a:prstGeom prst="ellipse">
            <a:avLst/>
          </a:prstGeom>
          <a:solidFill>
            <a:schemeClr val="accent5"/>
          </a:solidFill>
          <a:ln/>
        </p:spPr>
        <p:txBody>
          <a:bodyPr/>
          <a:p/>
        </p:txBody>
      </p:sp>
      <p:pic>
        <p:nvPicPr>
          <p:cNvPr id="15" name="Symbol" descr="preencoded.png">    </p:cNvPr>
          <p:cNvPicPr>
            <a:picLocks noChangeAspect="1"/>
          </p:cNvPicPr>
          <p:nvPr/>
        </p:nvPicPr>
        <p:blipFill>
          <a:blip r:embed="rId3"/>
          <a:stretch>
            <a:fillRect/>
          </a:stretch>
        </p:blipFill>
        <p:spPr>
          <a:xfrm>
            <a:off x="3653028" y="1645920"/>
            <a:ext cx="329184" cy="329184"/>
          </a:xfrm>
          <a:prstGeom prst="rect">
            <a:avLst/>
          </a:prstGeom>
        </p:spPr>
      </p:pic>
      <p:sp>
        <p:nvSpPr>
          <p:cNvPr id="16" name="Text 11"/>
          <p:cNvSpPr txBox="1"/>
          <p:nvPr/>
        </p:nvSpPr>
        <p:spPr>
          <a:xfrm>
            <a:off x="2903220" y="2240280"/>
            <a:ext cx="1828800" cy="320040"/>
          </a:xfrm>
          <a:prstGeom prst="rect">
            <a:avLst/>
          </a:prstGeom>
          <a:noFill/>
          <a:ln/>
        </p:spPr>
        <p:txBody>
          <a:bodyPr wrap="square" lIns="0" tIns="0" rIns="0" bIns="0" rtlCol="0" anchor="t"/>
          <a:lstStyle/>
          <a:p>
            <a:pPr algn="ctr" indent="0" marL="0">
              <a:buNone/>
            </a:pPr>
            <a:r>
              <a:rPr lang="en-US" sz="1500" b="1" dirty="0">
                <a:solidFill>
                  <a:schemeClr val="tx2"/>
                </a:solidFill>
              </a:rPr>
              <a:t>Behandlung</a:t>
            </a:r>
            <a:endParaRPr lang="en-US" sz="1500" dirty="0"/>
          </a:p>
        </p:txBody>
      </p:sp>
      <p:sp>
        <p:nvSpPr>
          <p:cNvPr id="17" name="Text 12"/>
          <p:cNvSpPr txBox="1"/>
          <p:nvPr/>
        </p:nvSpPr>
        <p:spPr>
          <a:xfrm>
            <a:off x="2903220" y="2560320"/>
            <a:ext cx="1828800" cy="365760"/>
          </a:xfrm>
          <a:prstGeom prst="rect">
            <a:avLst/>
          </a:prstGeom>
          <a:noFill/>
          <a:ln/>
        </p:spPr>
        <p:txBody>
          <a:bodyPr wrap="square" lIns="0" tIns="0" rIns="0" bIns="0" rtlCol="0" anchor="t"/>
          <a:lstStyle/>
          <a:p>
            <a:pPr algn="ctr" indent="0" marL="0">
              <a:buNone/>
            </a:pPr>
            <a:r>
              <a:rPr lang="en-US" sz="1200" dirty="0">
                <a:solidFill>
                  <a:schemeClr val="accent5"/>
                </a:solidFill>
              </a:rPr>
              <a:t>Leistung wird erbracht</a:t>
            </a:r>
            <a:endParaRPr lang="en-US" sz="1200" dirty="0"/>
          </a:p>
        </p:txBody>
      </p:sp>
      <p:sp>
        <p:nvSpPr>
          <p:cNvPr id="18" name="Pfeil"/>
          <p:cNvSpPr/>
          <p:nvPr/>
        </p:nvSpPr>
        <p:spPr>
          <a:xfrm rot="5400000">
            <a:off x="4832604" y="2258568"/>
            <a:ext cx="237744" cy="146304"/>
          </a:xfrm>
          <a:prstGeom prst="triangle">
            <a:avLst/>
          </a:prstGeom>
          <a:solidFill>
            <a:schemeClr val="accent5"/>
          </a:solidFill>
          <a:ln/>
        </p:spPr>
        <p:txBody>
          <a:bodyPr/>
          <a:p/>
        </p:txBody>
      </p:sp>
      <p:sp>
        <p:nvSpPr>
          <p:cNvPr id="19" name="Prozessschritt"/>
          <p:cNvSpPr/>
          <p:nvPr/>
        </p:nvSpPr>
        <p:spPr>
          <a:xfrm>
            <a:off x="5074920" y="1325880"/>
            <a:ext cx="2011680" cy="2011680"/>
          </a:xfrm>
          <a:prstGeom prst="roundRect">
            <a:avLst>
              <a:gd name="adj" fmla="val 3636"/>
            </a:avLst>
          </a:prstGeom>
          <a:solidFill>
            <a:schemeClr val="bg2"/>
          </a:solidFill>
          <a:ln/>
        </p:spPr>
        <p:txBody>
          <a:bodyPr/>
          <a:p/>
        </p:txBody>
      </p:sp>
      <p:sp>
        <p:nvSpPr>
          <p:cNvPr id="20" name="Symbolkreis"/>
          <p:cNvSpPr/>
          <p:nvPr/>
        </p:nvSpPr>
        <p:spPr>
          <a:xfrm>
            <a:off x="5751576" y="1481328"/>
            <a:ext cx="658368" cy="658368"/>
          </a:xfrm>
          <a:prstGeom prst="ellipse">
            <a:avLst/>
          </a:prstGeom>
          <a:solidFill>
            <a:schemeClr val="accent1"/>
          </a:solidFill>
          <a:ln/>
        </p:spPr>
        <p:txBody>
          <a:bodyPr/>
          <a:p/>
        </p:txBody>
      </p:sp>
      <p:pic>
        <p:nvPicPr>
          <p:cNvPr id="21" name="Symbol" descr="preencoded.png">    </p:cNvPr>
          <p:cNvPicPr>
            <a:picLocks noChangeAspect="1"/>
          </p:cNvPicPr>
          <p:nvPr/>
        </p:nvPicPr>
        <p:blipFill>
          <a:blip r:embed="rId4"/>
          <a:stretch>
            <a:fillRect/>
          </a:stretch>
        </p:blipFill>
        <p:spPr>
          <a:xfrm>
            <a:off x="5916168" y="1645920"/>
            <a:ext cx="329184" cy="329184"/>
          </a:xfrm>
          <a:prstGeom prst="rect">
            <a:avLst/>
          </a:prstGeom>
        </p:spPr>
      </p:pic>
      <p:sp>
        <p:nvSpPr>
          <p:cNvPr id="22" name="Text 16"/>
          <p:cNvSpPr txBox="1"/>
          <p:nvPr/>
        </p:nvSpPr>
        <p:spPr>
          <a:xfrm>
            <a:off x="5166360" y="2240280"/>
            <a:ext cx="1828800" cy="320040"/>
          </a:xfrm>
          <a:prstGeom prst="rect">
            <a:avLst/>
          </a:prstGeom>
          <a:noFill/>
          <a:ln/>
        </p:spPr>
        <p:txBody>
          <a:bodyPr wrap="square" lIns="0" tIns="0" rIns="0" bIns="0" rtlCol="0" anchor="t"/>
          <a:lstStyle/>
          <a:p>
            <a:pPr algn="ctr" indent="0" marL="0">
              <a:buNone/>
            </a:pPr>
            <a:r>
              <a:rPr lang="en-US" sz="1500" b="1" dirty="0">
                <a:solidFill>
                  <a:schemeClr val="tx2"/>
                </a:solidFill>
              </a:rPr>
              <a:t>Schlussprüfung</a:t>
            </a:r>
            <a:endParaRPr lang="en-US" sz="1500" dirty="0"/>
          </a:p>
        </p:txBody>
      </p:sp>
      <p:sp>
        <p:nvSpPr>
          <p:cNvPr id="23" name="Text 17"/>
          <p:cNvSpPr txBox="1"/>
          <p:nvPr/>
        </p:nvSpPr>
        <p:spPr>
          <a:xfrm>
            <a:off x="5166360" y="2560320"/>
            <a:ext cx="1828800" cy="365760"/>
          </a:xfrm>
          <a:prstGeom prst="rect">
            <a:avLst/>
          </a:prstGeom>
          <a:noFill/>
          <a:ln/>
        </p:spPr>
        <p:txBody>
          <a:bodyPr wrap="square" lIns="0" tIns="0" rIns="0" bIns="0" rtlCol="0" anchor="t"/>
          <a:lstStyle/>
          <a:p>
            <a:pPr algn="ctr" indent="0" marL="0">
              <a:buNone/>
            </a:pPr>
            <a:r>
              <a:rPr lang="en-US" sz="1200" dirty="0">
                <a:solidFill>
                  <a:schemeClr val="accent5"/>
                </a:solidFill>
              </a:rPr>
              <a:t>vor der Abrechnung</a:t>
            </a:r>
            <a:endParaRPr lang="en-US" sz="1200" dirty="0"/>
          </a:p>
        </p:txBody>
      </p:sp>
      <p:sp>
        <p:nvSpPr>
          <p:cNvPr id="24" name="Text 18"/>
          <p:cNvSpPr txBox="1"/>
          <p:nvPr/>
        </p:nvSpPr>
        <p:spPr>
          <a:xfrm>
            <a:off x="5166360" y="2926080"/>
            <a:ext cx="1828800" cy="320040"/>
          </a:xfrm>
          <a:prstGeom prst="rect">
            <a:avLst/>
          </a:prstGeom>
          <a:noFill/>
          <a:ln/>
        </p:spPr>
        <p:txBody>
          <a:bodyPr wrap="square" lIns="0" tIns="0" rIns="0" bIns="0" rtlCol="0" anchor="t"/>
          <a:lstStyle/>
          <a:p>
            <a:pPr algn="ctr" indent="0" marL="0">
              <a:buNone/>
            </a:pPr>
            <a:r>
              <a:rPr lang="en-US" sz="1300" b="1" dirty="0">
                <a:solidFill>
                  <a:schemeClr val="accent1"/>
                </a:solidFill>
              </a:rPr>
              <a:t>ca. 2 min</a:t>
            </a:r>
            <a:endParaRPr lang="en-US" sz="1300" dirty="0"/>
          </a:p>
        </p:txBody>
      </p:sp>
      <p:sp>
        <p:nvSpPr>
          <p:cNvPr id="25" name="Pfeil"/>
          <p:cNvSpPr/>
          <p:nvPr/>
        </p:nvSpPr>
        <p:spPr>
          <a:xfrm rot="5400000">
            <a:off x="7095744" y="2258568"/>
            <a:ext cx="237744" cy="146304"/>
          </a:xfrm>
          <a:prstGeom prst="triangle">
            <a:avLst/>
          </a:prstGeom>
          <a:solidFill>
            <a:schemeClr val="accent5"/>
          </a:solidFill>
          <a:ln/>
        </p:spPr>
        <p:txBody>
          <a:bodyPr/>
          <a:p/>
        </p:txBody>
      </p:sp>
      <p:sp>
        <p:nvSpPr>
          <p:cNvPr id="26" name="Prozessschritt"/>
          <p:cNvSpPr/>
          <p:nvPr/>
        </p:nvSpPr>
        <p:spPr>
          <a:xfrm>
            <a:off x="7338060" y="1325880"/>
            <a:ext cx="2011680" cy="2011680"/>
          </a:xfrm>
          <a:prstGeom prst="roundRect">
            <a:avLst>
              <a:gd name="adj" fmla="val 3636"/>
            </a:avLst>
          </a:prstGeom>
          <a:solidFill>
            <a:schemeClr val="bg2"/>
          </a:solidFill>
          <a:ln/>
        </p:spPr>
        <p:txBody>
          <a:bodyPr/>
          <a:p/>
        </p:txBody>
      </p:sp>
      <p:sp>
        <p:nvSpPr>
          <p:cNvPr id="27" name="Symbolkreis"/>
          <p:cNvSpPr/>
          <p:nvPr/>
        </p:nvSpPr>
        <p:spPr>
          <a:xfrm>
            <a:off x="8014716" y="1481328"/>
            <a:ext cx="658368" cy="658368"/>
          </a:xfrm>
          <a:prstGeom prst="ellipse">
            <a:avLst/>
          </a:prstGeom>
          <a:solidFill>
            <a:schemeClr val="accent5"/>
          </a:solidFill>
          <a:ln/>
        </p:spPr>
        <p:txBody>
          <a:bodyPr/>
          <a:p/>
        </p:txBody>
      </p:sp>
      <p:pic>
        <p:nvPicPr>
          <p:cNvPr id="28" name="Symbol" descr="preencoded.png">    </p:cNvPr>
          <p:cNvPicPr>
            <a:picLocks noChangeAspect="1"/>
          </p:cNvPicPr>
          <p:nvPr/>
        </p:nvPicPr>
        <p:blipFill>
          <a:blip r:embed="rId5"/>
          <a:stretch>
            <a:fillRect/>
          </a:stretch>
        </p:blipFill>
        <p:spPr>
          <a:xfrm>
            <a:off x="8179308" y="1645920"/>
            <a:ext cx="329184" cy="329184"/>
          </a:xfrm>
          <a:prstGeom prst="rect">
            <a:avLst/>
          </a:prstGeom>
        </p:spPr>
      </p:pic>
      <p:sp>
        <p:nvSpPr>
          <p:cNvPr id="29" name="Text 22"/>
          <p:cNvSpPr txBox="1"/>
          <p:nvPr/>
        </p:nvSpPr>
        <p:spPr>
          <a:xfrm>
            <a:off x="7429500" y="2240280"/>
            <a:ext cx="1828800" cy="320040"/>
          </a:xfrm>
          <a:prstGeom prst="rect">
            <a:avLst/>
          </a:prstGeom>
          <a:noFill/>
          <a:ln/>
        </p:spPr>
        <p:txBody>
          <a:bodyPr wrap="square" lIns="0" tIns="0" rIns="0" bIns="0" rtlCol="0" anchor="t"/>
          <a:lstStyle/>
          <a:p>
            <a:pPr algn="ctr" indent="0" marL="0">
              <a:buNone/>
            </a:pPr>
            <a:r>
              <a:rPr lang="en-US" sz="1500" b="1" dirty="0">
                <a:solidFill>
                  <a:schemeClr val="tx2"/>
                </a:solidFill>
              </a:rPr>
              <a:t>Dienstleister</a:t>
            </a:r>
            <a:endParaRPr lang="en-US" sz="1500" dirty="0"/>
          </a:p>
        </p:txBody>
      </p:sp>
      <p:sp>
        <p:nvSpPr>
          <p:cNvPr id="30" name="Text 23"/>
          <p:cNvSpPr txBox="1"/>
          <p:nvPr/>
        </p:nvSpPr>
        <p:spPr>
          <a:xfrm>
            <a:off x="7429500" y="2560320"/>
            <a:ext cx="1828800" cy="365760"/>
          </a:xfrm>
          <a:prstGeom prst="rect">
            <a:avLst/>
          </a:prstGeom>
          <a:noFill/>
          <a:ln/>
        </p:spPr>
        <p:txBody>
          <a:bodyPr wrap="square" lIns="0" tIns="0" rIns="0" bIns="0" rtlCol="0" anchor="t"/>
          <a:lstStyle/>
          <a:p>
            <a:pPr algn="ctr" indent="0" marL="0">
              <a:buNone/>
            </a:pPr>
            <a:r>
              <a:rPr lang="en-US" sz="1200" dirty="0">
                <a:solidFill>
                  <a:schemeClr val="accent5"/>
                </a:solidFill>
              </a:rPr>
              <a:t>rechnet ab</a:t>
            </a:r>
            <a:endParaRPr lang="en-US" sz="1200" dirty="0"/>
          </a:p>
        </p:txBody>
      </p:sp>
      <p:sp>
        <p:nvSpPr>
          <p:cNvPr id="31" name="Text 24"/>
          <p:cNvSpPr txBox="1"/>
          <p:nvPr/>
        </p:nvSpPr>
        <p:spPr>
          <a:xfrm>
            <a:off x="7429500" y="2926080"/>
            <a:ext cx="1828800" cy="320040"/>
          </a:xfrm>
          <a:prstGeom prst="rect">
            <a:avLst/>
          </a:prstGeom>
          <a:noFill/>
          <a:ln/>
        </p:spPr>
        <p:txBody>
          <a:bodyPr wrap="square" lIns="0" tIns="0" rIns="0" bIns="0" rtlCol="0" anchor="t"/>
          <a:lstStyle/>
          <a:p>
            <a:pPr algn="ctr" indent="0" marL="0">
              <a:buNone/>
            </a:pPr>
            <a:r>
              <a:rPr lang="en-US" sz="1300" b="1" dirty="0">
                <a:solidFill>
                  <a:schemeClr val="accent1"/>
                </a:solidFill>
              </a:rPr>
              <a:t>1,9 % vom Umsatz</a:t>
            </a:r>
            <a:endParaRPr lang="en-US" sz="1300" dirty="0"/>
          </a:p>
        </p:txBody>
      </p:sp>
      <p:sp>
        <p:nvSpPr>
          <p:cNvPr id="32" name="Pfeil"/>
          <p:cNvSpPr/>
          <p:nvPr/>
        </p:nvSpPr>
        <p:spPr>
          <a:xfrm rot="5400000">
            <a:off x="9358884" y="2258568"/>
            <a:ext cx="237744" cy="146304"/>
          </a:xfrm>
          <a:prstGeom prst="triangle">
            <a:avLst/>
          </a:prstGeom>
          <a:solidFill>
            <a:schemeClr val="accent5"/>
          </a:solidFill>
          <a:ln/>
        </p:spPr>
        <p:txBody>
          <a:bodyPr/>
          <a:p/>
        </p:txBody>
      </p:sp>
      <p:sp>
        <p:nvSpPr>
          <p:cNvPr id="33" name="Prozessschritt"/>
          <p:cNvSpPr/>
          <p:nvPr/>
        </p:nvSpPr>
        <p:spPr>
          <a:xfrm>
            <a:off x="9601200" y="1325880"/>
            <a:ext cx="2011680" cy="2011680"/>
          </a:xfrm>
          <a:prstGeom prst="roundRect">
            <a:avLst>
              <a:gd name="adj" fmla="val 3636"/>
            </a:avLst>
          </a:prstGeom>
          <a:solidFill>
            <a:schemeClr val="bg2"/>
          </a:solidFill>
          <a:ln/>
        </p:spPr>
        <p:txBody>
          <a:bodyPr/>
          <a:p/>
        </p:txBody>
      </p:sp>
      <p:sp>
        <p:nvSpPr>
          <p:cNvPr id="34" name="Symbolkreis"/>
          <p:cNvSpPr/>
          <p:nvPr/>
        </p:nvSpPr>
        <p:spPr>
          <a:xfrm>
            <a:off x="10277856" y="1481328"/>
            <a:ext cx="658368" cy="658368"/>
          </a:xfrm>
          <a:prstGeom prst="ellipse">
            <a:avLst/>
          </a:prstGeom>
          <a:solidFill>
            <a:schemeClr val="accent5"/>
          </a:solidFill>
          <a:ln/>
        </p:spPr>
        <p:txBody>
          <a:bodyPr/>
          <a:p/>
        </p:txBody>
      </p:sp>
      <p:pic>
        <p:nvPicPr>
          <p:cNvPr id="35" name="Symbol" descr="preencoded.png">    </p:cNvPr>
          <p:cNvPicPr>
            <a:picLocks noChangeAspect="1"/>
          </p:cNvPicPr>
          <p:nvPr/>
        </p:nvPicPr>
        <p:blipFill>
          <a:blip r:embed="rId6"/>
          <a:stretch>
            <a:fillRect/>
          </a:stretch>
        </p:blipFill>
        <p:spPr>
          <a:xfrm>
            <a:off x="10442448" y="1645920"/>
            <a:ext cx="329184" cy="329184"/>
          </a:xfrm>
          <a:prstGeom prst="rect">
            <a:avLst/>
          </a:prstGeom>
        </p:spPr>
      </p:pic>
      <p:sp>
        <p:nvSpPr>
          <p:cNvPr id="36" name="Text 28"/>
          <p:cNvSpPr txBox="1"/>
          <p:nvPr/>
        </p:nvSpPr>
        <p:spPr>
          <a:xfrm>
            <a:off x="9692640" y="2240280"/>
            <a:ext cx="1828800" cy="320040"/>
          </a:xfrm>
          <a:prstGeom prst="rect">
            <a:avLst/>
          </a:prstGeom>
          <a:noFill/>
          <a:ln/>
        </p:spPr>
        <p:txBody>
          <a:bodyPr wrap="square" lIns="0" tIns="0" rIns="0" bIns="0" rtlCol="0" anchor="t"/>
          <a:lstStyle/>
          <a:p>
            <a:pPr algn="ctr" indent="0" marL="0">
              <a:buNone/>
            </a:pPr>
            <a:r>
              <a:rPr lang="en-US" sz="1500" b="1" dirty="0">
                <a:solidFill>
                  <a:schemeClr val="tx2"/>
                </a:solidFill>
              </a:rPr>
              <a:t>Krankenkasse</a:t>
            </a:r>
            <a:endParaRPr lang="en-US" sz="1500" dirty="0"/>
          </a:p>
        </p:txBody>
      </p:sp>
      <p:sp>
        <p:nvSpPr>
          <p:cNvPr id="37" name="Text 29"/>
          <p:cNvSpPr txBox="1"/>
          <p:nvPr/>
        </p:nvSpPr>
        <p:spPr>
          <a:xfrm>
            <a:off x="9692640" y="2560320"/>
            <a:ext cx="1828800" cy="365760"/>
          </a:xfrm>
          <a:prstGeom prst="rect">
            <a:avLst/>
          </a:prstGeom>
          <a:noFill/>
          <a:ln/>
        </p:spPr>
        <p:txBody>
          <a:bodyPr wrap="square" lIns="0" tIns="0" rIns="0" bIns="0" rtlCol="0" anchor="t"/>
          <a:lstStyle/>
          <a:p>
            <a:pPr algn="ctr" indent="0" marL="0">
              <a:buNone/>
            </a:pPr>
            <a:r>
              <a:rPr lang="en-US" sz="1200" dirty="0">
                <a:solidFill>
                  <a:schemeClr val="accent5"/>
                </a:solidFill>
              </a:rPr>
              <a:t>kürzt bei Fehlern</a:t>
            </a:r>
            <a:endParaRPr lang="en-US" sz="1200" dirty="0"/>
          </a:p>
        </p:txBody>
      </p:sp>
      <p:sp>
        <p:nvSpPr>
          <p:cNvPr id="38" name="Text 30"/>
          <p:cNvSpPr txBox="1"/>
          <p:nvPr/>
        </p:nvSpPr>
        <p:spPr>
          <a:xfrm>
            <a:off x="9692640" y="2926080"/>
            <a:ext cx="1828800" cy="320040"/>
          </a:xfrm>
          <a:prstGeom prst="rect">
            <a:avLst/>
          </a:prstGeom>
          <a:noFill/>
          <a:ln/>
        </p:spPr>
        <p:txBody>
          <a:bodyPr wrap="square" lIns="0" tIns="0" rIns="0" bIns="0" rtlCol="0" anchor="t"/>
          <a:lstStyle/>
          <a:p>
            <a:pPr algn="ctr" indent="0" marL="0">
              <a:buNone/>
            </a:pPr>
            <a:r>
              <a:rPr lang="en-US" sz="1300" b="1" dirty="0">
                <a:solidFill>
                  <a:schemeClr val="accent1"/>
                </a:solidFill>
              </a:rPr>
              <a:t>ca. 10 Fälle/Jahr</a:t>
            </a:r>
            <a:endParaRPr lang="en-US" sz="1300" dirty="0"/>
          </a:p>
        </p:txBody>
      </p:sp>
      <p:sp>
        <p:nvSpPr>
          <p:cNvPr id="39" name="Kennzahl"/>
          <p:cNvSpPr/>
          <p:nvPr/>
        </p:nvSpPr>
        <p:spPr>
          <a:xfrm>
            <a:off x="548640" y="3657600"/>
            <a:ext cx="3566160" cy="2194560"/>
          </a:xfrm>
          <a:prstGeom prst="roundRect">
            <a:avLst>
              <a:gd name="adj" fmla="val 3333"/>
            </a:avLst>
          </a:prstGeom>
          <a:solidFill>
            <a:schemeClr val="tx2"/>
          </a:solidFill>
          <a:ln/>
        </p:spPr>
        <p:txBody>
          <a:bodyPr/>
          <a:p/>
        </p:txBody>
      </p:sp>
      <p:sp>
        <p:nvSpPr>
          <p:cNvPr id="40" name="Text 32"/>
          <p:cNvSpPr txBox="1"/>
          <p:nvPr/>
        </p:nvSpPr>
        <p:spPr>
          <a:xfrm>
            <a:off x="822960" y="3840480"/>
            <a:ext cx="3017520" cy="914400"/>
          </a:xfrm>
          <a:prstGeom prst="rect">
            <a:avLst/>
          </a:prstGeom>
          <a:noFill/>
          <a:ln/>
        </p:spPr>
        <p:txBody>
          <a:bodyPr wrap="square" lIns="0" tIns="0" rIns="0" bIns="0" rtlCol="0" anchor="t"/>
          <a:lstStyle/>
          <a:p>
            <a:pPr indent="0" marL="0">
              <a:buNone/>
            </a:pPr>
            <a:r>
              <a:rPr lang="en-US" sz="4800" b="1" dirty="0">
                <a:solidFill>
                  <a:schemeClr val="accent2"/>
                </a:solidFill>
                <a:latin typeface="Cambria" pitchFamily="34" charset="0"/>
                <a:ea typeface="Cambria" pitchFamily="34" charset="-122"/>
                <a:cs typeface="Cambria" pitchFamily="34" charset="-120"/>
              </a:rPr>
              <a:t>90 %</a:t>
            </a:r>
            <a:endParaRPr lang="en-US" sz="4800" dirty="0"/>
          </a:p>
        </p:txBody>
      </p:sp>
      <p:sp>
        <p:nvSpPr>
          <p:cNvPr id="41" name="Text 33"/>
          <p:cNvSpPr txBox="1"/>
          <p:nvPr/>
        </p:nvSpPr>
        <p:spPr>
          <a:xfrm>
            <a:off x="822960" y="4800600"/>
            <a:ext cx="3017520" cy="822960"/>
          </a:xfrm>
          <a:prstGeom prst="rect">
            <a:avLst/>
          </a:prstGeom>
          <a:noFill/>
          <a:ln/>
        </p:spPr>
        <p:txBody>
          <a:bodyPr wrap="square" lIns="0" tIns="0" rIns="0" bIns="0" rtlCol="0" anchor="t"/>
          <a:lstStyle/>
          <a:p>
            <a:pPr indent="0" marL="0">
              <a:buNone/>
            </a:pPr>
            <a:r>
              <a:rPr lang="en-US" sz="1500" dirty="0">
                <a:solidFill>
                  <a:schemeClr val="bg1"/>
                </a:solidFill>
              </a:rPr>
              <a:t>der Fehler entstehen bei Doppel- und Folgeverordnungen</a:t>
            </a:r>
            <a:endParaRPr lang="en-US" sz="1500" dirty="0"/>
          </a:p>
        </p:txBody>
      </p:sp>
      <p:sp>
        <p:nvSpPr>
          <p:cNvPr id="42" name="Kennzahl"/>
          <p:cNvSpPr/>
          <p:nvPr/>
        </p:nvSpPr>
        <p:spPr>
          <a:xfrm>
            <a:off x="4297680" y="3657600"/>
            <a:ext cx="3566160" cy="2194560"/>
          </a:xfrm>
          <a:prstGeom prst="roundRect">
            <a:avLst>
              <a:gd name="adj" fmla="val 3333"/>
            </a:avLst>
          </a:prstGeom>
          <a:solidFill>
            <a:schemeClr val="tx2"/>
          </a:solidFill>
          <a:ln/>
        </p:spPr>
        <p:txBody>
          <a:bodyPr/>
          <a:p/>
        </p:txBody>
      </p:sp>
      <p:sp>
        <p:nvSpPr>
          <p:cNvPr id="43" name="Text 35"/>
          <p:cNvSpPr txBox="1"/>
          <p:nvPr/>
        </p:nvSpPr>
        <p:spPr>
          <a:xfrm>
            <a:off x="4572000" y="3840480"/>
            <a:ext cx="3017520" cy="914400"/>
          </a:xfrm>
          <a:prstGeom prst="rect">
            <a:avLst/>
          </a:prstGeom>
          <a:noFill/>
          <a:ln/>
        </p:spPr>
        <p:txBody>
          <a:bodyPr wrap="square" lIns="0" tIns="0" rIns="0" bIns="0" rtlCol="0" anchor="t"/>
          <a:lstStyle/>
          <a:p>
            <a:pPr indent="0" marL="0">
              <a:buNone/>
            </a:pPr>
            <a:r>
              <a:rPr lang="en-US" sz="4800" b="1" dirty="0">
                <a:solidFill>
                  <a:schemeClr val="accent2"/>
                </a:solidFill>
                <a:latin typeface="Cambria" pitchFamily="34" charset="0"/>
                <a:ea typeface="Cambria" pitchFamily="34" charset="-122"/>
                <a:cs typeface="Cambria" pitchFamily="34" charset="-120"/>
              </a:rPr>
              <a:t>≤ 85 %</a:t>
            </a:r>
            <a:endParaRPr lang="en-US" sz="4800" dirty="0"/>
          </a:p>
        </p:txBody>
      </p:sp>
      <p:sp>
        <p:nvSpPr>
          <p:cNvPr id="44" name="Text 36"/>
          <p:cNvSpPr txBox="1"/>
          <p:nvPr/>
        </p:nvSpPr>
        <p:spPr>
          <a:xfrm>
            <a:off x="4572000" y="4800600"/>
            <a:ext cx="3017520" cy="822960"/>
          </a:xfrm>
          <a:prstGeom prst="rect">
            <a:avLst/>
          </a:prstGeom>
          <a:noFill/>
          <a:ln/>
        </p:spPr>
        <p:txBody>
          <a:bodyPr wrap="square" lIns="0" tIns="0" rIns="0" bIns="0" rtlCol="0" anchor="t"/>
          <a:lstStyle/>
          <a:p>
            <a:pPr indent="0" marL="0">
              <a:buNone/>
            </a:pPr>
            <a:r>
              <a:rPr lang="en-US" sz="1500" dirty="0">
                <a:solidFill>
                  <a:schemeClr val="bg1"/>
                </a:solidFill>
              </a:rPr>
              <a:t>Wirksamkeit menschlicher Doppelkontrollen</a:t>
            </a:r>
            <a:endParaRPr lang="en-US" sz="1500" dirty="0"/>
          </a:p>
        </p:txBody>
      </p:sp>
      <p:sp>
        <p:nvSpPr>
          <p:cNvPr id="45" name="Kennzahl"/>
          <p:cNvSpPr/>
          <p:nvPr/>
        </p:nvSpPr>
        <p:spPr>
          <a:xfrm>
            <a:off x="8046720" y="3657600"/>
            <a:ext cx="3566160" cy="2194560"/>
          </a:xfrm>
          <a:prstGeom prst="roundRect">
            <a:avLst>
              <a:gd name="adj" fmla="val 3333"/>
            </a:avLst>
          </a:prstGeom>
          <a:solidFill>
            <a:schemeClr val="tx2"/>
          </a:solidFill>
          <a:ln/>
        </p:spPr>
        <p:txBody>
          <a:bodyPr/>
          <a:p/>
        </p:txBody>
      </p:sp>
      <p:sp>
        <p:nvSpPr>
          <p:cNvPr id="46" name="Text 38"/>
          <p:cNvSpPr txBox="1"/>
          <p:nvPr/>
        </p:nvSpPr>
        <p:spPr>
          <a:xfrm>
            <a:off x="8321040" y="3840480"/>
            <a:ext cx="3017520" cy="914400"/>
          </a:xfrm>
          <a:prstGeom prst="rect">
            <a:avLst/>
          </a:prstGeom>
          <a:noFill/>
          <a:ln/>
        </p:spPr>
        <p:txBody>
          <a:bodyPr wrap="square" lIns="0" tIns="0" rIns="0" bIns="0" rtlCol="0" anchor="t"/>
          <a:lstStyle/>
          <a:p>
            <a:pPr indent="0" marL="0">
              <a:buNone/>
            </a:pPr>
            <a:r>
              <a:rPr lang="en-US" sz="4800" b="1" dirty="0">
                <a:solidFill>
                  <a:schemeClr val="accent2"/>
                </a:solidFill>
                <a:latin typeface="Cambria" pitchFamily="34" charset="0"/>
                <a:ea typeface="Cambria" pitchFamily="34" charset="-122"/>
                <a:cs typeface="Cambria" pitchFamily="34" charset="-120"/>
              </a:rPr>
              <a:t>5,3 h</a:t>
            </a:r>
            <a:endParaRPr lang="en-US" sz="4800" dirty="0"/>
          </a:p>
        </p:txBody>
      </p:sp>
      <p:sp>
        <p:nvSpPr>
          <p:cNvPr id="47" name="Text 39"/>
          <p:cNvSpPr txBox="1"/>
          <p:nvPr/>
        </p:nvSpPr>
        <p:spPr>
          <a:xfrm>
            <a:off x="8321040" y="4800600"/>
            <a:ext cx="3017520" cy="822960"/>
          </a:xfrm>
          <a:prstGeom prst="rect">
            <a:avLst/>
          </a:prstGeom>
          <a:noFill/>
          <a:ln/>
        </p:spPr>
        <p:txBody>
          <a:bodyPr wrap="square" lIns="0" tIns="0" rIns="0" bIns="0" rtlCol="0" anchor="t"/>
          <a:lstStyle/>
          <a:p>
            <a:pPr indent="0" marL="0">
              <a:buNone/>
            </a:pPr>
            <a:r>
              <a:rPr lang="en-US" sz="1500" dirty="0">
                <a:solidFill>
                  <a:schemeClr val="bg1"/>
                </a:solidFill>
              </a:rPr>
              <a:t>Prüfzeit pro Woche: 40 Verordnungen × 8 min</a:t>
            </a:r>
            <a:endParaRPr lang="en-US" sz="1500" dirty="0"/>
          </a:p>
        </p:txBody>
      </p:sp>
      <p:sp>
        <p:nvSpPr>
          <p:cNvPr id="48" name="Text 40"/>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Quelle: Field Study, Ist-Interview am 16.10.2026 · Die Praxissoftware zeigt nicht, wie viele Einheiten ein Patient beim selben Arzt schon hatte</a:t>
            </a:r>
            <a:endParaRPr lang="en-US" sz="1000" dirty="0"/>
          </a:p>
        </p:txBody>
      </p:sp>
      <p:sp>
        <p:nvSpPr>
          <p:cNvPr id="49"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Einsatzfelder: erst die Landkarte, dann der Pilot</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tx2"/>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Thomas</a:t>
            </a:r>
            <a:endParaRPr lang="en-US" sz="1500" dirty="0"/>
          </a:p>
        </p:txBody>
      </p:sp>
      <p:sp>
        <p:nvSpPr>
          <p:cNvPr id="8" name="Matrix"/>
          <p:cNvSpPr/>
          <p:nvPr/>
        </p:nvSpPr>
        <p:spPr>
          <a:xfrm>
            <a:off x="1965960" y="1325880"/>
            <a:ext cx="5074920" cy="3611880"/>
          </a:xfrm>
          <a:prstGeom prst="roundRect">
            <a:avLst>
              <a:gd name="adj" fmla="val 2025"/>
            </a:avLst>
          </a:prstGeom>
          <a:solidFill>
            <a:schemeClr val="bg2"/>
          </a:solidFill>
          <a:ln/>
        </p:spPr>
        <p:txBody>
          <a:bodyPr/>
          <a:p/>
        </p:txBody>
      </p:sp>
      <p:sp>
        <p:nvSpPr>
          <p:cNvPr id="9" name="Hilfslinie"/>
          <p:cNvSpPr/>
          <p:nvPr/>
        </p:nvSpPr>
        <p:spPr>
          <a:xfrm>
            <a:off x="4503420" y="1463040"/>
            <a:ext cx="0" cy="3337560"/>
          </a:xfrm>
          <a:prstGeom prst="line">
            <a:avLst/>
          </a:prstGeom>
          <a:noFill/>
          <a:ln w="12700">
            <a:solidFill>
              <a:srgbClr val="C9D6D3"/>
            </a:solidFill>
            <a:prstDash val="dash"/>
          </a:ln>
        </p:spPr>
        <p:txBody>
          <a:bodyPr/>
          <a:p/>
        </p:txBody>
      </p:sp>
      <p:sp>
        <p:nvSpPr>
          <p:cNvPr id="10" name="Hilfslinie"/>
          <p:cNvSpPr/>
          <p:nvPr/>
        </p:nvSpPr>
        <p:spPr>
          <a:xfrm>
            <a:off x="2103120" y="3131820"/>
            <a:ext cx="4800600" cy="0"/>
          </a:xfrm>
          <a:prstGeom prst="line">
            <a:avLst/>
          </a:prstGeom>
          <a:noFill/>
          <a:ln w="12700">
            <a:solidFill>
              <a:srgbClr val="C9D6D3"/>
            </a:solidFill>
            <a:prstDash val="dash"/>
          </a:ln>
        </p:spPr>
        <p:txBody>
          <a:bodyPr/>
          <a:p/>
        </p:txBody>
      </p:sp>
      <p:sp>
        <p:nvSpPr>
          <p:cNvPr id="11" name="Achse Nutzen"/>
          <p:cNvSpPr/>
          <p:nvPr/>
        </p:nvSpPr>
        <p:spPr>
          <a:xfrm flipV="1">
            <a:off x="1856232" y="1325880"/>
            <a:ext cx="0" cy="3611880"/>
          </a:xfrm>
          <a:prstGeom prst="line">
            <a:avLst/>
          </a:prstGeom>
          <a:noFill/>
          <a:ln w="25400">
            <a:solidFill>
              <a:srgbClr val="12343B"/>
            </a:solidFill>
            <a:prstDash val="solid"/>
            <a:tailEnd type="triangle"/>
          </a:ln>
        </p:spPr>
        <p:txBody>
          <a:bodyPr/>
          <a:p/>
        </p:txBody>
      </p:sp>
      <p:sp>
        <p:nvSpPr>
          <p:cNvPr id="12" name="Text 9"/>
          <p:cNvSpPr txBox="1"/>
          <p:nvPr/>
        </p:nvSpPr>
        <p:spPr>
          <a:xfrm>
            <a:off x="548640" y="1325880"/>
            <a:ext cx="1234440" cy="274320"/>
          </a:xfrm>
          <a:prstGeom prst="rect">
            <a:avLst/>
          </a:prstGeom>
          <a:noFill/>
          <a:ln/>
        </p:spPr>
        <p:txBody>
          <a:bodyPr wrap="square" lIns="0" tIns="0" rIns="0" bIns="0" rtlCol="0" anchor="t"/>
          <a:lstStyle/>
          <a:p>
            <a:pPr algn="r" indent="0" marL="0">
              <a:buNone/>
            </a:pPr>
            <a:r>
              <a:rPr lang="en-US" sz="1200" b="1" dirty="0">
                <a:solidFill>
                  <a:schemeClr val="accent5"/>
                </a:solidFill>
              </a:rPr>
              <a:t>hoch</a:t>
            </a:r>
            <a:endParaRPr lang="en-US" sz="1200" dirty="0"/>
          </a:p>
        </p:txBody>
      </p:sp>
      <p:sp>
        <p:nvSpPr>
          <p:cNvPr id="13" name="Text 10"/>
          <p:cNvSpPr txBox="1"/>
          <p:nvPr/>
        </p:nvSpPr>
        <p:spPr>
          <a:xfrm>
            <a:off x="548640" y="2240280"/>
            <a:ext cx="1234440" cy="365760"/>
          </a:xfrm>
          <a:prstGeom prst="rect">
            <a:avLst/>
          </a:prstGeom>
          <a:noFill/>
          <a:ln/>
        </p:spPr>
        <p:txBody>
          <a:bodyPr wrap="square" lIns="0" tIns="0" rIns="0" bIns="0" rtlCol="0" anchor="t"/>
          <a:lstStyle/>
          <a:p>
            <a:pPr algn="r" indent="0" marL="0">
              <a:buNone/>
            </a:pPr>
            <a:r>
              <a:rPr lang="en-US" sz="1800" b="1" dirty="0">
                <a:solidFill>
                  <a:schemeClr val="tx2"/>
                </a:solidFill>
                <a:latin typeface="Cambria" pitchFamily="34" charset="0"/>
                <a:ea typeface="Cambria" pitchFamily="34" charset="-122"/>
                <a:cs typeface="Cambria" pitchFamily="34" charset="-120"/>
              </a:rPr>
              <a:t>Nutzen</a:t>
            </a:r>
            <a:endParaRPr lang="en-US" sz="1800" dirty="0"/>
          </a:p>
        </p:txBody>
      </p:sp>
      <p:sp>
        <p:nvSpPr>
          <p:cNvPr id="14" name="Text 11"/>
          <p:cNvSpPr txBox="1"/>
          <p:nvPr/>
        </p:nvSpPr>
        <p:spPr>
          <a:xfrm>
            <a:off x="548640" y="2624328"/>
            <a:ext cx="1234440" cy="1188720"/>
          </a:xfrm>
          <a:prstGeom prst="rect">
            <a:avLst/>
          </a:prstGeom>
          <a:noFill/>
          <a:ln/>
        </p:spPr>
        <p:txBody>
          <a:bodyPr wrap="square" lIns="0" tIns="0" rIns="0" bIns="0" rtlCol="0" anchor="t"/>
          <a:lstStyle/>
          <a:p>
            <a:pPr algn="r" indent="0" marL="0">
              <a:buNone/>
            </a:pPr>
            <a:r>
              <a:rPr lang="en-US" sz="1200" dirty="0">
                <a:solidFill>
                  <a:schemeClr val="tx1"/>
                </a:solidFill>
              </a:rPr>
              <a:t>Zeit gespart, Fehler vermieden, Rezeption entlastet</a:t>
            </a:r>
            <a:endParaRPr lang="en-US" sz="1200" dirty="0"/>
          </a:p>
        </p:txBody>
      </p:sp>
      <p:sp>
        <p:nvSpPr>
          <p:cNvPr id="15" name="Text 12"/>
          <p:cNvSpPr txBox="1"/>
          <p:nvPr/>
        </p:nvSpPr>
        <p:spPr>
          <a:xfrm>
            <a:off x="548640" y="4663440"/>
            <a:ext cx="1234440" cy="274320"/>
          </a:xfrm>
          <a:prstGeom prst="rect">
            <a:avLst/>
          </a:prstGeom>
          <a:noFill/>
          <a:ln/>
        </p:spPr>
        <p:txBody>
          <a:bodyPr wrap="square" lIns="0" tIns="0" rIns="0" bIns="0" rtlCol="0" anchor="t"/>
          <a:lstStyle/>
          <a:p>
            <a:pPr algn="r" indent="0" marL="0">
              <a:buNone/>
            </a:pPr>
            <a:r>
              <a:rPr lang="en-US" sz="1200" b="1" dirty="0">
                <a:solidFill>
                  <a:schemeClr val="accent5"/>
                </a:solidFill>
              </a:rPr>
              <a:t>gering</a:t>
            </a:r>
            <a:endParaRPr lang="en-US" sz="1200" dirty="0"/>
          </a:p>
        </p:txBody>
      </p:sp>
      <p:sp>
        <p:nvSpPr>
          <p:cNvPr id="16" name="Achse Machbarkeit"/>
          <p:cNvSpPr/>
          <p:nvPr/>
        </p:nvSpPr>
        <p:spPr>
          <a:xfrm>
            <a:off x="1965960" y="5047488"/>
            <a:ext cx="5074920" cy="0"/>
          </a:xfrm>
          <a:prstGeom prst="line">
            <a:avLst/>
          </a:prstGeom>
          <a:noFill/>
          <a:ln w="25400">
            <a:solidFill>
              <a:srgbClr val="12343B"/>
            </a:solidFill>
            <a:prstDash val="solid"/>
            <a:tailEnd type="triangle"/>
          </a:ln>
        </p:spPr>
        <p:txBody>
          <a:bodyPr/>
          <a:p/>
        </p:txBody>
      </p:sp>
      <p:sp>
        <p:nvSpPr>
          <p:cNvPr id="17" name="Text 14"/>
          <p:cNvSpPr txBox="1"/>
          <p:nvPr/>
        </p:nvSpPr>
        <p:spPr>
          <a:xfrm>
            <a:off x="1965960" y="5120640"/>
            <a:ext cx="914400" cy="274320"/>
          </a:xfrm>
          <a:prstGeom prst="rect">
            <a:avLst/>
          </a:prstGeom>
          <a:noFill/>
          <a:ln/>
        </p:spPr>
        <p:txBody>
          <a:bodyPr wrap="square" lIns="0" tIns="0" rIns="0" bIns="0" rtlCol="0" anchor="t"/>
          <a:lstStyle/>
          <a:p>
            <a:pPr indent="0" marL="0">
              <a:buNone/>
            </a:pPr>
            <a:r>
              <a:rPr lang="en-US" sz="1200" b="1" dirty="0">
                <a:solidFill>
                  <a:schemeClr val="accent5"/>
                </a:solidFill>
              </a:rPr>
              <a:t>gering</a:t>
            </a:r>
            <a:endParaRPr lang="en-US" sz="1200" dirty="0"/>
          </a:p>
        </p:txBody>
      </p:sp>
      <p:sp>
        <p:nvSpPr>
          <p:cNvPr id="18" name="Text 15"/>
          <p:cNvSpPr txBox="1"/>
          <p:nvPr/>
        </p:nvSpPr>
        <p:spPr>
          <a:xfrm>
            <a:off x="6126480" y="5120640"/>
            <a:ext cx="914400" cy="274320"/>
          </a:xfrm>
          <a:prstGeom prst="rect">
            <a:avLst/>
          </a:prstGeom>
          <a:noFill/>
          <a:ln/>
        </p:spPr>
        <p:txBody>
          <a:bodyPr wrap="square" lIns="0" tIns="0" rIns="0" bIns="0" rtlCol="0" anchor="t"/>
          <a:lstStyle/>
          <a:p>
            <a:pPr algn="r" indent="0" marL="0">
              <a:buNone/>
            </a:pPr>
            <a:r>
              <a:rPr lang="en-US" sz="1200" b="1" dirty="0">
                <a:solidFill>
                  <a:schemeClr val="accent5"/>
                </a:solidFill>
              </a:rPr>
              <a:t>hoch</a:t>
            </a:r>
            <a:endParaRPr lang="en-US" sz="1200" dirty="0"/>
          </a:p>
        </p:txBody>
      </p:sp>
      <p:sp>
        <p:nvSpPr>
          <p:cNvPr id="19" name="Text 16"/>
          <p:cNvSpPr txBox="1"/>
          <p:nvPr/>
        </p:nvSpPr>
        <p:spPr>
          <a:xfrm>
            <a:off x="2880360" y="5120640"/>
            <a:ext cx="3246120" cy="365760"/>
          </a:xfrm>
          <a:prstGeom prst="rect">
            <a:avLst/>
          </a:prstGeom>
          <a:noFill/>
          <a:ln/>
        </p:spPr>
        <p:txBody>
          <a:bodyPr wrap="square" lIns="0" tIns="0" rIns="0" bIns="0" rtlCol="0" anchor="t"/>
          <a:lstStyle/>
          <a:p>
            <a:pPr algn="ctr" indent="0" marL="0">
              <a:buNone/>
            </a:pPr>
            <a:r>
              <a:rPr lang="en-US" sz="1800" b="1" dirty="0">
                <a:solidFill>
                  <a:schemeClr val="tx2"/>
                </a:solidFill>
                <a:latin typeface="Cambria" pitchFamily="34" charset="0"/>
                <a:ea typeface="Cambria" pitchFamily="34" charset="-122"/>
                <a:cs typeface="Cambria" pitchFamily="34" charset="-120"/>
              </a:rPr>
              <a:t>Machbarkeit</a:t>
            </a:r>
            <a:endParaRPr lang="en-US" sz="1800" dirty="0"/>
          </a:p>
        </p:txBody>
      </p:sp>
      <p:sp>
        <p:nvSpPr>
          <p:cNvPr id="20" name="Text 17"/>
          <p:cNvSpPr txBox="1"/>
          <p:nvPr/>
        </p:nvSpPr>
        <p:spPr>
          <a:xfrm>
            <a:off x="1691640" y="5504688"/>
            <a:ext cx="5623560" cy="457200"/>
          </a:xfrm>
          <a:prstGeom prst="rect">
            <a:avLst/>
          </a:prstGeom>
          <a:noFill/>
          <a:ln/>
        </p:spPr>
        <p:txBody>
          <a:bodyPr wrap="square" lIns="0" tIns="0" rIns="0" bIns="0" rtlCol="0" anchor="t"/>
          <a:lstStyle/>
          <a:p>
            <a:pPr algn="ctr" indent="0" marL="0">
              <a:buNone/>
            </a:pPr>
            <a:r>
              <a:rPr lang="en-US" sz="1200" dirty="0">
                <a:solidFill>
                  <a:schemeClr val="tx1"/>
                </a:solidFill>
              </a:rPr>
              <a:t>Daten vorhanden, ohne Schnittstelle zur Praxissoftware umsetzbar, geringes Risiko (Datenschutz, Fehlentscheidung)</a:t>
            </a:r>
            <a:endParaRPr lang="en-US" sz="1200" dirty="0"/>
          </a:p>
        </p:txBody>
      </p:sp>
      <p:sp>
        <p:nvSpPr>
          <p:cNvPr id="21" name="Einsatzfeld Verordnungs-Check"/>
          <p:cNvSpPr/>
          <p:nvPr/>
        </p:nvSpPr>
        <p:spPr>
          <a:xfrm>
            <a:off x="6483096" y="1499616"/>
            <a:ext cx="384048" cy="384048"/>
          </a:xfrm>
          <a:prstGeom prst="ellipse">
            <a:avLst/>
          </a:prstGeom>
          <a:solidFill>
            <a:schemeClr val="accent3"/>
          </a:solidFill>
          <a:ln/>
        </p:spPr>
        <p:txBody>
          <a:bodyPr/>
          <a:p/>
        </p:txBody>
      </p:sp>
      <p:sp>
        <p:nvSpPr>
          <p:cNvPr id="22" name="Text 19"/>
          <p:cNvSpPr txBox="1"/>
          <p:nvPr/>
        </p:nvSpPr>
        <p:spPr>
          <a:xfrm>
            <a:off x="4105656" y="1527048"/>
            <a:ext cx="2286000" cy="329184"/>
          </a:xfrm>
          <a:prstGeom prst="rect">
            <a:avLst/>
          </a:prstGeom>
          <a:noFill/>
          <a:ln/>
        </p:spPr>
        <p:txBody>
          <a:bodyPr wrap="square" lIns="0" tIns="0" rIns="0" bIns="0" rtlCol="0" anchor="ctr"/>
          <a:lstStyle/>
          <a:p>
            <a:pPr algn="r" indent="0" marL="0">
              <a:buNone/>
            </a:pPr>
            <a:r>
              <a:rPr lang="en-US" sz="1400" b="1" dirty="0">
                <a:solidFill>
                  <a:schemeClr val="accent3"/>
                </a:solidFill>
              </a:rPr>
              <a:t>Verordnungs-Check</a:t>
            </a:r>
            <a:endParaRPr lang="en-US" sz="1400" dirty="0"/>
          </a:p>
        </p:txBody>
      </p:sp>
      <p:sp>
        <p:nvSpPr>
          <p:cNvPr id="23" name="Einsatzfeld Zentrale Terminvergabe"/>
          <p:cNvSpPr/>
          <p:nvPr/>
        </p:nvSpPr>
        <p:spPr>
          <a:xfrm>
            <a:off x="4375404" y="1563624"/>
            <a:ext cx="256032" cy="256032"/>
          </a:xfrm>
          <a:prstGeom prst="ellipse">
            <a:avLst/>
          </a:prstGeom>
          <a:solidFill>
            <a:schemeClr val="accent1"/>
          </a:solidFill>
          <a:ln/>
        </p:spPr>
        <p:txBody>
          <a:bodyPr/>
          <a:p/>
        </p:txBody>
      </p:sp>
      <p:sp>
        <p:nvSpPr>
          <p:cNvPr id="24" name="Text 21"/>
          <p:cNvSpPr txBox="1"/>
          <p:nvPr/>
        </p:nvSpPr>
        <p:spPr>
          <a:xfrm>
            <a:off x="1997964" y="1527048"/>
            <a:ext cx="2286000" cy="329184"/>
          </a:xfrm>
          <a:prstGeom prst="rect">
            <a:avLst/>
          </a:prstGeom>
          <a:noFill/>
          <a:ln/>
        </p:spPr>
        <p:txBody>
          <a:bodyPr wrap="square" lIns="0" tIns="0" rIns="0" bIns="0" rtlCol="0" anchor="ctr"/>
          <a:lstStyle/>
          <a:p>
            <a:pPr algn="r" indent="0" marL="0">
              <a:buNone/>
            </a:pPr>
            <a:r>
              <a:rPr lang="en-US" sz="1200" dirty="0">
                <a:solidFill>
                  <a:schemeClr val="tx1"/>
                </a:solidFill>
              </a:rPr>
              <a:t>Zentrale Terminvergabe</a:t>
            </a:r>
            <a:endParaRPr lang="en-US" sz="1200" dirty="0"/>
          </a:p>
        </p:txBody>
      </p:sp>
      <p:sp>
        <p:nvSpPr>
          <p:cNvPr id="25" name="Einsatzfeld Erstattungshinweis (privat)"/>
          <p:cNvSpPr/>
          <p:nvPr/>
        </p:nvSpPr>
        <p:spPr>
          <a:xfrm>
            <a:off x="5461254" y="2571750"/>
            <a:ext cx="256032" cy="256032"/>
          </a:xfrm>
          <a:prstGeom prst="ellipse">
            <a:avLst/>
          </a:prstGeom>
          <a:solidFill>
            <a:schemeClr val="accent1"/>
          </a:solidFill>
          <a:ln/>
        </p:spPr>
        <p:txBody>
          <a:bodyPr/>
          <a:p/>
        </p:txBody>
      </p:sp>
      <p:sp>
        <p:nvSpPr>
          <p:cNvPr id="26" name="Text 23"/>
          <p:cNvSpPr txBox="1"/>
          <p:nvPr/>
        </p:nvSpPr>
        <p:spPr>
          <a:xfrm>
            <a:off x="3083814" y="2535174"/>
            <a:ext cx="2286000" cy="329184"/>
          </a:xfrm>
          <a:prstGeom prst="rect">
            <a:avLst/>
          </a:prstGeom>
          <a:noFill/>
          <a:ln/>
        </p:spPr>
        <p:txBody>
          <a:bodyPr wrap="square" lIns="0" tIns="0" rIns="0" bIns="0" rtlCol="0" anchor="ctr"/>
          <a:lstStyle/>
          <a:p>
            <a:pPr algn="r" indent="0" marL="0">
              <a:buNone/>
            </a:pPr>
            <a:r>
              <a:rPr lang="en-US" sz="1200" dirty="0">
                <a:solidFill>
                  <a:schemeClr val="tx1"/>
                </a:solidFill>
              </a:rPr>
              <a:t>Erstattungshinweis (privat)</a:t>
            </a:r>
            <a:endParaRPr lang="en-US" sz="1200" dirty="0"/>
          </a:p>
        </p:txBody>
      </p:sp>
      <p:sp>
        <p:nvSpPr>
          <p:cNvPr id="27" name="Einsatzfeld Erinnerungen an Patienten"/>
          <p:cNvSpPr/>
          <p:nvPr/>
        </p:nvSpPr>
        <p:spPr>
          <a:xfrm>
            <a:off x="6547104" y="3003804"/>
            <a:ext cx="256032" cy="256032"/>
          </a:xfrm>
          <a:prstGeom prst="ellipse">
            <a:avLst/>
          </a:prstGeom>
          <a:solidFill>
            <a:schemeClr val="accent1"/>
          </a:solidFill>
          <a:ln/>
        </p:spPr>
        <p:txBody>
          <a:bodyPr/>
          <a:p/>
        </p:txBody>
      </p:sp>
      <p:sp>
        <p:nvSpPr>
          <p:cNvPr id="28" name="Text 25"/>
          <p:cNvSpPr txBox="1"/>
          <p:nvPr/>
        </p:nvSpPr>
        <p:spPr>
          <a:xfrm>
            <a:off x="4169664" y="2967228"/>
            <a:ext cx="2286000" cy="329184"/>
          </a:xfrm>
          <a:prstGeom prst="rect">
            <a:avLst/>
          </a:prstGeom>
          <a:noFill/>
          <a:ln/>
        </p:spPr>
        <p:txBody>
          <a:bodyPr wrap="square" lIns="0" tIns="0" rIns="0" bIns="0" rtlCol="0" anchor="ctr"/>
          <a:lstStyle/>
          <a:p>
            <a:pPr algn="r" indent="0" marL="0">
              <a:buNone/>
            </a:pPr>
            <a:r>
              <a:rPr lang="en-US" sz="1200" dirty="0">
                <a:solidFill>
                  <a:schemeClr val="tx1"/>
                </a:solidFill>
              </a:rPr>
              <a:t>Erinnerungen an Patienten</a:t>
            </a:r>
            <a:endParaRPr lang="en-US" sz="1200" dirty="0"/>
          </a:p>
        </p:txBody>
      </p:sp>
      <p:sp>
        <p:nvSpPr>
          <p:cNvPr id="29" name="Einsatzfeld Abrechnungs-Vorbereitung"/>
          <p:cNvSpPr/>
          <p:nvPr/>
        </p:nvSpPr>
        <p:spPr>
          <a:xfrm>
            <a:off x="2203704" y="3003804"/>
            <a:ext cx="256032" cy="256032"/>
          </a:xfrm>
          <a:prstGeom prst="ellipse">
            <a:avLst/>
          </a:prstGeom>
          <a:solidFill>
            <a:schemeClr val="accent1"/>
          </a:solidFill>
          <a:ln/>
        </p:spPr>
        <p:txBody>
          <a:bodyPr/>
          <a:p/>
        </p:txBody>
      </p:sp>
      <p:sp>
        <p:nvSpPr>
          <p:cNvPr id="30" name="Text 27"/>
          <p:cNvSpPr txBox="1"/>
          <p:nvPr/>
        </p:nvSpPr>
        <p:spPr>
          <a:xfrm>
            <a:off x="2532888" y="2967228"/>
            <a:ext cx="2286000" cy="329184"/>
          </a:xfrm>
          <a:prstGeom prst="rect">
            <a:avLst/>
          </a:prstGeom>
          <a:noFill/>
          <a:ln/>
        </p:spPr>
        <p:txBody>
          <a:bodyPr wrap="square" lIns="0" tIns="0" rIns="0" bIns="0" rtlCol="0" anchor="ctr"/>
          <a:lstStyle/>
          <a:p>
            <a:pPr algn="l" indent="0" marL="0">
              <a:buNone/>
            </a:pPr>
            <a:r>
              <a:rPr lang="en-US" sz="1200" dirty="0">
                <a:solidFill>
                  <a:schemeClr val="tx1"/>
                </a:solidFill>
              </a:rPr>
              <a:t>Abrechnungs-Vorbereitung</a:t>
            </a:r>
            <a:endParaRPr lang="en-US" sz="1200" dirty="0"/>
          </a:p>
        </p:txBody>
      </p:sp>
      <p:sp>
        <p:nvSpPr>
          <p:cNvPr id="31" name="Einsatzfeld Therapieberichte an Ärzte"/>
          <p:cNvSpPr/>
          <p:nvPr/>
        </p:nvSpPr>
        <p:spPr>
          <a:xfrm>
            <a:off x="4375404" y="3723894"/>
            <a:ext cx="256032" cy="256032"/>
          </a:xfrm>
          <a:prstGeom prst="ellipse">
            <a:avLst/>
          </a:prstGeom>
          <a:solidFill>
            <a:schemeClr val="accent1"/>
          </a:solidFill>
          <a:ln/>
        </p:spPr>
        <p:txBody>
          <a:bodyPr/>
          <a:p/>
        </p:txBody>
      </p:sp>
      <p:sp>
        <p:nvSpPr>
          <p:cNvPr id="32" name="Text 29"/>
          <p:cNvSpPr txBox="1"/>
          <p:nvPr/>
        </p:nvSpPr>
        <p:spPr>
          <a:xfrm>
            <a:off x="4704588" y="3687318"/>
            <a:ext cx="2286000" cy="329184"/>
          </a:xfrm>
          <a:prstGeom prst="rect">
            <a:avLst/>
          </a:prstGeom>
          <a:noFill/>
          <a:ln/>
        </p:spPr>
        <p:txBody>
          <a:bodyPr wrap="square" lIns="0" tIns="0" rIns="0" bIns="0" rtlCol="0" anchor="ctr"/>
          <a:lstStyle/>
          <a:p>
            <a:pPr algn="l" indent="0" marL="0">
              <a:buNone/>
            </a:pPr>
            <a:r>
              <a:rPr lang="en-US" sz="1200" dirty="0">
                <a:solidFill>
                  <a:schemeClr val="tx1"/>
                </a:solidFill>
              </a:rPr>
              <a:t>Therapieberichte an Ärzte</a:t>
            </a:r>
            <a:endParaRPr lang="en-US" sz="1200" dirty="0"/>
          </a:p>
        </p:txBody>
      </p:sp>
      <p:sp>
        <p:nvSpPr>
          <p:cNvPr id="33" name="Einsatzfeld Dienst- &amp; Raumplanung"/>
          <p:cNvSpPr/>
          <p:nvPr/>
        </p:nvSpPr>
        <p:spPr>
          <a:xfrm>
            <a:off x="4375404" y="4443984"/>
            <a:ext cx="256032" cy="256032"/>
          </a:xfrm>
          <a:prstGeom prst="ellipse">
            <a:avLst/>
          </a:prstGeom>
          <a:solidFill>
            <a:schemeClr val="accent1"/>
          </a:solidFill>
          <a:ln/>
        </p:spPr>
        <p:txBody>
          <a:bodyPr/>
          <a:p/>
        </p:txBody>
      </p:sp>
      <p:sp>
        <p:nvSpPr>
          <p:cNvPr id="34" name="Text 31"/>
          <p:cNvSpPr txBox="1"/>
          <p:nvPr/>
        </p:nvSpPr>
        <p:spPr>
          <a:xfrm>
            <a:off x="4704588" y="4407408"/>
            <a:ext cx="2286000" cy="329184"/>
          </a:xfrm>
          <a:prstGeom prst="rect">
            <a:avLst/>
          </a:prstGeom>
          <a:noFill/>
          <a:ln/>
        </p:spPr>
        <p:txBody>
          <a:bodyPr wrap="square" lIns="0" tIns="0" rIns="0" bIns="0" rtlCol="0" anchor="ctr"/>
          <a:lstStyle/>
          <a:p>
            <a:pPr algn="l" indent="0" marL="0">
              <a:buNone/>
            </a:pPr>
            <a:r>
              <a:rPr lang="en-US" sz="1200" dirty="0">
                <a:solidFill>
                  <a:schemeClr val="tx1"/>
                </a:solidFill>
              </a:rPr>
              <a:t>Dienst- &amp; Raumplanung</a:t>
            </a:r>
            <a:endParaRPr lang="en-US" sz="1200" dirty="0"/>
          </a:p>
        </p:txBody>
      </p:sp>
      <p:sp>
        <p:nvSpPr>
          <p:cNvPr id="35" name="Begründung Pilot"/>
          <p:cNvSpPr/>
          <p:nvPr/>
        </p:nvSpPr>
        <p:spPr>
          <a:xfrm>
            <a:off x="7315200" y="1325880"/>
            <a:ext cx="4325112" cy="4297680"/>
          </a:xfrm>
          <a:prstGeom prst="roundRect">
            <a:avLst>
              <a:gd name="adj" fmla="val 1702"/>
            </a:avLst>
          </a:prstGeom>
          <a:solidFill>
            <a:schemeClr val="tx2"/>
          </a:solidFill>
          <a:ln/>
        </p:spPr>
        <p:txBody>
          <a:bodyPr/>
          <a:p/>
        </p:txBody>
      </p:sp>
      <p:sp>
        <p:nvSpPr>
          <p:cNvPr id="36" name="Symbolkreis"/>
          <p:cNvSpPr/>
          <p:nvPr/>
        </p:nvSpPr>
        <p:spPr>
          <a:xfrm>
            <a:off x="7589520" y="1508760"/>
            <a:ext cx="548640" cy="548640"/>
          </a:xfrm>
          <a:prstGeom prst="ellipse">
            <a:avLst/>
          </a:prstGeom>
          <a:solidFill>
            <a:schemeClr val="accent2"/>
          </a:solidFill>
          <a:ln/>
        </p:spPr>
        <p:txBody>
          <a:bodyPr/>
          <a:p/>
        </p:txBody>
      </p:sp>
      <p:pic>
        <p:nvPicPr>
          <p:cNvPr id="37" name="Symbol" descr="preencoded.png">    </p:cNvPr>
          <p:cNvPicPr>
            <a:picLocks noChangeAspect="1"/>
          </p:cNvPicPr>
          <p:nvPr/>
        </p:nvPicPr>
        <p:blipFill>
          <a:blip r:embed="rId2"/>
          <a:stretch>
            <a:fillRect/>
          </a:stretch>
        </p:blipFill>
        <p:spPr>
          <a:xfrm>
            <a:off x="7726680" y="1645920"/>
            <a:ext cx="274320" cy="274320"/>
          </a:xfrm>
          <a:prstGeom prst="rect">
            <a:avLst/>
          </a:prstGeom>
        </p:spPr>
      </p:pic>
      <p:sp>
        <p:nvSpPr>
          <p:cNvPr id="38" name="Text 34"/>
          <p:cNvSpPr txBox="1"/>
          <p:nvPr/>
        </p:nvSpPr>
        <p:spPr>
          <a:xfrm>
            <a:off x="8275320" y="1600200"/>
            <a:ext cx="3200400" cy="411480"/>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Warum dieser Pilot</a:t>
            </a:r>
            <a:endParaRPr lang="en-US" sz="1800" dirty="0"/>
          </a:p>
        </p:txBody>
      </p:sp>
      <p:sp>
        <p:nvSpPr>
          <p:cNvPr id="39" name="Text 35"/>
          <p:cNvSpPr txBox="1"/>
          <p:nvPr/>
        </p:nvSpPr>
        <p:spPr>
          <a:xfrm>
            <a:off x="7589520" y="2194560"/>
            <a:ext cx="3794760" cy="210312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bg1"/>
                </a:solidFill>
              </a:rPr>
              <a:t>Trifft das größte Problem: 90 % der Fehler</a:t>
            </a:r>
            <a:endParaRPr lang="en-US" sz="1400" dirty="0"/>
          </a:p>
          <a:p>
            <a:pPr marL="177800" indent="-177800">
              <a:spcAft>
                <a:spcPts val="500"/>
              </a:spcAft>
              <a:buSzPct val="100000"/>
              <a:buChar char="•"/>
            </a:pPr>
            <a:r>
              <a:rPr lang="en-US" sz="1300" dirty="0">
                <a:solidFill>
                  <a:schemeClr val="bg1"/>
                </a:solidFill>
              </a:rPr>
              <a:t>Regeln sind öffentlich und belegbar (G-BA, KBV)</a:t>
            </a:r>
            <a:endParaRPr lang="en-US" sz="1400" dirty="0"/>
          </a:p>
          <a:p>
            <a:pPr marL="177800" indent="-177800">
              <a:spcAft>
                <a:spcPts val="500"/>
              </a:spcAft>
              <a:buSzPct val="100000"/>
              <a:buChar char="•"/>
            </a:pPr>
            <a:r>
              <a:rPr lang="en-US" sz="1300" dirty="0">
                <a:solidFill>
                  <a:schemeClr val="bg1"/>
                </a:solidFill>
              </a:rPr>
              <a:t>Keine Schnittstelle nötig: Formular oder Chat</a:t>
            </a:r>
            <a:endParaRPr lang="en-US" sz="1400" dirty="0"/>
          </a:p>
          <a:p>
            <a:pPr marL="177800" indent="-177800">
              <a:spcAft>
                <a:spcPts val="500"/>
              </a:spcAft>
              <a:buSzPct val="100000"/>
              <a:buChar char="•"/>
            </a:pPr>
            <a:r>
              <a:rPr lang="en-US" sz="1300" dirty="0">
                <a:solidFill>
                  <a:schemeClr val="bg1"/>
                </a:solidFill>
              </a:rPr>
              <a:t>Geringes Risiko: Die Rezeption entscheidet</a:t>
            </a:r>
            <a:endParaRPr lang="en-US" sz="1400" dirty="0"/>
          </a:p>
          <a:p>
            <a:pPr marL="177800" indent="-177800">
              <a:spcAft>
                <a:spcPts val="500"/>
              </a:spcAft>
              <a:buSzPct val="100000"/>
              <a:buChar char="•"/>
            </a:pPr>
            <a:r>
              <a:rPr lang="en-US" sz="1300" dirty="0">
                <a:solidFill>
                  <a:schemeClr val="bg1"/>
                </a:solidFill>
              </a:rPr>
              <a:t>Messbar: Zeit, Trefferquote, Nacharbeit</a:t>
            </a:r>
            <a:endParaRPr lang="en-US" sz="1400" dirty="0"/>
          </a:p>
        </p:txBody>
      </p:sp>
      <p:sp>
        <p:nvSpPr>
          <p:cNvPr id="40" name="Weiche"/>
          <p:cNvSpPr/>
          <p:nvPr/>
        </p:nvSpPr>
        <p:spPr>
          <a:xfrm>
            <a:off x="7543800" y="4343400"/>
            <a:ext cx="3867912" cy="1097280"/>
          </a:xfrm>
          <a:prstGeom prst="roundRect">
            <a:avLst>
              <a:gd name="adj" fmla="val 6667"/>
            </a:avLst>
          </a:prstGeom>
          <a:solidFill>
            <a:schemeClr val="accent2"/>
          </a:solidFill>
          <a:ln/>
        </p:spPr>
        <p:txBody>
          <a:bodyPr/>
          <a:p/>
        </p:txBody>
      </p:sp>
      <p:sp>
        <p:nvSpPr>
          <p:cNvPr id="41" name="Text 37"/>
          <p:cNvSpPr txBox="1"/>
          <p:nvPr/>
        </p:nvSpPr>
        <p:spPr>
          <a:xfrm>
            <a:off x="7680960" y="4416552"/>
            <a:ext cx="3611880" cy="960120"/>
          </a:xfrm>
          <a:prstGeom prst="rect">
            <a:avLst/>
          </a:prstGeom>
          <a:noFill/>
          <a:ln/>
        </p:spPr>
        <p:txBody>
          <a:bodyPr wrap="square" lIns="0" tIns="0" rIns="0" bIns="0" rtlCol="0" anchor="t"/>
          <a:lstStyle/>
          <a:p>
            <a:pPr indent="0" marL="0">
              <a:buNone/>
            </a:pPr>
            <a:r>
              <a:rPr lang="en-US" sz="1200" b="1" dirty="0">
                <a:solidFill>
                  <a:schemeClr val="tx1"/>
                </a:solidFill>
              </a:rPr>
              <a:t>Zwei Praxen, eine Weiche: </a:t>
            </a:r>
            <a:pPr indent="0" marL="0">
              <a:buNone/>
            </a:pPr>
            <a:r>
              <a:rPr lang="en-US" sz="1200" dirty="0">
                <a:solidFill>
                  <a:schemeClr val="tx1"/>
                </a:solidFill>
              </a:rPr>
              <a:t>Die zentrale Terminvergabe schickt GKV-Rezepte in den Verordnungs-Check, Privatpatienten erhalten einen Erstattungshinweis (Ausblick).</a:t>
            </a:r>
            <a:endParaRPr lang="en-US" sz="1200" dirty="0"/>
          </a:p>
        </p:txBody>
      </p:sp>
      <p:sp>
        <p:nvSpPr>
          <p:cNvPr id="42" name="Text 38"/>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Einschätzung des Teams, keine Messung · im Pilot nur für den Verordnungs-Check überprüft · Privatpatienten: keine HeilM-RL, keine Höchstmengen, Erstattung je Tarif</a:t>
            </a:r>
            <a:endParaRPr lang="en-US" sz="1000" dirty="0"/>
          </a:p>
        </p:txBody>
      </p:sp>
      <p:sp>
        <p:nvSpPr>
          <p:cNvPr id="43"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Soll: Fehler vor der Behandlung finden</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tx2"/>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Thomas</a:t>
            </a:r>
            <a:endParaRPr lang="en-US" sz="1500" dirty="0"/>
          </a:p>
        </p:txBody>
      </p:sp>
      <p:sp>
        <p:nvSpPr>
          <p:cNvPr id="6" name="Soll-Prozess"/>
          <p:cNvSpPr/>
          <p:nvPr/>
        </p:nvSpPr>
        <p:spPr>
          <a:xfrm>
            <a:off x="548640" y="1325880"/>
            <a:ext cx="5120640" cy="4526280"/>
          </a:xfrm>
          <a:prstGeom prst="roundRect">
            <a:avLst>
              <a:gd name="adj" fmla="val 1616"/>
            </a:avLst>
          </a:prstGeom>
          <a:solidFill>
            <a:schemeClr val="bg2"/>
          </a:solidFill>
          <a:ln/>
        </p:spPr>
        <p:txBody>
          <a:bodyPr/>
          <a:p/>
        </p:txBody>
      </p:sp>
      <p:sp>
        <p:nvSpPr>
          <p:cNvPr id="7" name="Text 4"/>
          <p:cNvSpPr txBox="1"/>
          <p:nvPr/>
        </p:nvSpPr>
        <p:spPr>
          <a:xfrm>
            <a:off x="822960" y="1463040"/>
            <a:ext cx="4572000" cy="384048"/>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Soll-Prozess</a:t>
            </a:r>
            <a:endParaRPr lang="en-US" sz="1800" dirty="0"/>
          </a:p>
        </p:txBody>
      </p:sp>
      <p:sp>
        <p:nvSpPr>
          <p:cNvPr id="8" name="Schritt"/>
          <p:cNvSpPr/>
          <p:nvPr/>
        </p:nvSpPr>
        <p:spPr>
          <a:xfrm>
            <a:off x="822960" y="2011680"/>
            <a:ext cx="457200" cy="457200"/>
          </a:xfrm>
          <a:prstGeom prst="ellipse">
            <a:avLst/>
          </a:prstGeom>
          <a:solidFill>
            <a:schemeClr val="accent1"/>
          </a:solidFill>
          <a:ln/>
        </p:spPr>
        <p:txBody>
          <a:bodyPr/>
          <a:p/>
        </p:txBody>
      </p:sp>
      <p:sp>
        <p:nvSpPr>
          <p:cNvPr id="9" name="Text 6"/>
          <p:cNvSpPr txBox="1"/>
          <p:nvPr/>
        </p:nvSpPr>
        <p:spPr>
          <a:xfrm>
            <a:off x="822960" y="20116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0" name="Text 7"/>
          <p:cNvSpPr txBox="1"/>
          <p:nvPr/>
        </p:nvSpPr>
        <p:spPr>
          <a:xfrm>
            <a:off x="1463040" y="1993392"/>
            <a:ext cx="4023360" cy="320040"/>
          </a:xfrm>
          <a:prstGeom prst="rect">
            <a:avLst/>
          </a:prstGeom>
          <a:noFill/>
          <a:ln/>
        </p:spPr>
        <p:txBody>
          <a:bodyPr wrap="square" lIns="0" tIns="0" rIns="0" bIns="0" rtlCol="0" anchor="t"/>
          <a:lstStyle/>
          <a:p>
            <a:pPr indent="0" marL="0">
              <a:buNone/>
            </a:pPr>
            <a:r>
              <a:rPr lang="en-US" sz="1500" b="1" dirty="0">
                <a:solidFill>
                  <a:schemeClr val="tx2"/>
                </a:solidFill>
              </a:rPr>
              <a:t>Verordnung kommt an</a:t>
            </a:r>
            <a:endParaRPr lang="en-US" sz="1500" dirty="0"/>
          </a:p>
        </p:txBody>
      </p:sp>
      <p:sp>
        <p:nvSpPr>
          <p:cNvPr id="11" name="Text 8"/>
          <p:cNvSpPr txBox="1"/>
          <p:nvPr/>
        </p:nvSpPr>
        <p:spPr>
          <a:xfrm>
            <a:off x="1463040" y="2313432"/>
            <a:ext cx="4023360" cy="457200"/>
          </a:xfrm>
          <a:prstGeom prst="rect">
            <a:avLst/>
          </a:prstGeom>
          <a:noFill/>
          <a:ln/>
        </p:spPr>
        <p:txBody>
          <a:bodyPr wrap="square" lIns="0" tIns="0" rIns="0" bIns="0" rtlCol="0" anchor="t"/>
          <a:lstStyle/>
          <a:p>
            <a:pPr indent="0" marL="0">
              <a:buNone/>
            </a:pPr>
            <a:r>
              <a:rPr lang="en-US" sz="1300" dirty="0">
                <a:solidFill>
                  <a:schemeClr val="tx1"/>
                </a:solidFill>
              </a:rPr>
              <a:t>Rezeption gibt sie per Formular oder Chat ein</a:t>
            </a:r>
            <a:endParaRPr lang="en-US" sz="1300" dirty="0"/>
          </a:p>
        </p:txBody>
      </p:sp>
      <p:sp>
        <p:nvSpPr>
          <p:cNvPr id="12" name="Schritt"/>
          <p:cNvSpPr/>
          <p:nvPr/>
        </p:nvSpPr>
        <p:spPr>
          <a:xfrm>
            <a:off x="822960" y="2944368"/>
            <a:ext cx="457200" cy="457200"/>
          </a:xfrm>
          <a:prstGeom prst="ellipse">
            <a:avLst/>
          </a:prstGeom>
          <a:solidFill>
            <a:schemeClr val="accent1"/>
          </a:solidFill>
          <a:ln/>
        </p:spPr>
        <p:txBody>
          <a:bodyPr/>
          <a:p/>
        </p:txBody>
      </p:sp>
      <p:sp>
        <p:nvSpPr>
          <p:cNvPr id="13" name="Text 10"/>
          <p:cNvSpPr txBox="1"/>
          <p:nvPr/>
        </p:nvSpPr>
        <p:spPr>
          <a:xfrm>
            <a:off x="822960" y="294436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4" name="Text 11"/>
          <p:cNvSpPr txBox="1"/>
          <p:nvPr/>
        </p:nvSpPr>
        <p:spPr>
          <a:xfrm>
            <a:off x="1463040" y="2926080"/>
            <a:ext cx="4023360" cy="320040"/>
          </a:xfrm>
          <a:prstGeom prst="rect">
            <a:avLst/>
          </a:prstGeom>
          <a:noFill/>
          <a:ln/>
        </p:spPr>
        <p:txBody>
          <a:bodyPr wrap="square" lIns="0" tIns="0" rIns="0" bIns="0" rtlCol="0" anchor="t"/>
          <a:lstStyle/>
          <a:p>
            <a:pPr indent="0" marL="0">
              <a:buNone/>
            </a:pPr>
            <a:r>
              <a:rPr lang="en-US" sz="1500" b="1" dirty="0">
                <a:solidFill>
                  <a:schemeClr val="tx2"/>
                </a:solidFill>
              </a:rPr>
              <a:t>KI prüft in ca. 30 s</a:t>
            </a:r>
            <a:endParaRPr lang="en-US" sz="1500" dirty="0"/>
          </a:p>
        </p:txBody>
      </p:sp>
      <p:sp>
        <p:nvSpPr>
          <p:cNvPr id="15" name="Text 12"/>
          <p:cNvSpPr txBox="1"/>
          <p:nvPr/>
        </p:nvSpPr>
        <p:spPr>
          <a:xfrm>
            <a:off x="1463040" y="3246120"/>
            <a:ext cx="4023360" cy="457200"/>
          </a:xfrm>
          <a:prstGeom prst="rect">
            <a:avLst/>
          </a:prstGeom>
          <a:noFill/>
          <a:ln/>
        </p:spPr>
        <p:txBody>
          <a:bodyPr wrap="square" lIns="0" tIns="0" rIns="0" bIns="0" rtlCol="0" anchor="t"/>
          <a:lstStyle/>
          <a:p>
            <a:pPr indent="0" marL="0">
              <a:buNone/>
            </a:pPr>
            <a:r>
              <a:rPr lang="en-US" sz="1300" dirty="0">
                <a:solidFill>
                  <a:schemeClr val="tx1"/>
                </a:solidFill>
              </a:rPr>
              <a:t>vier Prüfer, Ampel mit Fundstelle im Regelwerk</a:t>
            </a:r>
            <a:endParaRPr lang="en-US" sz="1300" dirty="0"/>
          </a:p>
        </p:txBody>
      </p:sp>
      <p:sp>
        <p:nvSpPr>
          <p:cNvPr id="16" name="Schritt"/>
          <p:cNvSpPr/>
          <p:nvPr/>
        </p:nvSpPr>
        <p:spPr>
          <a:xfrm>
            <a:off x="822960" y="3877056"/>
            <a:ext cx="457200" cy="457200"/>
          </a:xfrm>
          <a:prstGeom prst="ellipse">
            <a:avLst/>
          </a:prstGeom>
          <a:solidFill>
            <a:schemeClr val="accent1"/>
          </a:solidFill>
          <a:ln/>
        </p:spPr>
        <p:txBody>
          <a:bodyPr/>
          <a:p/>
        </p:txBody>
      </p:sp>
      <p:sp>
        <p:nvSpPr>
          <p:cNvPr id="17" name="Text 14"/>
          <p:cNvSpPr txBox="1"/>
          <p:nvPr/>
        </p:nvSpPr>
        <p:spPr>
          <a:xfrm>
            <a:off x="822960" y="387705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 15"/>
          <p:cNvSpPr txBox="1"/>
          <p:nvPr/>
        </p:nvSpPr>
        <p:spPr>
          <a:xfrm>
            <a:off x="1463040" y="3858768"/>
            <a:ext cx="4023360" cy="320040"/>
          </a:xfrm>
          <a:prstGeom prst="rect">
            <a:avLst/>
          </a:prstGeom>
          <a:noFill/>
          <a:ln/>
        </p:spPr>
        <p:txBody>
          <a:bodyPr wrap="square" lIns="0" tIns="0" rIns="0" bIns="0" rtlCol="0" anchor="t"/>
          <a:lstStyle/>
          <a:p>
            <a:pPr indent="0" marL="0">
              <a:buNone/>
            </a:pPr>
            <a:r>
              <a:rPr lang="en-US" sz="1500" b="1" dirty="0">
                <a:solidFill>
                  <a:schemeClr val="tx2"/>
                </a:solidFill>
              </a:rPr>
              <a:t>Rezeption entscheidet</a:t>
            </a:r>
            <a:endParaRPr lang="en-US" sz="1500" dirty="0"/>
          </a:p>
        </p:txBody>
      </p:sp>
      <p:sp>
        <p:nvSpPr>
          <p:cNvPr id="19" name="Text 16"/>
          <p:cNvSpPr txBox="1"/>
          <p:nvPr/>
        </p:nvSpPr>
        <p:spPr>
          <a:xfrm>
            <a:off x="1463040" y="4178808"/>
            <a:ext cx="4023360" cy="457200"/>
          </a:xfrm>
          <a:prstGeom prst="rect">
            <a:avLst/>
          </a:prstGeom>
          <a:noFill/>
          <a:ln/>
        </p:spPr>
        <p:txBody>
          <a:bodyPr wrap="square" lIns="0" tIns="0" rIns="0" bIns="0" rtlCol="0" anchor="t"/>
          <a:lstStyle/>
          <a:p>
            <a:pPr indent="0" marL="0">
              <a:buNone/>
            </a:pPr>
            <a:r>
              <a:rPr lang="en-US" sz="1300" dirty="0">
                <a:solidFill>
                  <a:schemeClr val="tx1"/>
                </a:solidFill>
              </a:rPr>
              <a:t>behandeln, nachfragen oder korrigieren lassen</a:t>
            </a:r>
            <a:endParaRPr lang="en-US" sz="1300" dirty="0"/>
          </a:p>
        </p:txBody>
      </p:sp>
      <p:sp>
        <p:nvSpPr>
          <p:cNvPr id="20" name="Schritt"/>
          <p:cNvSpPr/>
          <p:nvPr/>
        </p:nvSpPr>
        <p:spPr>
          <a:xfrm>
            <a:off x="822960" y="4809744"/>
            <a:ext cx="457200" cy="457200"/>
          </a:xfrm>
          <a:prstGeom prst="ellipse">
            <a:avLst/>
          </a:prstGeom>
          <a:solidFill>
            <a:schemeClr val="accent1"/>
          </a:solidFill>
          <a:ln/>
        </p:spPr>
        <p:txBody>
          <a:bodyPr/>
          <a:p/>
        </p:txBody>
      </p:sp>
      <p:sp>
        <p:nvSpPr>
          <p:cNvPr id="21" name="Text 18"/>
          <p:cNvSpPr txBox="1"/>
          <p:nvPr/>
        </p:nvSpPr>
        <p:spPr>
          <a:xfrm>
            <a:off x="822960" y="480974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2" name="Text 19"/>
          <p:cNvSpPr txBox="1"/>
          <p:nvPr/>
        </p:nvSpPr>
        <p:spPr>
          <a:xfrm>
            <a:off x="1463040" y="4791456"/>
            <a:ext cx="4023360" cy="320040"/>
          </a:xfrm>
          <a:prstGeom prst="rect">
            <a:avLst/>
          </a:prstGeom>
          <a:noFill/>
          <a:ln/>
        </p:spPr>
        <p:txBody>
          <a:bodyPr wrap="square" lIns="0" tIns="0" rIns="0" bIns="0" rtlCol="0" anchor="t"/>
          <a:lstStyle/>
          <a:p>
            <a:pPr indent="0" marL="0">
              <a:buNone/>
            </a:pPr>
            <a:r>
              <a:rPr lang="en-US" sz="1500" b="1" dirty="0">
                <a:solidFill>
                  <a:schemeClr val="tx2"/>
                </a:solidFill>
              </a:rPr>
              <a:t>Schlussprüfung entfällt schrittweise</a:t>
            </a:r>
            <a:endParaRPr lang="en-US" sz="1500" dirty="0"/>
          </a:p>
        </p:txBody>
      </p:sp>
      <p:sp>
        <p:nvSpPr>
          <p:cNvPr id="23" name="Text 20"/>
          <p:cNvSpPr txBox="1"/>
          <p:nvPr/>
        </p:nvSpPr>
        <p:spPr>
          <a:xfrm>
            <a:off x="1463040" y="5111496"/>
            <a:ext cx="4023360" cy="457200"/>
          </a:xfrm>
          <a:prstGeom prst="rect">
            <a:avLst/>
          </a:prstGeom>
          <a:noFill/>
          <a:ln/>
        </p:spPr>
        <p:txBody>
          <a:bodyPr wrap="square" lIns="0" tIns="0" rIns="0" bIns="0" rtlCol="0" anchor="t"/>
          <a:lstStyle/>
          <a:p>
            <a:pPr indent="0" marL="0">
              <a:buNone/>
            </a:pPr>
            <a:r>
              <a:rPr lang="en-US" sz="1300" dirty="0">
                <a:solidFill>
                  <a:schemeClr val="tx1"/>
                </a:solidFill>
              </a:rPr>
              <a:t>erst nach bestandenem Parallelbetrieb</a:t>
            </a:r>
            <a:endParaRPr lang="en-US" sz="13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897880" y="1325880"/>
          <a:ext cx="5742432" cy="914400"/>
        </p:xfrm>
        <a:graphic>
          <a:graphicData uri="http://schemas.openxmlformats.org/drawingml/2006/table">
            <a:tbl>
              <a:tblPr/>
              <a:tblGrid>
                <a:gridCol w="1234440"/>
                <a:gridCol w="2514600"/>
                <a:gridCol w="1993392"/>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Ziel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12343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Erfolgsindikator</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12343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Messung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12343B"/>
                    </a:solidFill>
                  </a:tcPr>
                </a:tc>
              </a:tr>
              <a:tr h="86868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Zeit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Prüfzeit −50 % nach 2 Quartalen, −75 % nach 4</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Stoppuhr-Stichprobe vorher/nachher</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86868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Qualität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 98 % richtige Ampel, 0 übersehene rote Fälle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Evaluation mit ≥ 50 Fällen × 3 Läufe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73152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Vertrauen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 1 kritischer Fehlalarm</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Abweichungen im Parallelbetrieb</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73152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Akzeptanz</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Rezeption folgt der Ampel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Quote im Pilot, Rückmeldungen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bl>
          </a:graphicData>
        </a:graphic>
      </p:graphicFrame>
      <p:sp>
        <p:nvSpPr>
          <p:cNvPr id="25" name="Text 21"/>
          <p:cNvSpPr txBox="1"/>
          <p:nvPr/>
        </p:nvSpPr>
        <p:spPr>
          <a:xfrm>
            <a:off x="5897880" y="5257800"/>
            <a:ext cx="5742432" cy="548640"/>
          </a:xfrm>
          <a:prstGeom prst="rect">
            <a:avLst/>
          </a:prstGeom>
          <a:noFill/>
          <a:ln/>
        </p:spPr>
        <p:txBody>
          <a:bodyPr wrap="square" lIns="0" tIns="0" rIns="0" bIns="0" rtlCol="0" anchor="t"/>
          <a:lstStyle/>
          <a:p>
            <a:pPr indent="0" marL="0">
              <a:buNone/>
            </a:pPr>
            <a:r>
              <a:rPr lang="en-US" sz="1300" i="1" dirty="0">
                <a:solidFill>
                  <a:schemeClr val="accent5"/>
                </a:solidFill>
              </a:rPr>
              <a:t>Die Indikatoren sind zugleich der Kontrollmaßstab in der Erfolgsmessung (Derk).</a:t>
            </a:r>
            <a:endParaRPr lang="en-US" sz="1300" dirty="0"/>
          </a:p>
        </p:txBody>
      </p:sp>
      <p:sp>
        <p:nvSpPr>
          <p:cNvPr id="27"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Business Case: 75 % weniger Prüfzeit nach einem Jahr</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tx2"/>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Thomas</a:t>
            </a:r>
            <a:endParaRPr lang="en-US" sz="1500" dirty="0"/>
          </a:p>
        </p:txBody>
      </p:sp>
      <p:graphicFrame>
        <p:nvGraphicFramePr>
          <p:cNvPr id="6" name="Chart 0" descr=""/>
          <p:cNvGraphicFramePr/>
          <p:nvPr/>
        </p:nvGraphicFramePr>
        <p:xfrm>
          <a:off x="548640" y="1280160"/>
          <a:ext cx="6949440" cy="4480560"/>
        </p:xfrm>
        <a:graphic xmlns:a="http://schemas.openxmlformats.org/drawingml/2006/main">
          <a:graphicData uri="http://schemas.openxmlformats.org/drawingml/2006/chart">
            <c:chart xmlns:c="http://schemas.openxmlformats.org/drawingml/2006/chart" r:id="rId2"/>
          </a:graphicData>
        </a:graphic>
      </p:graphicFrame>
      <p:sp>
        <p:nvSpPr>
          <p:cNvPr id="7" name="Jahr 1"/>
          <p:cNvSpPr/>
          <p:nvPr/>
        </p:nvSpPr>
        <p:spPr>
          <a:xfrm>
            <a:off x="7818120" y="1325880"/>
            <a:ext cx="3822192" cy="1371600"/>
          </a:xfrm>
          <a:prstGeom prst="roundRect">
            <a:avLst>
              <a:gd name="adj" fmla="val 5333"/>
            </a:avLst>
          </a:prstGeom>
          <a:solidFill>
            <a:schemeClr val="bg2"/>
          </a:solidFill>
          <a:ln/>
        </p:spPr>
        <p:txBody>
          <a:bodyPr/>
          <a:p/>
        </p:txBody>
      </p:sp>
      <p:sp>
        <p:nvSpPr>
          <p:cNvPr id="8" name="Text 4"/>
          <p:cNvSpPr txBox="1"/>
          <p:nvPr/>
        </p:nvSpPr>
        <p:spPr>
          <a:xfrm>
            <a:off x="8092440" y="1444752"/>
            <a:ext cx="1828800" cy="274320"/>
          </a:xfrm>
          <a:prstGeom prst="rect">
            <a:avLst/>
          </a:prstGeom>
          <a:noFill/>
          <a:ln/>
        </p:spPr>
        <p:txBody>
          <a:bodyPr wrap="square" lIns="0" tIns="0" rIns="0" bIns="0" rtlCol="0" anchor="t"/>
          <a:lstStyle/>
          <a:p>
            <a:pPr indent="0" marL="0">
              <a:buNone/>
            </a:pPr>
            <a:r>
              <a:rPr lang="en-US" sz="1300" dirty="0">
                <a:solidFill>
                  <a:schemeClr val="accent5"/>
                </a:solidFill>
              </a:rPr>
              <a:t>Jahr 1</a:t>
            </a:r>
            <a:endParaRPr lang="en-US" sz="1300" dirty="0"/>
          </a:p>
        </p:txBody>
      </p:sp>
      <p:sp>
        <p:nvSpPr>
          <p:cNvPr id="9" name="Text 5"/>
          <p:cNvSpPr txBox="1"/>
          <p:nvPr/>
        </p:nvSpPr>
        <p:spPr>
          <a:xfrm>
            <a:off x="8092440" y="1737360"/>
            <a:ext cx="3273552" cy="59436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 3.070 €</a:t>
            </a:r>
            <a:endParaRPr lang="en-US" sz="3200" dirty="0"/>
          </a:p>
        </p:txBody>
      </p:sp>
      <p:sp>
        <p:nvSpPr>
          <p:cNvPr id="10" name="Text 6"/>
          <p:cNvSpPr txBox="1"/>
          <p:nvPr/>
        </p:nvSpPr>
        <p:spPr>
          <a:xfrm>
            <a:off x="8092440" y="2304288"/>
            <a:ext cx="3273552" cy="274320"/>
          </a:xfrm>
          <a:prstGeom prst="rect">
            <a:avLst/>
          </a:prstGeom>
          <a:noFill/>
          <a:ln/>
        </p:spPr>
        <p:txBody>
          <a:bodyPr wrap="square" lIns="0" tIns="0" rIns="0" bIns="0" rtlCol="0" anchor="t"/>
          <a:lstStyle/>
          <a:p>
            <a:pPr indent="0" marL="0">
              <a:buNone/>
            </a:pPr>
            <a:r>
              <a:rPr lang="en-US" sz="1200" dirty="0">
                <a:solidFill>
                  <a:schemeClr val="accent5"/>
                </a:solidFill>
              </a:rPr>
              <a:t>146 h frei · Anlauf 25 → 75 %</a:t>
            </a:r>
            <a:endParaRPr lang="en-US" sz="1200" dirty="0"/>
          </a:p>
        </p:txBody>
      </p:sp>
      <p:sp>
        <p:nvSpPr>
          <p:cNvPr id="11" name="ab Jahr 2"/>
          <p:cNvSpPr/>
          <p:nvPr/>
        </p:nvSpPr>
        <p:spPr>
          <a:xfrm>
            <a:off x="7818120" y="2834640"/>
            <a:ext cx="3822192" cy="1371600"/>
          </a:xfrm>
          <a:prstGeom prst="roundRect">
            <a:avLst>
              <a:gd name="adj" fmla="val 5333"/>
            </a:avLst>
          </a:prstGeom>
          <a:solidFill>
            <a:schemeClr val="tx2"/>
          </a:solidFill>
          <a:ln/>
        </p:spPr>
        <p:txBody>
          <a:bodyPr/>
          <a:p/>
        </p:txBody>
      </p:sp>
      <p:sp>
        <p:nvSpPr>
          <p:cNvPr id="12" name="Text 8"/>
          <p:cNvSpPr txBox="1"/>
          <p:nvPr/>
        </p:nvSpPr>
        <p:spPr>
          <a:xfrm>
            <a:off x="8092440" y="2953512"/>
            <a:ext cx="1828800" cy="274320"/>
          </a:xfrm>
          <a:prstGeom prst="rect">
            <a:avLst/>
          </a:prstGeom>
          <a:noFill/>
          <a:ln/>
        </p:spPr>
        <p:txBody>
          <a:bodyPr wrap="square" lIns="0" tIns="0" rIns="0" bIns="0" rtlCol="0" anchor="t"/>
          <a:lstStyle/>
          <a:p>
            <a:pPr indent="0" marL="0">
              <a:buNone/>
            </a:pPr>
            <a:r>
              <a:rPr lang="en-US" sz="1300" dirty="0">
                <a:solidFill>
                  <a:schemeClr val="bg2"/>
                </a:solidFill>
              </a:rPr>
              <a:t>ab Jahr 2</a:t>
            </a:r>
            <a:endParaRPr lang="en-US" sz="1300" dirty="0"/>
          </a:p>
        </p:txBody>
      </p:sp>
      <p:sp>
        <p:nvSpPr>
          <p:cNvPr id="13" name="Text 9"/>
          <p:cNvSpPr txBox="1"/>
          <p:nvPr/>
        </p:nvSpPr>
        <p:spPr>
          <a:xfrm>
            <a:off x="8092440" y="3246120"/>
            <a:ext cx="3273552" cy="594360"/>
          </a:xfrm>
          <a:prstGeom prst="rect">
            <a:avLst/>
          </a:prstGeom>
          <a:noFill/>
          <a:ln/>
        </p:spPr>
        <p:txBody>
          <a:bodyPr wrap="square" lIns="0" tIns="0" rIns="0" bIns="0" rtlCol="0" anchor="t"/>
          <a:lstStyle/>
          <a:p>
            <a:pPr indent="0" marL="0">
              <a:buNone/>
            </a:pPr>
            <a:r>
              <a:rPr lang="en-US" sz="3200" b="1" dirty="0">
                <a:solidFill>
                  <a:schemeClr val="accent2"/>
                </a:solidFill>
                <a:latin typeface="Cambria" pitchFamily="34" charset="0"/>
                <a:ea typeface="Cambria" pitchFamily="34" charset="-122"/>
                <a:cs typeface="Cambria" pitchFamily="34" charset="-120"/>
              </a:rPr>
              <a:t>≈ 4.300 € / Jahr</a:t>
            </a:r>
            <a:endParaRPr lang="en-US" sz="3200" dirty="0"/>
          </a:p>
        </p:txBody>
      </p:sp>
      <p:sp>
        <p:nvSpPr>
          <p:cNvPr id="14" name="Text 10"/>
          <p:cNvSpPr txBox="1"/>
          <p:nvPr/>
        </p:nvSpPr>
        <p:spPr>
          <a:xfrm>
            <a:off x="8092440" y="3813048"/>
            <a:ext cx="3273552" cy="274320"/>
          </a:xfrm>
          <a:prstGeom prst="rect">
            <a:avLst/>
          </a:prstGeom>
          <a:noFill/>
          <a:ln/>
        </p:spPr>
        <p:txBody>
          <a:bodyPr wrap="square" lIns="0" tIns="0" rIns="0" bIns="0" rtlCol="0" anchor="t"/>
          <a:lstStyle/>
          <a:p>
            <a:pPr indent="0" marL="0">
              <a:buNone/>
            </a:pPr>
            <a:r>
              <a:rPr lang="en-US" sz="1200" dirty="0">
                <a:solidFill>
                  <a:schemeClr val="bg2"/>
                </a:solidFill>
              </a:rPr>
              <a:t>207 h frei · etwa ½ Minijob</a:t>
            </a:r>
            <a:endParaRPr lang="en-US" sz="1200" dirty="0"/>
          </a:p>
        </p:txBody>
      </p:sp>
      <p:sp>
        <p:nvSpPr>
          <p:cNvPr id="15" name="Hebel"/>
          <p:cNvSpPr/>
          <p:nvPr/>
        </p:nvSpPr>
        <p:spPr>
          <a:xfrm>
            <a:off x="7818120" y="4343400"/>
            <a:ext cx="3822192" cy="1417320"/>
          </a:xfrm>
          <a:prstGeom prst="roundRect">
            <a:avLst>
              <a:gd name="adj" fmla="val 5161"/>
            </a:avLst>
          </a:prstGeom>
          <a:solidFill>
            <a:schemeClr val="bg2"/>
          </a:solidFill>
          <a:ln/>
        </p:spPr>
        <p:txBody>
          <a:bodyPr/>
          <a:p/>
        </p:txBody>
      </p:sp>
      <p:sp>
        <p:nvSpPr>
          <p:cNvPr id="16" name="Text 12"/>
          <p:cNvSpPr txBox="1"/>
          <p:nvPr/>
        </p:nvSpPr>
        <p:spPr>
          <a:xfrm>
            <a:off x="8092440" y="4480560"/>
            <a:ext cx="3273552" cy="1188720"/>
          </a:xfrm>
          <a:prstGeom prst="rect">
            <a:avLst/>
          </a:prstGeom>
          <a:noFill/>
          <a:ln/>
        </p:spPr>
        <p:txBody>
          <a:bodyPr wrap="square" lIns="0" tIns="0" rIns="0" bIns="0" rtlCol="0" anchor="t"/>
          <a:lstStyle/>
          <a:p>
            <a:pPr indent="0" marL="0">
              <a:buNone/>
            </a:pPr>
            <a:r>
              <a:rPr lang="en-US" sz="1300" b="1" dirty="0">
                <a:solidFill>
                  <a:schemeClr val="tx2"/>
                </a:solidFill>
              </a:rPr>
              <a:t>Der Hebel ist die Prüfzeit, </a:t>
            </a:r>
            <a:pPr indent="0" marL="0">
              <a:buNone/>
            </a:pPr>
            <a:r>
              <a:rPr lang="en-US" sz="1300" dirty="0">
                <a:solidFill>
                  <a:schemeClr val="tx1"/>
                </a:solidFill>
              </a:rPr>
              <a:t>nicht die Absetzungen (nur ca. 500 € pro Jahr). Ziel: einen zusätzlichen Minijob bei Wachstum vermeiden, keine Stelle ersetzen.</a:t>
            </a:r>
            <a:endParaRPr lang="en-US" sz="1300" dirty="0"/>
          </a:p>
        </p:txBody>
      </p:sp>
      <p:sp>
        <p:nvSpPr>
          <p:cNvPr id="17" name="Text 13"/>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5,3 h/Woche × 13 Wochen je Quartal · Anstieg Q1 25 % · Q2 50 % · Q3 62,5 % · Q4 75 %, danach 75 % · 20,97 € je Stunde (Herleitung nächste Folie)</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Annahmen und Einordnung des Business Case</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tx2"/>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Thomas</a:t>
            </a:r>
            <a:endParaRPr lang="en-US" sz="1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7223760" cy="914400"/>
        </p:xfrm>
        <a:graphic>
          <a:graphicData uri="http://schemas.openxmlformats.org/drawingml/2006/table">
            <a:tbl>
              <a:tblPr/>
              <a:tblGrid>
                <a:gridCol w="1737360"/>
                <a:gridCol w="2926080"/>
                <a:gridCol w="2560320"/>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Größe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12343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Wert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12343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Herkunft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12343B"/>
                    </a:solidFill>
                  </a:tcPr>
                </a:tc>
              </a:tr>
              <a:tr h="64008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Prüfzeit heute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5,3 h pro Woche (40 × 8 min)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Ist-Interview 16.10.2026</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64008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Einsparziel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50 % nach 2 Quartalen, 75 % nach 4</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Annahme des Teams</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77724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Stundenlohn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15,99 € = Mindestlohn 2026 (13,90 €) + 15 %</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Annahme; Marktvergleich Rezeption 12,77–15,36 €/h (gehalt.de)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64008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Arbeitgeberkosten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20,97 €/h mit Minijob-Pauschalabgaben (bis 31,17 %)</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Minijob-Regeln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77724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Minijob</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max. 603 €/Monat ≈ 8,7 h/Woche; ≈ 9.500 €/Jahr mit Abgaben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Minijob-Grenze 2026</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bl>
          </a:graphicData>
        </a:graphic>
      </p:graphicFrame>
      <p:sp>
        <p:nvSpPr>
          <p:cNvPr id="7" name="Einordnung"/>
          <p:cNvSpPr/>
          <p:nvPr/>
        </p:nvSpPr>
        <p:spPr>
          <a:xfrm>
            <a:off x="8001000" y="1325880"/>
            <a:ext cx="3639312" cy="4526280"/>
          </a:xfrm>
          <a:prstGeom prst="roundRect">
            <a:avLst>
              <a:gd name="adj" fmla="val 2010"/>
            </a:avLst>
          </a:prstGeom>
          <a:solidFill>
            <a:schemeClr val="tx2"/>
          </a:solidFill>
          <a:ln/>
        </p:spPr>
        <p:txBody>
          <a:bodyPr/>
          <a:p/>
        </p:txBody>
      </p:sp>
      <p:sp>
        <p:nvSpPr>
          <p:cNvPr id="8" name="Text 4"/>
          <p:cNvSpPr txBox="1"/>
          <p:nvPr/>
        </p:nvSpPr>
        <p:spPr>
          <a:xfrm>
            <a:off x="8275320" y="1463040"/>
            <a:ext cx="3108960" cy="384048"/>
          </a:xfrm>
          <a:prstGeom prst="rect">
            <a:avLst/>
          </a:prstGeom>
          <a:noFill/>
          <a:ln/>
        </p:spPr>
        <p:txBody>
          <a:bodyPr wrap="square" lIns="0" tIns="0" rIns="0" bIns="0" rtlCol="0" anchor="t"/>
          <a:lstStyle/>
          <a:p>
            <a:pPr indent="0" marL="0">
              <a:buNone/>
            </a:pPr>
            <a:r>
              <a:rPr lang="en-US" sz="1800" b="1" dirty="0">
                <a:solidFill>
                  <a:schemeClr val="bg1"/>
                </a:solidFill>
                <a:latin typeface="Cambria" pitchFamily="34" charset="0"/>
                <a:ea typeface="Cambria" pitchFamily="34" charset="-122"/>
                <a:cs typeface="Cambria" pitchFamily="34" charset="-120"/>
              </a:rPr>
              <a:t>Einordnung</a:t>
            </a:r>
            <a:endParaRPr lang="en-US" sz="1800" dirty="0"/>
          </a:p>
        </p:txBody>
      </p:sp>
      <p:sp>
        <p:nvSpPr>
          <p:cNvPr id="9" name="Text 5"/>
          <p:cNvSpPr txBox="1"/>
          <p:nvPr/>
        </p:nvSpPr>
        <p:spPr>
          <a:xfrm>
            <a:off x="8275320" y="1965960"/>
            <a:ext cx="3154680" cy="374904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bg1"/>
                </a:solidFill>
              </a:rPr>
              <a:t>Nicht doppelt gezählt: Die freien Stunden sind der halbe Minijob, nicht zusätzlich.</a:t>
            </a:r>
            <a:endParaRPr lang="en-US" sz="1400" dirty="0"/>
          </a:p>
          <a:p>
            <a:pPr marL="177800" indent="-177800">
              <a:spcAft>
                <a:spcPts val="500"/>
              </a:spcAft>
              <a:buSzPct val="100000"/>
              <a:buChar char="•"/>
            </a:pPr>
            <a:r>
              <a:rPr lang="en-US" sz="1300" dirty="0">
                <a:solidFill>
                  <a:schemeClr val="bg1"/>
                </a:solidFill>
              </a:rPr>
              <a:t>„Vermeiden“ statt „ersetzen“: keine Kündigung, sondern keine zusätzliche Stelle bei Wachstum.</a:t>
            </a:r>
            <a:endParaRPr lang="en-US" sz="1400" dirty="0"/>
          </a:p>
          <a:p>
            <a:pPr marL="177800" indent="-177800">
              <a:spcAft>
                <a:spcPts val="500"/>
              </a:spcAft>
              <a:buSzPct val="100000"/>
              <a:buChar char="•"/>
            </a:pPr>
            <a:r>
              <a:rPr lang="en-US" sz="1300" dirty="0">
                <a:solidFill>
                  <a:schemeClr val="bg1"/>
                </a:solidFill>
              </a:rPr>
              <a:t>Ab 2027 Mindestlohn 14,60 € – Ersparnis steigt leicht.</a:t>
            </a:r>
            <a:endParaRPr lang="en-US" sz="1400" dirty="0"/>
          </a:p>
          <a:p>
            <a:pPr marL="177800" indent="-177800">
              <a:spcAft>
                <a:spcPts val="500"/>
              </a:spcAft>
              <a:buSzPct val="100000"/>
              <a:buChar char="•"/>
            </a:pPr>
            <a:r>
              <a:rPr lang="en-US" sz="1300" dirty="0">
                <a:solidFill>
                  <a:schemeClr val="bg1"/>
                </a:solidFill>
              </a:rPr>
              <a:t>Gegenzurechnen: KI-Kosten 70–142 €/Jahr (Valentin), dazu n8n- und Supabase-Abo.</a:t>
            </a:r>
            <a:endParaRPr lang="en-US" sz="1400" dirty="0"/>
          </a:p>
        </p:txBody>
      </p:sp>
      <p:sp>
        <p:nvSpPr>
          <p:cNvPr id="26" name="Text 6"/>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Annahmen sind gekennzeichnet · alle Rechenwege in der Projektarbeit, Kapitel 1</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Tool-Vergleich: von den Anforderungen zur Auswahl</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1"/>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Valentin</a:t>
            </a:r>
            <a:endParaRPr lang="en-US" sz="1500" dirty="0"/>
          </a:p>
        </p:txBody>
      </p:sp>
      <p:sp>
        <p:nvSpPr>
          <p:cNvPr id="6" name="Schritt"/>
          <p:cNvSpPr/>
          <p:nvPr/>
        </p:nvSpPr>
        <p:spPr>
          <a:xfrm>
            <a:off x="548640" y="1325880"/>
            <a:ext cx="2011680" cy="1600200"/>
          </a:xfrm>
          <a:prstGeom prst="roundRect">
            <a:avLst>
              <a:gd name="adj" fmla="val 4571"/>
            </a:avLst>
          </a:prstGeom>
          <a:solidFill>
            <a:schemeClr val="bg2"/>
          </a:solidFill>
          <a:ln/>
        </p:spPr>
        <p:txBody>
          <a:bodyPr/>
          <a:p/>
        </p:txBody>
      </p:sp>
      <p:sp>
        <p:nvSpPr>
          <p:cNvPr id="7" name="Symbolkreis"/>
          <p:cNvSpPr/>
          <p:nvPr/>
        </p:nvSpPr>
        <p:spPr>
          <a:xfrm>
            <a:off x="731520" y="1463040"/>
            <a:ext cx="502920" cy="502920"/>
          </a:xfrm>
          <a:prstGeom prst="ellipse">
            <a:avLst/>
          </a:prstGeom>
          <a:solidFill>
            <a:schemeClr val="accent1"/>
          </a:solidFill>
          <a:ln/>
        </p:spPr>
        <p:txBody>
          <a:bodyPr/>
          <a:p/>
        </p:txBody>
      </p:sp>
      <p:pic>
        <p:nvPicPr>
          <p:cNvPr id="8" name="Symbol" descr="preencoded.png">    </p:cNvPr>
          <p:cNvPicPr>
            <a:picLocks noChangeAspect="1"/>
          </p:cNvPicPr>
          <p:nvPr/>
        </p:nvPicPr>
        <p:blipFill>
          <a:blip r:embed="rId2"/>
          <a:stretch>
            <a:fillRect/>
          </a:stretch>
        </p:blipFill>
        <p:spPr>
          <a:xfrm>
            <a:off x="857250" y="1588770"/>
            <a:ext cx="251460" cy="251460"/>
          </a:xfrm>
          <a:prstGeom prst="rect">
            <a:avLst/>
          </a:prstGeom>
        </p:spPr>
      </p:pic>
      <p:sp>
        <p:nvSpPr>
          <p:cNvPr id="9" name="Text 5"/>
          <p:cNvSpPr txBox="1"/>
          <p:nvPr/>
        </p:nvSpPr>
        <p:spPr>
          <a:xfrm>
            <a:off x="731520" y="2057400"/>
            <a:ext cx="1737360" cy="320040"/>
          </a:xfrm>
          <a:prstGeom prst="rect">
            <a:avLst/>
          </a:prstGeom>
          <a:noFill/>
          <a:ln/>
        </p:spPr>
        <p:txBody>
          <a:bodyPr wrap="square" lIns="0" tIns="0" rIns="0" bIns="0" rtlCol="0" anchor="t"/>
          <a:lstStyle/>
          <a:p>
            <a:pPr indent="0" marL="0">
              <a:buNone/>
            </a:pPr>
            <a:r>
              <a:rPr lang="en-US" sz="1400" b="1" dirty="0">
                <a:solidFill>
                  <a:schemeClr val="tx2"/>
                </a:solidFill>
              </a:rPr>
              <a:t>1 · Anforderungen</a:t>
            </a:r>
            <a:endParaRPr lang="en-US" sz="1400" dirty="0"/>
          </a:p>
        </p:txBody>
      </p:sp>
      <p:sp>
        <p:nvSpPr>
          <p:cNvPr id="10" name="Text 6"/>
          <p:cNvSpPr txBox="1"/>
          <p:nvPr/>
        </p:nvSpPr>
        <p:spPr>
          <a:xfrm>
            <a:off x="731520" y="2395728"/>
            <a:ext cx="1737360" cy="457200"/>
          </a:xfrm>
          <a:prstGeom prst="rect">
            <a:avLst/>
          </a:prstGeom>
          <a:noFill/>
          <a:ln/>
        </p:spPr>
        <p:txBody>
          <a:bodyPr wrap="square" lIns="0" tIns="0" rIns="0" bIns="0" rtlCol="0" anchor="t"/>
          <a:lstStyle/>
          <a:p>
            <a:pPr indent="0" marL="0">
              <a:buNone/>
            </a:pPr>
            <a:r>
              <a:rPr lang="en-US" sz="1200" dirty="0">
                <a:solidFill>
                  <a:schemeClr val="accent5"/>
                </a:solidFill>
              </a:rPr>
              <a:t>aus Ist/Soll abgeleitet</a:t>
            </a:r>
            <a:endParaRPr lang="en-US" sz="1200" dirty="0"/>
          </a:p>
        </p:txBody>
      </p:sp>
      <p:sp>
        <p:nvSpPr>
          <p:cNvPr id="11" name="Pfeil"/>
          <p:cNvSpPr/>
          <p:nvPr/>
        </p:nvSpPr>
        <p:spPr>
          <a:xfrm rot="5400000">
            <a:off x="2569464" y="2057400"/>
            <a:ext cx="237744" cy="146304"/>
          </a:xfrm>
          <a:prstGeom prst="triangle">
            <a:avLst/>
          </a:prstGeom>
          <a:solidFill>
            <a:schemeClr val="accent5"/>
          </a:solidFill>
          <a:ln/>
        </p:spPr>
        <p:txBody>
          <a:bodyPr/>
          <a:p/>
        </p:txBody>
      </p:sp>
      <p:sp>
        <p:nvSpPr>
          <p:cNvPr id="12" name="Schritt"/>
          <p:cNvSpPr/>
          <p:nvPr/>
        </p:nvSpPr>
        <p:spPr>
          <a:xfrm>
            <a:off x="2811780" y="1325880"/>
            <a:ext cx="2011680" cy="1600200"/>
          </a:xfrm>
          <a:prstGeom prst="roundRect">
            <a:avLst>
              <a:gd name="adj" fmla="val 4571"/>
            </a:avLst>
          </a:prstGeom>
          <a:solidFill>
            <a:schemeClr val="bg2"/>
          </a:solidFill>
          <a:ln/>
        </p:spPr>
        <p:txBody>
          <a:bodyPr/>
          <a:p/>
        </p:txBody>
      </p:sp>
      <p:sp>
        <p:nvSpPr>
          <p:cNvPr id="13" name="Symbolkreis"/>
          <p:cNvSpPr/>
          <p:nvPr/>
        </p:nvSpPr>
        <p:spPr>
          <a:xfrm>
            <a:off x="2994660" y="1463040"/>
            <a:ext cx="502920" cy="502920"/>
          </a:xfrm>
          <a:prstGeom prst="ellipse">
            <a:avLst/>
          </a:prstGeom>
          <a:solidFill>
            <a:schemeClr val="accent1"/>
          </a:solidFill>
          <a:ln/>
        </p:spPr>
        <p:txBody>
          <a:bodyPr/>
          <a:p/>
        </p:txBody>
      </p:sp>
      <p:pic>
        <p:nvPicPr>
          <p:cNvPr id="14" name="Symbol" descr="preencoded.png">    </p:cNvPr>
          <p:cNvPicPr>
            <a:picLocks noChangeAspect="1"/>
          </p:cNvPicPr>
          <p:nvPr/>
        </p:nvPicPr>
        <p:blipFill>
          <a:blip r:embed="rId3"/>
          <a:stretch>
            <a:fillRect/>
          </a:stretch>
        </p:blipFill>
        <p:spPr>
          <a:xfrm>
            <a:off x="3120390" y="1588770"/>
            <a:ext cx="251460" cy="251460"/>
          </a:xfrm>
          <a:prstGeom prst="rect">
            <a:avLst/>
          </a:prstGeom>
        </p:spPr>
      </p:pic>
      <p:sp>
        <p:nvSpPr>
          <p:cNvPr id="15" name="Text 10"/>
          <p:cNvSpPr txBox="1"/>
          <p:nvPr/>
        </p:nvSpPr>
        <p:spPr>
          <a:xfrm>
            <a:off x="2994660" y="2057400"/>
            <a:ext cx="1737360" cy="320040"/>
          </a:xfrm>
          <a:prstGeom prst="rect">
            <a:avLst/>
          </a:prstGeom>
          <a:noFill/>
          <a:ln/>
        </p:spPr>
        <p:txBody>
          <a:bodyPr wrap="square" lIns="0" tIns="0" rIns="0" bIns="0" rtlCol="0" anchor="t"/>
          <a:lstStyle/>
          <a:p>
            <a:pPr indent="0" marL="0">
              <a:buNone/>
            </a:pPr>
            <a:r>
              <a:rPr lang="en-US" sz="1400" b="1" dirty="0">
                <a:solidFill>
                  <a:schemeClr val="tx2"/>
                </a:solidFill>
              </a:rPr>
              <a:t>2 · Kriterien</a:t>
            </a:r>
            <a:endParaRPr lang="en-US" sz="1400" dirty="0"/>
          </a:p>
        </p:txBody>
      </p:sp>
      <p:sp>
        <p:nvSpPr>
          <p:cNvPr id="16" name="Text 11"/>
          <p:cNvSpPr txBox="1"/>
          <p:nvPr/>
        </p:nvSpPr>
        <p:spPr>
          <a:xfrm>
            <a:off x="2994660" y="2395728"/>
            <a:ext cx="1737360" cy="457200"/>
          </a:xfrm>
          <a:prstGeom prst="rect">
            <a:avLst/>
          </a:prstGeom>
          <a:noFill/>
          <a:ln/>
        </p:spPr>
        <p:txBody>
          <a:bodyPr wrap="square" lIns="0" tIns="0" rIns="0" bIns="0" rtlCol="0" anchor="t"/>
          <a:lstStyle/>
          <a:p>
            <a:pPr indent="0" marL="0">
              <a:buNone/>
            </a:pPr>
            <a:r>
              <a:rPr lang="en-US" sz="1200" dirty="0">
                <a:solidFill>
                  <a:schemeClr val="accent5"/>
                </a:solidFill>
              </a:rPr>
              <a:t>fünf IHK-Kriterien</a:t>
            </a:r>
            <a:endParaRPr lang="en-US" sz="1200" dirty="0"/>
          </a:p>
        </p:txBody>
      </p:sp>
      <p:sp>
        <p:nvSpPr>
          <p:cNvPr id="17" name="Pfeil"/>
          <p:cNvSpPr/>
          <p:nvPr/>
        </p:nvSpPr>
        <p:spPr>
          <a:xfrm rot="5400000">
            <a:off x="4832604" y="2057400"/>
            <a:ext cx="237744" cy="146304"/>
          </a:xfrm>
          <a:prstGeom prst="triangle">
            <a:avLst/>
          </a:prstGeom>
          <a:solidFill>
            <a:schemeClr val="accent5"/>
          </a:solidFill>
          <a:ln/>
        </p:spPr>
        <p:txBody>
          <a:bodyPr/>
          <a:p/>
        </p:txBody>
      </p:sp>
      <p:sp>
        <p:nvSpPr>
          <p:cNvPr id="18" name="Schritt"/>
          <p:cNvSpPr/>
          <p:nvPr/>
        </p:nvSpPr>
        <p:spPr>
          <a:xfrm>
            <a:off x="5074920" y="1325880"/>
            <a:ext cx="2011680" cy="1600200"/>
          </a:xfrm>
          <a:prstGeom prst="roundRect">
            <a:avLst>
              <a:gd name="adj" fmla="val 4571"/>
            </a:avLst>
          </a:prstGeom>
          <a:solidFill>
            <a:schemeClr val="bg2"/>
          </a:solidFill>
          <a:ln/>
        </p:spPr>
        <p:txBody>
          <a:bodyPr/>
          <a:p/>
        </p:txBody>
      </p:sp>
      <p:sp>
        <p:nvSpPr>
          <p:cNvPr id="19" name="Symbolkreis"/>
          <p:cNvSpPr/>
          <p:nvPr/>
        </p:nvSpPr>
        <p:spPr>
          <a:xfrm>
            <a:off x="5257800" y="1463040"/>
            <a:ext cx="502920" cy="502920"/>
          </a:xfrm>
          <a:prstGeom prst="ellipse">
            <a:avLst/>
          </a:prstGeom>
          <a:solidFill>
            <a:schemeClr val="accent1"/>
          </a:solidFill>
          <a:ln/>
        </p:spPr>
        <p:txBody>
          <a:bodyPr/>
          <a:p/>
        </p:txBody>
      </p:sp>
      <p:pic>
        <p:nvPicPr>
          <p:cNvPr id="20" name="Symbol" descr="preencoded.png">    </p:cNvPr>
          <p:cNvPicPr>
            <a:picLocks noChangeAspect="1"/>
          </p:cNvPicPr>
          <p:nvPr/>
        </p:nvPicPr>
        <p:blipFill>
          <a:blip r:embed="rId4"/>
          <a:stretch>
            <a:fillRect/>
          </a:stretch>
        </p:blipFill>
        <p:spPr>
          <a:xfrm>
            <a:off x="5383530" y="1588770"/>
            <a:ext cx="251460" cy="251460"/>
          </a:xfrm>
          <a:prstGeom prst="rect">
            <a:avLst/>
          </a:prstGeom>
        </p:spPr>
      </p:pic>
      <p:sp>
        <p:nvSpPr>
          <p:cNvPr id="21" name="Text 15"/>
          <p:cNvSpPr txBox="1"/>
          <p:nvPr/>
        </p:nvSpPr>
        <p:spPr>
          <a:xfrm>
            <a:off x="5257800" y="2057400"/>
            <a:ext cx="1737360" cy="320040"/>
          </a:xfrm>
          <a:prstGeom prst="rect">
            <a:avLst/>
          </a:prstGeom>
          <a:noFill/>
          <a:ln/>
        </p:spPr>
        <p:txBody>
          <a:bodyPr wrap="square" lIns="0" tIns="0" rIns="0" bIns="0" rtlCol="0" anchor="t"/>
          <a:lstStyle/>
          <a:p>
            <a:pPr indent="0" marL="0">
              <a:buNone/>
            </a:pPr>
            <a:r>
              <a:rPr lang="en-US" sz="1400" b="1" dirty="0">
                <a:solidFill>
                  <a:schemeClr val="tx2"/>
                </a:solidFill>
              </a:rPr>
              <a:t>3 · Vorauswahl</a:t>
            </a:r>
            <a:endParaRPr lang="en-US" sz="1400" dirty="0"/>
          </a:p>
        </p:txBody>
      </p:sp>
      <p:sp>
        <p:nvSpPr>
          <p:cNvPr id="22" name="Text 16"/>
          <p:cNvSpPr txBox="1"/>
          <p:nvPr/>
        </p:nvSpPr>
        <p:spPr>
          <a:xfrm>
            <a:off x="5257800" y="2395728"/>
            <a:ext cx="1737360" cy="457200"/>
          </a:xfrm>
          <a:prstGeom prst="rect">
            <a:avLst/>
          </a:prstGeom>
          <a:noFill/>
          <a:ln/>
        </p:spPr>
        <p:txBody>
          <a:bodyPr wrap="square" lIns="0" tIns="0" rIns="0" bIns="0" rtlCol="0" anchor="t"/>
          <a:lstStyle/>
          <a:p>
            <a:pPr indent="0" marL="0">
              <a:buNone/>
            </a:pPr>
            <a:r>
              <a:rPr lang="en-US" sz="1200" dirty="0">
                <a:solidFill>
                  <a:schemeClr val="accent5"/>
                </a:solidFill>
              </a:rPr>
              <a:t>je Baustein 2–4 Kandidaten</a:t>
            </a:r>
            <a:endParaRPr lang="en-US" sz="1200" dirty="0"/>
          </a:p>
        </p:txBody>
      </p:sp>
      <p:sp>
        <p:nvSpPr>
          <p:cNvPr id="23" name="Pfeil"/>
          <p:cNvSpPr/>
          <p:nvPr/>
        </p:nvSpPr>
        <p:spPr>
          <a:xfrm rot="5400000">
            <a:off x="7095744" y="2057400"/>
            <a:ext cx="237744" cy="146304"/>
          </a:xfrm>
          <a:prstGeom prst="triangle">
            <a:avLst/>
          </a:prstGeom>
          <a:solidFill>
            <a:schemeClr val="accent5"/>
          </a:solidFill>
          <a:ln/>
        </p:spPr>
        <p:txBody>
          <a:bodyPr/>
          <a:p/>
        </p:txBody>
      </p:sp>
      <p:sp>
        <p:nvSpPr>
          <p:cNvPr id="24" name="Schritt"/>
          <p:cNvSpPr/>
          <p:nvPr/>
        </p:nvSpPr>
        <p:spPr>
          <a:xfrm>
            <a:off x="7338060" y="1325880"/>
            <a:ext cx="2011680" cy="1600200"/>
          </a:xfrm>
          <a:prstGeom prst="roundRect">
            <a:avLst>
              <a:gd name="adj" fmla="val 4571"/>
            </a:avLst>
          </a:prstGeom>
          <a:solidFill>
            <a:schemeClr val="bg2"/>
          </a:solidFill>
          <a:ln/>
        </p:spPr>
        <p:txBody>
          <a:bodyPr/>
          <a:p/>
        </p:txBody>
      </p:sp>
      <p:sp>
        <p:nvSpPr>
          <p:cNvPr id="25" name="Symbolkreis"/>
          <p:cNvSpPr/>
          <p:nvPr/>
        </p:nvSpPr>
        <p:spPr>
          <a:xfrm>
            <a:off x="7520940" y="1463040"/>
            <a:ext cx="502920" cy="502920"/>
          </a:xfrm>
          <a:prstGeom prst="ellipse">
            <a:avLst/>
          </a:prstGeom>
          <a:solidFill>
            <a:schemeClr val="accent1"/>
          </a:solidFill>
          <a:ln/>
        </p:spPr>
        <p:txBody>
          <a:bodyPr/>
          <a:p/>
        </p:txBody>
      </p:sp>
      <p:pic>
        <p:nvPicPr>
          <p:cNvPr id="26" name="Symbol" descr="preencoded.png">    </p:cNvPr>
          <p:cNvPicPr>
            <a:picLocks noChangeAspect="1"/>
          </p:cNvPicPr>
          <p:nvPr/>
        </p:nvPicPr>
        <p:blipFill>
          <a:blip r:embed="rId5"/>
          <a:stretch>
            <a:fillRect/>
          </a:stretch>
        </p:blipFill>
        <p:spPr>
          <a:xfrm>
            <a:off x="7646670" y="1588770"/>
            <a:ext cx="251460" cy="251460"/>
          </a:xfrm>
          <a:prstGeom prst="rect">
            <a:avLst/>
          </a:prstGeom>
        </p:spPr>
      </p:pic>
      <p:sp>
        <p:nvSpPr>
          <p:cNvPr id="27" name="Text 20"/>
          <p:cNvSpPr txBox="1"/>
          <p:nvPr/>
        </p:nvSpPr>
        <p:spPr>
          <a:xfrm>
            <a:off x="7520940" y="2057400"/>
            <a:ext cx="1737360" cy="320040"/>
          </a:xfrm>
          <a:prstGeom prst="rect">
            <a:avLst/>
          </a:prstGeom>
          <a:noFill/>
          <a:ln/>
        </p:spPr>
        <p:txBody>
          <a:bodyPr wrap="square" lIns="0" tIns="0" rIns="0" bIns="0" rtlCol="0" anchor="t"/>
          <a:lstStyle/>
          <a:p>
            <a:pPr indent="0" marL="0">
              <a:buNone/>
            </a:pPr>
            <a:r>
              <a:rPr lang="en-US" sz="1400" b="1" dirty="0">
                <a:solidFill>
                  <a:schemeClr val="tx2"/>
                </a:solidFill>
              </a:rPr>
              <a:t>4 · Praxistest</a:t>
            </a:r>
            <a:endParaRPr lang="en-US" sz="1400" dirty="0"/>
          </a:p>
        </p:txBody>
      </p:sp>
      <p:sp>
        <p:nvSpPr>
          <p:cNvPr id="28" name="Text 21"/>
          <p:cNvSpPr txBox="1"/>
          <p:nvPr/>
        </p:nvSpPr>
        <p:spPr>
          <a:xfrm>
            <a:off x="7520940" y="2395728"/>
            <a:ext cx="1737360" cy="457200"/>
          </a:xfrm>
          <a:prstGeom prst="rect">
            <a:avLst/>
          </a:prstGeom>
          <a:noFill/>
          <a:ln/>
        </p:spPr>
        <p:txBody>
          <a:bodyPr wrap="square" lIns="0" tIns="0" rIns="0" bIns="0" rtlCol="0" anchor="t"/>
          <a:lstStyle/>
          <a:p>
            <a:pPr indent="0" marL="0">
              <a:buNone/>
            </a:pPr>
            <a:r>
              <a:rPr lang="en-US" sz="1200" dirty="0">
                <a:solidFill>
                  <a:schemeClr val="accent5"/>
                </a:solidFill>
              </a:rPr>
              <a:t>Prototyp v1 bis Merge</a:t>
            </a:r>
            <a:endParaRPr lang="en-US" sz="1200" dirty="0"/>
          </a:p>
        </p:txBody>
      </p:sp>
      <p:sp>
        <p:nvSpPr>
          <p:cNvPr id="29" name="Pfeil"/>
          <p:cNvSpPr/>
          <p:nvPr/>
        </p:nvSpPr>
        <p:spPr>
          <a:xfrm rot="5400000">
            <a:off x="9358884" y="2057400"/>
            <a:ext cx="237744" cy="146304"/>
          </a:xfrm>
          <a:prstGeom prst="triangle">
            <a:avLst/>
          </a:prstGeom>
          <a:solidFill>
            <a:schemeClr val="accent5"/>
          </a:solidFill>
          <a:ln/>
        </p:spPr>
        <p:txBody>
          <a:bodyPr/>
          <a:p/>
        </p:txBody>
      </p:sp>
      <p:sp>
        <p:nvSpPr>
          <p:cNvPr id="30" name="Schritt"/>
          <p:cNvSpPr/>
          <p:nvPr/>
        </p:nvSpPr>
        <p:spPr>
          <a:xfrm>
            <a:off x="9601200" y="1325880"/>
            <a:ext cx="2011680" cy="1600200"/>
          </a:xfrm>
          <a:prstGeom prst="roundRect">
            <a:avLst>
              <a:gd name="adj" fmla="val 4571"/>
            </a:avLst>
          </a:prstGeom>
          <a:solidFill>
            <a:schemeClr val="bg2"/>
          </a:solidFill>
          <a:ln/>
        </p:spPr>
        <p:txBody>
          <a:bodyPr/>
          <a:p/>
        </p:txBody>
      </p:sp>
      <p:sp>
        <p:nvSpPr>
          <p:cNvPr id="31" name="Symbolkreis"/>
          <p:cNvSpPr/>
          <p:nvPr/>
        </p:nvSpPr>
        <p:spPr>
          <a:xfrm>
            <a:off x="9784080" y="1463040"/>
            <a:ext cx="502920" cy="502920"/>
          </a:xfrm>
          <a:prstGeom prst="ellipse">
            <a:avLst/>
          </a:prstGeom>
          <a:solidFill>
            <a:schemeClr val="accent1"/>
          </a:solidFill>
          <a:ln/>
        </p:spPr>
        <p:txBody>
          <a:bodyPr/>
          <a:p/>
        </p:txBody>
      </p:sp>
      <p:pic>
        <p:nvPicPr>
          <p:cNvPr id="32" name="Symbol" descr="preencoded.png">    </p:cNvPr>
          <p:cNvPicPr>
            <a:picLocks noChangeAspect="1"/>
          </p:cNvPicPr>
          <p:nvPr/>
        </p:nvPicPr>
        <p:blipFill>
          <a:blip r:embed="rId6"/>
          <a:stretch>
            <a:fillRect/>
          </a:stretch>
        </p:blipFill>
        <p:spPr>
          <a:xfrm>
            <a:off x="9909810" y="1588770"/>
            <a:ext cx="251460" cy="251460"/>
          </a:xfrm>
          <a:prstGeom prst="rect">
            <a:avLst/>
          </a:prstGeom>
        </p:spPr>
      </p:pic>
      <p:sp>
        <p:nvSpPr>
          <p:cNvPr id="33" name="Text 25"/>
          <p:cNvSpPr txBox="1"/>
          <p:nvPr/>
        </p:nvSpPr>
        <p:spPr>
          <a:xfrm>
            <a:off x="9784080" y="2057400"/>
            <a:ext cx="1737360" cy="320040"/>
          </a:xfrm>
          <a:prstGeom prst="rect">
            <a:avLst/>
          </a:prstGeom>
          <a:noFill/>
          <a:ln/>
        </p:spPr>
        <p:txBody>
          <a:bodyPr wrap="square" lIns="0" tIns="0" rIns="0" bIns="0" rtlCol="0" anchor="t"/>
          <a:lstStyle/>
          <a:p>
            <a:pPr indent="0" marL="0">
              <a:buNone/>
            </a:pPr>
            <a:r>
              <a:rPr lang="en-US" sz="1400" b="1" dirty="0">
                <a:solidFill>
                  <a:schemeClr val="tx2"/>
                </a:solidFill>
              </a:rPr>
              <a:t>5 · Fazit</a:t>
            </a:r>
            <a:endParaRPr lang="en-US" sz="1400" dirty="0"/>
          </a:p>
        </p:txBody>
      </p:sp>
      <p:sp>
        <p:nvSpPr>
          <p:cNvPr id="34" name="Text 26"/>
          <p:cNvSpPr txBox="1"/>
          <p:nvPr/>
        </p:nvSpPr>
        <p:spPr>
          <a:xfrm>
            <a:off x="9784080" y="2395728"/>
            <a:ext cx="1737360" cy="457200"/>
          </a:xfrm>
          <a:prstGeom prst="rect">
            <a:avLst/>
          </a:prstGeom>
          <a:noFill/>
          <a:ln/>
        </p:spPr>
        <p:txBody>
          <a:bodyPr wrap="square" lIns="0" tIns="0" rIns="0" bIns="0" rtlCol="0" anchor="t"/>
          <a:lstStyle/>
          <a:p>
            <a:pPr indent="0" marL="0">
              <a:buNone/>
            </a:pPr>
            <a:r>
              <a:rPr lang="en-US" sz="1200" dirty="0">
                <a:solidFill>
                  <a:schemeClr val="accent5"/>
                </a:solidFill>
              </a:rPr>
              <a:t>begründete Auswahl</a:t>
            </a:r>
            <a:endParaRPr lang="en-US" sz="12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3154680"/>
          <a:ext cx="11091672" cy="914400"/>
        </p:xfrm>
        <a:graphic>
          <a:graphicData uri="http://schemas.openxmlformats.org/drawingml/2006/table">
            <a:tbl>
              <a:tblPr/>
              <a:tblGrid>
                <a:gridCol w="8348472"/>
                <a:gridCol w="274320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Anforderung aus dem Ist/Soll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IHK-Kriterium</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r>
              <a:tr h="45720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Verordnungen sind Gesundheitsdaten (Art. 9 DSGVO); Daten in der EU, Pseudonym statt Name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Datenschutz</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45720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Rezeption ohne IT-Kenntnisse: Formular oder Chat, Antwort in Sekunden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Benutzerfreundlichkeit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Jeder Befund mit Fundstelle aus öffentlichen Regelwerken; Regeln ändern sich jährlich</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Funktionalität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45720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Keine Schnittstelle zur Praxissoftware nötig, Protokoll jeder Prüfung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Integrationsfähigkeit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Laufende Kosten klein gegenüber der eingesparten Zeit (Ziel ≤ 5 Cent je Prüfung)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Kosten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bl>
          </a:graphicData>
        </a:graphic>
      </p:graphicFrame>
      <p:sp>
        <p:nvSpPr>
          <p:cNvPr id="36"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Orchestrierung: n8n und die Alternativen</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1"/>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Valentin</a:t>
            </a:r>
            <a:endParaRPr lang="en-US" sz="15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2194560"/>
                <a:gridCol w="3657600"/>
                <a:gridCol w="3931920"/>
                <a:gridCol w="1307592"/>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Kandidat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Stärke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Schwäche für unseren Fall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Ergebnis</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r>
              <a:tr h="868680">
                <a:tc>
                  <a:txBody>
                    <a:bodyPr/>
                    <a:lstStyle/>
                    <a:p>
                      <a:pPr indent="0" marL="0">
                        <a:buNone/>
                      </a:pPr>
                      <a:r>
                        <a:rPr lang="en-US" sz="1300" b="1" dirty="0">
                          <a:solidFill>
                            <a:srgbClr val="2A9D8F"/>
                          </a:solidFill>
                          <a:latin typeface="Calibri" pitchFamily="34" charset="0"/>
                          <a:ea typeface="Calibri" pitchFamily="34" charset="-122"/>
                          <a:cs typeface="Calibri" pitchFamily="34" charset="-120"/>
                        </a:rPr>
                        <a:t>n8n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Agenten, Vektorsuche und Code-Knoten in einem Workflow; native Knoten für OpenAI und Supabase; Export als JSON für GitHub</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Kein fertiges Frontend; JavaScript-Kenntnisse für Code-Knoten nötig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b="1" dirty="0">
                          <a:solidFill>
                            <a:srgbClr val="2A9D8F"/>
                          </a:solidFill>
                          <a:latin typeface="Calibri" pitchFamily="34" charset="0"/>
                          <a:ea typeface="Calibri" pitchFamily="34" charset="-122"/>
                          <a:cs typeface="Calibri" pitchFamily="34" charset="-120"/>
                        </a:rPr>
                        <a:t>gewählt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77724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Microsoft Copilot Studio</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Im MSIT-Programm bekannt, gute Chat-Oberfläche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Anbindung an Supabase und eigene Rechenlogik umständlicher; n8n ist Kernplattform des Capstones</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verworfen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64008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Eigener Code (z. B. Python)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Volle Kontrolle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Mehr Bauzeit; schwerer für die Praxis zu warten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verworfen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64008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Eigenes Frontend (z. B. Lovable)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Schöne Oberfläche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Kostet Bauzeit ohne Prüfnutzen; n8n-Formular und -Chat reichen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verworfen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77724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Reine Regel-Engine ohne KI</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Deterministisch</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Eingabe ist Freitext, Regeln stehen in langen PDF-Regelwerken – dafür braucht es Sprachverständnis</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verworfen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bl>
          </a:graphicData>
        </a:graphic>
      </p:graphicFrame>
      <p:sp>
        <p:nvSpPr>
          <p:cNvPr id="7" name="Text 3"/>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Ehrlich bleiben: n8n ist durch das MSIT-Capstone vorgegeben – wir haben es trotzdem gegen die Alternativen bewertet · Quelle: docs/implementierung.md</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Sprachmodell und Embeddings: klein, günstig, einheitlich</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1"/>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Valentin</a:t>
            </a:r>
            <a:endParaRPr lang="en-US" sz="15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7863840" cy="914400"/>
        </p:xfrm>
        <a:graphic>
          <a:graphicData uri="http://schemas.openxmlformats.org/drawingml/2006/table">
            <a:tbl>
              <a:tblPr/>
              <a:tblGrid>
                <a:gridCol w="2286000"/>
                <a:gridCol w="4480560"/>
                <a:gridCol w="1097280"/>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Kandidat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Warum (nicht)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Ergebnis</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r>
              <a:tr h="777240">
                <a:tc>
                  <a:txBody>
                    <a:bodyPr/>
                    <a:lstStyle/>
                    <a:p>
                      <a:pPr indent="0" marL="0">
                        <a:buNone/>
                      </a:pPr>
                      <a:r>
                        <a:rPr lang="en-US" sz="1300" b="1" dirty="0">
                          <a:solidFill>
                            <a:srgbClr val="2A9D8F"/>
                          </a:solidFill>
                          <a:latin typeface="Calibri" pitchFamily="34" charset="0"/>
                          <a:ea typeface="Calibri" pitchFamily="34" charset="-122"/>
                          <a:cs typeface="Calibri" pitchFamily="34" charset="-120"/>
                        </a:rPr>
                        <a:t>gpt-4.1-mini, Temperatur 0,1</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Reicht, weil Regeln der Code rechnet; ca. 3 Cent und ca. 34 s je Prüfung; niedrige Temperatur = reproduzierbarer</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b="1" dirty="0">
                          <a:solidFill>
                            <a:srgbClr val="2A9D8F"/>
                          </a:solidFill>
                          <a:latin typeface="Calibri" pitchFamily="34" charset="0"/>
                          <a:ea typeface="Calibri" pitchFamily="34" charset="-122"/>
                          <a:cs typeface="Calibri" pitchFamily="34" charset="-120"/>
                        </a:rPr>
                        <a:t>gewählt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86868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Größere Modelle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Mehr Kosten und Wartezeit; der wichtigste Fehler (falsche ICD-Zuordnung) wurde nicht durch Modellgröße, sondern durch Code gelöst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verworfen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96012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Modell mit EU-Hosting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Datenschutz-Vorteil; im Prototyp nur synthetische Daten → vor Echtbetrieb neu bewerten (OpenAI bietet seit Feb. 2025 EU-Datenresidenz für API-Projekte)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Echtbetrieb</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777240">
                <a:tc>
                  <a:txBody>
                    <a:bodyPr/>
                    <a:lstStyle/>
                    <a:p>
                      <a:pPr indent="0" marL="0">
                        <a:buNone/>
                      </a:pPr>
                      <a:r>
                        <a:rPr lang="en-US" sz="1300" b="1" dirty="0">
                          <a:solidFill>
                            <a:srgbClr val="2A9D8F"/>
                          </a:solidFill>
                          <a:latin typeface="Calibri" pitchFamily="34" charset="0"/>
                          <a:ea typeface="Calibri" pitchFamily="34" charset="-122"/>
                          <a:cs typeface="Calibri" pitchFamily="34" charset="-120"/>
                        </a:rPr>
                        <a:t>text-embedding-3-small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Wissensbasis (380 Abschnitte, 1.536 Dimensionen) ist damit geladen – Suchanfragen müssen mit demselben Modell eingebettet werden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b="1" dirty="0">
                          <a:solidFill>
                            <a:srgbClr val="2A9D8F"/>
                          </a:solidFill>
                          <a:latin typeface="Calibri" pitchFamily="34" charset="0"/>
                          <a:ea typeface="Calibri" pitchFamily="34" charset="-122"/>
                          <a:cs typeface="Calibri" pitchFamily="34" charset="-120"/>
                        </a:rPr>
                        <a:t>gewählt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77724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Gemini über OpenRouter</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Embeddings eines anderen Modells liegen in einem anderen Vektorraum → Suche wertlos. Nur nach komplettem Neuladen der Wissensbasis möglich</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verworfen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bl>
          </a:graphicData>
        </a:graphic>
      </p:graphicFrame>
      <p:sp>
        <p:nvSpPr>
          <p:cNvPr id="7" name="Lehre"/>
          <p:cNvSpPr/>
          <p:nvPr/>
        </p:nvSpPr>
        <p:spPr>
          <a:xfrm>
            <a:off x="8595360" y="1325880"/>
            <a:ext cx="3044952" cy="4572000"/>
          </a:xfrm>
          <a:prstGeom prst="roundRect">
            <a:avLst>
              <a:gd name="adj" fmla="val 2402"/>
            </a:avLst>
          </a:prstGeom>
          <a:solidFill>
            <a:schemeClr val="tx2"/>
          </a:solidFill>
          <a:ln/>
        </p:spPr>
        <p:txBody>
          <a:bodyPr/>
          <a:p/>
        </p:txBody>
      </p:sp>
      <p:sp>
        <p:nvSpPr>
          <p:cNvPr id="8" name="Symbolkreis"/>
          <p:cNvSpPr/>
          <p:nvPr/>
        </p:nvSpPr>
        <p:spPr>
          <a:xfrm>
            <a:off x="8823960" y="1508760"/>
            <a:ext cx="548640" cy="548640"/>
          </a:xfrm>
          <a:prstGeom prst="ellipse">
            <a:avLst/>
          </a:prstGeom>
          <a:solidFill>
            <a:schemeClr val="accent2"/>
          </a:solidFill>
          <a:ln/>
        </p:spPr>
        <p:txBody>
          <a:bodyPr/>
          <a:p/>
        </p:txBody>
      </p:sp>
      <p:pic>
        <p:nvPicPr>
          <p:cNvPr id="9" name="Symbol" descr="preencoded.png">    </p:cNvPr>
          <p:cNvPicPr>
            <a:picLocks noChangeAspect="1"/>
          </p:cNvPicPr>
          <p:nvPr/>
        </p:nvPicPr>
        <p:blipFill>
          <a:blip r:embed="rId2"/>
          <a:stretch>
            <a:fillRect/>
          </a:stretch>
        </p:blipFill>
        <p:spPr>
          <a:xfrm>
            <a:off x="8961120" y="1645920"/>
            <a:ext cx="274320" cy="274320"/>
          </a:xfrm>
          <a:prstGeom prst="rect">
            <a:avLst/>
          </a:prstGeom>
        </p:spPr>
      </p:pic>
      <p:sp>
        <p:nvSpPr>
          <p:cNvPr id="10" name="Text 5"/>
          <p:cNvSpPr txBox="1"/>
          <p:nvPr/>
        </p:nvSpPr>
        <p:spPr>
          <a:xfrm>
            <a:off x="8823960" y="2194560"/>
            <a:ext cx="2606040" cy="685800"/>
          </a:xfrm>
          <a:prstGeom prst="rect">
            <a:avLst/>
          </a:prstGeom>
          <a:noFill/>
          <a:ln/>
        </p:spPr>
        <p:txBody>
          <a:bodyPr wrap="square" lIns="0" tIns="0" rIns="0" bIns="0" rtlCol="0" anchor="t"/>
          <a:lstStyle/>
          <a:p>
            <a:pPr indent="0" marL="0">
              <a:buNone/>
            </a:pPr>
            <a:r>
              <a:rPr lang="en-US" sz="1600" b="1" dirty="0">
                <a:solidFill>
                  <a:schemeClr val="bg1"/>
                </a:solidFill>
                <a:latin typeface="Cambria" pitchFamily="34" charset="0"/>
                <a:ea typeface="Cambria" pitchFamily="34" charset="-122"/>
                <a:cs typeface="Cambria" pitchFamily="34" charset="-120"/>
              </a:rPr>
              <a:t>Beim Zusammenführen gelernt</a:t>
            </a:r>
            <a:endParaRPr lang="en-US" sz="1600" dirty="0"/>
          </a:p>
        </p:txBody>
      </p:sp>
      <p:sp>
        <p:nvSpPr>
          <p:cNvPr id="11" name="Text 6"/>
          <p:cNvSpPr txBox="1"/>
          <p:nvPr/>
        </p:nvSpPr>
        <p:spPr>
          <a:xfrm>
            <a:off x="8823960" y="2926080"/>
            <a:ext cx="2606040" cy="2834640"/>
          </a:xfrm>
          <a:prstGeom prst="rect">
            <a:avLst/>
          </a:prstGeom>
          <a:noFill/>
          <a:ln/>
        </p:spPr>
        <p:txBody>
          <a:bodyPr wrap="square" lIns="0" tIns="0" rIns="0" bIns="0" rtlCol="0" anchor="t"/>
          <a:lstStyle/>
          <a:p>
            <a:pPr indent="0" marL="0">
              <a:buNone/>
            </a:pPr>
            <a:r>
              <a:rPr lang="en-US" sz="1300" b="1" dirty="0">
                <a:solidFill>
                  <a:schemeClr val="accent2"/>
                </a:solidFill>
              </a:rPr>
              <a:t>Embedding-Modell: zwingend </a:t>
            </a:r>
            <a:pPr indent="0" marL="0">
              <a:buNone/>
            </a:pPr>
            <a:r>
              <a:rPr lang="en-US" sz="1300" dirty="0">
                <a:solidFill>
                  <a:schemeClr val="bg1"/>
                </a:solidFill>
              </a:rPr>
              <a:t>dasselbe wie beim Laden der Wissensbasis.</a:t>
            </a:r>
            <a:endParaRPr lang="en-US" sz="1300" dirty="0"/>
          </a:p>
          <a:p>
            <a:pPr indent="0" marL="0">
              <a:buNone/>
            </a:pPr>
            <a:r>
              <a:rPr lang="en-US" sz="600" dirty="0">
                <a:solidFill>
                  <a:schemeClr val="tx1"/>
                </a:solidFill>
              </a:rPr>
              <a:t> </a:t>
            </a:r>
            <a:endParaRPr lang="en-US" sz="1300" dirty="0"/>
          </a:p>
          <a:p>
            <a:pPr indent="0" marL="0">
              <a:buNone/>
            </a:pPr>
            <a:r>
              <a:rPr lang="en-US" sz="1300" b="1" dirty="0">
                <a:solidFill>
                  <a:schemeClr val="accent2"/>
                </a:solidFill>
              </a:rPr>
              <a:t>Chat-Modell: bewusst vereinheitlicht, </a:t>
            </a:r>
            <a:pPr indent="0" marL="0">
              <a:buNone/>
            </a:pPr>
            <a:r>
              <a:rPr lang="en-US" sz="1300" dirty="0">
                <a:solidFill>
                  <a:schemeClr val="bg1"/>
                </a:solidFill>
              </a:rPr>
              <a:t>damit alle Testergebnisse vergleichbar bleiben. Technisch wäre ein anderes möglich.</a:t>
            </a:r>
            <a:endParaRPr lang="en-US" sz="1300" dirty="0"/>
          </a:p>
        </p:txBody>
      </p:sp>
      <p:sp>
        <p:nvSpPr>
          <p:cNvPr id="12" name="Text 7"/>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Kosten je Prüfung: Schätzung aus rund 57.000 Eingabetoken, noch keine gemessene Abrechnung</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Wissensbasis: warum RAG mit Supabase pgvector</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1"/>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Valentin</a:t>
            </a:r>
            <a:endParaRPr lang="en-US" sz="15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7863840" cy="914400"/>
        </p:xfrm>
        <a:graphic>
          <a:graphicData uri="http://schemas.openxmlformats.org/drawingml/2006/table">
            <a:tbl>
              <a:tblPr/>
              <a:tblGrid>
                <a:gridCol w="2468880"/>
                <a:gridCol w="4297680"/>
                <a:gridCol w="1097280"/>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Ansatz</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Warum (nicht)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Ergebnis</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r>
              <a:tr h="960120">
                <a:tc>
                  <a:txBody>
                    <a:bodyPr/>
                    <a:lstStyle/>
                    <a:p>
                      <a:pPr indent="0" marL="0">
                        <a:buNone/>
                      </a:pPr>
                      <a:r>
                        <a:rPr lang="en-US" sz="1300" b="1" dirty="0">
                          <a:solidFill>
                            <a:srgbClr val="2A9D8F"/>
                          </a:solidFill>
                          <a:latin typeface="Calibri" pitchFamily="34" charset="0"/>
                          <a:ea typeface="Calibri" pitchFamily="34" charset="-122"/>
                          <a:cs typeface="Calibri" pitchFamily="34" charset="-120"/>
                        </a:rPr>
                        <a:t>RAG: Regelwerke als Abschnitte in einer Vektorsuche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Jeder Befund kann seine Fundstelle nennen; neue Fassung = Knopfdruck „Wissensbasis laden“ (KBV-Liste z. B. jährlich zum 1. Januar)</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b="1" dirty="0">
                          <a:solidFill>
                            <a:srgbClr val="2A9D8F"/>
                          </a:solidFill>
                          <a:latin typeface="Calibri" pitchFamily="34" charset="0"/>
                          <a:ea typeface="Calibri" pitchFamily="34" charset="-122"/>
                          <a:cs typeface="Calibri" pitchFamily="34" charset="-120"/>
                        </a:rPr>
                        <a:t>gewählt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77724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Fine-Tuning des Modells</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Regeln ändern sich jährlich → jedes Mal neu trainieren; keine überprüfbare Fundstelle; teuer</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verworfen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64008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Gesamte Regelwerke in den Prompt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Hunderte Seiten je Prüfung → hohe Kosten und lange Wartezeit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verworfen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868680">
                <a:tc>
                  <a:txBody>
                    <a:bodyPr/>
                    <a:lstStyle/>
                    <a:p>
                      <a:pPr indent="0" marL="0">
                        <a:buNone/>
                      </a:pPr>
                      <a:r>
                        <a:rPr lang="en-US" sz="1300" b="1" dirty="0">
                          <a:solidFill>
                            <a:srgbClr val="2A9D8F"/>
                          </a:solidFill>
                          <a:latin typeface="Calibri" pitchFamily="34" charset="0"/>
                          <a:ea typeface="Calibri" pitchFamily="34" charset="-122"/>
                          <a:cs typeface="Calibri" pitchFamily="34" charset="-120"/>
                        </a:rPr>
                        <a:t>Supabase pgvector (EU, Frankfurt)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Eine Datenbank für Wissensbasis, Protokoll und künftig Historie; Zugriffsschutz auf Zeilenebene; EU-Region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b="1" dirty="0">
                          <a:solidFill>
                            <a:srgbClr val="2A9D8F"/>
                          </a:solidFill>
                          <a:latin typeface="Calibri" pitchFamily="34" charset="0"/>
                          <a:ea typeface="Calibri" pitchFamily="34" charset="-122"/>
                          <a:cs typeface="Calibri" pitchFamily="34" charset="-120"/>
                        </a:rPr>
                        <a:t>gewählt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68580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Eigenständige Vektordatenbank</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Zweites System mit eigenem Vertrag und Zugang – ohne Mehrwert bei ca. 380 Abschnitten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verworfen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bl>
          </a:graphicData>
        </a:graphic>
      </p:graphicFrame>
      <p:sp>
        <p:nvSpPr>
          <p:cNvPr id="7" name="Quellen"/>
          <p:cNvSpPr/>
          <p:nvPr/>
        </p:nvSpPr>
        <p:spPr>
          <a:xfrm>
            <a:off x="8595360" y="1325880"/>
            <a:ext cx="3044952" cy="4572000"/>
          </a:xfrm>
          <a:prstGeom prst="roundRect">
            <a:avLst>
              <a:gd name="adj" fmla="val 2402"/>
            </a:avLst>
          </a:prstGeom>
          <a:solidFill>
            <a:schemeClr val="bg2"/>
          </a:solidFill>
          <a:ln/>
        </p:spPr>
        <p:txBody>
          <a:bodyPr/>
          <a:p/>
        </p:txBody>
      </p:sp>
      <p:sp>
        <p:nvSpPr>
          <p:cNvPr id="8" name="Symbolkreis"/>
          <p:cNvSpPr/>
          <p:nvPr/>
        </p:nvSpPr>
        <p:spPr>
          <a:xfrm>
            <a:off x="8823960" y="1508760"/>
            <a:ext cx="548640" cy="548640"/>
          </a:xfrm>
          <a:prstGeom prst="ellipse">
            <a:avLst/>
          </a:prstGeom>
          <a:solidFill>
            <a:schemeClr val="accent1"/>
          </a:solidFill>
          <a:ln/>
        </p:spPr>
        <p:txBody>
          <a:bodyPr/>
          <a:p/>
        </p:txBody>
      </p:sp>
      <p:pic>
        <p:nvPicPr>
          <p:cNvPr id="9" name="Symbol" descr="preencoded.png">    </p:cNvPr>
          <p:cNvPicPr>
            <a:picLocks noChangeAspect="1"/>
          </p:cNvPicPr>
          <p:nvPr/>
        </p:nvPicPr>
        <p:blipFill>
          <a:blip r:embed="rId2"/>
          <a:stretch>
            <a:fillRect/>
          </a:stretch>
        </p:blipFill>
        <p:spPr>
          <a:xfrm>
            <a:off x="8961120" y="1645920"/>
            <a:ext cx="274320" cy="274320"/>
          </a:xfrm>
          <a:prstGeom prst="rect">
            <a:avLst/>
          </a:prstGeom>
        </p:spPr>
      </p:pic>
      <p:sp>
        <p:nvSpPr>
          <p:cNvPr id="10" name="Text 5"/>
          <p:cNvSpPr txBox="1"/>
          <p:nvPr/>
        </p:nvSpPr>
        <p:spPr>
          <a:xfrm>
            <a:off x="8823960" y="2194560"/>
            <a:ext cx="2606040" cy="68580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Nur frei zugängliche Quellen</a:t>
            </a:r>
            <a:endParaRPr lang="en-US" sz="1600" dirty="0"/>
          </a:p>
        </p:txBody>
      </p:sp>
      <p:sp>
        <p:nvSpPr>
          <p:cNvPr id="11" name="Text 6"/>
          <p:cNvSpPr txBox="1"/>
          <p:nvPr/>
        </p:nvSpPr>
        <p:spPr>
          <a:xfrm>
            <a:off x="8823960" y="2926080"/>
            <a:ext cx="2606040" cy="283464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rPr>
              <a:t>Heilmittel-Richtlinie (G-BA): 236 Abschnitte</a:t>
            </a:r>
            <a:endParaRPr lang="en-US" sz="1400" dirty="0"/>
          </a:p>
          <a:p>
            <a:pPr marL="177800" indent="-177800">
              <a:spcAft>
                <a:spcPts val="500"/>
              </a:spcAft>
              <a:buSzPct val="100000"/>
              <a:buChar char="•"/>
            </a:pPr>
            <a:r>
              <a:rPr lang="en-US" sz="1300" dirty="0">
                <a:solidFill>
                  <a:schemeClr val="tx1"/>
                </a:solidFill>
              </a:rPr>
              <a:t>Heilmittelkatalog (G-BA): 82</a:t>
            </a:r>
            <a:endParaRPr lang="en-US" sz="1400" dirty="0"/>
          </a:p>
          <a:p>
            <a:pPr marL="177800" indent="-177800">
              <a:spcAft>
                <a:spcPts val="500"/>
              </a:spcAft>
              <a:buSzPct val="100000"/>
              <a:buChar char="•"/>
            </a:pPr>
            <a:r>
              <a:rPr lang="en-US" sz="1300" dirty="0">
                <a:solidFill>
                  <a:schemeClr val="tx1"/>
                </a:solidFill>
              </a:rPr>
              <a:t>KBV-Diagnoseliste: 62</a:t>
            </a:r>
            <a:endParaRPr lang="en-US" sz="1400" dirty="0"/>
          </a:p>
          <a:p>
            <a:pPr marL="177800" indent="-177800">
              <a:spcAft>
                <a:spcPts val="500"/>
              </a:spcAft>
              <a:buSzPct val="100000"/>
              <a:buChar char="•"/>
            </a:pPr>
            <a:r>
              <a:rPr lang="en-US" sz="1300" dirty="0">
                <a:solidFill>
                  <a:schemeClr val="tx1"/>
                </a:solidFill>
              </a:rPr>
              <a:t>ICD-10-GM bewusst nicht vollständig im Repository (Nutzungsvertrag BfArM)</a:t>
            </a:r>
            <a:endParaRPr lang="en-US" sz="1400" dirty="0"/>
          </a:p>
        </p:txBody>
      </p:sp>
      <p:sp>
        <p:nvSpPr>
          <p:cNvPr id="12" name="Text 7"/>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Grenze erkannt (23.10.): Tabellen aus PDF liest das Modell unzuverlässig → KBV-Liste künftig als Tabelle im Code (Entscheidung offen)</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Drei Regelwerke: Die Suche liefert, der Code rechnet</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1"/>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Valentin</a:t>
            </a:r>
            <a:endParaRPr lang="en-US" sz="1500" dirty="0"/>
          </a:p>
        </p:txBody>
      </p:sp>
      <p:sp>
        <p:nvSpPr>
          <p:cNvPr id="6" name="Heilmittel-Richtlinie (G-BA) (Ausschnitt) Rahmen"/>
          <p:cNvSpPr/>
          <p:nvPr/>
        </p:nvSpPr>
        <p:spPr>
          <a:xfrm>
            <a:off x="572725" y="1289304"/>
            <a:ext cx="3517991" cy="2404872"/>
          </a:xfrm>
          <a:prstGeom prst="rect">
            <a:avLst/>
          </a:prstGeom>
          <a:solidFill>
            <a:srgbClr val="FFFFFF"/>
          </a:solidFill>
          <a:ln w="9525">
            <a:solidFill>
              <a:srgbClr val="C9D6D3"/>
            </a:solidFill>
            <a:prstDash val="solid"/>
          </a:ln>
          <a:effectLst>
            <a:outerShdw sx="100000" sy="100000" kx="0" ky="0" algn="bl" rotWithShape="0" blurRad="50800" dist="25400" dir="5400000">
              <a:srgbClr val="000000">
                <a:alpha val="18000"/>
              </a:srgbClr>
            </a:outerShdw>
          </a:effectLst>
        </p:spPr>
        <p:txBody>
          <a:bodyPr/>
          <a:p/>
        </p:txBody>
      </p:sp>
      <p:pic>
        <p:nvPicPr>
          <p:cNvPr id="7" name="Heilmittel-Richtlinie (G-BA) (Ausschnitt)" descr="Heilmittel-Richtlinie (G-BA) (Ausschnitt)">    </p:cNvPr>
          <p:cNvPicPr>
            <a:picLocks noChangeAspect="1"/>
          </p:cNvPicPr>
          <p:nvPr/>
        </p:nvPicPr>
        <p:blipFill>
          <a:blip r:embed="rId2"/>
          <a:stretch>
            <a:fillRect/>
          </a:stretch>
        </p:blipFill>
        <p:spPr>
          <a:xfrm>
            <a:off x="609301" y="1325880"/>
            <a:ext cx="3444839" cy="2331720"/>
          </a:xfrm>
          <a:prstGeom prst="rect">
            <a:avLst/>
          </a:prstGeom>
        </p:spPr>
      </p:pic>
      <p:sp>
        <p:nvSpPr>
          <p:cNvPr id="8" name="Text 4"/>
          <p:cNvSpPr txBox="1"/>
          <p:nvPr/>
        </p:nvSpPr>
        <p:spPr>
          <a:xfrm>
            <a:off x="548640" y="3794760"/>
            <a:ext cx="3566160" cy="32004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Heilmittel-Richtlinie (G-BA)</a:t>
            </a:r>
            <a:endParaRPr lang="en-US" sz="1500" dirty="0"/>
          </a:p>
        </p:txBody>
      </p:sp>
      <p:sp>
        <p:nvSpPr>
          <p:cNvPr id="9" name="Text 5"/>
          <p:cNvSpPr txBox="1"/>
          <p:nvPr/>
        </p:nvSpPr>
        <p:spPr>
          <a:xfrm>
            <a:off x="548640" y="4114800"/>
            <a:ext cx="3566160" cy="274320"/>
          </a:xfrm>
          <a:prstGeom prst="rect">
            <a:avLst/>
          </a:prstGeom>
          <a:noFill/>
          <a:ln/>
        </p:spPr>
        <p:txBody>
          <a:bodyPr wrap="square" lIns="0" tIns="0" rIns="0" bIns="0" rtlCol="0" anchor="t"/>
          <a:lstStyle/>
          <a:p>
            <a:pPr indent="0" marL="0">
              <a:buNone/>
            </a:pPr>
            <a:r>
              <a:rPr lang="en-US" sz="1200" dirty="0">
                <a:solidFill>
                  <a:schemeClr val="accent5"/>
                </a:solidFill>
              </a:rPr>
              <a:t>236 Abschnitte · Fassung vom 15.05.2025</a:t>
            </a:r>
            <a:endParaRPr lang="en-US" sz="1200" dirty="0"/>
          </a:p>
        </p:txBody>
      </p:sp>
      <p:sp>
        <p:nvSpPr>
          <p:cNvPr id="10" name="Im Code"/>
          <p:cNvSpPr/>
          <p:nvPr/>
        </p:nvSpPr>
        <p:spPr>
          <a:xfrm>
            <a:off x="548640" y="4480560"/>
            <a:ext cx="3566160" cy="1417320"/>
          </a:xfrm>
          <a:prstGeom prst="roundRect">
            <a:avLst>
              <a:gd name="adj" fmla="val 5161"/>
            </a:avLst>
          </a:prstGeom>
          <a:solidFill>
            <a:schemeClr val="tx2"/>
          </a:solidFill>
          <a:ln/>
        </p:spPr>
        <p:txBody>
          <a:bodyPr/>
          <a:p/>
        </p:txBody>
      </p:sp>
      <p:sp>
        <p:nvSpPr>
          <p:cNvPr id="11" name="Text 7"/>
          <p:cNvSpPr txBox="1"/>
          <p:nvPr/>
        </p:nvSpPr>
        <p:spPr>
          <a:xfrm>
            <a:off x="731520" y="4553712"/>
            <a:ext cx="3200400" cy="274320"/>
          </a:xfrm>
          <a:prstGeom prst="rect">
            <a:avLst/>
          </a:prstGeom>
          <a:noFill/>
          <a:ln/>
        </p:spPr>
        <p:txBody>
          <a:bodyPr wrap="square" lIns="0" tIns="0" rIns="0" bIns="0" rtlCol="0" anchor="t"/>
          <a:lstStyle/>
          <a:p>
            <a:pPr indent="0" marL="0">
              <a:buNone/>
            </a:pPr>
            <a:r>
              <a:rPr lang="en-US" sz="1200" b="1" dirty="0">
                <a:solidFill>
                  <a:schemeClr val="accent2"/>
                </a:solidFill>
              </a:rPr>
              <a:t>Im Code gerechnet</a:t>
            </a:r>
            <a:endParaRPr lang="en-US" sz="1200" dirty="0"/>
          </a:p>
        </p:txBody>
      </p:sp>
      <p:sp>
        <p:nvSpPr>
          <p:cNvPr id="12" name="Text 8"/>
          <p:cNvSpPr txBox="1"/>
          <p:nvPr/>
        </p:nvSpPr>
        <p:spPr>
          <a:xfrm>
            <a:off x="731520" y="4846320"/>
            <a:ext cx="3246120" cy="10058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bg1"/>
                </a:solidFill>
              </a:rPr>
              <a:t>Beginn ≤ 28 Tage, dringlich ≤ 14</a:t>
            </a:r>
            <a:endParaRPr lang="en-US" sz="1400" dirty="0"/>
          </a:p>
          <a:p>
            <a:pPr marL="177800" indent="-177800">
              <a:spcAft>
                <a:spcPts val="500"/>
              </a:spcAft>
              <a:buSzPct val="100000"/>
              <a:buChar char="•"/>
            </a:pPr>
            <a:r>
              <a:rPr lang="en-US" sz="1200" dirty="0">
                <a:solidFill>
                  <a:schemeClr val="bg1"/>
                </a:solidFill>
              </a:rPr>
              <a:t>Unterbrechung &gt; 14 Tage</a:t>
            </a:r>
            <a:endParaRPr lang="en-US" sz="1400" dirty="0"/>
          </a:p>
          <a:p>
            <a:pPr marL="177800" indent="-177800">
              <a:spcAft>
                <a:spcPts val="500"/>
              </a:spcAft>
              <a:buSzPct val="100000"/>
              <a:buChar char="•"/>
            </a:pPr>
            <a:r>
              <a:rPr lang="en-US" sz="1200" dirty="0">
                <a:solidFill>
                  <a:schemeClr val="bg1"/>
                </a:solidFill>
              </a:rPr>
              <a:t>Pflichtangaben, Verordnungsfall (§ 7)</a:t>
            </a:r>
            <a:endParaRPr lang="en-US" sz="1400" dirty="0"/>
          </a:p>
        </p:txBody>
      </p:sp>
      <p:sp>
        <p:nvSpPr>
          <p:cNvPr id="13" name="Heilmittelkatalog (G-BA) (Ausschnitt) Rahmen"/>
          <p:cNvSpPr/>
          <p:nvPr/>
        </p:nvSpPr>
        <p:spPr>
          <a:xfrm>
            <a:off x="4261104" y="1348780"/>
            <a:ext cx="3639312" cy="2345396"/>
          </a:xfrm>
          <a:prstGeom prst="rect">
            <a:avLst/>
          </a:prstGeom>
          <a:solidFill>
            <a:srgbClr val="FFFFFF"/>
          </a:solidFill>
          <a:ln w="9525">
            <a:solidFill>
              <a:srgbClr val="C9D6D3"/>
            </a:solidFill>
            <a:prstDash val="solid"/>
          </a:ln>
          <a:effectLst>
            <a:outerShdw sx="100000" sy="100000" kx="0" ky="0" algn="bl" rotWithShape="0" blurRad="50800" dist="25400" dir="5400000">
              <a:srgbClr val="000000">
                <a:alpha val="18000"/>
              </a:srgbClr>
            </a:outerShdw>
          </a:effectLst>
        </p:spPr>
        <p:txBody>
          <a:bodyPr/>
          <a:p/>
        </p:txBody>
      </p:sp>
      <p:pic>
        <p:nvPicPr>
          <p:cNvPr id="14" name="Heilmittelkatalog (G-BA) (Ausschnitt)" descr="Heilmittelkatalog (G-BA) (Ausschnitt)">    </p:cNvPr>
          <p:cNvPicPr>
            <a:picLocks noChangeAspect="1"/>
          </p:cNvPicPr>
          <p:nvPr/>
        </p:nvPicPr>
        <p:blipFill>
          <a:blip r:embed="rId3"/>
          <a:stretch>
            <a:fillRect/>
          </a:stretch>
        </p:blipFill>
        <p:spPr>
          <a:xfrm>
            <a:off x="4297680" y="1385356"/>
            <a:ext cx="3566160" cy="2272244"/>
          </a:xfrm>
          <a:prstGeom prst="rect">
            <a:avLst/>
          </a:prstGeom>
        </p:spPr>
      </p:pic>
      <p:sp>
        <p:nvSpPr>
          <p:cNvPr id="15" name="Text 10"/>
          <p:cNvSpPr txBox="1"/>
          <p:nvPr/>
        </p:nvSpPr>
        <p:spPr>
          <a:xfrm>
            <a:off x="4297680" y="3794760"/>
            <a:ext cx="3566160" cy="32004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Heilmittelkatalog (G-BA)</a:t>
            </a:r>
            <a:endParaRPr lang="en-US" sz="1500" dirty="0"/>
          </a:p>
        </p:txBody>
      </p:sp>
      <p:sp>
        <p:nvSpPr>
          <p:cNvPr id="16" name="Text 11"/>
          <p:cNvSpPr txBox="1"/>
          <p:nvPr/>
        </p:nvSpPr>
        <p:spPr>
          <a:xfrm>
            <a:off x="4297680" y="4114800"/>
            <a:ext cx="3566160" cy="274320"/>
          </a:xfrm>
          <a:prstGeom prst="rect">
            <a:avLst/>
          </a:prstGeom>
          <a:noFill/>
          <a:ln/>
        </p:spPr>
        <p:txBody>
          <a:bodyPr wrap="square" lIns="0" tIns="0" rIns="0" bIns="0" rtlCol="0" anchor="t"/>
          <a:lstStyle/>
          <a:p>
            <a:pPr indent="0" marL="0">
              <a:buNone/>
            </a:pPr>
            <a:r>
              <a:rPr lang="en-US" sz="1200" dirty="0">
                <a:solidFill>
                  <a:schemeClr val="accent5"/>
                </a:solidFill>
              </a:rPr>
              <a:t>82 Abschnitte · hier: Diagnosegruppe WS</a:t>
            </a:r>
            <a:endParaRPr lang="en-US" sz="1200" dirty="0"/>
          </a:p>
        </p:txBody>
      </p:sp>
      <p:sp>
        <p:nvSpPr>
          <p:cNvPr id="17" name="Im Code"/>
          <p:cNvSpPr/>
          <p:nvPr/>
        </p:nvSpPr>
        <p:spPr>
          <a:xfrm>
            <a:off x="4297680" y="4480560"/>
            <a:ext cx="3566160" cy="1417320"/>
          </a:xfrm>
          <a:prstGeom prst="roundRect">
            <a:avLst>
              <a:gd name="adj" fmla="val 5161"/>
            </a:avLst>
          </a:prstGeom>
          <a:solidFill>
            <a:schemeClr val="tx2"/>
          </a:solidFill>
          <a:ln/>
        </p:spPr>
        <p:txBody>
          <a:bodyPr/>
          <a:p/>
        </p:txBody>
      </p:sp>
      <p:sp>
        <p:nvSpPr>
          <p:cNvPr id="18" name="Text 13"/>
          <p:cNvSpPr txBox="1"/>
          <p:nvPr/>
        </p:nvSpPr>
        <p:spPr>
          <a:xfrm>
            <a:off x="4480560" y="4553712"/>
            <a:ext cx="3200400" cy="274320"/>
          </a:xfrm>
          <a:prstGeom prst="rect">
            <a:avLst/>
          </a:prstGeom>
          <a:noFill/>
          <a:ln/>
        </p:spPr>
        <p:txBody>
          <a:bodyPr wrap="square" lIns="0" tIns="0" rIns="0" bIns="0" rtlCol="0" anchor="t"/>
          <a:lstStyle/>
          <a:p>
            <a:pPr indent="0" marL="0">
              <a:buNone/>
            </a:pPr>
            <a:r>
              <a:rPr lang="en-US" sz="1200" b="1" dirty="0">
                <a:solidFill>
                  <a:schemeClr val="accent2"/>
                </a:solidFill>
              </a:rPr>
              <a:t>Im Code gerechnet</a:t>
            </a:r>
            <a:endParaRPr lang="en-US" sz="1200" dirty="0"/>
          </a:p>
        </p:txBody>
      </p:sp>
      <p:sp>
        <p:nvSpPr>
          <p:cNvPr id="19" name="Text 14"/>
          <p:cNvSpPr txBox="1"/>
          <p:nvPr/>
        </p:nvSpPr>
        <p:spPr>
          <a:xfrm>
            <a:off x="4480560" y="4846320"/>
            <a:ext cx="3246120" cy="10058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bg1"/>
                </a:solidFill>
              </a:rPr>
              <a:t>Höchstmenge 6 je Verordnung</a:t>
            </a:r>
            <a:endParaRPr lang="en-US" sz="1400" dirty="0"/>
          </a:p>
          <a:p>
            <a:pPr marL="177800" indent="-177800">
              <a:spcAft>
                <a:spcPts val="500"/>
              </a:spcAft>
              <a:buSzPct val="100000"/>
              <a:buChar char="•"/>
            </a:pPr>
            <a:r>
              <a:rPr lang="en-US" sz="1200" dirty="0">
                <a:solidFill>
                  <a:schemeClr val="bg1"/>
                </a:solidFill>
              </a:rPr>
              <a:t>Leitsymptomatik nur a, b, x</a:t>
            </a:r>
            <a:endParaRPr lang="en-US" sz="1400" dirty="0"/>
          </a:p>
          <a:p>
            <a:pPr marL="177800" indent="-177800">
              <a:spcAft>
                <a:spcPts val="500"/>
              </a:spcAft>
              <a:buSzPct val="100000"/>
              <a:buChar char="•"/>
            </a:pPr>
            <a:r>
              <a:rPr lang="en-US" sz="1200" dirty="0">
                <a:solidFill>
                  <a:schemeClr val="bg1"/>
                </a:solidFill>
              </a:rPr>
              <a:t>Summe nur vorrangige Heilmittel</a:t>
            </a:r>
            <a:endParaRPr lang="en-US" sz="1400" dirty="0"/>
          </a:p>
        </p:txBody>
      </p:sp>
      <p:sp>
        <p:nvSpPr>
          <p:cNvPr id="20" name="KBV-Diagnoseliste (Ausschnitt) Rahmen"/>
          <p:cNvSpPr/>
          <p:nvPr/>
        </p:nvSpPr>
        <p:spPr>
          <a:xfrm>
            <a:off x="8010144" y="1421120"/>
            <a:ext cx="3639312" cy="2273056"/>
          </a:xfrm>
          <a:prstGeom prst="rect">
            <a:avLst/>
          </a:prstGeom>
          <a:solidFill>
            <a:srgbClr val="FFFFFF"/>
          </a:solidFill>
          <a:ln w="9525">
            <a:solidFill>
              <a:srgbClr val="C9D6D3"/>
            </a:solidFill>
            <a:prstDash val="solid"/>
          </a:ln>
          <a:effectLst>
            <a:outerShdw sx="100000" sy="100000" kx="0" ky="0" algn="bl" rotWithShape="0" blurRad="50800" dist="25400" dir="5400000">
              <a:srgbClr val="000000">
                <a:alpha val="18000"/>
              </a:srgbClr>
            </a:outerShdw>
          </a:effectLst>
        </p:spPr>
        <p:txBody>
          <a:bodyPr/>
          <a:p/>
        </p:txBody>
      </p:sp>
      <p:pic>
        <p:nvPicPr>
          <p:cNvPr id="21" name="KBV-Diagnoseliste (Ausschnitt)" descr="KBV-Diagnoseliste (Ausschnitt)">    </p:cNvPr>
          <p:cNvPicPr>
            <a:picLocks noChangeAspect="1"/>
          </p:cNvPicPr>
          <p:nvPr/>
        </p:nvPicPr>
        <p:blipFill>
          <a:blip r:embed="rId4"/>
          <a:stretch>
            <a:fillRect/>
          </a:stretch>
        </p:blipFill>
        <p:spPr>
          <a:xfrm>
            <a:off x="8046720" y="1457696"/>
            <a:ext cx="3566160" cy="2199904"/>
          </a:xfrm>
          <a:prstGeom prst="rect">
            <a:avLst/>
          </a:prstGeom>
        </p:spPr>
      </p:pic>
      <p:sp>
        <p:nvSpPr>
          <p:cNvPr id="22" name="Text 16"/>
          <p:cNvSpPr txBox="1"/>
          <p:nvPr/>
        </p:nvSpPr>
        <p:spPr>
          <a:xfrm>
            <a:off x="8046720" y="3794760"/>
            <a:ext cx="3566160" cy="32004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KBV-Diagnoseliste</a:t>
            </a:r>
            <a:endParaRPr lang="en-US" sz="1500" dirty="0"/>
          </a:p>
        </p:txBody>
      </p:sp>
      <p:sp>
        <p:nvSpPr>
          <p:cNvPr id="23" name="Text 17"/>
          <p:cNvSpPr txBox="1"/>
          <p:nvPr/>
        </p:nvSpPr>
        <p:spPr>
          <a:xfrm>
            <a:off x="8046720" y="4114800"/>
            <a:ext cx="3566160" cy="274320"/>
          </a:xfrm>
          <a:prstGeom prst="rect">
            <a:avLst/>
          </a:prstGeom>
          <a:noFill/>
          <a:ln/>
        </p:spPr>
        <p:txBody>
          <a:bodyPr wrap="square" lIns="0" tIns="0" rIns="0" bIns="0" rtlCol="0" anchor="t"/>
          <a:lstStyle/>
          <a:p>
            <a:pPr indent="0" marL="0">
              <a:buNone/>
            </a:pPr>
            <a:r>
              <a:rPr lang="en-US" sz="1200" dirty="0">
                <a:solidFill>
                  <a:schemeClr val="accent5"/>
                </a:solidFill>
              </a:rPr>
              <a:t>62 Abschnitte · hier: S. 12, M75.1 nur bei EX</a:t>
            </a:r>
            <a:endParaRPr lang="en-US" sz="1200" dirty="0"/>
          </a:p>
        </p:txBody>
      </p:sp>
      <p:sp>
        <p:nvSpPr>
          <p:cNvPr id="24" name="Im Code"/>
          <p:cNvSpPr/>
          <p:nvPr/>
        </p:nvSpPr>
        <p:spPr>
          <a:xfrm>
            <a:off x="8046720" y="4480560"/>
            <a:ext cx="3566160" cy="1417320"/>
          </a:xfrm>
          <a:prstGeom prst="roundRect">
            <a:avLst>
              <a:gd name="adj" fmla="val 5161"/>
            </a:avLst>
          </a:prstGeom>
          <a:solidFill>
            <a:schemeClr val="accent3"/>
          </a:solidFill>
          <a:ln/>
        </p:spPr>
        <p:txBody>
          <a:bodyPr/>
          <a:p/>
        </p:txBody>
      </p:sp>
      <p:sp>
        <p:nvSpPr>
          <p:cNvPr id="25" name="Text 19"/>
          <p:cNvSpPr txBox="1"/>
          <p:nvPr/>
        </p:nvSpPr>
        <p:spPr>
          <a:xfrm>
            <a:off x="8229600" y="4553712"/>
            <a:ext cx="3200400" cy="274320"/>
          </a:xfrm>
          <a:prstGeom prst="rect">
            <a:avLst/>
          </a:prstGeom>
          <a:noFill/>
          <a:ln/>
        </p:spPr>
        <p:txBody>
          <a:bodyPr wrap="square" lIns="0" tIns="0" rIns="0" bIns="0" rtlCol="0" anchor="t"/>
          <a:lstStyle/>
          <a:p>
            <a:pPr indent="0" marL="0">
              <a:buNone/>
            </a:pPr>
            <a:r>
              <a:rPr lang="en-US" sz="1200" b="1" dirty="0">
                <a:solidFill>
                  <a:schemeClr val="bg1"/>
                </a:solidFill>
              </a:rPr>
              <a:t>Offen</a:t>
            </a:r>
            <a:endParaRPr lang="en-US" sz="1200" dirty="0"/>
          </a:p>
        </p:txBody>
      </p:sp>
      <p:sp>
        <p:nvSpPr>
          <p:cNvPr id="26" name="Text 20"/>
          <p:cNvSpPr txBox="1"/>
          <p:nvPr/>
        </p:nvSpPr>
        <p:spPr>
          <a:xfrm>
            <a:off x="8229600" y="4846320"/>
            <a:ext cx="3246120" cy="10058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bg1"/>
                </a:solidFill>
              </a:rPr>
              <a:t>Heute: Modell liest die Tabelle, findet den Eintrag, wertet ihn aber falsch</a:t>
            </a:r>
            <a:endParaRPr lang="en-US" sz="1400" dirty="0"/>
          </a:p>
          <a:p>
            <a:pPr marL="177800" indent="-177800">
              <a:spcAft>
                <a:spcPts val="500"/>
              </a:spcAft>
              <a:buSzPct val="100000"/>
              <a:buChar char="•"/>
            </a:pPr>
            <a:r>
              <a:rPr lang="en-US" sz="1200" dirty="0">
                <a:solidFill>
                  <a:schemeClr val="bg1"/>
                </a:solidFill>
              </a:rPr>
              <a:t>Geplant: Teil 1 als Tabelle im Code</a:t>
            </a:r>
            <a:endParaRPr lang="en-US" sz="1400" dirty="0"/>
          </a:p>
        </p:txBody>
      </p:sp>
      <p:sp>
        <p:nvSpPr>
          <p:cNvPr id="27" name="Text 21"/>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Ausschnitte aus den Originalen: G-BA, HeilM-RL (zuletzt geändert 15.05.2025) und Heilmittelkatalog S. 61; KBV, Diagnoseliste Heilmittel S. 12 · alle frei zugänglich</a:t>
            </a:r>
            <a:endParaRPr lang="en-US" sz="1000" dirty="0"/>
          </a:p>
        </p:txBody>
      </p:sp>
      <p:sp>
        <p:nvSpPr>
          <p:cNvPr id="28"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400" b="1" dirty="0">
                <a:solidFill>
                  <a:schemeClr val="tx2"/>
                </a:solidFill>
                <a:latin typeface="Cambria" pitchFamily="34" charset="0"/>
                <a:ea typeface="Cambria" pitchFamily="34" charset="-122"/>
                <a:cs typeface="Cambria" pitchFamily="34" charset="-120"/>
              </a:rPr>
              <a:t>Eingabekanal und Gesamtkosten (Total Cost of Ownership – TCO)</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1"/>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Valentin</a:t>
            </a:r>
            <a:endParaRPr lang="en-US" sz="15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7863840" cy="3154680"/>
        </p:xfrm>
        <a:graphic>
          <a:graphicData uri="http://schemas.openxmlformats.org/drawingml/2006/table">
            <a:tbl>
              <a:tblPr/>
              <a:tblGrid>
                <a:gridCol w="2011680"/>
                <a:gridCol w="1280160"/>
                <a:gridCol w="3108960"/>
                <a:gridCol w="1463040"/>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Kanal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Stand</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Bewertung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lgn="r">
                        <a:buNone/>
                      </a:pPr>
                      <a:r>
                        <a:rPr lang="en-US" sz="1300" b="1" dirty="0">
                          <a:solidFill>
                            <a:srgbClr val="FFFFFF"/>
                          </a:solidFill>
                          <a:latin typeface="Calibri" pitchFamily="34" charset="0"/>
                          <a:ea typeface="Calibri" pitchFamily="34" charset="-122"/>
                          <a:cs typeface="Calibri" pitchFamily="34" charset="-120"/>
                        </a:rPr>
                        <a:t>Kosten pro Jahr</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r>
              <a:tr h="548640">
                <a:tc>
                  <a:txBody>
                    <a:bodyPr/>
                    <a:lstStyle/>
                    <a:p>
                      <a:pPr indent="0" marL="0">
                        <a:buNone/>
                      </a:pPr>
                      <a:r>
                        <a:rPr lang="en-US" sz="1300" b="1" dirty="0">
                          <a:solidFill>
                            <a:srgbClr val="2A9D8F"/>
                          </a:solidFill>
                          <a:latin typeface="Calibri" pitchFamily="34" charset="0"/>
                          <a:ea typeface="Calibri" pitchFamily="34" charset="-122"/>
                          <a:cs typeface="Calibri" pitchFamily="34" charset="-120"/>
                        </a:rPr>
                        <a:t>Formular (Muster 13)</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umgesetzt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Strukturiert, keine Lesefehler; Patientendaten vor dem Modell ersetzt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lgn="r">
                        <a:buNone/>
                      </a:pPr>
                      <a:r>
                        <a:rPr lang="en-US" sz="1500" dirty="0" b="1">
                          <a:solidFill>
                            <a:srgbClr val="2A9D8F"/>
                          </a:solidFill>
                          <a:latin typeface="Calibri" pitchFamily="34" charset="0"/>
                          <a:ea typeface="Calibri" pitchFamily="34" charset="-122"/>
                          <a:cs typeface="Calibri" pitchFamily="34" charset="-120"/>
                        </a:rPr>
                        <a:t>1.680 €</a:t>
                      </a:r>
                      <a:endParaRPr lang="en-US" sz="1300" dirty="0">
                        <a:latin typeface="Calibri" charset="0"/>
                        <a:ea typeface="Calibri" charset="0"/>
                        <a:cs typeface="Calibri" charset="0"/>
                      </a:endParaRPr>
                    </a:p>
                    <a:p>
                      <a:pPr indent="0" marL="0" algn="r">
                        <a:buNone/>
                      </a:pPr>
                      <a:r>
                        <a:rPr lang="en-US" sz="1000" dirty="0" b="0">
                          <a:solidFill>
                            <a:srgbClr val="1B2B30"/>
                          </a:solidFill>
                          <a:latin typeface="Calibri" pitchFamily="34" charset="0"/>
                          <a:ea typeface="Calibri" pitchFamily="34" charset="-122"/>
                          <a:cs typeface="Calibri" pitchFamily="34" charset="-120"/>
                        </a:rPr>
                        <a:t>Eingabe 1,5 min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548640">
                <a:tc>
                  <a:txBody>
                    <a:bodyPr/>
                    <a:lstStyle/>
                    <a:p>
                      <a:pPr indent="0" marL="0">
                        <a:buNone/>
                      </a:pPr>
                      <a:r>
                        <a:rPr lang="en-US" sz="1300" b="1" dirty="0">
                          <a:solidFill>
                            <a:srgbClr val="2A9D8F"/>
                          </a:solidFill>
                          <a:latin typeface="Calibri" pitchFamily="34" charset="0"/>
                          <a:ea typeface="Calibri" pitchFamily="34" charset="-122"/>
                          <a:cs typeface="Calibri" pitchFamily="34" charset="-120"/>
                        </a:rPr>
                        <a:t>Chat (Text oder JSON)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umgesetzt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Schnell für Rückfragen; Freitext braucht Extraktion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lgn="r">
                        <a:buNone/>
                      </a:pPr>
                      <a:r>
                        <a:rPr lang="en-US" sz="1500" dirty="0" b="1">
                          <a:solidFill>
                            <a:srgbClr val="1B2B30"/>
                          </a:solidFill>
                          <a:latin typeface="Calibri" pitchFamily="34" charset="0"/>
                          <a:ea typeface="Calibri" pitchFamily="34" charset="-122"/>
                          <a:cs typeface="Calibri" pitchFamily="34" charset="-120"/>
                        </a:rPr>
                        <a:t>2.054 €</a:t>
                      </a:r>
                      <a:endParaRPr lang="en-US" sz="1300" dirty="0">
                        <a:latin typeface="Calibri" charset="0"/>
                        <a:ea typeface="Calibri" charset="0"/>
                        <a:cs typeface="Calibri" charset="0"/>
                      </a:endParaRPr>
                    </a:p>
                    <a:p>
                      <a:pPr indent="0" marL="0" algn="r">
                        <a:buNone/>
                      </a:pPr>
                      <a:r>
                        <a:rPr lang="en-US" sz="1000" dirty="0" b="0">
                          <a:solidFill>
                            <a:srgbClr val="1B2B30"/>
                          </a:solidFill>
                          <a:latin typeface="Calibri" pitchFamily="34" charset="0"/>
                          <a:ea typeface="Calibri" pitchFamily="34" charset="-122"/>
                          <a:cs typeface="Calibri" pitchFamily="34" charset="-120"/>
                        </a:rPr>
                        <a:t>Eingabe 2 min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54864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Foto + Vision-KI</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Prototyp, noch nicht getestet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Schnellste Eingabe, aber Lesefehler möglich</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lgn="r">
                        <a:buNone/>
                      </a:pPr>
                      <a:r>
                        <a:rPr lang="en-US" sz="1500" dirty="0" b="1">
                          <a:solidFill>
                            <a:srgbClr val="1B2B30"/>
                          </a:solidFill>
                          <a:latin typeface="Calibri" pitchFamily="34" charset="0"/>
                          <a:ea typeface="Calibri" pitchFamily="34" charset="-122"/>
                          <a:cs typeface="Calibri" pitchFamily="34" charset="-120"/>
                        </a:rPr>
                        <a:t>983 €</a:t>
                      </a:r>
                      <a:endParaRPr lang="en-US" sz="1300" dirty="0">
                        <a:latin typeface="Calibri" charset="0"/>
                        <a:ea typeface="Calibri" charset="0"/>
                        <a:cs typeface="Calibri" charset="0"/>
                      </a:endParaRPr>
                    </a:p>
                    <a:p>
                      <a:pPr indent="0" marL="0" algn="r">
                        <a:buNone/>
                      </a:pPr>
                      <a:r>
                        <a:rPr lang="en-US" sz="1000" dirty="0" b="0">
                          <a:solidFill>
                            <a:srgbClr val="1B2B30"/>
                          </a:solidFill>
                          <a:latin typeface="Calibri" pitchFamily="34" charset="0"/>
                          <a:ea typeface="Calibri" pitchFamily="34" charset="-122"/>
                          <a:cs typeface="Calibri" pitchFamily="34" charset="-120"/>
                        </a:rPr>
                        <a:t>Eingabe 0,5 min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54864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Scan + OCR, E-Mail, Messenger</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verworfen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Scan nur mit Scanner am Empfang; Messenger: Gesundheitsdaten bei Meta</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lgn="r">
                        <a:buNone/>
                      </a:pPr>
                      <a:r>
                        <a:rPr lang="en-US" sz="1500" dirty="0" b="1">
                          <a:solidFill>
                            <a:srgbClr val="1B2B30"/>
                          </a:solidFill>
                          <a:latin typeface="Calibri" pitchFamily="34" charset="0"/>
                          <a:ea typeface="Calibri" pitchFamily="34" charset="-122"/>
                          <a:cs typeface="Calibri" pitchFamily="34" charset="-120"/>
                        </a:rPr>
                        <a:t>823 €</a:t>
                      </a:r>
                      <a:endParaRPr lang="en-US" sz="1300" dirty="0">
                        <a:latin typeface="Calibri" charset="0"/>
                        <a:ea typeface="Calibri" charset="0"/>
                        <a:cs typeface="Calibri" charset="0"/>
                      </a:endParaRPr>
                    </a:p>
                    <a:p>
                      <a:pPr indent="0" marL="0" algn="r">
                        <a:buNone/>
                      </a:pPr>
                      <a:r>
                        <a:rPr lang="en-US" sz="1000" dirty="0" b="0">
                          <a:solidFill>
                            <a:srgbClr val="1B2B30"/>
                          </a:solidFill>
                          <a:latin typeface="Calibri" pitchFamily="34" charset="0"/>
                          <a:ea typeface="Calibri" pitchFamily="34" charset="-122"/>
                          <a:cs typeface="Calibri" pitchFamily="34" charset="-120"/>
                        </a:rPr>
                        <a:t>Scan, Eingabe 0,3 min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54864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Praxissoftware /</a:t>
                      </a:r>
                      <a:br>
                        <a:rPr lang="en-US" sz="1300" b="1" dirty="0">
                          <a:solidFill>
                            <a:srgbClr val="1B2B30"/>
                          </a:solidFill>
                          <a:latin typeface="Calibri" pitchFamily="34" charset="0"/>
                          <a:ea typeface="Calibri" pitchFamily="34" charset="-122"/>
                          <a:cs typeface="Calibri" pitchFamily="34" charset="-120"/>
                        </a:rPr>
                      </a:br>
                      <a:r>
                        <a:rPr lang="en-US" sz="1300" b="1" dirty="0">
                          <a:solidFill>
                            <a:srgbClr val="1B2B30"/>
                          </a:solidFill>
                          <a:latin typeface="Calibri" pitchFamily="34" charset="0"/>
                          <a:ea typeface="Calibri" pitchFamily="34" charset="-122"/>
                          <a:cs typeface="Calibri" pitchFamily="34" charset="-120"/>
                        </a:rPr>
                        <a:t>E-Verordnung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Ausblick</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Beste Lösung, keine Eingabe; Schnittstelle zur Praxissoftware nötig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lgn="r">
                        <a:buNone/>
                      </a:pPr>
                      <a:r>
                        <a:rPr lang="en-US" sz="1500" dirty="0" b="1">
                          <a:solidFill>
                            <a:srgbClr val="1B2B30"/>
                          </a:solidFill>
                          <a:latin typeface="Calibri" pitchFamily="34" charset="0"/>
                          <a:ea typeface="Calibri" pitchFamily="34" charset="-122"/>
                          <a:cs typeface="Calibri" pitchFamily="34" charset="-120"/>
                        </a:rPr>
                        <a:t>offen</a:t>
                      </a:r>
                      <a:endParaRPr lang="en-US" sz="1300" dirty="0">
                        <a:latin typeface="Calibri" charset="0"/>
                        <a:ea typeface="Calibri" charset="0"/>
                        <a:cs typeface="Calibri" charset="0"/>
                      </a:endParaRPr>
                    </a:p>
                    <a:p>
                      <a:pPr indent="0" marL="0" algn="r">
                        <a:buNone/>
                      </a:pPr>
                      <a:r>
                        <a:rPr lang="en-US" sz="1000" dirty="0" b="0">
                          <a:solidFill>
                            <a:srgbClr val="1B2B30"/>
                          </a:solidFill>
                          <a:latin typeface="Calibri" pitchFamily="34" charset="0"/>
                          <a:ea typeface="Calibri" pitchFamily="34" charset="-122"/>
                          <a:cs typeface="Calibri" pitchFamily="34" charset="-120"/>
                        </a:rPr>
                        <a:t>Schnittstelle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bl>
          </a:graphicData>
        </a:graphic>
      </p:graphicFrame>
      <p:sp>
        <p:nvSpPr>
          <p:cNvPr id="9" name="TCO"/>
          <p:cNvSpPr/>
          <p:nvPr/>
        </p:nvSpPr>
        <p:spPr>
          <a:xfrm>
            <a:off x="8595360" y="1325880"/>
            <a:ext cx="3044952" cy="4572000"/>
          </a:xfrm>
          <a:prstGeom prst="roundRect">
            <a:avLst>
              <a:gd name="adj" fmla="val 2402"/>
            </a:avLst>
          </a:prstGeom>
          <a:solidFill>
            <a:schemeClr val="tx2"/>
          </a:solidFill>
          <a:ln/>
        </p:spPr>
        <p:txBody>
          <a:bodyPr/>
          <a:p/>
        </p:txBody>
      </p:sp>
      <p:sp>
        <p:nvSpPr>
          <p:cNvPr id="10" name="Text 6"/>
          <p:cNvSpPr txBox="1"/>
          <p:nvPr/>
        </p:nvSpPr>
        <p:spPr>
          <a:xfrm>
            <a:off x="8823960" y="1463040"/>
            <a:ext cx="2606040" cy="365760"/>
          </a:xfrm>
          <a:prstGeom prst="rect">
            <a:avLst/>
          </a:prstGeom>
          <a:noFill/>
          <a:ln/>
        </p:spPr>
        <p:txBody>
          <a:bodyPr wrap="square" lIns="0" tIns="0" rIns="0" bIns="0" rtlCol="0" anchor="t"/>
          <a:lstStyle/>
          <a:p>
            <a:pPr indent="0" marL="0">
              <a:buNone/>
            </a:pPr>
            <a:r>
              <a:rPr lang="en-US" sz="1600" b="1" dirty="0">
                <a:solidFill>
                  <a:schemeClr val="bg1"/>
                </a:solidFill>
                <a:latin typeface="Cambria" pitchFamily="34" charset="0"/>
                <a:ea typeface="Cambria" pitchFamily="34" charset="-122"/>
                <a:cs typeface="Cambria" pitchFamily="34" charset="-120"/>
              </a:rPr>
              <a:t>Woraus die Kosten bestehen</a:t>
            </a:r>
            <a:endParaRPr lang="en-US" sz="1600" dirty="0"/>
          </a:p>
        </p:txBody>
      </p:sp>
      <p:sp>
        <p:nvSpPr>
          <p:cNvPr id="11" name="Text 7"/>
          <p:cNvSpPr txBox="1"/>
          <p:nvPr/>
        </p:nvSpPr>
        <p:spPr>
          <a:xfrm>
            <a:off x="8823960" y="1965960"/>
            <a:ext cx="2606040" cy="274320"/>
          </a:xfrm>
          <a:prstGeom prst="rect">
            <a:avLst/>
          </a:prstGeom>
          <a:noFill/>
          <a:ln/>
        </p:spPr>
        <p:txBody>
          <a:bodyPr wrap="square" lIns="0" tIns="0" rIns="0" bIns="0" rtlCol="0" anchor="t"/>
          <a:lstStyle/>
          <a:p>
            <a:pPr indent="0" marL="0">
              <a:buNone/>
            </a:pPr>
            <a:r>
              <a:rPr lang="en-US" sz="1200" dirty="0">
                <a:solidFill>
                  <a:schemeClr val="bg2"/>
                </a:solidFill>
              </a:rPr>
              <a:t>KI-Kosten, je nach Kanal</a:t>
            </a:r>
            <a:endParaRPr lang="en-US" sz="1200" dirty="0"/>
          </a:p>
        </p:txBody>
      </p:sp>
      <p:sp>
        <p:nvSpPr>
          <p:cNvPr id="12" name="Text 8"/>
          <p:cNvSpPr txBox="1"/>
          <p:nvPr/>
        </p:nvSpPr>
        <p:spPr>
          <a:xfrm>
            <a:off x="8823960" y="2221992"/>
            <a:ext cx="2606040" cy="502920"/>
          </a:xfrm>
          <a:prstGeom prst="rect">
            <a:avLst/>
          </a:prstGeom>
          <a:noFill/>
          <a:ln/>
        </p:spPr>
        <p:txBody>
          <a:bodyPr wrap="square" lIns="0" tIns="0" rIns="0" bIns="0" rtlCol="0" anchor="t"/>
          <a:lstStyle/>
          <a:p>
            <a:pPr indent="0" marL="0">
              <a:buNone/>
            </a:pPr>
            <a:r>
              <a:rPr lang="en-US" sz="2400" b="1" dirty="0">
                <a:solidFill>
                  <a:schemeClr val="accent2"/>
                </a:solidFill>
                <a:latin typeface="Cambria" pitchFamily="34" charset="0"/>
                <a:ea typeface="Cambria" pitchFamily="34" charset="-122"/>
                <a:cs typeface="Cambria" pitchFamily="34" charset="-120"/>
              </a:rPr>
              <a:t>70–142 € / Jahr</a:t>
            </a:r>
            <a:endParaRPr lang="en-US" sz="2400" dirty="0"/>
          </a:p>
        </p:txBody>
      </p:sp>
      <p:sp>
        <p:nvSpPr>
          <p:cNvPr id="13" name="Text 9"/>
          <p:cNvSpPr txBox="1"/>
          <p:nvPr/>
        </p:nvSpPr>
        <p:spPr>
          <a:xfrm>
            <a:off x="8823960" y="2834640"/>
            <a:ext cx="2606040" cy="274320"/>
          </a:xfrm>
          <a:prstGeom prst="rect">
            <a:avLst/>
          </a:prstGeom>
          <a:noFill/>
          <a:ln/>
        </p:spPr>
        <p:txBody>
          <a:bodyPr wrap="square" lIns="0" tIns="0" rIns="0" bIns="0" rtlCol="0" anchor="t"/>
          <a:lstStyle/>
          <a:p>
            <a:pPr indent="0" marL="0">
              <a:buNone/>
            </a:pPr>
            <a:r>
              <a:rPr lang="en-US" sz="1200" dirty="0">
                <a:solidFill>
                  <a:schemeClr val="bg2"/>
                </a:solidFill>
              </a:rPr>
              <a:t>Plattform (n8n, Supabase), für alle gleich</a:t>
            </a:r>
            <a:endParaRPr lang="en-US" sz="1200" dirty="0"/>
          </a:p>
        </p:txBody>
      </p:sp>
      <p:sp>
        <p:nvSpPr>
          <p:cNvPr id="14" name="Text 10"/>
          <p:cNvSpPr txBox="1"/>
          <p:nvPr/>
        </p:nvSpPr>
        <p:spPr>
          <a:xfrm>
            <a:off x="8823960" y="3090672"/>
            <a:ext cx="2606040" cy="502920"/>
          </a:xfrm>
          <a:prstGeom prst="rect">
            <a:avLst/>
          </a:prstGeom>
          <a:noFill/>
          <a:ln/>
        </p:spPr>
        <p:txBody>
          <a:bodyPr wrap="square" lIns="0" tIns="0" rIns="0" bIns="0" rtlCol="0" anchor="t"/>
          <a:lstStyle/>
          <a:p>
            <a:pPr indent="0" marL="0">
              <a:buNone/>
            </a:pPr>
            <a:r>
              <a:rPr lang="en-US" sz="2400" b="1" dirty="0">
                <a:solidFill>
                  <a:schemeClr val="accent2"/>
                </a:solidFill>
                <a:latin typeface="Cambria" pitchFamily="34" charset="0"/>
                <a:ea typeface="Cambria" pitchFamily="34" charset="-122"/>
                <a:cs typeface="Cambria" pitchFamily="34" charset="-120"/>
              </a:rPr>
              <a:t>520 € / Jahr</a:t>
            </a:r>
            <a:endParaRPr lang="en-US" sz="2400" dirty="0"/>
          </a:p>
        </p:txBody>
      </p:sp>
      <p:sp>
        <p:nvSpPr>
          <p:cNvPr id="13" name="Text 9"/>
          <p:cNvSpPr txBox="1"/>
          <p:nvPr/>
        </p:nvSpPr>
        <p:spPr>
          <a:xfrm>
            <a:off x="8823960" y="3703320"/>
            <a:ext cx="2606040" cy="274320"/>
          </a:xfrm>
          <a:prstGeom prst="rect">
            <a:avLst/>
          </a:prstGeom>
          <a:noFill/>
          <a:ln/>
        </p:spPr>
        <p:txBody>
          <a:bodyPr wrap="square" lIns="0" tIns="0" rIns="0" bIns="0" rtlCol="0" anchor="t"/>
          <a:lstStyle/>
          <a:p>
            <a:pPr indent="0" marL="0">
              <a:buNone/>
            </a:pPr>
            <a:r>
              <a:rPr lang="en-US" sz="1200" dirty="0">
                <a:solidFill>
                  <a:schemeClr val="bg2"/>
                </a:solidFill>
              </a:rPr>
              <a:t>Eingabezeit der Rezeption</a:t>
            </a:r>
            <a:endParaRPr lang="en-US" sz="1200" dirty="0"/>
          </a:p>
        </p:txBody>
      </p:sp>
      <p:sp>
        <p:nvSpPr>
          <p:cNvPr id="14" name="Text 10"/>
          <p:cNvSpPr txBox="1"/>
          <p:nvPr/>
        </p:nvSpPr>
        <p:spPr>
          <a:xfrm>
            <a:off x="8823960" y="3959352"/>
            <a:ext cx="2606040" cy="502920"/>
          </a:xfrm>
          <a:prstGeom prst="rect">
            <a:avLst/>
          </a:prstGeom>
          <a:noFill/>
          <a:ln/>
        </p:spPr>
        <p:txBody>
          <a:bodyPr wrap="square" lIns="0" tIns="0" rIns="0" bIns="0" rtlCol="0" anchor="t"/>
          <a:lstStyle/>
          <a:p>
            <a:pPr indent="0" marL="0">
              <a:buNone/>
            </a:pPr>
            <a:r>
              <a:rPr lang="en-US" sz="2400" b="1" dirty="0">
                <a:solidFill>
                  <a:srgbClr val="E76F51"/>
                </a:solidFill>
                <a:latin typeface="Cambria" pitchFamily="34" charset="0"/>
                <a:ea typeface="Cambria" pitchFamily="34" charset="-122"/>
                <a:cs typeface="Cambria" pitchFamily="34" charset="-120"/>
              </a:rPr>
              <a:t>218–1.454 € / Jahr</a:t>
            </a:r>
            <a:endParaRPr lang="en-US" sz="2400" dirty="0"/>
          </a:p>
        </p:txBody>
      </p:sp>
      <p:sp>
        <p:nvSpPr>
          <p:cNvPr id="15" name="Text 11"/>
          <p:cNvSpPr txBox="1"/>
          <p:nvPr/>
        </p:nvSpPr>
        <p:spPr>
          <a:xfrm>
            <a:off x="8823960" y="4736592"/>
            <a:ext cx="2606040" cy="822960"/>
          </a:xfrm>
          <a:prstGeom prst="rect">
            <a:avLst/>
          </a:prstGeom>
          <a:noFill/>
          <a:ln/>
        </p:spPr>
        <p:txBody>
          <a:bodyPr wrap="square" lIns="0" tIns="0" rIns="0" bIns="0" rtlCol="0" anchor="t"/>
          <a:lstStyle/>
          <a:p>
            <a:pPr indent="0" marL="0">
              <a:buNone/>
            </a:pPr>
            <a:r>
              <a:rPr lang="en-US" sz="1400" b="1" dirty="0">
                <a:solidFill>
                  <a:schemeClr val="bg1"/>
                </a:solidFill>
              </a:rPr>
              <a:t>Die Eingabezeit der Rezeption bestimmt die Kosten, nicht die KI.</a:t>
            </a:r>
            <a:endParaRPr lang="en-US" sz="1400" dirty="0"/>
          </a:p>
        </p:txBody>
      </p:sp>
      <p:sp>
        <p:nvSpPr>
          <p:cNvPr id="26" name="Text 12"/>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Basis: 40 Verordnungen pro Woche, ca. 2.080 im Jahr · Eingabezeit zu 20,97 €/h (Folie 9); Eingabezeiten sind Annahmen, im Pilot zu messen · Plattform: n8n Starter und Supabase Pro · ohne einmalige Einrichtung · TCO vom 19.10.2026, Plattformpreise abgerufen am 27.10.2026</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15</a:t>
            </a:fld>
            <a:endParaRPr lang="en-US"/>
          </a:p>
        </p:txBody>
      </p:sp>
      <p:sp>
        <p:nvSpPr>
          <p:cNvPr id="26" name="Text 12"/>
          <p:cNvSpPr txBox="1"/>
          <p:nvPr/>
        </p:nvSpPr>
        <p:spPr>
          <a:xfrm>
            <a:off x="548640" y="4709160"/>
            <a:ext cx="7863840" cy="640080"/>
          </a:xfrm>
          <a:prstGeom prst="rect">
            <a:avLst/>
          </a:prstGeom>
          <a:noFill/>
          <a:ln/>
        </p:spPr>
        <p:txBody>
          <a:bodyPr wrap="square" lIns="0" tIns="0" rIns="0" bIns="0" rtlCol="0" anchor="t"/>
          <a:lstStyle/>
          <a:p>
            <a:pPr indent="0" marL="0">
              <a:buNone/>
            </a:pPr>
            <a:r>
              <a:rPr lang="en-US" sz="1300" i="0" dirty="0" b="1">
                <a:solidFill>
                  <a:srgbClr val="143D3B"/>
                </a:solidFill>
              </a:rPr>
              <a:t>Warum das Formular und nicht der günstigste Kanal? </a:t>
            </a:r>
            <a:r>
              <a:rPr lang="en-US" sz="1300" i="0" dirty="0" b="0">
                <a:solidFill>
                  <a:srgbClr val="143D3B"/>
                </a:solidFill>
              </a:rPr>
              <a:t>Keine Lesefehler, und die Patientendaten werden ersetzt, bevor das Modell sie sieht. Qualität und Datenschutz gehen vor rund 700 € im Jahr. Foto und Scan sind der nächste Schritt.</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Architektur: Regeln rechnet der Code, Sprache das Modell</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1"/>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Valentin</a:t>
            </a:r>
            <a:endParaRPr lang="en-US" sz="1500" dirty="0"/>
          </a:p>
        </p:txBody>
      </p:sp>
      <p:sp>
        <p:nvSpPr>
          <p:cNvPr id="6" name="Schritt Eingang"/>
          <p:cNvSpPr/>
          <p:nvPr/>
        </p:nvSpPr>
        <p:spPr>
          <a:xfrm>
            <a:off x="548640" y="1325880"/>
            <a:ext cx="2011680" cy="1720000"/>
          </a:xfrm>
          <a:prstGeom prst="roundRect">
            <a:avLst>
              <a:gd name="adj" fmla="val 3636"/>
            </a:avLst>
          </a:prstGeom>
          <a:solidFill>
            <a:schemeClr val="bg2"/>
          </a:solidFill>
          <a:ln/>
        </p:spPr>
        <p:txBody>
          <a:bodyPr/>
          <a:p/>
        </p:txBody>
      </p:sp>
      <p:sp>
        <p:nvSpPr>
          <p:cNvPr id="7" name="Symbolkreis"/>
          <p:cNvSpPr/>
          <p:nvPr/>
        </p:nvSpPr>
        <p:spPr>
          <a:xfrm>
            <a:off x="731520" y="1463040"/>
            <a:ext cx="548640" cy="548640"/>
          </a:xfrm>
          <a:prstGeom prst="ellipse">
            <a:avLst/>
          </a:prstGeom>
          <a:solidFill>
            <a:schemeClr val="accent1"/>
          </a:solidFill>
          <a:ln/>
        </p:spPr>
        <p:txBody>
          <a:bodyPr/>
          <a:p/>
        </p:txBody>
      </p:sp>
      <p:pic>
        <p:nvPicPr>
          <p:cNvPr id="8" name="Symbol" descr="preencoded.png">    </p:cNvPr>
          <p:cNvPicPr>
            <a:picLocks noChangeAspect="1"/>
          </p:cNvPicPr>
          <p:nvPr/>
        </p:nvPicPr>
        <p:blipFill>
          <a:blip r:embed="rId2"/>
          <a:stretch>
            <a:fillRect/>
          </a:stretch>
        </p:blipFill>
        <p:spPr>
          <a:xfrm>
            <a:off x="868680" y="1600200"/>
            <a:ext cx="274320" cy="274320"/>
          </a:xfrm>
          <a:prstGeom prst="rect">
            <a:avLst/>
          </a:prstGeom>
        </p:spPr>
      </p:pic>
      <p:sp>
        <p:nvSpPr>
          <p:cNvPr id="9" name="Text 5"/>
          <p:cNvSpPr txBox="1"/>
          <p:nvPr/>
        </p:nvSpPr>
        <p:spPr>
          <a:xfrm>
            <a:off x="1371600" y="1463040"/>
            <a:ext cx="1097280" cy="548640"/>
          </a:xfrm>
          <a:prstGeom prst="rect">
            <a:avLst/>
          </a:prstGeom>
          <a:noFill/>
          <a:ln/>
        </p:spPr>
        <p:txBody>
          <a:bodyPr wrap="square" lIns="0" tIns="0" rIns="0" bIns="0" rtlCol="0" anchor="ctr"/>
          <a:lstStyle/>
          <a:p>
            <a:pPr indent="0" marL="0">
              <a:buNone/>
            </a:pPr>
            <a:r>
              <a:rPr lang="en-US" sz="1600" b="1" dirty="0">
                <a:solidFill>
                  <a:schemeClr val="tx2"/>
                </a:solidFill>
              </a:rPr>
              <a:t>Eingang</a:t>
            </a:r>
            <a:endParaRPr lang="en-US" sz="1600" dirty="0"/>
          </a:p>
        </p:txBody>
      </p:sp>
      <p:sp>
        <p:nvSpPr>
          <p:cNvPr id="10" name="Text 6"/>
          <p:cNvSpPr txBox="1"/>
          <p:nvPr/>
        </p:nvSpPr>
        <p:spPr>
          <a:xfrm>
            <a:off x="731520" y="2100000"/>
            <a:ext cx="1691640" cy="900000"/>
          </a:xfrm>
          <a:prstGeom prst="rect">
            <a:avLst/>
          </a:prstGeom>
          <a:noFill/>
          <a:ln/>
        </p:spPr>
        <p:txBody>
          <a:bodyPr wrap="square" lIns="0" tIns="0" rIns="0" bIns="0" rtlCol="0" anchor="t"/>
          <a:lstStyle/>
          <a:p>
            <a:pPr indent="0" marL="0">
              <a:buNone/>
            </a:pPr>
            <a:r>
              <a:rPr lang="en-US" sz="1300" dirty="0">
                <a:solidFill>
                  <a:schemeClr val="tx1"/>
                </a:solidFill>
              </a:rPr>
              <a:t>Formular oder Chat</a:t>
            </a:r>
            <a:endParaRPr lang="en-US" sz="1300" dirty="0"/>
          </a:p>
        </p:txBody>
      </p:sp>
      <p:sp>
        <p:nvSpPr>
          <p:cNvPr id="11" name="Pfeil"/>
          <p:cNvSpPr/>
          <p:nvPr/>
        </p:nvSpPr>
        <p:spPr>
          <a:xfrm rot="5400000">
            <a:off x="2569464" y="2112000"/>
            <a:ext cx="237744" cy="146304"/>
          </a:xfrm>
          <a:prstGeom prst="triangle">
            <a:avLst/>
          </a:prstGeom>
          <a:solidFill>
            <a:schemeClr val="accent5"/>
          </a:solidFill>
          <a:ln/>
        </p:spPr>
        <p:txBody>
          <a:bodyPr/>
          <a:p/>
        </p:txBody>
      </p:sp>
      <p:sp>
        <p:nvSpPr>
          <p:cNvPr id="12" name="Schritt Erfassen"/>
          <p:cNvSpPr/>
          <p:nvPr/>
        </p:nvSpPr>
        <p:spPr>
          <a:xfrm>
            <a:off x="2811780" y="1325880"/>
            <a:ext cx="2011680" cy="1720000"/>
          </a:xfrm>
          <a:prstGeom prst="roundRect">
            <a:avLst>
              <a:gd name="adj" fmla="val 3636"/>
            </a:avLst>
          </a:prstGeom>
          <a:solidFill>
            <a:schemeClr val="bg2"/>
          </a:solidFill>
          <a:ln/>
        </p:spPr>
        <p:txBody>
          <a:bodyPr/>
          <a:p/>
        </p:txBody>
      </p:sp>
      <p:sp>
        <p:nvSpPr>
          <p:cNvPr id="13" name="Symbolkreis"/>
          <p:cNvSpPr/>
          <p:nvPr/>
        </p:nvSpPr>
        <p:spPr>
          <a:xfrm>
            <a:off x="2994660" y="1463040"/>
            <a:ext cx="548640" cy="548640"/>
          </a:xfrm>
          <a:prstGeom prst="ellipse">
            <a:avLst/>
          </a:prstGeom>
          <a:solidFill>
            <a:schemeClr val="accent1"/>
          </a:solidFill>
          <a:ln/>
        </p:spPr>
        <p:txBody>
          <a:bodyPr/>
          <a:p/>
        </p:txBody>
      </p:sp>
      <p:pic>
        <p:nvPicPr>
          <p:cNvPr id="14" name="Symbol" descr="preencoded.png">    </p:cNvPr>
          <p:cNvPicPr>
            <a:picLocks noChangeAspect="1"/>
          </p:cNvPicPr>
          <p:nvPr/>
        </p:nvPicPr>
        <p:blipFill>
          <a:blip r:embed="rId3"/>
          <a:stretch>
            <a:fillRect/>
          </a:stretch>
        </p:blipFill>
        <p:spPr>
          <a:xfrm>
            <a:off x="3131820" y="1600200"/>
            <a:ext cx="274320" cy="274320"/>
          </a:xfrm>
          <a:prstGeom prst="rect">
            <a:avLst/>
          </a:prstGeom>
        </p:spPr>
      </p:pic>
      <p:sp>
        <p:nvSpPr>
          <p:cNvPr id="15" name="Text 10"/>
          <p:cNvSpPr txBox="1"/>
          <p:nvPr/>
        </p:nvSpPr>
        <p:spPr>
          <a:xfrm>
            <a:off x="3634740" y="1463040"/>
            <a:ext cx="1097280" cy="548640"/>
          </a:xfrm>
          <a:prstGeom prst="rect">
            <a:avLst/>
          </a:prstGeom>
          <a:noFill/>
          <a:ln/>
        </p:spPr>
        <p:txBody>
          <a:bodyPr wrap="square" lIns="0" tIns="0" rIns="0" bIns="0" rtlCol="0" anchor="ctr"/>
          <a:lstStyle/>
          <a:p>
            <a:pPr indent="0" marL="0">
              <a:buNone/>
            </a:pPr>
            <a:r>
              <a:rPr lang="en-US" sz="1600" b="1" dirty="0">
                <a:solidFill>
                  <a:schemeClr val="tx2"/>
                </a:solidFill>
              </a:rPr>
              <a:t>Erfassen</a:t>
            </a:r>
            <a:endParaRPr lang="en-US" sz="1600" dirty="0"/>
          </a:p>
        </p:txBody>
      </p:sp>
      <p:sp>
        <p:nvSpPr>
          <p:cNvPr id="16" name="Text 11"/>
          <p:cNvSpPr txBox="1"/>
          <p:nvPr/>
        </p:nvSpPr>
        <p:spPr>
          <a:xfrm>
            <a:off x="2994660" y="2100000"/>
            <a:ext cx="1691640" cy="900000"/>
          </a:xfrm>
          <a:prstGeom prst="rect">
            <a:avLst/>
          </a:prstGeom>
          <a:noFill/>
          <a:ln/>
        </p:spPr>
        <p:txBody>
          <a:bodyPr wrap="square" lIns="0" tIns="0" rIns="0" bIns="0" rtlCol="0" anchor="t"/>
          <a:lstStyle/>
          <a:p>
            <a:pPr indent="0" marL="0">
              <a:buNone/>
            </a:pPr>
            <a:r>
              <a:rPr lang="en-US" sz="1300" dirty="0">
                <a:solidFill>
                  <a:schemeClr val="tx1"/>
                </a:solidFill>
              </a:rPr>
              <a:t>Patientendaten ersetzen, Angaben ins Schema (Hinweis unten)</a:t>
            </a:r>
            <a:endParaRPr lang="en-US" sz="1300" dirty="0"/>
          </a:p>
        </p:txBody>
      </p:sp>
      <p:sp>
        <p:nvSpPr>
          <p:cNvPr id="17" name="Pfeil"/>
          <p:cNvSpPr/>
          <p:nvPr/>
        </p:nvSpPr>
        <p:spPr>
          <a:xfrm rot="5400000">
            <a:off x="4832604" y="2112000"/>
            <a:ext cx="237744" cy="146304"/>
          </a:xfrm>
          <a:prstGeom prst="triangle">
            <a:avLst/>
          </a:prstGeom>
          <a:solidFill>
            <a:schemeClr val="accent5"/>
          </a:solidFill>
          <a:ln/>
        </p:spPr>
        <p:txBody>
          <a:bodyPr/>
          <a:p/>
        </p:txBody>
      </p:sp>
      <p:sp>
        <p:nvSpPr>
          <p:cNvPr id="18" name="Schritt Fakten"/>
          <p:cNvSpPr/>
          <p:nvPr/>
        </p:nvSpPr>
        <p:spPr>
          <a:xfrm>
            <a:off x="5074920" y="1325880"/>
            <a:ext cx="2011680" cy="1720000"/>
          </a:xfrm>
          <a:prstGeom prst="roundRect">
            <a:avLst>
              <a:gd name="adj" fmla="val 3636"/>
            </a:avLst>
          </a:prstGeom>
          <a:solidFill>
            <a:schemeClr val="tx2"/>
          </a:solidFill>
          <a:ln/>
        </p:spPr>
        <p:txBody>
          <a:bodyPr/>
          <a:p/>
        </p:txBody>
      </p:sp>
      <p:sp>
        <p:nvSpPr>
          <p:cNvPr id="19" name="Symbolkreis"/>
          <p:cNvSpPr/>
          <p:nvPr/>
        </p:nvSpPr>
        <p:spPr>
          <a:xfrm>
            <a:off x="5257800" y="1463040"/>
            <a:ext cx="548640" cy="548640"/>
          </a:xfrm>
          <a:prstGeom prst="ellipse">
            <a:avLst/>
          </a:prstGeom>
          <a:solidFill>
            <a:schemeClr val="accent2"/>
          </a:solidFill>
          <a:ln/>
        </p:spPr>
        <p:txBody>
          <a:bodyPr/>
          <a:p/>
        </p:txBody>
      </p:sp>
      <p:pic>
        <p:nvPicPr>
          <p:cNvPr id="20" name="Symbol" descr="preencoded.png">    </p:cNvPr>
          <p:cNvPicPr>
            <a:picLocks noChangeAspect="1"/>
          </p:cNvPicPr>
          <p:nvPr/>
        </p:nvPicPr>
        <p:blipFill>
          <a:blip r:embed="rId4"/>
          <a:stretch>
            <a:fillRect/>
          </a:stretch>
        </p:blipFill>
        <p:spPr>
          <a:xfrm>
            <a:off x="5394960" y="1600200"/>
            <a:ext cx="274320" cy="274320"/>
          </a:xfrm>
          <a:prstGeom prst="rect">
            <a:avLst/>
          </a:prstGeom>
        </p:spPr>
      </p:pic>
      <p:sp>
        <p:nvSpPr>
          <p:cNvPr id="21" name="Text 15"/>
          <p:cNvSpPr txBox="1"/>
          <p:nvPr/>
        </p:nvSpPr>
        <p:spPr>
          <a:xfrm>
            <a:off x="5897880" y="1463040"/>
            <a:ext cx="1097280" cy="548640"/>
          </a:xfrm>
          <a:prstGeom prst="rect">
            <a:avLst/>
          </a:prstGeom>
          <a:noFill/>
          <a:ln/>
        </p:spPr>
        <p:txBody>
          <a:bodyPr wrap="square" lIns="0" tIns="0" rIns="0" bIns="0" rtlCol="0" anchor="ctr"/>
          <a:lstStyle/>
          <a:p>
            <a:pPr indent="0" marL="0">
              <a:buNone/>
            </a:pPr>
            <a:r>
              <a:rPr lang="en-US" sz="1600" b="1" dirty="0">
                <a:solidFill>
                  <a:schemeClr val="bg1"/>
                </a:solidFill>
              </a:rPr>
              <a:t>Fakten</a:t>
            </a:r>
            <a:endParaRPr lang="en-US" sz="1600" dirty="0"/>
          </a:p>
        </p:txBody>
      </p:sp>
      <p:sp>
        <p:nvSpPr>
          <p:cNvPr id="22" name="Text 16"/>
          <p:cNvSpPr txBox="1"/>
          <p:nvPr/>
        </p:nvSpPr>
        <p:spPr>
          <a:xfrm>
            <a:off x="5257800" y="2100000"/>
            <a:ext cx="1691640" cy="900000"/>
          </a:xfrm>
          <a:prstGeom prst="rect">
            <a:avLst/>
          </a:prstGeom>
          <a:noFill/>
          <a:ln/>
        </p:spPr>
        <p:txBody>
          <a:bodyPr wrap="square" lIns="0" tIns="0" rIns="0" bIns="0" rtlCol="0" anchor="t"/>
          <a:lstStyle/>
          <a:p>
            <a:pPr indent="0" marL="0">
              <a:buNone/>
            </a:pPr>
            <a:r>
              <a:rPr lang="en-US" sz="1300" dirty="0">
                <a:solidFill>
                  <a:schemeClr val="bg1"/>
                </a:solidFill>
              </a:rPr>
              <a:t>Fristen, Formate, ICD → Gruppe, Leitsymptomatik, Summen</a:t>
            </a:r>
            <a:endParaRPr lang="en-US" sz="1300" dirty="0"/>
          </a:p>
        </p:txBody>
      </p:sp>
      <p:sp>
        <p:nvSpPr>
          <p:cNvPr id="23" name="Pfeil"/>
          <p:cNvSpPr/>
          <p:nvPr/>
        </p:nvSpPr>
        <p:spPr>
          <a:xfrm rot="5400000">
            <a:off x="7095744" y="2112000"/>
            <a:ext cx="237744" cy="146304"/>
          </a:xfrm>
          <a:prstGeom prst="triangle">
            <a:avLst/>
          </a:prstGeom>
          <a:solidFill>
            <a:schemeClr val="accent5"/>
          </a:solidFill>
          <a:ln/>
        </p:spPr>
        <p:txBody>
          <a:bodyPr/>
          <a:p/>
        </p:txBody>
      </p:sp>
      <p:sp>
        <p:nvSpPr>
          <p:cNvPr id="24" name="Schritt 4 Prüfer"/>
          <p:cNvSpPr/>
          <p:nvPr/>
        </p:nvSpPr>
        <p:spPr>
          <a:xfrm>
            <a:off x="7338060" y="1325880"/>
            <a:ext cx="2011680" cy="1720000"/>
          </a:xfrm>
          <a:prstGeom prst="roundRect">
            <a:avLst>
              <a:gd name="adj" fmla="val 3636"/>
            </a:avLst>
          </a:prstGeom>
          <a:solidFill>
            <a:schemeClr val="bg2"/>
          </a:solidFill>
          <a:ln/>
        </p:spPr>
        <p:txBody>
          <a:bodyPr/>
          <a:p/>
        </p:txBody>
      </p:sp>
      <p:sp>
        <p:nvSpPr>
          <p:cNvPr id="25" name="Symbolkreis"/>
          <p:cNvSpPr/>
          <p:nvPr/>
        </p:nvSpPr>
        <p:spPr>
          <a:xfrm>
            <a:off x="7520940" y="1463040"/>
            <a:ext cx="548640" cy="548640"/>
          </a:xfrm>
          <a:prstGeom prst="ellipse">
            <a:avLst/>
          </a:prstGeom>
          <a:solidFill>
            <a:schemeClr val="accent1"/>
          </a:solidFill>
          <a:ln/>
        </p:spPr>
        <p:txBody>
          <a:bodyPr/>
          <a:p/>
        </p:txBody>
      </p:sp>
      <p:pic>
        <p:nvPicPr>
          <p:cNvPr id="26" name="Symbol" descr="preencoded.png">    </p:cNvPr>
          <p:cNvPicPr>
            <a:picLocks noChangeAspect="1"/>
          </p:cNvPicPr>
          <p:nvPr/>
        </p:nvPicPr>
        <p:blipFill>
          <a:blip r:embed="rId5"/>
          <a:stretch>
            <a:fillRect/>
          </a:stretch>
        </p:blipFill>
        <p:spPr>
          <a:xfrm>
            <a:off x="7658100" y="1600200"/>
            <a:ext cx="274320" cy="274320"/>
          </a:xfrm>
          <a:prstGeom prst="rect">
            <a:avLst/>
          </a:prstGeom>
        </p:spPr>
      </p:pic>
      <p:sp>
        <p:nvSpPr>
          <p:cNvPr id="27" name="Text 20"/>
          <p:cNvSpPr txBox="1"/>
          <p:nvPr/>
        </p:nvSpPr>
        <p:spPr>
          <a:xfrm>
            <a:off x="8161020" y="1463040"/>
            <a:ext cx="1097280" cy="548640"/>
          </a:xfrm>
          <a:prstGeom prst="rect">
            <a:avLst/>
          </a:prstGeom>
          <a:noFill/>
          <a:ln/>
        </p:spPr>
        <p:txBody>
          <a:bodyPr wrap="square" lIns="0" tIns="0" rIns="0" bIns="0" rtlCol="0" anchor="ctr"/>
          <a:lstStyle/>
          <a:p>
            <a:pPr indent="0" marL="0">
              <a:buNone/>
            </a:pPr>
            <a:r>
              <a:rPr lang="en-US" sz="1600" b="1" dirty="0">
                <a:solidFill>
                  <a:schemeClr val="tx2"/>
                </a:solidFill>
              </a:rPr>
              <a:t>4 Prüfer</a:t>
            </a:r>
            <a:endParaRPr lang="en-US" sz="1600" dirty="0"/>
          </a:p>
        </p:txBody>
      </p:sp>
      <p:sp>
        <p:nvSpPr>
          <p:cNvPr id="28" name="Text 21"/>
          <p:cNvSpPr txBox="1"/>
          <p:nvPr/>
        </p:nvSpPr>
        <p:spPr>
          <a:xfrm>
            <a:off x="7520940" y="2100000"/>
            <a:ext cx="1691640" cy="900000"/>
          </a:xfrm>
          <a:prstGeom prst="rect">
            <a:avLst/>
          </a:prstGeom>
          <a:noFill/>
          <a:ln/>
        </p:spPr>
        <p:txBody>
          <a:bodyPr wrap="square" lIns="0" tIns="0" rIns="0" bIns="0" rtlCol="0" anchor="t"/>
          <a:lstStyle/>
          <a:p>
            <a:pPr indent="0" marL="0">
              <a:buNone/>
            </a:pPr>
            <a:r>
              <a:rPr lang="en-US" sz="1300" dirty="0">
                <a:solidFill>
                  <a:schemeClr val="tx1"/>
                </a:solidFill>
              </a:rPr>
              <a:t>Formal · Diagnose · Mengen · Fristen</a:t>
            </a:r>
            <a:endParaRPr lang="en-US" sz="1300" dirty="0"/>
          </a:p>
        </p:txBody>
      </p:sp>
      <p:sp>
        <p:nvSpPr>
          <p:cNvPr id="29" name="Pfeil"/>
          <p:cNvSpPr/>
          <p:nvPr/>
        </p:nvSpPr>
        <p:spPr>
          <a:xfrm rot="5400000">
            <a:off x="9358884" y="2112000"/>
            <a:ext cx="237744" cy="146304"/>
          </a:xfrm>
          <a:prstGeom prst="triangle">
            <a:avLst/>
          </a:prstGeom>
          <a:solidFill>
            <a:schemeClr val="accent5"/>
          </a:solidFill>
          <a:ln/>
        </p:spPr>
        <p:txBody>
          <a:bodyPr/>
          <a:p/>
        </p:txBody>
      </p:sp>
      <p:sp>
        <p:nvSpPr>
          <p:cNvPr id="30" name="Schritt Ampel"/>
          <p:cNvSpPr/>
          <p:nvPr/>
        </p:nvSpPr>
        <p:spPr>
          <a:xfrm>
            <a:off x="9601200" y="1325880"/>
            <a:ext cx="2011680" cy="1720000"/>
          </a:xfrm>
          <a:prstGeom prst="roundRect">
            <a:avLst>
              <a:gd name="adj" fmla="val 3636"/>
            </a:avLst>
          </a:prstGeom>
          <a:solidFill>
            <a:schemeClr val="tx2"/>
          </a:solidFill>
          <a:ln/>
        </p:spPr>
        <p:txBody>
          <a:bodyPr/>
          <a:p/>
        </p:txBody>
      </p:sp>
      <p:sp>
        <p:nvSpPr>
          <p:cNvPr id="31" name="Symbolkreis"/>
          <p:cNvSpPr/>
          <p:nvPr/>
        </p:nvSpPr>
        <p:spPr>
          <a:xfrm>
            <a:off x="9784080" y="1463040"/>
            <a:ext cx="548640" cy="548640"/>
          </a:xfrm>
          <a:prstGeom prst="ellipse">
            <a:avLst/>
          </a:prstGeom>
          <a:solidFill>
            <a:schemeClr val="accent2"/>
          </a:solidFill>
          <a:ln/>
        </p:spPr>
        <p:txBody>
          <a:bodyPr/>
          <a:p/>
        </p:txBody>
      </p:sp>
      <p:pic>
        <p:nvPicPr>
          <p:cNvPr id="32" name="Symbol" descr="preencoded.png">    </p:cNvPr>
          <p:cNvPicPr>
            <a:picLocks noChangeAspect="1"/>
          </p:cNvPicPr>
          <p:nvPr/>
        </p:nvPicPr>
        <p:blipFill>
          <a:blip r:embed="rId6"/>
          <a:stretch>
            <a:fillRect/>
          </a:stretch>
        </p:blipFill>
        <p:spPr>
          <a:xfrm>
            <a:off x="9921240" y="1600200"/>
            <a:ext cx="274320" cy="274320"/>
          </a:xfrm>
          <a:prstGeom prst="rect">
            <a:avLst/>
          </a:prstGeom>
        </p:spPr>
      </p:pic>
      <p:sp>
        <p:nvSpPr>
          <p:cNvPr id="33" name="Text 25"/>
          <p:cNvSpPr txBox="1"/>
          <p:nvPr/>
        </p:nvSpPr>
        <p:spPr>
          <a:xfrm>
            <a:off x="10424160" y="1463040"/>
            <a:ext cx="1097280" cy="548640"/>
          </a:xfrm>
          <a:prstGeom prst="rect">
            <a:avLst/>
          </a:prstGeom>
          <a:noFill/>
          <a:ln/>
        </p:spPr>
        <p:txBody>
          <a:bodyPr wrap="square" lIns="0" tIns="0" rIns="0" bIns="0" rtlCol="0" anchor="ctr"/>
          <a:lstStyle/>
          <a:p>
            <a:pPr indent="0" marL="0">
              <a:buNone/>
            </a:pPr>
            <a:r>
              <a:rPr lang="en-US" sz="1600" b="1" dirty="0">
                <a:solidFill>
                  <a:schemeClr val="bg1"/>
                </a:solidFill>
              </a:rPr>
              <a:t>Ampel</a:t>
            </a:r>
            <a:endParaRPr lang="en-US" sz="1600" dirty="0"/>
          </a:p>
        </p:txBody>
      </p:sp>
      <p:sp>
        <p:nvSpPr>
          <p:cNvPr id="34" name="Text 26"/>
          <p:cNvSpPr txBox="1"/>
          <p:nvPr/>
        </p:nvSpPr>
        <p:spPr>
          <a:xfrm>
            <a:off x="9784080" y="2100000"/>
            <a:ext cx="1691640" cy="900000"/>
          </a:xfrm>
          <a:prstGeom prst="rect">
            <a:avLst/>
          </a:prstGeom>
          <a:noFill/>
          <a:ln/>
        </p:spPr>
        <p:txBody>
          <a:bodyPr wrap="square" lIns="0" tIns="0" rIns="0" bIns="0" rtlCol="0" anchor="t"/>
          <a:lstStyle/>
          <a:p>
            <a:pPr indent="0" marL="0">
              <a:buNone/>
            </a:pPr>
            <a:r>
              <a:rPr lang="en-US" sz="1300" dirty="0">
                <a:solidFill>
                  <a:schemeClr val="bg1"/>
                </a:solidFill>
              </a:rPr>
              <a:t>grün / gelb / rot, Protokoll</a:t>
            </a:r>
            <a:endParaRPr lang="en-US" sz="1300" dirty="0"/>
          </a:p>
        </p:txBody>
      </p:sp>
      <p:sp>
        <p:nvSpPr>
          <p:cNvPr id="35" name="Text 27"/>
          <p:cNvSpPr txBox="1"/>
          <p:nvPr/>
        </p:nvSpPr>
        <p:spPr>
          <a:xfrm>
            <a:off x="548640" y="3095000"/>
            <a:ext cx="7315200" cy="274320"/>
          </a:xfrm>
          <a:prstGeom prst="rect">
            <a:avLst/>
          </a:prstGeom>
          <a:noFill/>
          <a:ln/>
        </p:spPr>
        <p:txBody>
          <a:bodyPr wrap="square" lIns="0" tIns="0" rIns="0" bIns="0" rtlCol="0" anchor="t"/>
          <a:lstStyle/>
          <a:p>
            <a:pPr indent="0" marL="0">
              <a:buNone/>
            </a:pPr>
            <a:r>
              <a:rPr lang="en-US" sz="1100" i="1" dirty="0">
                <a:solidFill>
                  <a:schemeClr val="accent5"/>
                </a:solidFill>
              </a:rPr>
              <a:t>Dunkel = Code (deterministisch, getestet) · hell = Sprachmodell</a:t>
            </a:r>
            <a:endParaRPr lang="en-US" sz="1100" dirty="0"/>
          </a:p>
        </p:txBody>
      </p:sp>
      <p:sp>
        <p:nvSpPr>
          <p:cNvPr id="36" name="Stack"/>
          <p:cNvSpPr/>
          <p:nvPr/>
        </p:nvSpPr>
        <p:spPr>
          <a:xfrm>
            <a:off x="548640" y="4590000"/>
            <a:ext cx="5394960" cy="1610000"/>
          </a:xfrm>
          <a:prstGeom prst="roundRect">
            <a:avLst>
              <a:gd name="adj" fmla="val 3556"/>
            </a:avLst>
          </a:prstGeom>
          <a:solidFill>
            <a:schemeClr val="bg2"/>
          </a:solidFill>
          <a:ln/>
        </p:spPr>
        <p:txBody>
          <a:bodyPr/>
          <a:p/>
        </p:txBody>
      </p:sp>
      <p:sp>
        <p:nvSpPr>
          <p:cNvPr id="37" name="Symbolkreis"/>
          <p:cNvSpPr/>
          <p:nvPr/>
        </p:nvSpPr>
        <p:spPr>
          <a:xfrm>
            <a:off x="777240" y="4727160"/>
            <a:ext cx="502920" cy="502920"/>
          </a:xfrm>
          <a:prstGeom prst="ellipse">
            <a:avLst/>
          </a:prstGeom>
          <a:solidFill>
            <a:schemeClr val="accent1"/>
          </a:solidFill>
          <a:ln/>
        </p:spPr>
        <p:txBody>
          <a:bodyPr/>
          <a:p/>
        </p:txBody>
      </p:sp>
      <p:pic>
        <p:nvPicPr>
          <p:cNvPr id="38" name="Symbol" descr="preencoded.png">    </p:cNvPr>
          <p:cNvPicPr>
            <a:picLocks noChangeAspect="1"/>
          </p:cNvPicPr>
          <p:nvPr/>
        </p:nvPicPr>
        <p:blipFill>
          <a:blip r:embed="rId7"/>
          <a:stretch>
            <a:fillRect/>
          </a:stretch>
        </p:blipFill>
        <p:spPr>
          <a:xfrm>
            <a:off x="902970" y="4852890"/>
            <a:ext cx="251460" cy="251460"/>
          </a:xfrm>
          <a:prstGeom prst="rect">
            <a:avLst/>
          </a:prstGeom>
        </p:spPr>
      </p:pic>
      <p:sp>
        <p:nvSpPr>
          <p:cNvPr id="39" name="Text 30"/>
          <p:cNvSpPr txBox="1"/>
          <p:nvPr/>
        </p:nvSpPr>
        <p:spPr>
          <a:xfrm>
            <a:off x="1417320" y="4727160"/>
            <a:ext cx="2743200" cy="502920"/>
          </a:xfrm>
          <a:prstGeom prst="rect">
            <a:avLst/>
          </a:prstGeom>
          <a:noFill/>
          <a:ln/>
        </p:spPr>
        <p:txBody>
          <a:bodyPr wrap="square" lIns="0" tIns="0" rIns="0" bIns="0" rtlCol="0" anchor="ctr"/>
          <a:lstStyle/>
          <a:p>
            <a:pPr indent="0" marL="0">
              <a:buNone/>
            </a:pPr>
            <a:r>
              <a:rPr lang="en-US" sz="1600" b="1" dirty="0">
                <a:solidFill>
                  <a:schemeClr val="tx2"/>
                </a:solidFill>
              </a:rPr>
              <a:t>Stack</a:t>
            </a:r>
            <a:endParaRPr lang="en-US" sz="1600" dirty="0"/>
          </a:p>
        </p:txBody>
      </p:sp>
      <p:sp>
        <p:nvSpPr>
          <p:cNvPr id="40" name="Text 31"/>
          <p:cNvSpPr txBox="1"/>
          <p:nvPr/>
        </p:nvSpPr>
        <p:spPr>
          <a:xfrm>
            <a:off x="777240" y="5260000"/>
            <a:ext cx="4937760" cy="90000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chemeClr val="tx1"/>
                </a:solidFill>
              </a:rPr>
              <a:t>n8n Cloud: Workflow, Formular, Chat</a:t>
            </a:r>
            <a:endParaRPr lang="en-US" sz="1400" dirty="0"/>
          </a:p>
          <a:p>
            <a:pPr marL="177800" indent="-177800">
              <a:spcAft>
                <a:spcPts val="300"/>
              </a:spcAft>
              <a:buSzPct val="100000"/>
              <a:buChar char="•"/>
            </a:pPr>
            <a:r>
              <a:rPr lang="en-US" sz="1200" dirty="0">
                <a:solidFill>
                  <a:schemeClr val="tx1"/>
                </a:solidFill>
              </a:rPr>
              <a:t>OpenAI gpt-4.1-mini, text-embedding-3-small</a:t>
            </a:r>
            <a:endParaRPr lang="en-US" sz="1400" dirty="0"/>
          </a:p>
          <a:p>
            <a:pPr marL="177800" indent="-177800">
              <a:spcAft>
                <a:spcPts val="300"/>
              </a:spcAft>
              <a:buSzPct val="100000"/>
              <a:buChar char="•"/>
            </a:pPr>
            <a:r>
              <a:rPr lang="en-US" sz="1200" dirty="0">
                <a:solidFill>
                  <a:schemeClr val="tx1"/>
                </a:solidFill>
              </a:rPr>
              <a:t>Supabase (Frankfurt): Wissensbasis, Protokoll</a:t>
            </a:r>
            <a:endParaRPr lang="en-US" sz="1400" dirty="0"/>
          </a:p>
          <a:p>
            <a:pPr marL="177800" indent="-177800">
              <a:spcAft>
                <a:spcPts val="300"/>
              </a:spcAft>
              <a:buSzPct val="100000"/>
              <a:buChar char="•"/>
            </a:pPr>
            <a:r>
              <a:rPr lang="en-US" sz="1200" dirty="0">
                <a:solidFill>
                  <a:schemeClr val="tx1"/>
                </a:solidFill>
              </a:rPr>
              <a:t>GitHub: Exporte, Tests, Doku</a:t>
            </a:r>
            <a:endParaRPr lang="en-US" sz="1400" dirty="0"/>
          </a:p>
        </p:txBody>
      </p:sp>
      <p:sp>
        <p:nvSpPr>
          <p:cNvPr id="41" name="Leitsatz"/>
          <p:cNvSpPr/>
          <p:nvPr/>
        </p:nvSpPr>
        <p:spPr>
          <a:xfrm>
            <a:off x="6126480" y="4590000"/>
            <a:ext cx="5513832" cy="1610000"/>
          </a:xfrm>
          <a:prstGeom prst="roundRect">
            <a:avLst>
              <a:gd name="adj" fmla="val 3556"/>
            </a:avLst>
          </a:prstGeom>
          <a:solidFill>
            <a:schemeClr val="tx2"/>
          </a:solidFill>
          <a:ln/>
        </p:spPr>
        <p:txBody>
          <a:bodyPr/>
          <a:p/>
        </p:txBody>
      </p:sp>
      <p:sp>
        <p:nvSpPr>
          <p:cNvPr id="42" name="Symbolkreis"/>
          <p:cNvSpPr/>
          <p:nvPr/>
        </p:nvSpPr>
        <p:spPr>
          <a:xfrm>
            <a:off x="6355080" y="4727160"/>
            <a:ext cx="502920" cy="502920"/>
          </a:xfrm>
          <a:prstGeom prst="ellipse">
            <a:avLst/>
          </a:prstGeom>
          <a:solidFill>
            <a:schemeClr val="accent2"/>
          </a:solidFill>
          <a:ln/>
        </p:spPr>
        <p:txBody>
          <a:bodyPr/>
          <a:p/>
        </p:txBody>
      </p:sp>
      <p:pic>
        <p:nvPicPr>
          <p:cNvPr id="43" name="Symbol" descr="preencoded.png">    </p:cNvPr>
          <p:cNvPicPr>
            <a:picLocks noChangeAspect="1"/>
          </p:cNvPicPr>
          <p:nvPr/>
        </p:nvPicPr>
        <p:blipFill>
          <a:blip r:embed="rId8"/>
          <a:stretch>
            <a:fillRect/>
          </a:stretch>
        </p:blipFill>
        <p:spPr>
          <a:xfrm>
            <a:off x="6480810" y="4852890"/>
            <a:ext cx="251460" cy="251460"/>
          </a:xfrm>
          <a:prstGeom prst="rect">
            <a:avLst/>
          </a:prstGeom>
        </p:spPr>
      </p:pic>
      <p:sp>
        <p:nvSpPr>
          <p:cNvPr id="44" name="Text 34"/>
          <p:cNvSpPr txBox="1"/>
          <p:nvPr/>
        </p:nvSpPr>
        <p:spPr>
          <a:xfrm>
            <a:off x="6995160" y="4727160"/>
            <a:ext cx="4389120" cy="502920"/>
          </a:xfrm>
          <a:prstGeom prst="rect">
            <a:avLst/>
          </a:prstGeom>
          <a:noFill/>
          <a:ln/>
        </p:spPr>
        <p:txBody>
          <a:bodyPr wrap="square" lIns="0" tIns="0" rIns="0" bIns="0" rtlCol="0" anchor="ctr"/>
          <a:lstStyle/>
          <a:p>
            <a:pPr indent="0" marL="0">
              <a:buNone/>
            </a:pPr>
            <a:r>
              <a:rPr lang="en-US" sz="1600" b="1" dirty="0">
                <a:solidFill>
                  <a:schemeClr val="bg1"/>
                </a:solidFill>
              </a:rPr>
              <a:t>Leitsatz aus der Evaluation</a:t>
            </a:r>
            <a:endParaRPr lang="en-US" sz="1600" dirty="0"/>
          </a:p>
        </p:txBody>
      </p:sp>
      <p:sp>
        <p:nvSpPr>
          <p:cNvPr id="45" name="Text 35"/>
          <p:cNvSpPr txBox="1"/>
          <p:nvPr/>
        </p:nvSpPr>
        <p:spPr>
          <a:xfrm>
            <a:off x="6355080" y="5260000"/>
            <a:ext cx="5074920" cy="900000"/>
          </a:xfrm>
          <a:prstGeom prst="rect">
            <a:avLst/>
          </a:prstGeom>
          <a:noFill/>
          <a:ln/>
        </p:spPr>
        <p:txBody>
          <a:bodyPr wrap="square" lIns="0" tIns="0" rIns="0" bIns="0" rtlCol="0" anchor="t"/>
          <a:lstStyle/>
          <a:p>
            <a:pPr indent="0" marL="0">
              <a:buNone/>
            </a:pPr>
            <a:r>
              <a:rPr lang="en-US" sz="1400" dirty="0">
                <a:solidFill>
                  <a:schemeClr val="bg1"/>
                </a:solidFill>
              </a:rPr>
              <a:t>Was sich als Regel aufschreiben lässt, rechnet der Code. Das Sprachmodell nur dort, wo Sprachverständnis nötig ist: Freitext erfassen, Regelwerk durchsuchen, Befunde formulieren.</a:t>
            </a:r>
            <a:endParaRPr lang="en-US" sz="1400" dirty="0"/>
          </a:p>
        </p:txBody>
      </p:sp>
      <p:sp>
        <p:nvSpPr>
          <p:cNvPr id="53"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16</a:t>
            </a:fld>
            <a:endParaRPr lang="en-US"/>
          </a:p>
        </p:txBody>
      </p:sp>
      <p:sp>
        <p:nvSpPr>
          <p:cNvPr id="46" name="Hinweis PII-Reduktion"/>
          <p:cNvSpPr/>
          <p:nvPr/>
        </p:nvSpPr>
        <p:spPr>
          <a:xfrm>
            <a:off x="548640" y="3420000"/>
            <a:ext cx="11064240" cy="1060000"/>
          </a:xfrm>
          <a:prstGeom prst="roundRect">
            <a:avLst>
              <a:gd name="adj" fmla="val 3556"/>
            </a:avLst>
          </a:prstGeom>
          <a:solidFill>
            <a:schemeClr val="bg1"/>
          </a:solidFill>
          <a:ln w="19050">
            <a:solidFill>
              <a:schemeClr val="accent1"/>
            </a:solidFill>
          </a:ln>
        </p:spPr>
        <p:txBody>
          <a:bodyPr/>
          <a:p/>
        </p:txBody>
      </p:sp>
      <p:sp>
        <p:nvSpPr>
          <p:cNvPr id="47" name="Trenner"/>
          <p:cNvSpPr/>
          <p:nvPr/>
        </p:nvSpPr>
        <p:spPr>
          <a:xfrm>
            <a:off x="2700000" y="3550000"/>
            <a:ext cx="12700" cy="800000"/>
          </a:xfrm>
          <a:prstGeom prst="rect">
            <a:avLst/>
          </a:prstGeom>
          <a:solidFill>
            <a:schemeClr val="accent1"/>
          </a:solidFill>
          <a:ln/>
        </p:spPr>
        <p:txBody>
          <a:bodyPr/>
          <a:p/>
        </p:txBody>
      </p:sp>
      <p:sp>
        <p:nvSpPr>
          <p:cNvPr id="48" name="Trenner"/>
          <p:cNvSpPr/>
          <p:nvPr/>
        </p:nvSpPr>
        <p:spPr>
          <a:xfrm>
            <a:off x="7000000" y="3550000"/>
            <a:ext cx="12700" cy="560000"/>
          </a:xfrm>
          <a:prstGeom prst="rect">
            <a:avLst/>
          </a:prstGeom>
          <a:solidFill>
            <a:schemeClr val="accent1"/>
          </a:solidFill>
          <a:ln/>
        </p:spPr>
        <p:txBody>
          <a:bodyPr/>
          <a:p/>
        </p:txBody>
      </p:sp>
      <p:sp>
        <p:nvSpPr>
          <p:cNvPr id="49" name="Hinweis Label"/>
          <p:cNvSpPr txBox="1"/>
          <p:nvPr/>
        </p:nvSpPr>
        <p:spPr>
          <a:xfrm>
            <a:off x="731520" y="3520000"/>
            <a:ext cx="1850000" cy="860000"/>
          </a:xfrm>
          <a:prstGeom prst="rect">
            <a:avLst/>
          </a:prstGeom>
          <a:noFill/>
          <a:ln/>
        </p:spPr>
        <p:txBody>
          <a:bodyPr wrap="square" lIns="0" tIns="0" rIns="0" bIns="0" rtlCol="0" anchor="ctr"/>
          <a:lstStyle/>
          <a:p>
            <a:pPr indent="0" marL="0">
              <a:spcAft>
                <a:spcPts val="3"/>
              </a:spcAft>
              <a:buNone/>
            </a:pPr>
            <a:r>
              <a:rPr lang="de-DE" sz="1500" dirty="0" b="1">
                <a:solidFill>
                  <a:schemeClr val="tx2"/>
                </a:solidFill>
              </a:rPr>
              <a:t>PII-Reduktion</a:t>
            </a:r>
            <a:br>
              <a:rPr lang="de-DE" sz="1500" dirty="0" b="1">
                <a:solidFill>
                  <a:schemeClr val="tx2"/>
                </a:solidFill>
              </a:rPr>
            </a:br>
            <a:r>
              <a:rPr lang="de-DE" sz="1100" dirty="0" b="1">
                <a:solidFill>
                  <a:schemeClr val="tx2"/>
                </a:solidFill>
              </a:rPr>
              <a:t>(personenbezogene Daten)</a:t>
            </a:r>
          </a:p>
          <a:p>
            <a:pPr indent="0" marL="0">
              <a:buNone/>
            </a:pPr>
            <a:r>
              <a:rPr lang="de-DE" sz="1100" dirty="0" i="1">
                <a:solidFill>
                  <a:schemeClr val="accent5"/>
                </a:solidFill>
              </a:rPr>
              <a:t>vor dem Sprachmodell</a:t>
            </a:r>
          </a:p>
        </p:txBody>
      </p:sp>
      <p:sp>
        <p:nvSpPr>
          <p:cNvPr id="50" name="Hinweis Chat"/>
          <p:cNvSpPr txBox="1"/>
          <p:nvPr/>
        </p:nvSpPr>
        <p:spPr>
          <a:xfrm>
            <a:off x="2880000" y="3530000"/>
            <a:ext cx="3980000" cy="640000"/>
          </a:xfrm>
          <a:prstGeom prst="rect">
            <a:avLst/>
          </a:prstGeom>
          <a:noFill/>
          <a:ln/>
        </p:spPr>
        <p:txBody>
          <a:bodyPr wrap="square" lIns="0" tIns="0" rIns="0" bIns="0" rtlCol="0" anchor="t"/>
          <a:lstStyle/>
          <a:p>
            <a:pPr indent="0" marL="0">
              <a:spcAft>
                <a:spcPts val="2"/>
              </a:spcAft>
              <a:buNone/>
            </a:pPr>
            <a:r>
              <a:rPr lang="de-DE" sz="1300" dirty="0" b="1">
                <a:solidFill>
                  <a:schemeClr val="tx2"/>
                </a:solidFill>
              </a:rPr>
              <a:t>Chat (Freitext)</a:t>
            </a:r>
          </a:p>
          <a:p>
            <a:pPr indent="0" marL="0">
              <a:buNone/>
            </a:pPr>
            <a:r>
              <a:rPr lang="de-DE" sz="1200" dirty="0">
                <a:solidFill>
                  <a:schemeClr val="tx1"/>
                </a:solidFill>
              </a:rPr>
              <a:t>NER-Modell bert-base-multilingual-cased-ner-hrl plus Regeln: erkennt Namen auch ohne Rollenwort</a:t>
            </a:r>
          </a:p>
        </p:txBody>
      </p:sp>
      <p:sp>
        <p:nvSpPr>
          <p:cNvPr id="51" name="Hinweis Formular"/>
          <p:cNvSpPr txBox="1"/>
          <p:nvPr/>
        </p:nvSpPr>
        <p:spPr>
          <a:xfrm>
            <a:off x="7180000" y="3530000"/>
            <a:ext cx="4300000" cy="640000"/>
          </a:xfrm>
          <a:prstGeom prst="rect">
            <a:avLst/>
          </a:prstGeom>
          <a:noFill/>
          <a:ln/>
        </p:spPr>
        <p:txBody>
          <a:bodyPr wrap="square" lIns="0" tIns="0" rIns="0" bIns="0" rtlCol="0" anchor="t"/>
          <a:lstStyle/>
          <a:p>
            <a:pPr indent="0" marL="0">
              <a:spcAft>
                <a:spcPts val="2"/>
              </a:spcAft>
              <a:buNone/>
            </a:pPr>
            <a:r>
              <a:rPr lang="de-DE" sz="1300" dirty="0" b="1">
                <a:solidFill>
                  <a:schemeClr val="tx2"/>
                </a:solidFill>
              </a:rPr>
              <a:t>Formular (Muster 13)</a:t>
            </a:r>
          </a:p>
          <a:p>
            <a:pPr indent="0" marL="0">
              <a:buNone/>
            </a:pPr>
            <a:r>
              <a:rPr lang="de-DE" sz="1200" dirty="0">
                <a:solidFill>
                  <a:schemeClr val="tx1"/>
                </a:solidFill>
              </a:rPr>
              <a:t>Regelbasiert, Feld für Feld: Identifikatoren werden durch Marker ersetzt, Freitexte entfernt</a:t>
            </a:r>
          </a:p>
        </p:txBody>
      </p:sp>
      <p:sp>
        <p:nvSpPr>
          <p:cNvPr id="52" name="Hinweis Stand"/>
          <p:cNvSpPr txBox="1"/>
          <p:nvPr/>
        </p:nvSpPr>
        <p:spPr>
          <a:xfrm>
            <a:off x="2880000" y="4180000"/>
            <a:ext cx="8600000" cy="230000"/>
          </a:xfrm>
          <a:prstGeom prst="rect">
            <a:avLst/>
          </a:prstGeom>
          <a:noFill/>
          <a:ln/>
        </p:spPr>
        <p:txBody>
          <a:bodyPr wrap="square" lIns="0" tIns="0" rIns="0" bIns="0" rtlCol="0" anchor="t"/>
          <a:lstStyle/>
          <a:p>
            <a:pPr indent="0" marL="0">
              <a:buNone/>
            </a:pPr>
            <a:r>
              <a:rPr lang="de-DE" sz="1100" dirty="0" i="1">
                <a:solidFill>
                  <a:schemeClr val="accent5"/>
                </a:solidFill>
              </a:rPr>
              <a:t>Cloud-Prototyp heute: Das NER-Modell läuft nur lokal, im Chat greifen dort die Regeln. Echte Daten nur über das Formular.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Architekturentscheidung 1: Code oder Sprachmodell?</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1"/>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Valentin</a:t>
            </a:r>
            <a:endParaRPr lang="en-US" sz="15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749040"/>
                <a:gridCol w="1033272"/>
                <a:gridCol w="6309360"/>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Aufgabe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Wer</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Warum nicht das Modell? (Beleg)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r>
              <a:tr h="566928">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Fristen (28 / 14 Tage, Unterbrechung 14 Tage)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b="1" dirty="0">
                          <a:solidFill>
                            <a:srgbClr val="E76F51"/>
                          </a:solidFill>
                          <a:latin typeface="Calibri" pitchFamily="34" charset="0"/>
                          <a:ea typeface="Calibri" pitchFamily="34" charset="-122"/>
                          <a:cs typeface="Calibri" pitchFamily="34" charset="-120"/>
                        </a:rPr>
                        <a:t>Code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Datumsrechnen ist keine Sprachaufgabe; in v1–v3 rechnete das Modell Tage falsch</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566928">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LANR / BSNR (9 Ziffern)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b="1" dirty="0">
                          <a:solidFill>
                            <a:srgbClr val="E76F51"/>
                          </a:solidFill>
                          <a:latin typeface="Calibri" pitchFamily="34" charset="0"/>
                          <a:ea typeface="Calibri" pitchFamily="34" charset="-122"/>
                          <a:cs typeface="Calibri" pitchFamily="34" charset="-120"/>
                        </a:rPr>
                        <a:t>Code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v1: Modell „prüfte“ Prüfziffern im Kopf → 4 von 7 Fällen falsche Fehler</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ICD-Code → Diagnosegruppe (WS / EX)</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b="1" dirty="0">
                          <a:solidFill>
                            <a:srgbClr val="E76F51"/>
                          </a:solidFill>
                          <a:latin typeface="Calibri" pitchFamily="34" charset="0"/>
                          <a:ea typeface="Calibri" pitchFamily="34" charset="-122"/>
                          <a:cs typeface="Calibri" pitchFamily="34" charset="-120"/>
                        </a:rPr>
                        <a:t>Code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v3: Modell ordnete einen Knie-Code der Wirbelsäule zu – mit plausibler Begründung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566928">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Leitsymptomatik je Diagnosegruppe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b="1" dirty="0">
                          <a:solidFill>
                            <a:srgbClr val="E76F51"/>
                          </a:solidFill>
                          <a:latin typeface="Calibri" pitchFamily="34" charset="0"/>
                          <a:ea typeface="Calibri" pitchFamily="34" charset="-122"/>
                          <a:cs typeface="Calibri" pitchFamily="34" charset="-120"/>
                        </a:rPr>
                        <a:t>Code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23.10.: Modell behauptete „a gibt es bei WS nicht“ → kritischer Fehlalarm</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Summen, Ampel, Absetzungsrisiko</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b="1" dirty="0">
                          <a:solidFill>
                            <a:srgbClr val="E76F51"/>
                          </a:solidFill>
                          <a:latin typeface="Calibri" pitchFamily="34" charset="0"/>
                          <a:ea typeface="Calibri" pitchFamily="34" charset="-122"/>
                          <a:cs typeface="Calibri" pitchFamily="34" charset="-120"/>
                        </a:rPr>
                        <a:t>Code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Muss nachvollziehbar und prüfbar sein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566928">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Freitext erfassen, Regelwerk finden, Befund formulieren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b="1" dirty="0">
                          <a:solidFill>
                            <a:srgbClr val="2A9D8F"/>
                          </a:solidFill>
                          <a:latin typeface="Calibri" pitchFamily="34" charset="0"/>
                          <a:ea typeface="Calibri" pitchFamily="34" charset="-122"/>
                          <a:cs typeface="Calibri" pitchFamily="34" charset="-120"/>
                        </a:rPr>
                        <a:t>Modell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Braucht Sprachverständnis – hier ist das Modell stark</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bl>
          </a:graphicData>
        </a:graphic>
      </p:graphicFrame>
      <p:sp>
        <p:nvSpPr>
          <p:cNvPr id="7" name="Ergebnis"/>
          <p:cNvSpPr/>
          <p:nvPr/>
        </p:nvSpPr>
        <p:spPr>
          <a:xfrm>
            <a:off x="548640" y="5257800"/>
            <a:ext cx="11091672" cy="685800"/>
          </a:xfrm>
          <a:prstGeom prst="roundRect">
            <a:avLst>
              <a:gd name="adj" fmla="val 10667"/>
            </a:avLst>
          </a:prstGeom>
          <a:solidFill>
            <a:schemeClr val="tx2"/>
          </a:solidFill>
          <a:ln/>
        </p:spPr>
        <p:txBody>
          <a:bodyPr/>
          <a:p/>
        </p:txBody>
      </p:sp>
      <p:sp>
        <p:nvSpPr>
          <p:cNvPr id="8" name="Text 4"/>
          <p:cNvSpPr txBox="1"/>
          <p:nvPr/>
        </p:nvSpPr>
        <p:spPr>
          <a:xfrm>
            <a:off x="822960" y="5394960"/>
            <a:ext cx="10515600" cy="411480"/>
          </a:xfrm>
          <a:prstGeom prst="rect">
            <a:avLst/>
          </a:prstGeom>
          <a:noFill/>
          <a:ln/>
        </p:spPr>
        <p:txBody>
          <a:bodyPr wrap="square" lIns="0" tIns="0" rIns="0" bIns="0" rtlCol="0" anchor="ctr"/>
          <a:lstStyle/>
          <a:p>
            <a:pPr indent="0" marL="0">
              <a:buNone/>
            </a:pPr>
            <a:r>
              <a:rPr lang="en-US" sz="1500" b="1" dirty="0">
                <a:solidFill>
                  <a:schemeClr val="accent2"/>
                </a:solidFill>
              </a:rPr>
              <a:t>Ergebnis: kritische Fehlalarme 12 (v1) → 0 (v4) · Testbatterie 27.10.: 83,1 % im Blindtest, 96,6 % nach fünf weiteren Regeln im Code · 71 automatische Prüfungen</a:t>
            </a:r>
            <a:pPr indent="0" marL="0">
              <a:buNone/>
            </a:pPr>
            <a:endParaRPr lang="en-US" sz="1500" dirty="0"/>
          </a:p>
        </p:txBody>
      </p:sp>
      <p:sp>
        <p:nvSpPr>
          <p:cNvPr id="9" name="Text 5"/>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Quellen: docs/evaluation.md, docs/aenderungsprotokoll.md, tests/fakten.test.mjs</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Architekturentscheidung 2: Aufbau, Sicherheit, Betrieb</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1"/>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Valentin</a:t>
            </a:r>
            <a:endParaRPr lang="en-US" sz="15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474720"/>
                <a:gridCol w="2606040"/>
                <a:gridCol w="5010912"/>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Entscheidung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Statt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Warum</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r>
              <a:tr h="566928">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Vier spezialisierte Prüfer</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Ein Allround-Agent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Jedes Mandat einzeln testbar; Fehler lassen sich einem Prüfer zuordnen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566928">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Patientendaten vor dem Modell ersetzen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Rohdaten an das Modell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Datenminimierung: Die Prüfung braucht keine Namen. Chat: NER-Modell plus Regeln, Formular: Regeln; Original nur im Protokoll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Mensch entscheidet, Ampel ist Empfehlung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Automatische Abweisung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Verantwortung bleibt bei der Praxis; menschliche Aufsicht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566928">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Fristen-Prüfer ohne Vektorsuche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Suche wie die anderen Prüfer</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Die Regel (HeilM-RL § 15, § 16) ist kurz und fest – Suche bringt nur Rauschen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Formular im selben Workflow</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Formular ruft Chat-Webhook auf</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Ein Ablauf, ein Protokoll, keine zweite öffentliche Adresse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566928">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Zwei Workflows: Merge + v4 als Fallback</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Nur ein Stand</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Vor der Prüfung immer eine lauffähige Rückfallversion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Veröffentlichung erst mit Anmeldung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Offener Chat-Link</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Sonst kann jeder mit dem Link Kosten erzeugen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bl>
          </a:graphicData>
        </a:graphic>
      </p:graphicFrame>
      <p:sp>
        <p:nvSpPr>
          <p:cNvPr id="7" name="Text 3"/>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Quellen: docs/architektur.md (Trade-offs), docs/implementierung.md (erwogen und verworfen), n8n/README.md</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EU AI Act: warum kein Hochrisiko-System</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1"/>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Valentin</a:t>
            </a:r>
            <a:endParaRPr lang="en-US" sz="1500" dirty="0"/>
          </a:p>
        </p:txBody>
      </p:sp>
      <p:sp>
        <p:nvSpPr>
          <p:cNvPr id="6" name="Prüfschritt"/>
          <p:cNvSpPr/>
          <p:nvPr/>
        </p:nvSpPr>
        <p:spPr>
          <a:xfrm>
            <a:off x="548640" y="1298448"/>
            <a:ext cx="11091672" cy="914400"/>
          </a:xfrm>
          <a:prstGeom prst="roundRect">
            <a:avLst>
              <a:gd name="adj" fmla="val 8000"/>
            </a:avLst>
          </a:prstGeom>
          <a:solidFill>
            <a:schemeClr val="bg2"/>
          </a:solidFill>
          <a:ln/>
        </p:spPr>
        <p:txBody>
          <a:bodyPr/>
          <a:p/>
        </p:txBody>
      </p:sp>
      <p:sp>
        <p:nvSpPr>
          <p:cNvPr id="7" name="Nummer"/>
          <p:cNvSpPr/>
          <p:nvPr/>
        </p:nvSpPr>
        <p:spPr>
          <a:xfrm>
            <a:off x="731520" y="1499616"/>
            <a:ext cx="512064" cy="512064"/>
          </a:xfrm>
          <a:prstGeom prst="ellipse">
            <a:avLst/>
          </a:prstGeom>
          <a:solidFill>
            <a:schemeClr val="accent1"/>
          </a:solidFill>
          <a:ln/>
        </p:spPr>
        <p:txBody>
          <a:bodyPr/>
          <a:p/>
        </p:txBody>
      </p:sp>
      <p:sp>
        <p:nvSpPr>
          <p:cNvPr id="8" name="Text 5"/>
          <p:cNvSpPr txBox="1"/>
          <p:nvPr/>
        </p:nvSpPr>
        <p:spPr>
          <a:xfrm>
            <a:off x="731520" y="1499616"/>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9" name="Text 6"/>
          <p:cNvSpPr txBox="1"/>
          <p:nvPr/>
        </p:nvSpPr>
        <p:spPr>
          <a:xfrm>
            <a:off x="1417320" y="1408176"/>
            <a:ext cx="2377440" cy="365760"/>
          </a:xfrm>
          <a:prstGeom prst="rect">
            <a:avLst/>
          </a:prstGeom>
          <a:noFill/>
          <a:ln/>
        </p:spPr>
        <p:txBody>
          <a:bodyPr wrap="square" lIns="0" tIns="0" rIns="0" bIns="0" rtlCol="0" anchor="t"/>
          <a:lstStyle/>
          <a:p>
            <a:pPr indent="0" marL="0">
              <a:buNone/>
            </a:pPr>
            <a:r>
              <a:rPr lang="en-US" sz="1500" b="1" dirty="0">
                <a:solidFill>
                  <a:schemeClr val="tx2"/>
                </a:solidFill>
              </a:rPr>
              <a:t>KI-System?</a:t>
            </a:r>
            <a:endParaRPr lang="en-US" sz="1500" dirty="0"/>
          </a:p>
        </p:txBody>
      </p:sp>
      <p:sp>
        <p:nvSpPr>
          <p:cNvPr id="10" name="Text 7"/>
          <p:cNvSpPr txBox="1"/>
          <p:nvPr/>
        </p:nvSpPr>
        <p:spPr>
          <a:xfrm>
            <a:off x="1417320" y="1773936"/>
            <a:ext cx="2377440" cy="365760"/>
          </a:xfrm>
          <a:prstGeom prst="rect">
            <a:avLst/>
          </a:prstGeom>
          <a:noFill/>
          <a:ln/>
        </p:spPr>
        <p:txBody>
          <a:bodyPr wrap="square" lIns="0" tIns="0" rIns="0" bIns="0" rtlCol="0" anchor="t"/>
          <a:lstStyle/>
          <a:p>
            <a:pPr indent="0" marL="0">
              <a:buNone/>
            </a:pPr>
            <a:r>
              <a:rPr lang="en-US" sz="1200" b="1" dirty="0">
                <a:solidFill>
                  <a:schemeClr val="accent1"/>
                </a:solidFill>
              </a:rPr>
              <a:t>Art. 3 Nr. 1</a:t>
            </a:r>
            <a:endParaRPr lang="en-US" sz="1200" dirty="0"/>
          </a:p>
        </p:txBody>
      </p:sp>
      <p:sp>
        <p:nvSpPr>
          <p:cNvPr id="11" name="Antwort"/>
          <p:cNvSpPr/>
          <p:nvPr/>
        </p:nvSpPr>
        <p:spPr>
          <a:xfrm>
            <a:off x="3840480" y="1572768"/>
            <a:ext cx="685800" cy="365760"/>
          </a:xfrm>
          <a:prstGeom prst="roundRect">
            <a:avLst>
              <a:gd name="adj" fmla="val 50000"/>
            </a:avLst>
          </a:prstGeom>
          <a:solidFill>
            <a:srgbClr val="5C6B73"/>
          </a:solidFill>
          <a:ln/>
        </p:spPr>
        <p:txBody>
          <a:bodyPr/>
          <a:p/>
        </p:txBody>
      </p:sp>
      <p:sp>
        <p:nvSpPr>
          <p:cNvPr id="12" name="Text 9"/>
          <p:cNvSpPr txBox="1"/>
          <p:nvPr/>
        </p:nvSpPr>
        <p:spPr>
          <a:xfrm>
            <a:off x="3840480" y="1572768"/>
            <a:ext cx="685800" cy="365760"/>
          </a:xfrm>
          <a:prstGeom prst="rect">
            <a:avLst/>
          </a:prstGeom>
          <a:noFill/>
          <a:ln/>
        </p:spPr>
        <p:txBody>
          <a:bodyPr wrap="square" lIns="0" tIns="0" rIns="0" bIns="0" rtlCol="0" anchor="ctr"/>
          <a:lstStyle/>
          <a:p>
            <a:pPr algn="ctr" indent="0" marL="0">
              <a:buNone/>
            </a:pPr>
            <a:r>
              <a:rPr lang="en-US" sz="1300" b="1" dirty="0">
                <a:solidFill>
                  <a:schemeClr val="bg1"/>
                </a:solidFill>
              </a:rPr>
              <a:t>Ja</a:t>
            </a:r>
            <a:endParaRPr lang="en-US" sz="1300" dirty="0"/>
          </a:p>
        </p:txBody>
      </p:sp>
      <p:sp>
        <p:nvSpPr>
          <p:cNvPr id="13" name="Text 10"/>
          <p:cNvSpPr txBox="1"/>
          <p:nvPr/>
        </p:nvSpPr>
        <p:spPr>
          <a:xfrm>
            <a:off x="4709160" y="1371600"/>
            <a:ext cx="6766560" cy="786384"/>
          </a:xfrm>
          <a:prstGeom prst="rect">
            <a:avLst/>
          </a:prstGeom>
          <a:noFill/>
          <a:ln/>
        </p:spPr>
        <p:txBody>
          <a:bodyPr wrap="square" lIns="0" tIns="0" rIns="0" bIns="0" rtlCol="0" anchor="ctr"/>
          <a:lstStyle/>
          <a:p>
            <a:pPr indent="0" marL="0">
              <a:buNone/>
            </a:pPr>
            <a:r>
              <a:rPr lang="en-US" sz="1250" dirty="0">
                <a:solidFill>
                  <a:schemeClr val="tx1"/>
                </a:solidFill>
              </a:rPr>
              <a:t>Ja: Das Modell leitet aus Eingaben Befunde ab. Wir (Team) sind Anbieter (Art. 3 Nr. 3), die Praxis ist Betreiberin (Art. 3 Nr. 4).</a:t>
            </a:r>
            <a:endParaRPr lang="en-US" sz="1250" dirty="0"/>
          </a:p>
        </p:txBody>
      </p:sp>
      <p:sp>
        <p:nvSpPr>
          <p:cNvPr id="14" name="Prüfschritt"/>
          <p:cNvSpPr/>
          <p:nvPr/>
        </p:nvSpPr>
        <p:spPr>
          <a:xfrm>
            <a:off x="548640" y="2322576"/>
            <a:ext cx="11091672" cy="914400"/>
          </a:xfrm>
          <a:prstGeom prst="roundRect">
            <a:avLst>
              <a:gd name="adj" fmla="val 8000"/>
            </a:avLst>
          </a:prstGeom>
          <a:solidFill>
            <a:schemeClr val="bg2"/>
          </a:solidFill>
          <a:ln/>
        </p:spPr>
        <p:txBody>
          <a:bodyPr/>
          <a:p/>
        </p:txBody>
      </p:sp>
      <p:sp>
        <p:nvSpPr>
          <p:cNvPr id="15" name="Nummer"/>
          <p:cNvSpPr/>
          <p:nvPr/>
        </p:nvSpPr>
        <p:spPr>
          <a:xfrm>
            <a:off x="731520" y="2523744"/>
            <a:ext cx="512064" cy="512064"/>
          </a:xfrm>
          <a:prstGeom prst="ellipse">
            <a:avLst/>
          </a:prstGeom>
          <a:solidFill>
            <a:schemeClr val="accent1"/>
          </a:solidFill>
          <a:ln/>
        </p:spPr>
        <p:txBody>
          <a:bodyPr/>
          <a:p/>
        </p:txBody>
      </p:sp>
      <p:sp>
        <p:nvSpPr>
          <p:cNvPr id="16" name="Text 13"/>
          <p:cNvSpPr txBox="1"/>
          <p:nvPr/>
        </p:nvSpPr>
        <p:spPr>
          <a:xfrm>
            <a:off x="731520" y="2523744"/>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7" name="Text 14"/>
          <p:cNvSpPr txBox="1"/>
          <p:nvPr/>
        </p:nvSpPr>
        <p:spPr>
          <a:xfrm>
            <a:off x="1417320" y="2432304"/>
            <a:ext cx="2377440" cy="365760"/>
          </a:xfrm>
          <a:prstGeom prst="rect">
            <a:avLst/>
          </a:prstGeom>
          <a:noFill/>
          <a:ln/>
        </p:spPr>
        <p:txBody>
          <a:bodyPr wrap="square" lIns="0" tIns="0" rIns="0" bIns="0" rtlCol="0" anchor="t"/>
          <a:lstStyle/>
          <a:p>
            <a:pPr indent="0" marL="0">
              <a:buNone/>
            </a:pPr>
            <a:r>
              <a:rPr lang="en-US" sz="1500" b="1" dirty="0">
                <a:solidFill>
                  <a:schemeClr val="tx2"/>
                </a:solidFill>
              </a:rPr>
              <a:t>Verbotene Praxis?</a:t>
            </a:r>
            <a:endParaRPr lang="en-US" sz="1500" dirty="0"/>
          </a:p>
        </p:txBody>
      </p:sp>
      <p:sp>
        <p:nvSpPr>
          <p:cNvPr id="18" name="Text 15"/>
          <p:cNvSpPr txBox="1"/>
          <p:nvPr/>
        </p:nvSpPr>
        <p:spPr>
          <a:xfrm>
            <a:off x="1417320" y="2798064"/>
            <a:ext cx="2377440" cy="365760"/>
          </a:xfrm>
          <a:prstGeom prst="rect">
            <a:avLst/>
          </a:prstGeom>
          <a:noFill/>
          <a:ln/>
        </p:spPr>
        <p:txBody>
          <a:bodyPr wrap="square" lIns="0" tIns="0" rIns="0" bIns="0" rtlCol="0" anchor="t"/>
          <a:lstStyle/>
          <a:p>
            <a:pPr indent="0" marL="0">
              <a:buNone/>
            </a:pPr>
            <a:r>
              <a:rPr lang="en-US" sz="1200" b="1" dirty="0">
                <a:solidFill>
                  <a:schemeClr val="accent1"/>
                </a:solidFill>
              </a:rPr>
              <a:t>Art. 5</a:t>
            </a:r>
            <a:endParaRPr lang="en-US" sz="1200" dirty="0"/>
          </a:p>
        </p:txBody>
      </p:sp>
      <p:sp>
        <p:nvSpPr>
          <p:cNvPr id="19" name="Antwort"/>
          <p:cNvSpPr/>
          <p:nvPr/>
        </p:nvSpPr>
        <p:spPr>
          <a:xfrm>
            <a:off x="3840480" y="2596896"/>
            <a:ext cx="685800" cy="365760"/>
          </a:xfrm>
          <a:prstGeom prst="roundRect">
            <a:avLst>
              <a:gd name="adj" fmla="val 50000"/>
            </a:avLst>
          </a:prstGeom>
          <a:solidFill>
            <a:srgbClr val="2A9D8F"/>
          </a:solidFill>
          <a:ln/>
        </p:spPr>
        <p:txBody>
          <a:bodyPr/>
          <a:p/>
        </p:txBody>
      </p:sp>
      <p:sp>
        <p:nvSpPr>
          <p:cNvPr id="20" name="Text 17"/>
          <p:cNvSpPr txBox="1"/>
          <p:nvPr/>
        </p:nvSpPr>
        <p:spPr>
          <a:xfrm>
            <a:off x="3840480" y="2596896"/>
            <a:ext cx="685800" cy="365760"/>
          </a:xfrm>
          <a:prstGeom prst="rect">
            <a:avLst/>
          </a:prstGeom>
          <a:noFill/>
          <a:ln/>
        </p:spPr>
        <p:txBody>
          <a:bodyPr wrap="square" lIns="0" tIns="0" rIns="0" bIns="0" rtlCol="0" anchor="ctr"/>
          <a:lstStyle/>
          <a:p>
            <a:pPr algn="ctr" indent="0" marL="0">
              <a:buNone/>
            </a:pPr>
            <a:r>
              <a:rPr lang="en-US" sz="1300" b="1" dirty="0">
                <a:solidFill>
                  <a:schemeClr val="bg1"/>
                </a:solidFill>
              </a:rPr>
              <a:t>Nein</a:t>
            </a:r>
            <a:endParaRPr lang="en-US" sz="1300" dirty="0"/>
          </a:p>
        </p:txBody>
      </p:sp>
      <p:sp>
        <p:nvSpPr>
          <p:cNvPr id="21" name="Text 18"/>
          <p:cNvSpPr txBox="1"/>
          <p:nvPr/>
        </p:nvSpPr>
        <p:spPr>
          <a:xfrm>
            <a:off x="4709160" y="2395728"/>
            <a:ext cx="6766560" cy="786384"/>
          </a:xfrm>
          <a:prstGeom prst="rect">
            <a:avLst/>
          </a:prstGeom>
          <a:noFill/>
          <a:ln/>
        </p:spPr>
        <p:txBody>
          <a:bodyPr wrap="square" lIns="0" tIns="0" rIns="0" bIns="0" rtlCol="0" anchor="ctr"/>
          <a:lstStyle/>
          <a:p>
            <a:pPr indent="0" marL="0">
              <a:buNone/>
            </a:pPr>
            <a:r>
              <a:rPr lang="en-US" sz="1250" dirty="0">
                <a:solidFill>
                  <a:schemeClr val="tx1"/>
                </a:solidFill>
              </a:rPr>
              <a:t>Nein: keine Manipulation, keine Bewertung von Personen, keine Biometrie oder Emotionserkennung.</a:t>
            </a:r>
            <a:endParaRPr lang="en-US" sz="1250" dirty="0"/>
          </a:p>
        </p:txBody>
      </p:sp>
      <p:sp>
        <p:nvSpPr>
          <p:cNvPr id="22" name="Prüfschritt"/>
          <p:cNvSpPr/>
          <p:nvPr/>
        </p:nvSpPr>
        <p:spPr>
          <a:xfrm>
            <a:off x="548640" y="3346704"/>
            <a:ext cx="11091672" cy="914400"/>
          </a:xfrm>
          <a:prstGeom prst="roundRect">
            <a:avLst>
              <a:gd name="adj" fmla="val 8000"/>
            </a:avLst>
          </a:prstGeom>
          <a:solidFill>
            <a:schemeClr val="bg2"/>
          </a:solidFill>
          <a:ln/>
        </p:spPr>
        <p:txBody>
          <a:bodyPr/>
          <a:p/>
        </p:txBody>
      </p:sp>
      <p:sp>
        <p:nvSpPr>
          <p:cNvPr id="23" name="Nummer"/>
          <p:cNvSpPr/>
          <p:nvPr/>
        </p:nvSpPr>
        <p:spPr>
          <a:xfrm>
            <a:off x="731520" y="3547872"/>
            <a:ext cx="512064" cy="512064"/>
          </a:xfrm>
          <a:prstGeom prst="ellipse">
            <a:avLst/>
          </a:prstGeom>
          <a:solidFill>
            <a:schemeClr val="accent1"/>
          </a:solidFill>
          <a:ln/>
        </p:spPr>
        <p:txBody>
          <a:bodyPr/>
          <a:p/>
        </p:txBody>
      </p:sp>
      <p:sp>
        <p:nvSpPr>
          <p:cNvPr id="24" name="Text 21"/>
          <p:cNvSpPr txBox="1"/>
          <p:nvPr/>
        </p:nvSpPr>
        <p:spPr>
          <a:xfrm>
            <a:off x="731520" y="3547872"/>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5" name="Text 22"/>
          <p:cNvSpPr txBox="1"/>
          <p:nvPr/>
        </p:nvSpPr>
        <p:spPr>
          <a:xfrm>
            <a:off x="1417320" y="3456432"/>
            <a:ext cx="2377440" cy="365760"/>
          </a:xfrm>
          <a:prstGeom prst="rect">
            <a:avLst/>
          </a:prstGeom>
          <a:noFill/>
          <a:ln/>
        </p:spPr>
        <p:txBody>
          <a:bodyPr wrap="square" lIns="0" tIns="0" rIns="0" bIns="0" rtlCol="0" anchor="t"/>
          <a:lstStyle/>
          <a:p>
            <a:pPr indent="0" marL="0">
              <a:buNone/>
            </a:pPr>
            <a:r>
              <a:rPr lang="en-US" sz="1500" b="1" dirty="0">
                <a:solidFill>
                  <a:schemeClr val="tx2"/>
                </a:solidFill>
              </a:rPr>
              <a:t>Hochrisiko: Produkt?</a:t>
            </a:r>
            <a:endParaRPr lang="en-US" sz="1500" dirty="0"/>
          </a:p>
        </p:txBody>
      </p:sp>
      <p:sp>
        <p:nvSpPr>
          <p:cNvPr id="26" name="Text 23"/>
          <p:cNvSpPr txBox="1"/>
          <p:nvPr/>
        </p:nvSpPr>
        <p:spPr>
          <a:xfrm>
            <a:off x="1417320" y="3822192"/>
            <a:ext cx="2377440" cy="365760"/>
          </a:xfrm>
          <a:prstGeom prst="rect">
            <a:avLst/>
          </a:prstGeom>
          <a:noFill/>
          <a:ln/>
        </p:spPr>
        <p:txBody>
          <a:bodyPr wrap="square" lIns="0" tIns="0" rIns="0" bIns="0" rtlCol="0" anchor="t"/>
          <a:lstStyle/>
          <a:p>
            <a:pPr indent="0" marL="0">
              <a:buNone/>
            </a:pPr>
            <a:r>
              <a:rPr lang="en-US" sz="1200" b="1" dirty="0">
                <a:solidFill>
                  <a:schemeClr val="accent1"/>
                </a:solidFill>
              </a:rPr>
              <a:t>Art. 6 Abs. 1 + Anhang I (MDR)</a:t>
            </a:r>
            <a:endParaRPr lang="en-US" sz="1200" dirty="0"/>
          </a:p>
        </p:txBody>
      </p:sp>
      <p:sp>
        <p:nvSpPr>
          <p:cNvPr id="27" name="Antwort"/>
          <p:cNvSpPr/>
          <p:nvPr/>
        </p:nvSpPr>
        <p:spPr>
          <a:xfrm>
            <a:off x="3840480" y="3621024"/>
            <a:ext cx="685800" cy="365760"/>
          </a:xfrm>
          <a:prstGeom prst="roundRect">
            <a:avLst>
              <a:gd name="adj" fmla="val 50000"/>
            </a:avLst>
          </a:prstGeom>
          <a:solidFill>
            <a:srgbClr val="2A9D8F"/>
          </a:solidFill>
          <a:ln/>
        </p:spPr>
        <p:txBody>
          <a:bodyPr/>
          <a:p/>
        </p:txBody>
      </p:sp>
      <p:sp>
        <p:nvSpPr>
          <p:cNvPr id="28" name="Text 25"/>
          <p:cNvSpPr txBox="1"/>
          <p:nvPr/>
        </p:nvSpPr>
        <p:spPr>
          <a:xfrm>
            <a:off x="3840480" y="3621024"/>
            <a:ext cx="685800" cy="365760"/>
          </a:xfrm>
          <a:prstGeom prst="rect">
            <a:avLst/>
          </a:prstGeom>
          <a:noFill/>
          <a:ln/>
        </p:spPr>
        <p:txBody>
          <a:bodyPr wrap="square" lIns="0" tIns="0" rIns="0" bIns="0" rtlCol="0" anchor="ctr"/>
          <a:lstStyle/>
          <a:p>
            <a:pPr algn="ctr" indent="0" marL="0">
              <a:buNone/>
            </a:pPr>
            <a:r>
              <a:rPr lang="en-US" sz="1300" b="1" dirty="0">
                <a:solidFill>
                  <a:schemeClr val="bg1"/>
                </a:solidFill>
              </a:rPr>
              <a:t>Nein</a:t>
            </a:r>
            <a:endParaRPr lang="en-US" sz="1300" dirty="0"/>
          </a:p>
        </p:txBody>
      </p:sp>
      <p:sp>
        <p:nvSpPr>
          <p:cNvPr id="29" name="Text 26"/>
          <p:cNvSpPr txBox="1"/>
          <p:nvPr/>
        </p:nvSpPr>
        <p:spPr>
          <a:xfrm>
            <a:off x="4709160" y="3419856"/>
            <a:ext cx="6766560" cy="786384"/>
          </a:xfrm>
          <a:prstGeom prst="rect">
            <a:avLst/>
          </a:prstGeom>
          <a:noFill/>
          <a:ln/>
        </p:spPr>
        <p:txBody>
          <a:bodyPr wrap="square" lIns="0" tIns="0" rIns="0" bIns="0" rtlCol="0" anchor="ctr"/>
          <a:lstStyle/>
          <a:p>
            <a:pPr indent="0" marL="0">
              <a:buNone/>
            </a:pPr>
            <a:r>
              <a:rPr lang="en-US" sz="1250" dirty="0">
                <a:solidFill>
                  <a:schemeClr val="tx1"/>
                </a:solidFill>
              </a:rPr>
              <a:t>Nein: kein Medizinprodukt. Zweck ist eine formale, administrative Prüfung für die Abrechnung – keine Diagnose oder Therapieentscheidung (Art. 2 Nr. 1 MDR; MDCG 2019-11).</a:t>
            </a:r>
            <a:endParaRPr lang="en-US" sz="1250" dirty="0"/>
          </a:p>
        </p:txBody>
      </p:sp>
      <p:sp>
        <p:nvSpPr>
          <p:cNvPr id="30" name="Prüfschritt"/>
          <p:cNvSpPr/>
          <p:nvPr/>
        </p:nvSpPr>
        <p:spPr>
          <a:xfrm>
            <a:off x="548640" y="4370832"/>
            <a:ext cx="11091672" cy="914400"/>
          </a:xfrm>
          <a:prstGeom prst="roundRect">
            <a:avLst>
              <a:gd name="adj" fmla="val 8000"/>
            </a:avLst>
          </a:prstGeom>
          <a:solidFill>
            <a:schemeClr val="bg2"/>
          </a:solidFill>
          <a:ln/>
        </p:spPr>
        <p:txBody>
          <a:bodyPr/>
          <a:p/>
        </p:txBody>
      </p:sp>
      <p:sp>
        <p:nvSpPr>
          <p:cNvPr id="31" name="Nummer"/>
          <p:cNvSpPr/>
          <p:nvPr/>
        </p:nvSpPr>
        <p:spPr>
          <a:xfrm>
            <a:off x="731520" y="4572000"/>
            <a:ext cx="512064" cy="512064"/>
          </a:xfrm>
          <a:prstGeom prst="ellipse">
            <a:avLst/>
          </a:prstGeom>
          <a:solidFill>
            <a:schemeClr val="accent1"/>
          </a:solidFill>
          <a:ln/>
        </p:spPr>
        <p:txBody>
          <a:bodyPr/>
          <a:p/>
        </p:txBody>
      </p:sp>
      <p:sp>
        <p:nvSpPr>
          <p:cNvPr id="32" name="Text 29"/>
          <p:cNvSpPr txBox="1"/>
          <p:nvPr/>
        </p:nvSpPr>
        <p:spPr>
          <a:xfrm>
            <a:off x="731520" y="4572000"/>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33" name="Text 30"/>
          <p:cNvSpPr txBox="1"/>
          <p:nvPr/>
        </p:nvSpPr>
        <p:spPr>
          <a:xfrm>
            <a:off x="1417320" y="4480560"/>
            <a:ext cx="2377440" cy="365760"/>
          </a:xfrm>
          <a:prstGeom prst="rect">
            <a:avLst/>
          </a:prstGeom>
          <a:noFill/>
          <a:ln/>
        </p:spPr>
        <p:txBody>
          <a:bodyPr wrap="square" lIns="0" tIns="0" rIns="0" bIns="0" rtlCol="0" anchor="t"/>
          <a:lstStyle/>
          <a:p>
            <a:pPr indent="0" marL="0">
              <a:buNone/>
            </a:pPr>
            <a:r>
              <a:rPr lang="en-US" sz="1500" b="1" dirty="0">
                <a:solidFill>
                  <a:schemeClr val="tx2"/>
                </a:solidFill>
              </a:rPr>
              <a:t>Hochrisiko: Anhang III?</a:t>
            </a:r>
            <a:endParaRPr lang="en-US" sz="1500" dirty="0"/>
          </a:p>
        </p:txBody>
      </p:sp>
      <p:sp>
        <p:nvSpPr>
          <p:cNvPr id="34" name="Text 31"/>
          <p:cNvSpPr txBox="1"/>
          <p:nvPr/>
        </p:nvSpPr>
        <p:spPr>
          <a:xfrm>
            <a:off x="1417320" y="4846320"/>
            <a:ext cx="2377440" cy="365760"/>
          </a:xfrm>
          <a:prstGeom prst="rect">
            <a:avLst/>
          </a:prstGeom>
          <a:noFill/>
          <a:ln/>
        </p:spPr>
        <p:txBody>
          <a:bodyPr wrap="square" lIns="0" tIns="0" rIns="0" bIns="0" rtlCol="0" anchor="t"/>
          <a:lstStyle/>
          <a:p>
            <a:pPr indent="0" marL="0">
              <a:buNone/>
            </a:pPr>
            <a:r>
              <a:rPr lang="en-US" sz="1200" b="1" dirty="0">
                <a:solidFill>
                  <a:schemeClr val="accent1"/>
                </a:solidFill>
              </a:rPr>
              <a:t>Art. 6 Abs. 2</a:t>
            </a:r>
            <a:endParaRPr lang="en-US" sz="1200" dirty="0"/>
          </a:p>
        </p:txBody>
      </p:sp>
      <p:sp>
        <p:nvSpPr>
          <p:cNvPr id="35" name="Antwort"/>
          <p:cNvSpPr/>
          <p:nvPr/>
        </p:nvSpPr>
        <p:spPr>
          <a:xfrm>
            <a:off x="3840480" y="4645152"/>
            <a:ext cx="685800" cy="365760"/>
          </a:xfrm>
          <a:prstGeom prst="roundRect">
            <a:avLst>
              <a:gd name="adj" fmla="val 50000"/>
            </a:avLst>
          </a:prstGeom>
          <a:solidFill>
            <a:srgbClr val="2A9D8F"/>
          </a:solidFill>
          <a:ln/>
        </p:spPr>
        <p:txBody>
          <a:bodyPr/>
          <a:p/>
        </p:txBody>
      </p:sp>
      <p:sp>
        <p:nvSpPr>
          <p:cNvPr id="36" name="Text 33"/>
          <p:cNvSpPr txBox="1"/>
          <p:nvPr/>
        </p:nvSpPr>
        <p:spPr>
          <a:xfrm>
            <a:off x="3840480" y="4645152"/>
            <a:ext cx="685800" cy="365760"/>
          </a:xfrm>
          <a:prstGeom prst="rect">
            <a:avLst/>
          </a:prstGeom>
          <a:noFill/>
          <a:ln/>
        </p:spPr>
        <p:txBody>
          <a:bodyPr wrap="square" lIns="0" tIns="0" rIns="0" bIns="0" rtlCol="0" anchor="ctr"/>
          <a:lstStyle/>
          <a:p>
            <a:pPr algn="ctr" indent="0" marL="0">
              <a:buNone/>
            </a:pPr>
            <a:r>
              <a:rPr lang="en-US" sz="1300" b="1" dirty="0">
                <a:solidFill>
                  <a:schemeClr val="bg1"/>
                </a:solidFill>
              </a:rPr>
              <a:t>Nein</a:t>
            </a:r>
            <a:endParaRPr lang="en-US" sz="1300" dirty="0"/>
          </a:p>
        </p:txBody>
      </p:sp>
      <p:sp>
        <p:nvSpPr>
          <p:cNvPr id="37" name="Text 34"/>
          <p:cNvSpPr txBox="1"/>
          <p:nvPr/>
        </p:nvSpPr>
        <p:spPr>
          <a:xfrm>
            <a:off x="4709160" y="4443984"/>
            <a:ext cx="6766560" cy="786384"/>
          </a:xfrm>
          <a:prstGeom prst="rect">
            <a:avLst/>
          </a:prstGeom>
          <a:noFill/>
          <a:ln/>
        </p:spPr>
        <p:txBody>
          <a:bodyPr wrap="square" lIns="0" tIns="0" rIns="0" bIns="0" rtlCol="0" anchor="ctr"/>
          <a:lstStyle/>
          <a:p>
            <a:pPr indent="0" marL="0">
              <a:buNone/>
            </a:pPr>
            <a:r>
              <a:rPr lang="en-US" sz="1250" dirty="0">
                <a:solidFill>
                  <a:schemeClr val="tx1"/>
                </a:solidFill>
              </a:rPr>
              <a:t>Nein: Nr. 5 a erfasst Behörden (oder Handeln in deren Namen), die über Ansprüche auf öffentliche Leistungen entscheiden. Wir sind eine private Praxis, prüfen ein Dokument – über die Leistung entscheidet die Kasse. Nr. 5 c (Versicherungstarife) und Nr. 4 (Beschäftigte) ebenfalls nicht.</a:t>
            </a:r>
            <a:endParaRPr lang="en-US" sz="1250" dirty="0"/>
          </a:p>
        </p:txBody>
      </p:sp>
      <p:sp>
        <p:nvSpPr>
          <p:cNvPr id="38" name="Ergebnis"/>
          <p:cNvSpPr/>
          <p:nvPr/>
        </p:nvSpPr>
        <p:spPr>
          <a:xfrm>
            <a:off x="548640" y="5440680"/>
            <a:ext cx="11091672" cy="566928"/>
          </a:xfrm>
          <a:prstGeom prst="roundRect">
            <a:avLst>
              <a:gd name="adj" fmla="val 12903"/>
            </a:avLst>
          </a:prstGeom>
          <a:solidFill>
            <a:schemeClr val="tx2"/>
          </a:solidFill>
          <a:ln/>
        </p:spPr>
        <p:txBody>
          <a:bodyPr/>
          <a:p/>
        </p:txBody>
      </p:sp>
      <p:sp>
        <p:nvSpPr>
          <p:cNvPr id="39" name="Text 36"/>
          <p:cNvSpPr txBox="1"/>
          <p:nvPr/>
        </p:nvSpPr>
        <p:spPr>
          <a:xfrm>
            <a:off x="822960" y="5486400"/>
            <a:ext cx="10607040" cy="475488"/>
          </a:xfrm>
          <a:prstGeom prst="rect">
            <a:avLst/>
          </a:prstGeom>
          <a:noFill/>
          <a:ln/>
        </p:spPr>
        <p:txBody>
          <a:bodyPr wrap="square" lIns="0" tIns="0" rIns="0" bIns="0" rtlCol="0" anchor="ctr"/>
          <a:lstStyle/>
          <a:p>
            <a:pPr indent="0" marL="0">
              <a:buNone/>
            </a:pPr>
            <a:r>
              <a:rPr lang="en-US" sz="1350" b="1" dirty="0">
                <a:solidFill>
                  <a:schemeClr val="accent2"/>
                </a:solidFill>
              </a:rPr>
              <a:t>Ergebnis: kein Hochrisiko-KI-System. </a:t>
            </a:r>
            <a:pPr indent="0" marL="0">
              <a:buNone/>
            </a:pPr>
            <a:r>
              <a:rPr lang="en-US" sz="1350" dirty="0">
                <a:solidFill>
                  <a:schemeClr val="bg1"/>
                </a:solidFill>
              </a:rPr>
              <a:t>Die Ausnahme nach Art. 6 Abs. 3 (mit Dokumentations- und Registrierungspflicht) brauchen wir nicht, weil kein Anhang-III-Fall vorliegt.</a:t>
            </a:r>
            <a:endParaRPr lang="en-US" sz="1350" dirty="0"/>
          </a:p>
        </p:txBody>
      </p:sp>
      <p:sp>
        <p:nvSpPr>
          <p:cNvPr id="40"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EU AI Act: Was für uns trotzdem gilt</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1"/>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Valentin</a:t>
            </a:r>
            <a:endParaRPr lang="en-US" sz="15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4480560"/>
                <a:gridCol w="2194560"/>
                <a:gridCol w="4416552"/>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Pflicht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Seit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Unsere Umsetzung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r>
              <a:tr h="960120">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Art. 4 KI-Kompetenz: Anbieter und Betreiber ergreifen Maßnahmen, um die KI-Kompetenz ihres Personals zu fördern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02.02.2025; seit 27.07.2026 als Förderpflicht (KI-Omnibus)</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Einweisung von Inhaberin und Rezeption vor dem Parallelbetrieb, dokumentiert: Was kann das System, wo irrt es, wer entscheidet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868680">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Art. 50 Abs. 1 Transparenz: Nutzer erfahren, dass sie mit einer KI interagieren (entfällt, wenn offensichtlich)</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02.08.2026</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Formular und Antwort sind als KI-Prüfung gekennzeichnet; Ampel als „Empfehlung, keine Entscheidung“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777240">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Pflichten für Hochrisiko-Betreiber (Art. 26)</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entfällt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Trotzdem freiwillig übernommen (Art. 95): menschliche Aufsicht, Protokoll jeder Prüfung, Fundstelle je Befund</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777240">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Pflichten für KI-Modelle mit allgemeinem Verwendungszweck (Art. 53 ff.)</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trifft OpenAI</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Nicht unsere Pflicht als Anbieter des Gesamtsystems; Modellwahl dokumentiert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bl>
          </a:graphicData>
        </a:graphic>
      </p:graphicFrame>
      <p:sp>
        <p:nvSpPr>
          <p:cNvPr id="7" name="Hinweis"/>
          <p:cNvSpPr/>
          <p:nvPr/>
        </p:nvSpPr>
        <p:spPr>
          <a:xfrm>
            <a:off x="548640" y="5257800"/>
            <a:ext cx="11091672" cy="685800"/>
          </a:xfrm>
          <a:prstGeom prst="roundRect">
            <a:avLst>
              <a:gd name="adj" fmla="val 10667"/>
            </a:avLst>
          </a:prstGeom>
          <a:solidFill>
            <a:schemeClr val="bg2"/>
          </a:solidFill>
          <a:ln/>
        </p:spPr>
        <p:txBody>
          <a:bodyPr/>
          <a:p/>
        </p:txBody>
      </p:sp>
      <p:sp>
        <p:nvSpPr>
          <p:cNvPr id="8" name="Text 4"/>
          <p:cNvSpPr txBox="1"/>
          <p:nvPr/>
        </p:nvSpPr>
        <p:spPr>
          <a:xfrm>
            <a:off x="822960" y="5349240"/>
            <a:ext cx="10515600" cy="502920"/>
          </a:xfrm>
          <a:prstGeom prst="rect">
            <a:avLst/>
          </a:prstGeom>
          <a:noFill/>
          <a:ln/>
        </p:spPr>
        <p:txBody>
          <a:bodyPr wrap="square" lIns="0" tIns="0" rIns="0" bIns="0" rtlCol="0" anchor="ctr"/>
          <a:lstStyle/>
          <a:p>
            <a:pPr indent="0" marL="0">
              <a:buNone/>
            </a:pPr>
            <a:r>
              <a:rPr lang="en-US" sz="1300" b="1" dirty="0">
                <a:solidFill>
                  <a:schemeClr val="tx2"/>
                </a:solidFill>
              </a:rPr>
              <a:t>Zu prüfen vor Echtbetrieb: </a:t>
            </a:r>
            <a:pPr indent="0" marL="0">
              <a:buNone/>
            </a:pPr>
            <a:r>
              <a:rPr lang="en-US" sz="1300" dirty="0">
                <a:solidFill>
                  <a:schemeClr val="tx1"/>
                </a:solidFill>
              </a:rPr>
              <a:t>Art. 50 Abs. 2 (maschinenlesbare Kennzeichnung erzeugter Inhalte) zielt auf Generatoren synthetischer Inhalte – ob er interne Prüfbefunde erfasst, klären wir.</a:t>
            </a:r>
            <a:endParaRPr lang="en-US" sz="1300" dirty="0"/>
          </a:p>
        </p:txBody>
      </p:sp>
      <p:sp>
        <p:nvSpPr>
          <p:cNvPr id="9" name="Text 5"/>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KI-Verordnung (EU) 2024/1689, geändert durch VO (EU) 2026/1744 (KI-Omnibus, in Kraft seit 27.07.2026) · Quellen im Anhang</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DSGVO und Berufsgeheimnis</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1"/>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Valentin</a:t>
            </a:r>
            <a:endParaRPr lang="en-US" sz="15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2834640"/>
                <a:gridCol w="3566160"/>
                <a:gridCol w="4690872"/>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Thema</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Norm</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Umsetzung</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r>
              <a:tr h="502920">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Gesundheitsdaten</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Art. 4 Nr. 15, Art. 9 Abs. 1 DSGVO</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Verordnungen sind besonders geschützt; Prototyp nur mit synthetischen Daten</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621792">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Rechtsgrundlage (Echtbetrieb)</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Art. 9 Abs. 2 lit. h, Abs. 3 DSGVO i. V. m. § 22 Abs. 1 Nr. 1 lit. b BDSG</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Verarbeitung zur Verwaltung im Gesundheitsbereich durch Personal mit Schweigepflicht</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502920">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Datenminimierung, Datenschutz durch Technik</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Art. 5 Abs. 1 lit. c, Art. 25</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Patientendaten vor dem Modell ersetzt, Pseudonym statt Name; Chat: NER-Modell plus Regeln, Formular: Regeln</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621792">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Dienstleister</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Art. 28; § 203 Abs. 3, 4 StGB</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Auftragsverarbeitung mit n8n, OpenAI, Supabase; Verpflichtung zur Verschwiegenheit</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502920">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Drittland</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Art. 44 ff.</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Supabase in Frankfurt; für OpenAI EU-Datenresidenz oder Data Privacy Framework prüfen</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502920">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Sicherheit</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Art. 32</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Zugriffsschutz auf Zeilenebene, Schlüssel nie im Repository, Anmeldung</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Keine automatisierte Entscheidung</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Art. 22</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Die Rezeption entscheidet über jede Verordnung</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502920">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Folgenabschätzung</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Art. 35, Erwägungsgrund 91</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Vor Echtbetrieb prüfen und dokumentieren (neue Technologie + Gesundheitsdaten)</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Physiotherapeutinnen sind Berufsgeheimnisträgerinnen (§ 203 Abs. 1 Nr. 1 StGB) – Dienstleister sind „mitwirkende Personen“: sorgfältig auswählen, zur Verschwiegenheit verpflichten, nur Erforderliches offenbaren</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Der Workflow in n8n: vom Formular zur Ampel</a:t>
            </a:r>
            <a:endParaRPr lang="en-US" sz="2800" dirty="0"/>
          </a:p>
        </p:txBody>
      </p:sp>
      <p:sp>
        <p:nvSpPr>
          <p:cNvPr id="4" name="Rolleninhaber"/>
          <p:cNvSpPr/>
          <p:nvPr/>
        </p:nvSpPr>
        <p:spPr>
          <a:xfrm>
            <a:off x="10195560" y="457200"/>
            <a:ext cx="1463040" cy="438912"/>
          </a:xfrm>
          <a:prstGeom prst="roundRect">
            <a:avLst>
              <a:gd name="adj" fmla="val 50000"/>
            </a:avLst>
          </a:prstGeom>
          <a:solidFill>
            <a:schemeClr val="accent3"/>
          </a:solidFill>
          <a:ln/>
        </p:spPr>
        <p:txBody>
          <a:bodyPr/>
          <a:p/>
        </p:txBody>
      </p:sp>
      <p:pic>
        <p:nvPicPr>
          <p:cNvPr id="5" name="Personen-Symbol" descr="preencoded.png">    </p:cNvPr>
          <p:cNvPicPr>
            <a:picLocks noChangeAspect="1"/>
          </p:cNvPicPr>
          <p:nvPr/>
        </p:nvPicPr>
        <p:blipFill>
          <a:blip r:embed="rId2"/>
          <a:stretch>
            <a:fillRect/>
          </a:stretch>
        </p:blipFill>
        <p:spPr>
          <a:xfrm>
            <a:off x="10332720" y="548640"/>
            <a:ext cx="256032" cy="256032"/>
          </a:xfrm>
          <a:prstGeom prst="rect">
            <a:avLst/>
          </a:prstGeom>
        </p:spPr>
      </p:pic>
      <p:sp>
        <p:nvSpPr>
          <p:cNvPr id="6"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Derk</a:t>
            </a:r>
            <a:endParaRPr lang="en-US" sz="1500" dirty="0"/>
          </a:p>
        </p:txBody>
      </p:sp>
      <p:sp>
        <p:nvSpPr>
          <p:cNvPr id="7"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22</a:t>
            </a:fld>
            <a:endParaRPr lang="en-US"/>
          </a:p>
        </p:txBody>
      </p:sp>
      <p:sp>
        <p:nvSpPr>
          <p:cNvPr id="8" name="Einordnung"/>
          <p:cNvSpPr/>
          <p:nvPr/>
        </p:nvSpPr>
        <p:spPr>
          <a:xfrm>
            <a:off x="8625840" y="1325880"/>
            <a:ext cx="3014472" cy="4526280"/>
          </a:xfrm>
          <a:prstGeom prst="roundRect">
            <a:avLst>
              <a:gd name="adj" fmla="val 2010"/>
            </a:avLst>
          </a:prstGeom>
          <a:solidFill>
            <a:schemeClr val="tx2"/>
          </a:solidFill>
          <a:ln/>
        </p:spPr>
        <p:txBody>
          <a:bodyPr/>
          <a:p/>
        </p:txBody>
      </p:sp>
      <p:sp>
        <p:nvSpPr>
          <p:cNvPr id="9" name="Text 4"/>
          <p:cNvSpPr txBox="1"/>
          <p:nvPr/>
        </p:nvSpPr>
        <p:spPr>
          <a:xfrm>
            <a:off x="8854440" y="1463040"/>
            <a:ext cx="2557272" cy="384048"/>
          </a:xfrm>
          <a:prstGeom prst="rect">
            <a:avLst/>
          </a:prstGeom>
          <a:noFill/>
          <a:ln/>
        </p:spPr>
        <p:txBody>
          <a:bodyPr wrap="square" lIns="0" tIns="0" rIns="0" bIns="0" rtlCol="0" anchor="t"/>
          <a:lstStyle/>
          <a:p>
            <a:pPr indent="0" marL="0">
              <a:buNone/>
            </a:pPr>
            <a:r>
              <a:rPr lang="en-US" sz="1800" b="1" dirty="0">
                <a:solidFill>
                  <a:schemeClr val="bg1"/>
                </a:solidFill>
                <a:latin typeface="Cambria" pitchFamily="34" charset="0"/>
                <a:ea typeface="Cambria" pitchFamily="34" charset="-122"/>
                <a:cs typeface="Cambria" pitchFamily="34" charset="-120"/>
              </a:rPr>
              <a:t>Was man sieht</a:t>
            </a:r>
            <a:endParaRPr lang="en-US" sz="1800" dirty="0"/>
          </a:p>
        </p:txBody>
      </p:sp>
      <p:sp>
        <p:nvSpPr>
          <p:cNvPr id="10" name="Text 5"/>
          <p:cNvSpPr txBox="1"/>
          <p:nvPr/>
        </p:nvSpPr>
        <p:spPr>
          <a:xfrm>
            <a:off x="8854440" y="1965960"/>
            <a:ext cx="2557272" cy="374904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bg1"/>
                </a:solidFill>
              </a:rPr>
              <a:t>35 Knoten, ein Workflow für Formular und Chat</a:t>
            </a:r>
            <a:endParaRPr lang="en-US" sz="1400" dirty="0"/>
          </a:p>
          <a:p>
            <a:pPr marL="177800" indent="-177800">
              <a:spcAft>
                <a:spcPts val="500"/>
              </a:spcAft>
              <a:buSzPct val="100000"/>
              <a:buChar char="•"/>
            </a:pPr>
            <a:r>
              <a:rPr lang="en-US" sz="1300" dirty="0">
                <a:solidFill>
                  <a:schemeClr val="bg1"/>
                </a:solidFill>
              </a:rPr>
              <a:t>Code-Knoten rechnen Fristen, Höchstmenge, Leitsymptomatik und Frequenz</a:t>
            </a:r>
            <a:endParaRPr lang="en-US" sz="1400" dirty="0"/>
          </a:p>
          <a:p>
            <a:pPr marL="177800" indent="-177800">
              <a:spcAft>
                <a:spcPts val="500"/>
              </a:spcAft>
              <a:buSzPct val="100000"/>
              <a:buChar char="•"/>
            </a:pPr>
            <a:r>
              <a:rPr lang="en-US" sz="1300" dirty="0">
                <a:solidFill>
                  <a:schemeClr val="bg1"/>
                </a:solidFill>
              </a:rPr>
              <a:t>Vier Prüf-Agenten: Formal, Diagnose, Mengen, Fristen</a:t>
            </a:r>
            <a:endParaRPr lang="en-US" sz="1400" dirty="0"/>
          </a:p>
          <a:p>
            <a:pPr marL="177800" indent="-177800">
              <a:spcAft>
                <a:spcPts val="500"/>
              </a:spcAft>
              <a:buSzPct val="100000"/>
              <a:buChar char="•"/>
            </a:pPr>
            <a:r>
              <a:rPr lang="en-US" sz="1300" dirty="0">
                <a:solidFill>
                  <a:schemeClr val="bg1"/>
                </a:solidFill>
              </a:rPr>
              <a:t>Die Ampel bildet der Code aus den Befunden</a:t>
            </a:r>
            <a:endParaRPr lang="en-US" sz="1400" dirty="0"/>
          </a:p>
          <a:p>
            <a:pPr marL="177800" indent="-177800">
              <a:spcAft>
                <a:spcPts val="500"/>
              </a:spcAft>
              <a:buSzPct val="100000"/>
              <a:buChar char="•"/>
            </a:pPr>
            <a:r>
              <a:rPr lang="en-US" sz="1300" dirty="0">
                <a:solidFill>
                  <a:schemeClr val="bg1"/>
                </a:solidFill>
              </a:rPr>
              <a:t>Test-Läufe: Median 34 s je Prüfung</a:t>
            </a:r>
            <a:endParaRPr lang="en-US" sz="1400" dirty="0"/>
          </a:p>
          <a:p>
            <a:pPr marL="0" indent="0">
              <a:spcBef>
                <a:spcPts val="1800"/>
              </a:spcBef>
              <a:spcAft>
                <a:spcPts val="500"/>
              </a:spcAft>
              <a:buNone/>
            </a:pPr>
            <a:r>
              <a:rPr lang="en-US" sz="1300" dirty="0" b="1">
                <a:solidFill>
                  <a:schemeClr val="bg1"/>
                </a:solidFill>
              </a:rPr>
              <a:t>Merkpunkt: Was sich als Regel aufschreiben lässt, rechnet der Code.</a:t>
            </a:r>
            <a:endParaRPr lang="en-US" sz="1400" dirty="0"/>
          </a:p>
        </p:txBody>
      </p:sp>
      <p:sp>
        <p:nvSpPr>
          <p:cNvPr id="11" name="Text 6"/>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Screenshot aus der n8n Cloud, Workflow „Verordnungcheck_gemerged“ · Stand 28.10.2026</a:t>
            </a:r>
            <a:endParaRPr lang="en-US" sz="1000" dirty="0"/>
          </a:p>
        </p:txBody>
      </p:sp>
      <p:sp>
        <p:nvSpPr>
          <p:cNvPr id="12" name="Werkzeug"/>
          <p:cNvSpPr/>
          <p:nvPr/>
        </p:nvSpPr>
        <p:spPr>
          <a:xfrm>
            <a:off x="548640" y="5336505"/>
            <a:ext cx="7905750" cy="515655"/>
          </a:xfrm>
          <a:prstGeom prst="roundRect">
            <a:avLst>
              <a:gd name="adj" fmla="val 3200"/>
            </a:avLst>
          </a:prstGeom>
          <a:solidFill>
            <a:schemeClr val="bg2"/>
          </a:solidFill>
          <a:ln/>
        </p:spPr>
        <p:txBody>
          <a:bodyPr/>
          <a:p/>
        </p:txBody>
      </p:sp>
      <p:sp>
        <p:nvSpPr>
          <p:cNvPr id="13" name="Text 20"/>
          <p:cNvSpPr txBox="1"/>
          <p:nvPr/>
        </p:nvSpPr>
        <p:spPr>
          <a:xfrm>
            <a:off x="731520" y="5409657"/>
            <a:ext cx="7539990" cy="369351"/>
          </a:xfrm>
          <a:prstGeom prst="rect">
            <a:avLst/>
          </a:prstGeom>
          <a:noFill/>
          <a:ln/>
        </p:spPr>
        <p:txBody>
          <a:bodyPr wrap="square" lIns="0" tIns="0" rIns="0" bIns="0" rtlCol="0" anchor="t"/>
          <a:lstStyle/>
          <a:p>
            <a:pPr indent="0" marL="0">
              <a:buNone/>
            </a:pPr>
            <a:r>
              <a:rPr lang="en-US" sz="1300" dirty="0">
                <a:solidFill>
                  <a:schemeClr val="tx1"/>
                </a:solidFill>
              </a:rPr>
              <a:t>Lesen von links nach rechts: Eingang (Formular oder Chat) → Fakten im Code → vier Prüfer → Ampel → Protokoll in Supabase → Antwort an das Formular.</a:t>
            </a:r>
            <a:endParaRPr lang="en-US" sz="1400" dirty="0"/>
          </a:p>
        </p:txBody>
      </p:sp>
      <p:pic>
        <p:nvPicPr>
          <p:cNvPr id="14" name="Screenshot n8n Workflow" descr="n8n-workflow.png"/>
          <p:cNvPicPr>
            <a:picLocks noChangeAspect="1"/>
          </p:cNvPicPr>
          <p:nvPr/>
        </p:nvPicPr>
        <p:blipFill>
          <a:blip r:embed="rId3"/>
          <a:stretch>
            <a:fillRect/>
          </a:stretch>
        </p:blipFill>
        <p:spPr>
          <a:xfrm>
            <a:off x="548640" y="1325880"/>
            <a:ext cx="7905750" cy="3919185"/>
          </a:xfrm>
          <a:prstGeom prst="rect">
            <a:avLst/>
          </a:prstGeom>
          <a:ln w="9525">
            <a:solidFill>
              <a:srgbClr val="C9D3D0"/>
            </a:solid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Bauplan: Alle vier Prüfer sind gleich aufgebaut</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3"/>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Derk</a:t>
            </a:r>
            <a:endParaRPr lang="en-US" sz="1500" dirty="0"/>
          </a:p>
        </p:txBody>
      </p:sp>
      <p:sp>
        <p:nvSpPr>
          <p:cNvPr id="6" name="Eingabe"/>
          <p:cNvSpPr/>
          <p:nvPr/>
        </p:nvSpPr>
        <p:spPr>
          <a:xfrm>
            <a:off x="548640" y="1325880"/>
            <a:ext cx="3566160" cy="2103120"/>
          </a:xfrm>
          <a:prstGeom prst="roundRect">
            <a:avLst>
              <a:gd name="adj" fmla="val 3478"/>
            </a:avLst>
          </a:prstGeom>
          <a:solidFill>
            <a:schemeClr val="bg2"/>
          </a:solidFill>
          <a:ln/>
        </p:spPr>
        <p:txBody>
          <a:bodyPr/>
          <a:p/>
        </p:txBody>
      </p:sp>
      <p:sp>
        <p:nvSpPr>
          <p:cNvPr id="7" name="Symbolkreis"/>
          <p:cNvSpPr/>
          <p:nvPr/>
        </p:nvSpPr>
        <p:spPr>
          <a:xfrm>
            <a:off x="777240" y="1481328"/>
            <a:ext cx="548640" cy="548640"/>
          </a:xfrm>
          <a:prstGeom prst="ellipse">
            <a:avLst/>
          </a:prstGeom>
          <a:solidFill>
            <a:schemeClr val="accent3"/>
          </a:solidFill>
          <a:ln/>
        </p:spPr>
        <p:txBody>
          <a:bodyPr/>
          <a:p/>
        </p:txBody>
      </p:sp>
      <p:pic>
        <p:nvPicPr>
          <p:cNvPr id="8" name="Symbol" descr="preencoded.png">    </p:cNvPr>
          <p:cNvPicPr>
            <a:picLocks noChangeAspect="1"/>
          </p:cNvPicPr>
          <p:nvPr/>
        </p:nvPicPr>
        <p:blipFill>
          <a:blip r:embed="rId2"/>
          <a:stretch>
            <a:fillRect/>
          </a:stretch>
        </p:blipFill>
        <p:spPr>
          <a:xfrm>
            <a:off x="914400" y="1618488"/>
            <a:ext cx="274320" cy="274320"/>
          </a:xfrm>
          <a:prstGeom prst="rect">
            <a:avLst/>
          </a:prstGeom>
        </p:spPr>
      </p:pic>
      <p:sp>
        <p:nvSpPr>
          <p:cNvPr id="9" name="Text 5"/>
          <p:cNvSpPr txBox="1"/>
          <p:nvPr/>
        </p:nvSpPr>
        <p:spPr>
          <a:xfrm>
            <a:off x="1463040" y="1481328"/>
            <a:ext cx="2468880" cy="548640"/>
          </a:xfrm>
          <a:prstGeom prst="rect">
            <a:avLst/>
          </a:prstGeom>
          <a:noFill/>
          <a:ln/>
        </p:spPr>
        <p:txBody>
          <a:bodyPr wrap="square" lIns="0" tIns="0" rIns="0" bIns="0" rtlCol="0" anchor="ctr"/>
          <a:lstStyle/>
          <a:p>
            <a:pPr indent="0" marL="0">
              <a:buNone/>
            </a:pPr>
            <a:r>
              <a:rPr lang="en-US" sz="1700" b="1" dirty="0">
                <a:solidFill>
                  <a:schemeClr val="tx2"/>
                </a:solidFill>
              </a:rPr>
              <a:t>Eingabe</a:t>
            </a:r>
            <a:endParaRPr lang="en-US" sz="1700" dirty="0"/>
          </a:p>
        </p:txBody>
      </p:sp>
      <p:sp>
        <p:nvSpPr>
          <p:cNvPr id="10" name="Text 6"/>
          <p:cNvSpPr txBox="1"/>
          <p:nvPr/>
        </p:nvSpPr>
        <p:spPr>
          <a:xfrm>
            <a:off x="777240" y="2194560"/>
            <a:ext cx="3154680" cy="1143000"/>
          </a:xfrm>
          <a:prstGeom prst="rect">
            <a:avLst/>
          </a:prstGeom>
          <a:noFill/>
          <a:ln/>
        </p:spPr>
        <p:txBody>
          <a:bodyPr wrap="square" lIns="0" tIns="0" rIns="0" bIns="0" rtlCol="0" anchor="t"/>
          <a:lstStyle/>
          <a:p>
            <a:pPr indent="0" marL="0">
              <a:buNone/>
            </a:pPr>
            <a:r>
              <a:rPr lang="en-US" sz="1400" dirty="0">
                <a:solidFill>
                  <a:schemeClr val="tx1"/>
                </a:solidFill>
              </a:rPr>
              <a:t>Verordnung im festen Schema (Patientendaten ersetzt) + berechnete Fakten aus dem Code (verbindlich)</a:t>
            </a:r>
            <a:endParaRPr lang="en-US" sz="1400" dirty="0"/>
          </a:p>
        </p:txBody>
      </p:sp>
      <p:sp>
        <p:nvSpPr>
          <p:cNvPr id="11" name="Pfeil"/>
          <p:cNvSpPr/>
          <p:nvPr/>
        </p:nvSpPr>
        <p:spPr>
          <a:xfrm rot="5400000">
            <a:off x="4123944" y="2304288"/>
            <a:ext cx="237744" cy="146304"/>
          </a:xfrm>
          <a:prstGeom prst="triangle">
            <a:avLst/>
          </a:prstGeom>
          <a:solidFill>
            <a:schemeClr val="accent5"/>
          </a:solidFill>
          <a:ln/>
        </p:spPr>
        <p:txBody>
          <a:bodyPr/>
          <a:p/>
        </p:txBody>
      </p:sp>
      <p:sp>
        <p:nvSpPr>
          <p:cNvPr id="12" name="Prüf-Agent"/>
          <p:cNvSpPr/>
          <p:nvPr/>
        </p:nvSpPr>
        <p:spPr>
          <a:xfrm>
            <a:off x="4297680" y="1325880"/>
            <a:ext cx="3566160" cy="2103120"/>
          </a:xfrm>
          <a:prstGeom prst="roundRect">
            <a:avLst>
              <a:gd name="adj" fmla="val 3478"/>
            </a:avLst>
          </a:prstGeom>
          <a:solidFill>
            <a:schemeClr val="tx2"/>
          </a:solidFill>
          <a:ln/>
        </p:spPr>
        <p:txBody>
          <a:bodyPr/>
          <a:p/>
        </p:txBody>
      </p:sp>
      <p:sp>
        <p:nvSpPr>
          <p:cNvPr id="13" name="Symbolkreis"/>
          <p:cNvSpPr/>
          <p:nvPr/>
        </p:nvSpPr>
        <p:spPr>
          <a:xfrm>
            <a:off x="4526280" y="1481328"/>
            <a:ext cx="548640" cy="548640"/>
          </a:xfrm>
          <a:prstGeom prst="ellipse">
            <a:avLst/>
          </a:prstGeom>
          <a:solidFill>
            <a:schemeClr val="accent2"/>
          </a:solidFill>
          <a:ln/>
        </p:spPr>
        <p:txBody>
          <a:bodyPr/>
          <a:p/>
        </p:txBody>
      </p:sp>
      <p:pic>
        <p:nvPicPr>
          <p:cNvPr id="14" name="Symbol" descr="preencoded.png">    </p:cNvPr>
          <p:cNvPicPr>
            <a:picLocks noChangeAspect="1"/>
          </p:cNvPicPr>
          <p:nvPr/>
        </p:nvPicPr>
        <p:blipFill>
          <a:blip r:embed="rId3"/>
          <a:stretch>
            <a:fillRect/>
          </a:stretch>
        </p:blipFill>
        <p:spPr>
          <a:xfrm>
            <a:off x="4663440" y="1618488"/>
            <a:ext cx="274320" cy="274320"/>
          </a:xfrm>
          <a:prstGeom prst="rect">
            <a:avLst/>
          </a:prstGeom>
        </p:spPr>
      </p:pic>
      <p:sp>
        <p:nvSpPr>
          <p:cNvPr id="15" name="Text 10"/>
          <p:cNvSpPr txBox="1"/>
          <p:nvPr/>
        </p:nvSpPr>
        <p:spPr>
          <a:xfrm>
            <a:off x="5212080" y="1481328"/>
            <a:ext cx="2468880" cy="548640"/>
          </a:xfrm>
          <a:prstGeom prst="rect">
            <a:avLst/>
          </a:prstGeom>
          <a:noFill/>
          <a:ln/>
        </p:spPr>
        <p:txBody>
          <a:bodyPr wrap="square" lIns="0" tIns="0" rIns="0" bIns="0" rtlCol="0" anchor="ctr"/>
          <a:lstStyle/>
          <a:p>
            <a:pPr indent="0" marL="0">
              <a:buNone/>
            </a:pPr>
            <a:r>
              <a:rPr lang="en-US" sz="1700" b="1" dirty="0">
                <a:solidFill>
                  <a:schemeClr val="bg1"/>
                </a:solidFill>
              </a:rPr>
              <a:t>Prüf-Agent</a:t>
            </a:r>
            <a:endParaRPr lang="en-US" sz="1700" dirty="0"/>
          </a:p>
        </p:txBody>
      </p:sp>
      <p:sp>
        <p:nvSpPr>
          <p:cNvPr id="16" name="Text 11"/>
          <p:cNvSpPr txBox="1"/>
          <p:nvPr/>
        </p:nvSpPr>
        <p:spPr>
          <a:xfrm>
            <a:off x="4526280" y="2194560"/>
            <a:ext cx="3154680" cy="1143000"/>
          </a:xfrm>
          <a:prstGeom prst="rect">
            <a:avLst/>
          </a:prstGeom>
          <a:noFill/>
          <a:ln/>
        </p:spPr>
        <p:txBody>
          <a:bodyPr wrap="square" lIns="0" tIns="0" rIns="0" bIns="0" rtlCol="0" anchor="t"/>
          <a:lstStyle/>
          <a:p>
            <a:pPr indent="0" marL="0">
              <a:buNone/>
            </a:pPr>
            <a:r>
              <a:rPr lang="en-US" sz="1400" dirty="0">
                <a:solidFill>
                  <a:schemeClr val="bg1"/>
                </a:solidFill>
              </a:rPr>
              <a:t>gpt-4.1-mini, Temperatur 0,1, max. 6 Schritte, eigenes Mandat im Systemprompt</a:t>
            </a:r>
            <a:endParaRPr lang="en-US" sz="1400" dirty="0"/>
          </a:p>
        </p:txBody>
      </p:sp>
      <p:sp>
        <p:nvSpPr>
          <p:cNvPr id="17" name="Pfeil"/>
          <p:cNvSpPr/>
          <p:nvPr/>
        </p:nvSpPr>
        <p:spPr>
          <a:xfrm rot="5400000">
            <a:off x="7872984" y="2304288"/>
            <a:ext cx="237744" cy="146304"/>
          </a:xfrm>
          <a:prstGeom prst="triangle">
            <a:avLst/>
          </a:prstGeom>
          <a:solidFill>
            <a:schemeClr val="accent5"/>
          </a:solidFill>
          <a:ln/>
        </p:spPr>
        <p:txBody>
          <a:bodyPr/>
          <a:p/>
        </p:txBody>
      </p:sp>
      <p:sp>
        <p:nvSpPr>
          <p:cNvPr id="18" name="Ausgabe"/>
          <p:cNvSpPr/>
          <p:nvPr/>
        </p:nvSpPr>
        <p:spPr>
          <a:xfrm>
            <a:off x="8046720" y="1325880"/>
            <a:ext cx="3566160" cy="2103120"/>
          </a:xfrm>
          <a:prstGeom prst="roundRect">
            <a:avLst>
              <a:gd name="adj" fmla="val 3478"/>
            </a:avLst>
          </a:prstGeom>
          <a:solidFill>
            <a:schemeClr val="bg2"/>
          </a:solidFill>
          <a:ln/>
        </p:spPr>
        <p:txBody>
          <a:bodyPr/>
          <a:p/>
        </p:txBody>
      </p:sp>
      <p:sp>
        <p:nvSpPr>
          <p:cNvPr id="19" name="Symbolkreis"/>
          <p:cNvSpPr/>
          <p:nvPr/>
        </p:nvSpPr>
        <p:spPr>
          <a:xfrm>
            <a:off x="8275320" y="1481328"/>
            <a:ext cx="548640" cy="548640"/>
          </a:xfrm>
          <a:prstGeom prst="ellipse">
            <a:avLst/>
          </a:prstGeom>
          <a:solidFill>
            <a:schemeClr val="accent3"/>
          </a:solidFill>
          <a:ln/>
        </p:spPr>
        <p:txBody>
          <a:bodyPr/>
          <a:p/>
        </p:txBody>
      </p:sp>
      <p:pic>
        <p:nvPicPr>
          <p:cNvPr id="20" name="Symbol" descr="preencoded.png">    </p:cNvPr>
          <p:cNvPicPr>
            <a:picLocks noChangeAspect="1"/>
          </p:cNvPicPr>
          <p:nvPr/>
        </p:nvPicPr>
        <p:blipFill>
          <a:blip r:embed="rId4"/>
          <a:stretch>
            <a:fillRect/>
          </a:stretch>
        </p:blipFill>
        <p:spPr>
          <a:xfrm>
            <a:off x="8412480" y="1618488"/>
            <a:ext cx="274320" cy="274320"/>
          </a:xfrm>
          <a:prstGeom prst="rect">
            <a:avLst/>
          </a:prstGeom>
        </p:spPr>
      </p:pic>
      <p:sp>
        <p:nvSpPr>
          <p:cNvPr id="21" name="Text 15"/>
          <p:cNvSpPr txBox="1"/>
          <p:nvPr/>
        </p:nvSpPr>
        <p:spPr>
          <a:xfrm>
            <a:off x="8961120" y="1481328"/>
            <a:ext cx="2468880" cy="548640"/>
          </a:xfrm>
          <a:prstGeom prst="rect">
            <a:avLst/>
          </a:prstGeom>
          <a:noFill/>
          <a:ln/>
        </p:spPr>
        <p:txBody>
          <a:bodyPr wrap="square" lIns="0" tIns="0" rIns="0" bIns="0" rtlCol="0" anchor="ctr"/>
          <a:lstStyle/>
          <a:p>
            <a:pPr indent="0" marL="0">
              <a:buNone/>
            </a:pPr>
            <a:r>
              <a:rPr lang="en-US" sz="1700" b="1" dirty="0">
                <a:solidFill>
                  <a:schemeClr val="tx2"/>
                </a:solidFill>
              </a:rPr>
              <a:t>Ausgabe</a:t>
            </a:r>
            <a:endParaRPr lang="en-US" sz="1700" dirty="0"/>
          </a:p>
        </p:txBody>
      </p:sp>
      <p:sp>
        <p:nvSpPr>
          <p:cNvPr id="22" name="Text 16"/>
          <p:cNvSpPr txBox="1"/>
          <p:nvPr/>
        </p:nvSpPr>
        <p:spPr>
          <a:xfrm>
            <a:off x="8275320" y="2194560"/>
            <a:ext cx="3154680" cy="1143000"/>
          </a:xfrm>
          <a:prstGeom prst="rect">
            <a:avLst/>
          </a:prstGeom>
          <a:noFill/>
          <a:ln/>
        </p:spPr>
        <p:txBody>
          <a:bodyPr wrap="square" lIns="0" tIns="0" rIns="0" bIns="0" rtlCol="0" anchor="t"/>
          <a:lstStyle/>
          <a:p>
            <a:pPr indent="0" marL="0">
              <a:buNone/>
            </a:pPr>
            <a:r>
              <a:rPr lang="en-US" sz="1400" dirty="0">
                <a:solidFill>
                  <a:schemeClr val="tx1"/>
                </a:solidFill>
              </a:rPr>
              <a:t>JSON: Prüfer, Befund je Feld mit Status, Fundstelle, Korrekturhinweis</a:t>
            </a:r>
            <a:endParaRPr lang="en-US" sz="1400" dirty="0"/>
          </a:p>
        </p:txBody>
      </p:sp>
      <p:sp>
        <p:nvSpPr>
          <p:cNvPr id="23" name="Werkzeug"/>
          <p:cNvSpPr/>
          <p:nvPr/>
        </p:nvSpPr>
        <p:spPr>
          <a:xfrm>
            <a:off x="548640" y="3611880"/>
            <a:ext cx="5394960" cy="2286000"/>
          </a:xfrm>
          <a:prstGeom prst="roundRect">
            <a:avLst>
              <a:gd name="adj" fmla="val 3200"/>
            </a:avLst>
          </a:prstGeom>
          <a:solidFill>
            <a:schemeClr val="bg2"/>
          </a:solidFill>
          <a:ln/>
        </p:spPr>
        <p:txBody>
          <a:bodyPr/>
          <a:p/>
        </p:txBody>
      </p:sp>
      <p:sp>
        <p:nvSpPr>
          <p:cNvPr id="24" name="Symbolkreis"/>
          <p:cNvSpPr/>
          <p:nvPr/>
        </p:nvSpPr>
        <p:spPr>
          <a:xfrm>
            <a:off x="777240" y="3749040"/>
            <a:ext cx="502920" cy="502920"/>
          </a:xfrm>
          <a:prstGeom prst="ellipse">
            <a:avLst/>
          </a:prstGeom>
          <a:solidFill>
            <a:schemeClr val="accent3"/>
          </a:solidFill>
          <a:ln/>
        </p:spPr>
        <p:txBody>
          <a:bodyPr/>
          <a:p/>
        </p:txBody>
      </p:sp>
      <p:pic>
        <p:nvPicPr>
          <p:cNvPr id="25" name="Symbol" descr="preencoded.png">    </p:cNvPr>
          <p:cNvPicPr>
            <a:picLocks noChangeAspect="1"/>
          </p:cNvPicPr>
          <p:nvPr/>
        </p:nvPicPr>
        <p:blipFill>
          <a:blip r:embed="rId5"/>
          <a:stretch>
            <a:fillRect/>
          </a:stretch>
        </p:blipFill>
        <p:spPr>
          <a:xfrm>
            <a:off x="902970" y="3874770"/>
            <a:ext cx="251460" cy="251460"/>
          </a:xfrm>
          <a:prstGeom prst="rect">
            <a:avLst/>
          </a:prstGeom>
        </p:spPr>
      </p:pic>
      <p:sp>
        <p:nvSpPr>
          <p:cNvPr id="26" name="Text 19"/>
          <p:cNvSpPr txBox="1"/>
          <p:nvPr/>
        </p:nvSpPr>
        <p:spPr>
          <a:xfrm>
            <a:off x="1417320" y="3749040"/>
            <a:ext cx="4114800" cy="502920"/>
          </a:xfrm>
          <a:prstGeom prst="rect">
            <a:avLst/>
          </a:prstGeom>
          <a:noFill/>
          <a:ln/>
        </p:spPr>
        <p:txBody>
          <a:bodyPr wrap="square" lIns="0" tIns="0" rIns="0" bIns="0" rtlCol="0" anchor="ctr"/>
          <a:lstStyle/>
          <a:p>
            <a:pPr indent="0" marL="0">
              <a:buNone/>
            </a:pPr>
            <a:r>
              <a:rPr lang="en-US" sz="1600" b="1" dirty="0">
                <a:solidFill>
                  <a:schemeClr val="tx2"/>
                </a:solidFill>
              </a:rPr>
              <a:t>Werkzeug „Regelwerk“</a:t>
            </a:r>
            <a:endParaRPr lang="en-US" sz="1600" dirty="0"/>
          </a:p>
        </p:txBody>
      </p:sp>
      <p:sp>
        <p:nvSpPr>
          <p:cNvPr id="27" name="Text 20"/>
          <p:cNvSpPr txBox="1"/>
          <p:nvPr/>
        </p:nvSpPr>
        <p:spPr>
          <a:xfrm>
            <a:off x="777240" y="4343400"/>
            <a:ext cx="4937760" cy="1463040"/>
          </a:xfrm>
          <a:prstGeom prst="rect">
            <a:avLst/>
          </a:prstGeom>
          <a:noFill/>
          <a:ln/>
        </p:spPr>
        <p:txBody>
          <a:bodyPr wrap="square" lIns="0" tIns="0" rIns="0" bIns="0" rtlCol="0" anchor="t"/>
          <a:lstStyle/>
          <a:p>
            <a:pPr indent="0" marL="0">
              <a:buNone/>
            </a:pPr>
            <a:r>
              <a:rPr lang="en-US" sz="1400" dirty="0">
                <a:solidFill>
                  <a:schemeClr val="tx1"/>
                </a:solidFill>
              </a:rPr>
              <a:t>Vektorsuche in Supabase, 5 Treffer, je Prüfer eigener Ausschnitt der Wissensbasis. Der Fristen-Prüfer braucht keine Suche – seine Regel steht fest.</a:t>
            </a:r>
            <a:endParaRPr lang="en-US" sz="1400" dirty="0"/>
          </a:p>
        </p:txBody>
      </p:sp>
      <p:sp>
        <p:nvSpPr>
          <p:cNvPr id="28" name="Regeln"/>
          <p:cNvSpPr/>
          <p:nvPr/>
        </p:nvSpPr>
        <p:spPr>
          <a:xfrm>
            <a:off x="6126480" y="3611880"/>
            <a:ext cx="5513832" cy="2286000"/>
          </a:xfrm>
          <a:prstGeom prst="roundRect">
            <a:avLst>
              <a:gd name="adj" fmla="val 3200"/>
            </a:avLst>
          </a:prstGeom>
          <a:solidFill>
            <a:schemeClr val="tx2"/>
          </a:solidFill>
          <a:ln/>
        </p:spPr>
        <p:txBody>
          <a:bodyPr/>
          <a:p/>
        </p:txBody>
      </p:sp>
      <p:sp>
        <p:nvSpPr>
          <p:cNvPr id="29" name="Text 22"/>
          <p:cNvSpPr txBox="1"/>
          <p:nvPr/>
        </p:nvSpPr>
        <p:spPr>
          <a:xfrm>
            <a:off x="6400800" y="3749040"/>
            <a:ext cx="5029200" cy="411480"/>
          </a:xfrm>
          <a:prstGeom prst="rect">
            <a:avLst/>
          </a:prstGeom>
          <a:noFill/>
          <a:ln/>
        </p:spPr>
        <p:txBody>
          <a:bodyPr wrap="square" lIns="0" tIns="0" rIns="0" bIns="0" rtlCol="0" anchor="t"/>
          <a:lstStyle/>
          <a:p>
            <a:pPr indent="0" marL="0">
              <a:buNone/>
            </a:pPr>
            <a:r>
              <a:rPr lang="en-US" sz="1600" b="1" dirty="0">
                <a:solidFill>
                  <a:schemeClr val="bg1"/>
                </a:solidFill>
              </a:rPr>
              <a:t>Gemeinsame Regeln für alle Prüfer</a:t>
            </a:r>
            <a:endParaRPr lang="en-US" sz="1600" dirty="0"/>
          </a:p>
        </p:txBody>
      </p:sp>
      <p:sp>
        <p:nvSpPr>
          <p:cNvPr id="30" name="Text 23"/>
          <p:cNvSpPr txBox="1"/>
          <p:nvPr/>
        </p:nvSpPr>
        <p:spPr>
          <a:xfrm>
            <a:off x="6400800" y="4251960"/>
            <a:ext cx="5029200" cy="155448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bg1"/>
                </a:solidFill>
              </a:rPr>
              <a:t>Nur das eigene Mandat prüfen</a:t>
            </a:r>
            <a:endParaRPr lang="en-US" sz="1400" dirty="0"/>
          </a:p>
          <a:p>
            <a:pPr marL="177800" indent="-177800">
              <a:spcAft>
                <a:spcPts val="500"/>
              </a:spcAft>
              <a:buSzPct val="100000"/>
              <a:buChar char="•"/>
            </a:pPr>
            <a:r>
              <a:rPr lang="en-US" sz="1300" dirty="0">
                <a:solidFill>
                  <a:schemeClr val="bg1"/>
                </a:solidFill>
              </a:rPr>
              <a:t>Keine Paragrafen erfinden – jede Regel mit Fundstelle</a:t>
            </a:r>
            <a:endParaRPr lang="en-US" sz="1400" dirty="0"/>
          </a:p>
          <a:p>
            <a:pPr marL="177800" indent="-177800">
              <a:spcAft>
                <a:spcPts val="500"/>
              </a:spcAft>
              <a:buSzPct val="100000"/>
              <a:buChar char="•"/>
            </a:pPr>
            <a:r>
              <a:rPr lang="en-US" sz="1300" dirty="0">
                <a:solidFill>
                  <a:schemeClr val="bg1"/>
                </a:solidFill>
              </a:rPr>
              <a:t>Keine Fundstelle gefunden: höchstens „Hinweis“</a:t>
            </a:r>
            <a:endParaRPr lang="en-US" sz="1400" dirty="0"/>
          </a:p>
          <a:p>
            <a:pPr marL="177800" indent="-177800">
              <a:spcAft>
                <a:spcPts val="500"/>
              </a:spcAft>
              <a:buSzPct val="100000"/>
              <a:buChar char="•"/>
            </a:pPr>
            <a:r>
              <a:rPr lang="en-US" sz="1300" dirty="0">
                <a:solidFill>
                  <a:schemeClr val="bg1"/>
                </a:solidFill>
              </a:rPr>
              <a:t>Berechnete Fakten haben Vorrang vor eigener Einschätzung</a:t>
            </a:r>
            <a:endParaRPr lang="en-US" sz="1400" dirty="0"/>
          </a:p>
        </p:txBody>
      </p:sp>
      <p:sp>
        <p:nvSpPr>
          <p:cNvPr id="31"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Die vier Prüfer: wer prüft was</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3"/>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Derk</a:t>
            </a:r>
            <a:endParaRPr lang="en-US" sz="15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1280160"/>
                <a:gridCol w="3749040"/>
                <a:gridCol w="3017520"/>
                <a:gridCol w="3044952"/>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Prüfer</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76F5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Mandat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76F5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Fakten aus dem Code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76F5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Beispiel aus dem Test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76F51"/>
                    </a:solidFill>
                  </a:tcPr>
                </a:tc>
              </a:tr>
              <a:tr h="777240">
                <a:tc>
                  <a:txBody>
                    <a:bodyPr/>
                    <a:lstStyle/>
                    <a:p>
                      <a:pPr indent="0" marL="0">
                        <a:buNone/>
                      </a:pPr>
                      <a:r>
                        <a:rPr lang="en-US" sz="1300" b="1" dirty="0">
                          <a:solidFill>
                            <a:srgbClr val="E76F51"/>
                          </a:solidFill>
                          <a:latin typeface="Calibri" pitchFamily="34" charset="0"/>
                          <a:ea typeface="Calibri" pitchFamily="34" charset="-122"/>
                          <a:cs typeface="Calibri" pitchFamily="34" charset="-120"/>
                        </a:rPr>
                        <a:t>Formal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Vollständigkeit der Pflichtangaben (10 Felder, HeilM-RL § 13)</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Pflichtangaben ja/nein, LANR/BSNR-Format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LANR und Leitsymptomatik fehlen → rot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914400">
                <a:tc>
                  <a:txBody>
                    <a:bodyPr/>
                    <a:lstStyle/>
                    <a:p>
                      <a:pPr indent="0" marL="0">
                        <a:buNone/>
                      </a:pPr>
                      <a:r>
                        <a:rPr lang="en-US" sz="1300" b="1" dirty="0">
                          <a:solidFill>
                            <a:srgbClr val="E76F51"/>
                          </a:solidFill>
                          <a:latin typeface="Calibri" pitchFamily="34" charset="0"/>
                          <a:ea typeface="Calibri" pitchFamily="34" charset="-122"/>
                          <a:cs typeface="Calibri" pitchFamily="34" charset="-120"/>
                        </a:rPr>
                        <a:t>Diagnose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ICD-Code ↔ Diagnosegruppe, Leitsymptomatik, besonderer Verordnungsbedarf (KBV-Liste)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Passende Gruppe zum ICD-Code, Leitsymptomatik zulässig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Schulter-Code mit Wirbelsäulen-Gruppe → rot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777240">
                <a:tc>
                  <a:txBody>
                    <a:bodyPr/>
                    <a:lstStyle/>
                    <a:p>
                      <a:pPr indent="0" marL="0">
                        <a:buNone/>
                      </a:pPr>
                      <a:r>
                        <a:rPr lang="en-US" sz="1300" b="1" dirty="0">
                          <a:solidFill>
                            <a:srgbClr val="E76F51"/>
                          </a:solidFill>
                          <a:latin typeface="Calibri" pitchFamily="34" charset="0"/>
                          <a:ea typeface="Calibri" pitchFamily="34" charset="-122"/>
                          <a:cs typeface="Calibri" pitchFamily="34" charset="-120"/>
                        </a:rPr>
                        <a:t>Mengen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Höchstmenge je Verordnung, max. 3 vorrangige Heilmittel, Frequenz</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Summe vorrangiger Einheiten, Anzahl Heilmittel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10 Einheiten bei Wirbelsäule → rot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777240">
                <a:tc>
                  <a:txBody>
                    <a:bodyPr/>
                    <a:lstStyle/>
                    <a:p>
                      <a:pPr indent="0" marL="0">
                        <a:buNone/>
                      </a:pPr>
                      <a:r>
                        <a:rPr lang="en-US" sz="1300" b="1" dirty="0">
                          <a:solidFill>
                            <a:srgbClr val="E76F51"/>
                          </a:solidFill>
                          <a:latin typeface="Calibri" pitchFamily="34" charset="0"/>
                          <a:ea typeface="Calibri" pitchFamily="34" charset="-122"/>
                          <a:cs typeface="Calibri" pitchFamily="34" charset="-120"/>
                        </a:rPr>
                        <a:t>Fristen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Behandlungsbeginn, Unterbrechung (HeilM-RL § 15, § 16)</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Tage bis Beginn, Grenze 28/14, Unterbrechung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Beginn nach 41 Tagen → rot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bl>
          </a:graphicData>
        </a:graphic>
      </p:graphicFrame>
      <p:sp>
        <p:nvSpPr>
          <p:cNvPr id="7" name="Sprint 2"/>
          <p:cNvSpPr/>
          <p:nvPr/>
        </p:nvSpPr>
        <p:spPr>
          <a:xfrm>
            <a:off x="548640" y="5166360"/>
            <a:ext cx="11091672" cy="777240"/>
          </a:xfrm>
          <a:prstGeom prst="roundRect">
            <a:avLst>
              <a:gd name="adj" fmla="val 9412"/>
            </a:avLst>
          </a:prstGeom>
          <a:solidFill>
            <a:schemeClr val="bg2"/>
          </a:solidFill>
          <a:ln/>
        </p:spPr>
        <p:txBody>
          <a:bodyPr/>
          <a:p/>
        </p:txBody>
      </p:sp>
      <p:sp>
        <p:nvSpPr>
          <p:cNvPr id="8" name="Text 4"/>
          <p:cNvSpPr txBox="1"/>
          <p:nvPr/>
        </p:nvSpPr>
        <p:spPr>
          <a:xfrm>
            <a:off x="822960" y="5257800"/>
            <a:ext cx="10515600" cy="594360"/>
          </a:xfrm>
          <a:prstGeom prst="rect">
            <a:avLst/>
          </a:prstGeom>
          <a:noFill/>
          <a:ln/>
        </p:spPr>
        <p:txBody>
          <a:bodyPr wrap="square" lIns="0" tIns="0" rIns="0" bIns="0" rtlCol="0" anchor="ctr"/>
          <a:lstStyle/>
          <a:p>
            <a:pPr indent="0" marL="0">
              <a:buNone/>
            </a:pPr>
            <a:r>
              <a:rPr lang="en-US" sz="1400" b="1" dirty="0">
                <a:solidFill>
                  <a:schemeClr val="tx2"/>
                </a:solidFill>
              </a:rPr>
              <a:t>Sprint 2 – Verordnungsfall-Prüfung: </a:t>
            </a:r>
            <a:pPr indent="0" marL="0">
              <a:buNone/>
            </a:pPr>
            <a:r>
              <a:rPr lang="en-US" sz="1400" dirty="0">
                <a:solidFill>
                  <a:schemeClr val="tx1"/>
                </a:solidFill>
              </a:rPr>
              <a:t>Der Mengen-Prüfer bekommt die Summe aller Einheiten im Verordnungsfall (§ 7 HeilM-RL) als Fakt. Das deckt die Folgeverordnungen ab – 90 % der Fehler.</a:t>
            </a:r>
            <a:endParaRPr lang="en-US" sz="14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bg1"/>
                </a:solidFill>
                <a:latin typeface="Cambria" pitchFamily="34" charset="0"/>
                <a:ea typeface="Cambria" pitchFamily="34" charset="-122"/>
                <a:cs typeface="Cambria" pitchFamily="34" charset="-120"/>
              </a:rPr>
              <a:t>Live-Demo: eine Verordnung in 30 Sekunden prüfen</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bg1"/>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accent3"/>
                </a:solidFill>
              </a:rPr>
              <a:t>Derk</a:t>
            </a:r>
            <a:endParaRPr lang="en-US" sz="1500" dirty="0"/>
          </a:p>
        </p:txBody>
      </p:sp>
      <p:sp>
        <p:nvSpPr>
          <p:cNvPr id="6" name="Demo-Schritt"/>
          <p:cNvSpPr/>
          <p:nvPr/>
        </p:nvSpPr>
        <p:spPr>
          <a:xfrm>
            <a:off x="548640" y="1463040"/>
            <a:ext cx="2651760" cy="2377440"/>
          </a:xfrm>
          <a:prstGeom prst="roundRect">
            <a:avLst>
              <a:gd name="adj" fmla="val 3077"/>
            </a:avLst>
          </a:prstGeom>
          <a:solidFill>
            <a:schemeClr val="accent6"/>
          </a:solidFill>
          <a:ln/>
        </p:spPr>
        <p:txBody>
          <a:bodyPr/>
          <a:p/>
        </p:txBody>
      </p:sp>
      <p:sp>
        <p:nvSpPr>
          <p:cNvPr id="7" name="Symbolkreis"/>
          <p:cNvSpPr/>
          <p:nvPr/>
        </p:nvSpPr>
        <p:spPr>
          <a:xfrm>
            <a:off x="777240" y="1645920"/>
            <a:ext cx="594360" cy="594360"/>
          </a:xfrm>
          <a:prstGeom prst="ellipse">
            <a:avLst/>
          </a:prstGeom>
          <a:solidFill>
            <a:schemeClr val="accent3"/>
          </a:solidFill>
          <a:ln/>
        </p:spPr>
        <p:txBody>
          <a:bodyPr/>
          <a:p/>
        </p:txBody>
      </p:sp>
      <p:pic>
        <p:nvPicPr>
          <p:cNvPr id="8" name="Symbol" descr="preencoded.png">    </p:cNvPr>
          <p:cNvPicPr>
            <a:picLocks noChangeAspect="1"/>
          </p:cNvPicPr>
          <p:nvPr/>
        </p:nvPicPr>
        <p:blipFill>
          <a:blip r:embed="rId2"/>
          <a:stretch>
            <a:fillRect/>
          </a:stretch>
        </p:blipFill>
        <p:spPr>
          <a:xfrm>
            <a:off x="925830" y="1794510"/>
            <a:ext cx="297180" cy="297180"/>
          </a:xfrm>
          <a:prstGeom prst="rect">
            <a:avLst/>
          </a:prstGeom>
        </p:spPr>
      </p:pic>
      <p:sp>
        <p:nvSpPr>
          <p:cNvPr id="9" name="Text 5"/>
          <p:cNvSpPr txBox="1"/>
          <p:nvPr/>
        </p:nvSpPr>
        <p:spPr>
          <a:xfrm>
            <a:off x="777240" y="2377440"/>
            <a:ext cx="2286000" cy="365760"/>
          </a:xfrm>
          <a:prstGeom prst="rect">
            <a:avLst/>
          </a:prstGeom>
          <a:noFill/>
          <a:ln/>
        </p:spPr>
        <p:txBody>
          <a:bodyPr wrap="square" lIns="0" tIns="0" rIns="0" bIns="0" rtlCol="0" anchor="t"/>
          <a:lstStyle/>
          <a:p>
            <a:pPr indent="0" marL="0">
              <a:buNone/>
            </a:pPr>
            <a:r>
              <a:rPr lang="en-US" sz="1700" b="1" dirty="0">
                <a:solidFill>
                  <a:schemeClr val="bg1"/>
                </a:solidFill>
              </a:rPr>
              <a:t>1 · Formular</a:t>
            </a:r>
            <a:endParaRPr lang="en-US" sz="1700" dirty="0"/>
          </a:p>
        </p:txBody>
      </p:sp>
      <p:sp>
        <p:nvSpPr>
          <p:cNvPr id="10" name="Text 6"/>
          <p:cNvSpPr txBox="1"/>
          <p:nvPr/>
        </p:nvSpPr>
        <p:spPr>
          <a:xfrm>
            <a:off x="777240" y="2788920"/>
            <a:ext cx="2286000" cy="914400"/>
          </a:xfrm>
          <a:prstGeom prst="rect">
            <a:avLst/>
          </a:prstGeom>
          <a:noFill/>
          <a:ln/>
        </p:spPr>
        <p:txBody>
          <a:bodyPr wrap="square" lIns="0" tIns="0" rIns="0" bIns="0" rtlCol="0" anchor="t"/>
          <a:lstStyle/>
          <a:p>
            <a:pPr indent="0" marL="0">
              <a:buNone/>
            </a:pPr>
            <a:r>
              <a:rPr lang="en-US" sz="1400" dirty="0">
                <a:solidFill>
                  <a:schemeClr val="bg2"/>
                </a:solidFill>
              </a:rPr>
              <a:t>Muster 13 ausfüllen (synthetische Daten)</a:t>
            </a:r>
            <a:endParaRPr lang="en-US" sz="1400" dirty="0"/>
          </a:p>
        </p:txBody>
      </p:sp>
      <p:sp>
        <p:nvSpPr>
          <p:cNvPr id="11" name="Demo-Schritt"/>
          <p:cNvSpPr/>
          <p:nvPr/>
        </p:nvSpPr>
        <p:spPr>
          <a:xfrm>
            <a:off x="3355848" y="1463040"/>
            <a:ext cx="2651760" cy="2377440"/>
          </a:xfrm>
          <a:prstGeom prst="roundRect">
            <a:avLst>
              <a:gd name="adj" fmla="val 3077"/>
            </a:avLst>
          </a:prstGeom>
          <a:solidFill>
            <a:schemeClr val="accent6"/>
          </a:solidFill>
          <a:ln/>
        </p:spPr>
        <p:txBody>
          <a:bodyPr/>
          <a:p/>
        </p:txBody>
      </p:sp>
      <p:sp>
        <p:nvSpPr>
          <p:cNvPr id="12" name="Symbolkreis"/>
          <p:cNvSpPr/>
          <p:nvPr/>
        </p:nvSpPr>
        <p:spPr>
          <a:xfrm>
            <a:off x="3584448" y="1645920"/>
            <a:ext cx="594360" cy="594360"/>
          </a:xfrm>
          <a:prstGeom prst="ellipse">
            <a:avLst/>
          </a:prstGeom>
          <a:solidFill>
            <a:schemeClr val="accent3"/>
          </a:solidFill>
          <a:ln/>
        </p:spPr>
        <p:txBody>
          <a:bodyPr/>
          <a:p/>
        </p:txBody>
      </p:sp>
      <p:pic>
        <p:nvPicPr>
          <p:cNvPr id="13" name="Symbol" descr="preencoded.png">    </p:cNvPr>
          <p:cNvPicPr>
            <a:picLocks noChangeAspect="1"/>
          </p:cNvPicPr>
          <p:nvPr/>
        </p:nvPicPr>
        <p:blipFill>
          <a:blip r:embed="rId3"/>
          <a:stretch>
            <a:fillRect/>
          </a:stretch>
        </p:blipFill>
        <p:spPr>
          <a:xfrm>
            <a:off x="3733038" y="1794510"/>
            <a:ext cx="297180" cy="297180"/>
          </a:xfrm>
          <a:prstGeom prst="rect">
            <a:avLst/>
          </a:prstGeom>
        </p:spPr>
      </p:pic>
      <p:sp>
        <p:nvSpPr>
          <p:cNvPr id="14" name="Text 9"/>
          <p:cNvSpPr txBox="1"/>
          <p:nvPr/>
        </p:nvSpPr>
        <p:spPr>
          <a:xfrm>
            <a:off x="3584448" y="2377440"/>
            <a:ext cx="2286000" cy="365760"/>
          </a:xfrm>
          <a:prstGeom prst="rect">
            <a:avLst/>
          </a:prstGeom>
          <a:noFill/>
          <a:ln/>
        </p:spPr>
        <p:txBody>
          <a:bodyPr wrap="square" lIns="0" tIns="0" rIns="0" bIns="0" rtlCol="0" anchor="t"/>
          <a:lstStyle/>
          <a:p>
            <a:pPr indent="0" marL="0">
              <a:buNone/>
            </a:pPr>
            <a:r>
              <a:rPr lang="en-US" sz="1700" b="1" dirty="0">
                <a:solidFill>
                  <a:schemeClr val="bg1"/>
                </a:solidFill>
              </a:rPr>
              <a:t>2 · Prüfen</a:t>
            </a:r>
            <a:endParaRPr lang="en-US" sz="1700" dirty="0"/>
          </a:p>
        </p:txBody>
      </p:sp>
      <p:sp>
        <p:nvSpPr>
          <p:cNvPr id="15" name="Text 10"/>
          <p:cNvSpPr txBox="1"/>
          <p:nvPr/>
        </p:nvSpPr>
        <p:spPr>
          <a:xfrm>
            <a:off x="3584448" y="2788920"/>
            <a:ext cx="2286000" cy="914400"/>
          </a:xfrm>
          <a:prstGeom prst="rect">
            <a:avLst/>
          </a:prstGeom>
          <a:noFill/>
          <a:ln/>
        </p:spPr>
        <p:txBody>
          <a:bodyPr wrap="square" lIns="0" tIns="0" rIns="0" bIns="0" rtlCol="0" anchor="t"/>
          <a:lstStyle/>
          <a:p>
            <a:pPr indent="0" marL="0">
              <a:buNone/>
            </a:pPr>
            <a:r>
              <a:rPr lang="en-US" sz="1400" dirty="0">
                <a:solidFill>
                  <a:schemeClr val="bg2"/>
                </a:solidFill>
              </a:rPr>
              <a:t>vier Prüfer laufen nacheinander, ca. 30–35 s</a:t>
            </a:r>
            <a:endParaRPr lang="en-US" sz="1400" dirty="0"/>
          </a:p>
        </p:txBody>
      </p:sp>
      <p:sp>
        <p:nvSpPr>
          <p:cNvPr id="16" name="Demo-Schritt"/>
          <p:cNvSpPr/>
          <p:nvPr/>
        </p:nvSpPr>
        <p:spPr>
          <a:xfrm>
            <a:off x="6163056" y="1463040"/>
            <a:ext cx="2651760" cy="2377440"/>
          </a:xfrm>
          <a:prstGeom prst="roundRect">
            <a:avLst>
              <a:gd name="adj" fmla="val 3077"/>
            </a:avLst>
          </a:prstGeom>
          <a:solidFill>
            <a:schemeClr val="accent6"/>
          </a:solidFill>
          <a:ln/>
        </p:spPr>
        <p:txBody>
          <a:bodyPr/>
          <a:p/>
        </p:txBody>
      </p:sp>
      <p:sp>
        <p:nvSpPr>
          <p:cNvPr id="17" name="Symbolkreis"/>
          <p:cNvSpPr/>
          <p:nvPr/>
        </p:nvSpPr>
        <p:spPr>
          <a:xfrm>
            <a:off x="6391656" y="1645920"/>
            <a:ext cx="594360" cy="594360"/>
          </a:xfrm>
          <a:prstGeom prst="ellipse">
            <a:avLst/>
          </a:prstGeom>
          <a:solidFill>
            <a:schemeClr val="accent3"/>
          </a:solidFill>
          <a:ln/>
        </p:spPr>
        <p:txBody>
          <a:bodyPr/>
          <a:p/>
        </p:txBody>
      </p:sp>
      <p:pic>
        <p:nvPicPr>
          <p:cNvPr id="18" name="Symbol" descr="preencoded.png">    </p:cNvPr>
          <p:cNvPicPr>
            <a:picLocks noChangeAspect="1"/>
          </p:cNvPicPr>
          <p:nvPr/>
        </p:nvPicPr>
        <p:blipFill>
          <a:blip r:embed="rId4"/>
          <a:stretch>
            <a:fillRect/>
          </a:stretch>
        </p:blipFill>
        <p:spPr>
          <a:xfrm>
            <a:off x="6540246" y="1794510"/>
            <a:ext cx="297180" cy="297180"/>
          </a:xfrm>
          <a:prstGeom prst="rect">
            <a:avLst/>
          </a:prstGeom>
        </p:spPr>
      </p:pic>
      <p:sp>
        <p:nvSpPr>
          <p:cNvPr id="19" name="Text 13"/>
          <p:cNvSpPr txBox="1"/>
          <p:nvPr/>
        </p:nvSpPr>
        <p:spPr>
          <a:xfrm>
            <a:off x="6391656" y="2377440"/>
            <a:ext cx="2286000" cy="365760"/>
          </a:xfrm>
          <a:prstGeom prst="rect">
            <a:avLst/>
          </a:prstGeom>
          <a:noFill/>
          <a:ln/>
        </p:spPr>
        <p:txBody>
          <a:bodyPr wrap="square" lIns="0" tIns="0" rIns="0" bIns="0" rtlCol="0" anchor="t"/>
          <a:lstStyle/>
          <a:p>
            <a:pPr indent="0" marL="0">
              <a:buNone/>
            </a:pPr>
            <a:r>
              <a:rPr lang="en-US" sz="1700" b="1" dirty="0">
                <a:solidFill>
                  <a:schemeClr val="bg1"/>
                </a:solidFill>
              </a:rPr>
              <a:t>3 · Ergebnis</a:t>
            </a:r>
            <a:endParaRPr lang="en-US" sz="1700" dirty="0"/>
          </a:p>
        </p:txBody>
      </p:sp>
      <p:sp>
        <p:nvSpPr>
          <p:cNvPr id="20" name="Text 14"/>
          <p:cNvSpPr txBox="1"/>
          <p:nvPr/>
        </p:nvSpPr>
        <p:spPr>
          <a:xfrm>
            <a:off x="6391656" y="2788920"/>
            <a:ext cx="2286000" cy="914400"/>
          </a:xfrm>
          <a:prstGeom prst="rect">
            <a:avLst/>
          </a:prstGeom>
          <a:noFill/>
          <a:ln/>
        </p:spPr>
        <p:txBody>
          <a:bodyPr wrap="square" lIns="0" tIns="0" rIns="0" bIns="0" rtlCol="0" anchor="t"/>
          <a:lstStyle/>
          <a:p>
            <a:pPr indent="0" marL="0">
              <a:buNone/>
            </a:pPr>
            <a:r>
              <a:rPr lang="en-US" sz="1400" dirty="0">
                <a:solidFill>
                  <a:schemeClr val="bg2"/>
                </a:solidFill>
              </a:rPr>
              <a:t>Ampel, Korrekturhinweis, Fundstelle</a:t>
            </a:r>
            <a:endParaRPr lang="en-US" sz="1400" dirty="0"/>
          </a:p>
        </p:txBody>
      </p:sp>
      <p:sp>
        <p:nvSpPr>
          <p:cNvPr id="21" name="Demo-Schritt"/>
          <p:cNvSpPr/>
          <p:nvPr/>
        </p:nvSpPr>
        <p:spPr>
          <a:xfrm>
            <a:off x="8970264" y="1463040"/>
            <a:ext cx="2651760" cy="2377440"/>
          </a:xfrm>
          <a:prstGeom prst="roundRect">
            <a:avLst>
              <a:gd name="adj" fmla="val 3077"/>
            </a:avLst>
          </a:prstGeom>
          <a:solidFill>
            <a:schemeClr val="accent6"/>
          </a:solidFill>
          <a:ln/>
        </p:spPr>
        <p:txBody>
          <a:bodyPr/>
          <a:p/>
        </p:txBody>
      </p:sp>
      <p:sp>
        <p:nvSpPr>
          <p:cNvPr id="22" name="Symbolkreis"/>
          <p:cNvSpPr/>
          <p:nvPr/>
        </p:nvSpPr>
        <p:spPr>
          <a:xfrm>
            <a:off x="9198864" y="1645920"/>
            <a:ext cx="594360" cy="594360"/>
          </a:xfrm>
          <a:prstGeom prst="ellipse">
            <a:avLst/>
          </a:prstGeom>
          <a:solidFill>
            <a:schemeClr val="accent3"/>
          </a:solidFill>
          <a:ln/>
        </p:spPr>
        <p:txBody>
          <a:bodyPr/>
          <a:p/>
        </p:txBody>
      </p:sp>
      <p:pic>
        <p:nvPicPr>
          <p:cNvPr id="23" name="Symbol" descr="preencoded.png">    </p:cNvPr>
          <p:cNvPicPr>
            <a:picLocks noChangeAspect="1"/>
          </p:cNvPicPr>
          <p:nvPr/>
        </p:nvPicPr>
        <p:blipFill>
          <a:blip r:embed="rId5"/>
          <a:stretch>
            <a:fillRect/>
          </a:stretch>
        </p:blipFill>
        <p:spPr>
          <a:xfrm>
            <a:off x="9347454" y="1794510"/>
            <a:ext cx="297180" cy="297180"/>
          </a:xfrm>
          <a:prstGeom prst="rect">
            <a:avLst/>
          </a:prstGeom>
        </p:spPr>
      </p:pic>
      <p:sp>
        <p:nvSpPr>
          <p:cNvPr id="24" name="Text 17"/>
          <p:cNvSpPr txBox="1"/>
          <p:nvPr/>
        </p:nvSpPr>
        <p:spPr>
          <a:xfrm>
            <a:off x="9198864" y="2377440"/>
            <a:ext cx="2286000" cy="365760"/>
          </a:xfrm>
          <a:prstGeom prst="rect">
            <a:avLst/>
          </a:prstGeom>
          <a:noFill/>
          <a:ln/>
        </p:spPr>
        <p:txBody>
          <a:bodyPr wrap="square" lIns="0" tIns="0" rIns="0" bIns="0" rtlCol="0" anchor="t"/>
          <a:lstStyle/>
          <a:p>
            <a:pPr indent="0" marL="0">
              <a:buNone/>
            </a:pPr>
            <a:r>
              <a:rPr lang="en-US" sz="1700" b="1" dirty="0">
                <a:solidFill>
                  <a:schemeClr val="bg1"/>
                </a:solidFill>
              </a:rPr>
              <a:t>4 · Protokoll</a:t>
            </a:r>
            <a:endParaRPr lang="en-US" sz="1700" dirty="0"/>
          </a:p>
        </p:txBody>
      </p:sp>
      <p:sp>
        <p:nvSpPr>
          <p:cNvPr id="25" name="Text 18"/>
          <p:cNvSpPr txBox="1"/>
          <p:nvPr/>
        </p:nvSpPr>
        <p:spPr>
          <a:xfrm>
            <a:off x="9198864" y="2788920"/>
            <a:ext cx="2286000" cy="914400"/>
          </a:xfrm>
          <a:prstGeom prst="rect">
            <a:avLst/>
          </a:prstGeom>
          <a:noFill/>
          <a:ln/>
        </p:spPr>
        <p:txBody>
          <a:bodyPr wrap="square" lIns="0" tIns="0" rIns="0" bIns="0" rtlCol="0" anchor="t"/>
          <a:lstStyle/>
          <a:p>
            <a:pPr indent="0" marL="0">
              <a:buNone/>
            </a:pPr>
            <a:r>
              <a:rPr lang="en-US" sz="1400" dirty="0">
                <a:solidFill>
                  <a:schemeClr val="bg2"/>
                </a:solidFill>
              </a:rPr>
              <a:t>Prüfung und Befunde in Supabase</a:t>
            </a:r>
            <a:endParaRPr lang="en-US" sz="1400" dirty="0"/>
          </a:p>
        </p:txBody>
      </p:sp>
      <p:sp>
        <p:nvSpPr>
          <p:cNvPr id="26" name="Demo-Fälle"/>
          <p:cNvSpPr/>
          <p:nvPr/>
        </p:nvSpPr>
        <p:spPr>
          <a:xfrm>
            <a:off x="548640" y="4114800"/>
            <a:ext cx="11091672" cy="1737360"/>
          </a:xfrm>
          <a:prstGeom prst="roundRect">
            <a:avLst>
              <a:gd name="adj" fmla="val 4211"/>
            </a:avLst>
          </a:prstGeom>
          <a:solidFill>
            <a:schemeClr val="bg1"/>
          </a:solidFill>
          <a:ln/>
        </p:spPr>
        <p:txBody>
          <a:bodyPr/>
          <a:p/>
        </p:txBody>
      </p:sp>
      <p:sp>
        <p:nvSpPr>
          <p:cNvPr id="27" name="Text 20"/>
          <p:cNvSpPr txBox="1"/>
          <p:nvPr/>
        </p:nvSpPr>
        <p:spPr>
          <a:xfrm>
            <a:off x="822960" y="4224528"/>
            <a:ext cx="3657600" cy="36576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Demo-Fälle</a:t>
            </a:r>
            <a:endParaRPr lang="en-US" sz="1600" dirty="0"/>
          </a:p>
        </p:txBody>
      </p:sp>
      <p:sp>
        <p:nvSpPr>
          <p:cNvPr id="28" name="Ampel"/>
          <p:cNvSpPr/>
          <p:nvPr/>
        </p:nvSpPr>
        <p:spPr>
          <a:xfrm>
            <a:off x="868680" y="4736592"/>
            <a:ext cx="219456" cy="219456"/>
          </a:xfrm>
          <a:prstGeom prst="ellipse">
            <a:avLst/>
          </a:prstGeom>
          <a:solidFill>
            <a:srgbClr val="2A9D8F"/>
          </a:solidFill>
          <a:ln/>
        </p:spPr>
        <p:txBody>
          <a:bodyPr/>
          <a:p/>
        </p:txBody>
      </p:sp>
      <p:sp>
        <p:nvSpPr>
          <p:cNvPr id="29" name="Text 22"/>
          <p:cNvSpPr txBox="1"/>
          <p:nvPr/>
        </p:nvSpPr>
        <p:spPr>
          <a:xfrm>
            <a:off x="1234440" y="4681728"/>
            <a:ext cx="10058400" cy="329184"/>
          </a:xfrm>
          <a:prstGeom prst="rect">
            <a:avLst/>
          </a:prstGeom>
          <a:noFill/>
          <a:ln/>
        </p:spPr>
        <p:txBody>
          <a:bodyPr wrap="square" lIns="0" tIns="0" rIns="0" bIns="0" rtlCol="0" anchor="ctr"/>
          <a:lstStyle/>
          <a:p>
            <a:pPr indent="0" marL="0">
              <a:buNone/>
            </a:pPr>
            <a:r>
              <a:rPr lang="en-US" sz="1400" dirty="0">
                <a:solidFill>
                  <a:schemeClr val="tx1"/>
                </a:solidFill>
              </a:rPr>
              <a:t>Grün: Gonarthrose, EX, 6× KG, fristgerecht</a:t>
            </a:r>
            <a:endParaRPr lang="en-US" sz="1400" dirty="0"/>
          </a:p>
        </p:txBody>
      </p:sp>
      <p:sp>
        <p:nvSpPr>
          <p:cNvPr id="30" name="Ampel"/>
          <p:cNvSpPr/>
          <p:nvPr/>
        </p:nvSpPr>
        <p:spPr>
          <a:xfrm>
            <a:off x="868680" y="5102352"/>
            <a:ext cx="219456" cy="219456"/>
          </a:xfrm>
          <a:prstGeom prst="ellipse">
            <a:avLst/>
          </a:prstGeom>
          <a:solidFill>
            <a:srgbClr val="E76F51"/>
          </a:solidFill>
          <a:ln/>
        </p:spPr>
        <p:txBody>
          <a:bodyPr/>
          <a:p/>
        </p:txBody>
      </p:sp>
      <p:sp>
        <p:nvSpPr>
          <p:cNvPr id="31" name="Text 24"/>
          <p:cNvSpPr txBox="1"/>
          <p:nvPr/>
        </p:nvSpPr>
        <p:spPr>
          <a:xfrm>
            <a:off x="1234440" y="5047488"/>
            <a:ext cx="10058400" cy="329184"/>
          </a:xfrm>
          <a:prstGeom prst="rect">
            <a:avLst/>
          </a:prstGeom>
          <a:noFill/>
          <a:ln/>
        </p:spPr>
        <p:txBody>
          <a:bodyPr wrap="square" lIns="0" tIns="0" rIns="0" bIns="0" rtlCol="0" anchor="ctr"/>
          <a:lstStyle/>
          <a:p>
            <a:pPr indent="0" marL="0">
              <a:buNone/>
            </a:pPr>
            <a:r>
              <a:rPr lang="en-US" sz="1400" dirty="0">
                <a:solidFill>
                  <a:schemeClr val="tx1"/>
                </a:solidFill>
              </a:rPr>
              <a:t>Rot: Schulter-Code mit Wirbelsäulen-Gruppe</a:t>
            </a:r>
            <a:endParaRPr lang="en-US" sz="1400" dirty="0"/>
          </a:p>
        </p:txBody>
      </p:sp>
      <p:sp>
        <p:nvSpPr>
          <p:cNvPr id="32" name="Ampel"/>
          <p:cNvSpPr/>
          <p:nvPr/>
        </p:nvSpPr>
        <p:spPr>
          <a:xfrm>
            <a:off x="868680" y="5468112"/>
            <a:ext cx="219456" cy="219456"/>
          </a:xfrm>
          <a:prstGeom prst="ellipse">
            <a:avLst/>
          </a:prstGeom>
          <a:solidFill>
            <a:srgbClr val="5C6B73"/>
          </a:solidFill>
          <a:ln/>
        </p:spPr>
        <p:txBody>
          <a:bodyPr/>
          <a:p/>
        </p:txBody>
      </p:sp>
      <p:sp>
        <p:nvSpPr>
          <p:cNvPr id="33" name="Text 26"/>
          <p:cNvSpPr txBox="1"/>
          <p:nvPr/>
        </p:nvSpPr>
        <p:spPr>
          <a:xfrm>
            <a:off x="1234440" y="5413248"/>
            <a:ext cx="10058400" cy="329184"/>
          </a:xfrm>
          <a:prstGeom prst="rect">
            <a:avLst/>
          </a:prstGeom>
          <a:noFill/>
          <a:ln/>
        </p:spPr>
        <p:txBody>
          <a:bodyPr wrap="square" lIns="0" tIns="0" rIns="0" bIns="0" rtlCol="0" anchor="ctr"/>
          <a:lstStyle/>
          <a:p>
            <a:pPr indent="0" marL="0">
              <a:buNone/>
            </a:pPr>
            <a:r>
              <a:rPr lang="en-US" sz="1400" dirty="0">
                <a:solidFill>
                  <a:schemeClr val="tx1"/>
                </a:solidFill>
              </a:rPr>
              <a:t>Formular: tobsi1911.app.n8n.cloud/form/verordnungs-check-cloud · Rückfall: Backup-Video, Screenshots je Ampelfarbe</a:t>
            </a:r>
            <a:endParaRPr lang="en-US" sz="1400" dirty="0"/>
          </a:p>
        </p:txBody>
      </p:sp>
      <p:sp>
        <p:nvSpPr>
          <p:cNvPr id="34"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Prototyp: Stand 27.10.2026</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3"/>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Derk</a:t>
            </a:r>
            <a:endParaRPr lang="en-US" sz="1500" dirty="0"/>
          </a:p>
        </p:txBody>
      </p:sp>
      <p:sp>
        <p:nvSpPr>
          <p:cNvPr id="6" name="Versionen"/>
          <p:cNvSpPr/>
          <p:nvPr/>
        </p:nvSpPr>
        <p:spPr>
          <a:xfrm>
            <a:off x="548640" y="1325880"/>
            <a:ext cx="4206240" cy="4526280"/>
          </a:xfrm>
          <a:prstGeom prst="roundRect">
            <a:avLst>
              <a:gd name="adj" fmla="val 1739"/>
            </a:avLst>
          </a:prstGeom>
          <a:solidFill>
            <a:schemeClr val="bg2"/>
          </a:solidFill>
          <a:ln/>
        </p:spPr>
        <p:txBody>
          <a:bodyPr/>
          <a:p/>
        </p:txBody>
      </p:sp>
      <p:sp>
        <p:nvSpPr>
          <p:cNvPr id="7" name="Symbolkreis"/>
          <p:cNvSpPr/>
          <p:nvPr/>
        </p:nvSpPr>
        <p:spPr>
          <a:xfrm>
            <a:off x="822960" y="1508760"/>
            <a:ext cx="548640" cy="548640"/>
          </a:xfrm>
          <a:prstGeom prst="ellipse">
            <a:avLst/>
          </a:prstGeom>
          <a:solidFill>
            <a:schemeClr val="accent3"/>
          </a:solidFill>
          <a:ln/>
        </p:spPr>
        <p:txBody>
          <a:bodyPr/>
          <a:p/>
        </p:txBody>
      </p:sp>
      <p:pic>
        <p:nvPicPr>
          <p:cNvPr id="8" name="Symbol" descr="preencoded.png">    </p:cNvPr>
          <p:cNvPicPr>
            <a:picLocks noChangeAspect="1"/>
          </p:cNvPicPr>
          <p:nvPr/>
        </p:nvPicPr>
        <p:blipFill>
          <a:blip r:embed="rId2"/>
          <a:stretch>
            <a:fillRect/>
          </a:stretch>
        </p:blipFill>
        <p:spPr>
          <a:xfrm>
            <a:off x="960120" y="1645920"/>
            <a:ext cx="274320" cy="274320"/>
          </a:xfrm>
          <a:prstGeom prst="rect">
            <a:avLst/>
          </a:prstGeom>
        </p:spPr>
      </p:pic>
      <p:sp>
        <p:nvSpPr>
          <p:cNvPr id="9" name="Text 5"/>
          <p:cNvSpPr txBox="1"/>
          <p:nvPr/>
        </p:nvSpPr>
        <p:spPr>
          <a:xfrm>
            <a:off x="1508760" y="1508760"/>
            <a:ext cx="3017520" cy="54864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Zwei Workflows</a:t>
            </a:r>
            <a:endParaRPr lang="en-US" sz="1800" dirty="0"/>
          </a:p>
        </p:txBody>
      </p:sp>
      <p:sp>
        <p:nvSpPr>
          <p:cNvPr id="10" name="Text 6"/>
          <p:cNvSpPr txBox="1"/>
          <p:nvPr/>
        </p:nvSpPr>
        <p:spPr>
          <a:xfrm>
            <a:off x="822960" y="2240280"/>
            <a:ext cx="3657600" cy="3474720"/>
          </a:xfrm>
          <a:prstGeom prst="rect">
            <a:avLst/>
          </a:prstGeom>
          <a:noFill/>
          <a:ln/>
        </p:spPr>
        <p:txBody>
          <a:bodyPr wrap="square" lIns="0" tIns="0" rIns="0" bIns="0" rtlCol="0" anchor="t"/>
          <a:lstStyle/>
          <a:p>
            <a:pPr indent="0" marL="0">
              <a:buNone/>
            </a:pPr>
            <a:r>
              <a:rPr lang="en-US" sz="1400" b="1" dirty="0">
                <a:solidFill>
                  <a:schemeClr val="tx2"/>
                </a:solidFill>
              </a:rPr>
              <a:t>Cloud-Workflow (Hauptstand)</a:t>
            </a:r>
            <a:endParaRPr lang="en-US" sz="1400" dirty="0"/>
          </a:p>
          <a:p>
            <a:pPr indent="0" marL="0">
              <a:buNone/>
            </a:pPr>
            <a:r>
              <a:rPr lang="en-US" sz="1400" dirty="0">
                <a:solidFill>
                  <a:schemeClr val="tx1"/>
                </a:solidFill>
              </a:rPr>
              <a:t>Zusammenführung in n8n Cloud, Chat-Redaktion als Regel-Code (NER-Modell nur lokal), fünf neue Regeln im Code</a:t>
            </a:r>
            <a:endParaRPr lang="en-US" sz="1400" dirty="0"/>
          </a:p>
          <a:p>
            <a:pPr indent="0" marL="0">
              <a:buNone/>
            </a:pPr>
            <a:r>
              <a:rPr lang="en-US" sz="600" dirty="0">
                <a:solidFill>
                  <a:schemeClr val="tx1"/>
                </a:solidFill>
              </a:rPr>
              <a:t> </a:t>
            </a:r>
            <a:endParaRPr lang="en-US" sz="1400" dirty="0"/>
          </a:p>
          <a:p>
            <a:pPr indent="0" marL="0">
              <a:buNone/>
            </a:pPr>
            <a:r>
              <a:rPr lang="en-US" sz="1400" b="1" dirty="0">
                <a:solidFill>
                  <a:schemeClr val="tx2"/>
                </a:solidFill>
              </a:rPr>
              <a:t>Merge-Workflow und v4 (Rückfall)</a:t>
            </a:r>
            <a:endParaRPr lang="en-US" sz="1400" dirty="0"/>
          </a:p>
          <a:p>
            <a:pPr indent="0" marL="0">
              <a:buNone/>
            </a:pPr>
            <a:r>
              <a:rPr lang="en-US" sz="1400" dirty="0">
                <a:solidFill>
                  <a:schemeClr val="tx1"/>
                </a:solidFill>
              </a:rPr>
              <a:t>unverändert, lauffähig; der Chat nutzt dort den NER-Redaktionsdienst</a:t>
            </a:r>
            <a:endParaRPr lang="en-US" sz="1400" dirty="0"/>
          </a:p>
          <a:p>
            <a:pPr indent="0" marL="0">
              <a:buNone/>
            </a:pPr>
            <a:r>
              <a:rPr lang="en-US" sz="600" dirty="0">
                <a:solidFill>
                  <a:schemeClr val="tx1"/>
                </a:solidFill>
              </a:rPr>
              <a:t> </a:t>
            </a:r>
            <a:endParaRPr lang="en-US" sz="1400" dirty="0"/>
          </a:p>
          <a:p>
            <a:pPr indent="0" marL="0">
              <a:buNone/>
            </a:pPr>
            <a:r>
              <a:rPr lang="en-US" sz="1400" b="1" dirty="0">
                <a:solidFill>
                  <a:schemeClr val="accent3"/>
                </a:solidFill>
              </a:rPr>
              <a:t>Prototyp: offener Link, nur synthetische Daten; Echtbetrieb nur mit Anmeldung</a:t>
            </a:r>
            <a:pPr indent="0" marL="0">
              <a:buNone/>
            </a:pPr>
            <a:endParaRPr lang="en-US" sz="14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937760" y="1325880"/>
          <a:ext cx="6702552" cy="914400"/>
        </p:xfrm>
        <a:graphic>
          <a:graphicData uri="http://schemas.openxmlformats.org/drawingml/2006/table">
            <a:tbl>
              <a:tblPr/>
              <a:tblGrid>
                <a:gridCol w="868680"/>
                <a:gridCol w="2651760"/>
                <a:gridCol w="3182112"/>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Datum</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76F5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Was</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76F5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Ergebnis</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76F51"/>
                    </a:solidFill>
                  </a:tcPr>
                </a:tc>
              </a:tr>
              <a:tr h="91440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20.10.</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Merge gebaut; Testfall 3 als Freitext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rot korrekt, aber Fehlalarm Mengen-Prüfer → Prompt geschärft → behoben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77724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20.10.</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Frequenz 4×/Woche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damals ohne Hinweis; seit 27.10. Hinweis (Teamentscheidung)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77724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27.10.</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Testbatterie in der Cloud, Lauf 1 (Blindtest, 59 Fälle × 3)</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83,1 % richtige Ampeln, 5 rote übersehen → Regeln fehlten im Code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91440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27.10.</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Fünf Regeln in den Code, Lauf 2 und Nachtest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b="1" dirty="0">
                          <a:solidFill>
                            <a:srgbClr val="E76F51"/>
                          </a:solidFill>
                          <a:latin typeface="Calibri" pitchFamily="34" charset="0"/>
                          <a:ea typeface="Calibri" pitchFamily="34" charset="-122"/>
                          <a:cs typeface="Calibri" pitchFamily="34" charset="-120"/>
                        </a:rPr>
                        <a:t>96,6 %, keine rote übersehen, 1 Fehlalarm → bedingt bereit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bl>
          </a:graphicData>
        </a:graphic>
      </p:graphicFrame>
      <p:sp>
        <p:nvSpPr>
          <p:cNvPr id="12" name="Text 7"/>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Synthetische Testfälle · Ergebnisse in Supabase (Tabelle testlaeufe) · Laufzeit Median 34 s je Prüfung</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Erfolgsmessung: Ergebnis der Testbatterie</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3"/>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Derk</a:t>
            </a:r>
            <a:endParaRPr lang="en-US" sz="1500" dirty="0"/>
          </a:p>
        </p:txBody>
      </p:sp>
      <p:sp>
        <p:nvSpPr>
          <p:cNvPr id="8" name="Zielwert"/>
          <p:cNvSpPr/>
          <p:nvPr/>
        </p:nvSpPr>
        <p:spPr>
          <a:xfrm>
            <a:off x="548640" y="1325880"/>
            <a:ext cx="3566160" cy="4526280"/>
          </a:xfrm>
          <a:prstGeom prst="roundRect">
            <a:avLst>
              <a:gd name="adj" fmla="val 2051"/>
            </a:avLst>
          </a:prstGeom>
          <a:solidFill>
            <a:schemeClr val="tx2"/>
          </a:solidFill>
          <a:ln/>
        </p:spPr>
        <p:txBody>
          <a:bodyPr/>
          <a:p/>
        </p:txBody>
      </p:sp>
      <p:sp>
        <p:nvSpPr>
          <p:cNvPr id="9" name="Symbolkreis"/>
          <p:cNvSpPr/>
          <p:nvPr/>
        </p:nvSpPr>
        <p:spPr>
          <a:xfrm>
            <a:off x="822960" y="1508760"/>
            <a:ext cx="548640" cy="548640"/>
          </a:xfrm>
          <a:prstGeom prst="ellipse">
            <a:avLst/>
          </a:prstGeom>
          <a:solidFill>
            <a:schemeClr val="accent3"/>
          </a:solidFill>
          <a:ln/>
        </p:spPr>
        <p:txBody>
          <a:bodyPr/>
          <a:p/>
        </p:txBody>
      </p:sp>
      <p:pic>
        <p:nvPicPr>
          <p:cNvPr id="10" name="Symbol" descr="preencoded.png">    </p:cNvPr>
          <p:cNvPicPr>
            <a:picLocks noChangeAspect="1"/>
          </p:cNvPicPr>
          <p:nvPr/>
        </p:nvPicPr>
        <p:blipFill>
          <a:blip r:embed="rId2"/>
          <a:stretch>
            <a:fillRect/>
          </a:stretch>
        </p:blipFill>
        <p:spPr>
          <a:xfrm>
            <a:off x="960120" y="1645920"/>
            <a:ext cx="274320" cy="274320"/>
          </a:xfrm>
          <a:prstGeom prst="rect">
            <a:avLst/>
          </a:prstGeom>
        </p:spPr>
      </p:pic>
      <p:sp>
        <p:nvSpPr>
          <p:cNvPr id="11" name="Text 7"/>
          <p:cNvSpPr txBox="1"/>
          <p:nvPr/>
        </p:nvSpPr>
        <p:spPr>
          <a:xfrm>
            <a:off x="1508760" y="1508760"/>
            <a:ext cx="2377440" cy="548640"/>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Ergebnis</a:t>
            </a:r>
            <a:endParaRPr lang="en-US" sz="1800" dirty="0"/>
          </a:p>
        </p:txBody>
      </p:sp>
      <p:sp>
        <p:nvSpPr>
          <p:cNvPr id="12" name="Text 8"/>
          <p:cNvSpPr txBox="1"/>
          <p:nvPr/>
        </p:nvSpPr>
        <p:spPr>
          <a:xfrm>
            <a:off x="822960" y="2286000"/>
            <a:ext cx="3017520" cy="1005840"/>
          </a:xfrm>
          <a:prstGeom prst="rect">
            <a:avLst/>
          </a:prstGeom>
          <a:noFill/>
          <a:ln/>
        </p:spPr>
        <p:txBody>
          <a:bodyPr wrap="square" lIns="0" tIns="0" rIns="0" bIns="0" rtlCol="0" anchor="t"/>
          <a:lstStyle/>
          <a:p>
            <a:pPr indent="0" marL="0">
              <a:buNone/>
            </a:pPr>
            <a:r>
              <a:rPr lang="en-US" sz="6000" b="1" dirty="0">
                <a:solidFill>
                  <a:schemeClr val="accent2"/>
                </a:solidFill>
                <a:latin typeface="Cambria" pitchFamily="34" charset="0"/>
                <a:ea typeface="Cambria" pitchFamily="34" charset="-122"/>
                <a:cs typeface="Cambria" pitchFamily="34" charset="-120"/>
              </a:rPr>
              <a:t>96,6 %</a:t>
            </a:r>
            <a:endParaRPr lang="en-US" sz="6000" dirty="0"/>
          </a:p>
        </p:txBody>
      </p:sp>
      <p:sp>
        <p:nvSpPr>
          <p:cNvPr id="13" name="Text 9"/>
          <p:cNvSpPr txBox="1"/>
          <p:nvPr/>
        </p:nvSpPr>
        <p:spPr>
          <a:xfrm>
            <a:off x="822960" y="3383280"/>
            <a:ext cx="3017520" cy="914400"/>
          </a:xfrm>
          <a:prstGeom prst="rect">
            <a:avLst/>
          </a:prstGeom>
          <a:noFill/>
          <a:ln/>
        </p:spPr>
        <p:txBody>
          <a:bodyPr wrap="square" lIns="0" tIns="0" rIns="0" bIns="0" rtlCol="0" anchor="t"/>
          <a:lstStyle/>
          <a:p>
            <a:pPr indent="0" marL="0">
              <a:buNone/>
            </a:pPr>
            <a:r>
              <a:rPr lang="en-US" sz="1400" dirty="0">
                <a:solidFill>
                  <a:schemeClr val="bg1"/>
                </a:solidFill>
              </a:rPr>
              <a:t>richtige Ampel auf 59 Fällen × 3 Läufe (Ziel ≥ 98 %); im Blindtest vorher 83,1 %</a:t>
            </a:r>
            <a:endParaRPr lang="en-US" sz="1400" dirty="0"/>
          </a:p>
        </p:txBody>
      </p:sp>
      <p:sp>
        <p:nvSpPr>
          <p:cNvPr id="14" name="Text 10"/>
          <p:cNvSpPr txBox="1"/>
          <p:nvPr/>
        </p:nvSpPr>
        <p:spPr>
          <a:xfrm>
            <a:off x="822960" y="5029200"/>
            <a:ext cx="3017520" cy="640080"/>
          </a:xfrm>
          <a:prstGeom prst="rect">
            <a:avLst/>
          </a:prstGeom>
          <a:noFill/>
          <a:ln/>
        </p:spPr>
        <p:txBody>
          <a:bodyPr wrap="square" lIns="0" tIns="0" rIns="0" bIns="0" rtlCol="0" anchor="t"/>
          <a:lstStyle/>
          <a:p>
            <a:pPr indent="0" marL="0">
              <a:buNone/>
            </a:pPr>
            <a:r>
              <a:rPr lang="en-US" sz="1200" dirty="0">
                <a:solidFill>
                  <a:schemeClr val="bg2"/>
                </a:solidFill>
              </a:rPr>
              <a:t>Bewertung: bedingt bereit (95–98 %) · nicht bereit: &lt; 95 %</a:t>
            </a:r>
            <a:endParaRPr lang="en-US" sz="12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297680" y="1325880"/>
          <a:ext cx="7342632" cy="914400"/>
        </p:xfrm>
        <a:graphic>
          <a:graphicData uri="http://schemas.openxmlformats.org/drawingml/2006/table">
            <a:tbl>
              <a:tblPr/>
              <a:tblGrid>
                <a:gridCol w="2926080"/>
                <a:gridCol w="1645920"/>
                <a:gridCol w="2770632"/>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Kriterium</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76F5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Ziel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76F5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Ergebnis (Lauf 1 → Lauf 2 + Nachtest)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76F51"/>
                    </a:solidFill>
                  </a:tcPr>
                </a:tc>
              </a:tr>
              <a:tr h="621792">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Übersehene rote Verordnungen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5 → 0 ✓</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621792">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Kritische Fehlalarme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 1</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2 → 1 ✓</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621792">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Verordnungsfall-Summe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100 % exakt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noch nicht umgesetzt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621792">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Fundstelle je Befund</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100 %</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97 % → 99 %</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621792">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Stabilität über 3 Läufe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 95 %</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94,9 % → 96,6 % ✓</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621792">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Laufzeit / Kosten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 30 s / ≤ 5 Cent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34 s ✗ / ca. 3 Cent ✓</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bl>
          </a:graphicData>
        </a:graphic>
      </p:graphicFrame>
      <p:sp>
        <p:nvSpPr>
          <p:cNvPr id="16" name="Text 11"/>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Zielwert 98 % nach Rückmeldung der Instruktorin am 19.10.2026 (vorher 90 % auf 12 Fällen) · Referenzstandard: ausschließlich die Regelwerke</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Testbatterie: 100 synthetische Fälle, sauber getrennt</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3"/>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Derk</a:t>
            </a:r>
            <a:endParaRPr lang="en-US" sz="1500" dirty="0"/>
          </a:p>
        </p:txBody>
      </p:sp>
      <p:sp>
        <p:nvSpPr>
          <p:cNvPr id="8" name="Set E"/>
          <p:cNvSpPr/>
          <p:nvPr/>
        </p:nvSpPr>
        <p:spPr>
          <a:xfrm>
            <a:off x="548640" y="1325880"/>
            <a:ext cx="2560320" cy="2377440"/>
          </a:xfrm>
          <a:prstGeom prst="roundRect">
            <a:avLst>
              <a:gd name="adj" fmla="val 3077"/>
            </a:avLst>
          </a:prstGeom>
          <a:solidFill>
            <a:schemeClr val="tx2"/>
          </a:solidFill>
          <a:ln/>
        </p:spPr>
        <p:txBody>
          <a:bodyPr/>
          <a:p/>
        </p:txBody>
      </p:sp>
      <p:sp>
        <p:nvSpPr>
          <p:cNvPr id="9" name="Text 6"/>
          <p:cNvSpPr txBox="1"/>
          <p:nvPr/>
        </p:nvSpPr>
        <p:spPr>
          <a:xfrm>
            <a:off x="777240" y="1463040"/>
            <a:ext cx="2194560" cy="365760"/>
          </a:xfrm>
          <a:prstGeom prst="rect">
            <a:avLst/>
          </a:prstGeom>
          <a:noFill/>
          <a:ln/>
        </p:spPr>
        <p:txBody>
          <a:bodyPr wrap="square" lIns="0" tIns="0" rIns="0" bIns="0" rtlCol="0" anchor="t"/>
          <a:lstStyle/>
          <a:p>
            <a:pPr indent="0" marL="0">
              <a:buNone/>
            </a:pPr>
            <a:r>
              <a:rPr lang="en-US" sz="1500" b="1" dirty="0">
                <a:solidFill>
                  <a:schemeClr val="bg1"/>
                </a:solidFill>
              </a:rPr>
              <a:t>Evaluation (Holdout)</a:t>
            </a:r>
            <a:endParaRPr lang="en-US" sz="1500" dirty="0"/>
          </a:p>
        </p:txBody>
      </p:sp>
      <p:sp>
        <p:nvSpPr>
          <p:cNvPr id="10" name="Text 7"/>
          <p:cNvSpPr txBox="1"/>
          <p:nvPr/>
        </p:nvSpPr>
        <p:spPr>
          <a:xfrm>
            <a:off x="777240" y="1874520"/>
            <a:ext cx="2194560" cy="868680"/>
          </a:xfrm>
          <a:prstGeom prst="rect">
            <a:avLst/>
          </a:prstGeom>
          <a:noFill/>
          <a:ln/>
        </p:spPr>
        <p:txBody>
          <a:bodyPr wrap="square" lIns="0" tIns="0" rIns="0" bIns="0" rtlCol="0" anchor="t"/>
          <a:lstStyle/>
          <a:p>
            <a:pPr indent="0" marL="0">
              <a:buNone/>
            </a:pPr>
            <a:r>
              <a:rPr lang="en-US" sz="5400" b="1" dirty="0">
                <a:solidFill>
                  <a:schemeClr val="accent2"/>
                </a:solidFill>
                <a:latin typeface="Cambria" pitchFamily="34" charset="0"/>
                <a:ea typeface="Cambria" pitchFamily="34" charset="-122"/>
                <a:cs typeface="Cambria" pitchFamily="34" charset="-120"/>
              </a:rPr>
              <a:t>65</a:t>
            </a:r>
            <a:endParaRPr lang="en-US" sz="5400" dirty="0"/>
          </a:p>
        </p:txBody>
      </p:sp>
      <p:sp>
        <p:nvSpPr>
          <p:cNvPr id="11" name="Text 8"/>
          <p:cNvSpPr txBox="1"/>
          <p:nvPr/>
        </p:nvSpPr>
        <p:spPr>
          <a:xfrm>
            <a:off x="777240" y="2834640"/>
            <a:ext cx="2194560" cy="731520"/>
          </a:xfrm>
          <a:prstGeom prst="rect">
            <a:avLst/>
          </a:prstGeom>
          <a:noFill/>
          <a:ln/>
        </p:spPr>
        <p:txBody>
          <a:bodyPr wrap="square" lIns="0" tIns="0" rIns="0" bIns="0" rtlCol="0" anchor="t"/>
          <a:lstStyle/>
          <a:p>
            <a:pPr indent="0" marL="0">
              <a:buNone/>
            </a:pPr>
            <a:r>
              <a:rPr lang="en-US" sz="1300" dirty="0">
                <a:solidFill>
                  <a:schemeClr val="bg1"/>
                </a:solidFill>
              </a:rPr>
              <a:t>nie zum Nachbessern verwendet</a:t>
            </a:r>
            <a:endParaRPr lang="en-US" sz="1300" dirty="0"/>
          </a:p>
        </p:txBody>
      </p:sp>
      <p:sp>
        <p:nvSpPr>
          <p:cNvPr id="12" name="Set D"/>
          <p:cNvSpPr/>
          <p:nvPr/>
        </p:nvSpPr>
        <p:spPr>
          <a:xfrm>
            <a:off x="3291840" y="1325880"/>
            <a:ext cx="2560320" cy="2377440"/>
          </a:xfrm>
          <a:prstGeom prst="roundRect">
            <a:avLst>
              <a:gd name="adj" fmla="val 3077"/>
            </a:avLst>
          </a:prstGeom>
          <a:solidFill>
            <a:schemeClr val="bg2"/>
          </a:solidFill>
          <a:ln/>
        </p:spPr>
        <p:txBody>
          <a:bodyPr/>
          <a:p/>
        </p:txBody>
      </p:sp>
      <p:sp>
        <p:nvSpPr>
          <p:cNvPr id="13" name="Text 10"/>
          <p:cNvSpPr txBox="1"/>
          <p:nvPr/>
        </p:nvSpPr>
        <p:spPr>
          <a:xfrm>
            <a:off x="3520440" y="1463040"/>
            <a:ext cx="2194560" cy="365760"/>
          </a:xfrm>
          <a:prstGeom prst="rect">
            <a:avLst/>
          </a:prstGeom>
          <a:noFill/>
          <a:ln/>
        </p:spPr>
        <p:txBody>
          <a:bodyPr wrap="square" lIns="0" tIns="0" rIns="0" bIns="0" rtlCol="0" anchor="t"/>
          <a:lstStyle/>
          <a:p>
            <a:pPr indent="0" marL="0">
              <a:buNone/>
            </a:pPr>
            <a:r>
              <a:rPr lang="en-US" sz="1500" b="1" dirty="0">
                <a:solidFill>
                  <a:schemeClr val="tx2"/>
                </a:solidFill>
              </a:rPr>
              <a:t>Entwicklung</a:t>
            </a:r>
            <a:endParaRPr lang="en-US" sz="1500" dirty="0"/>
          </a:p>
        </p:txBody>
      </p:sp>
      <p:sp>
        <p:nvSpPr>
          <p:cNvPr id="14" name="Text 11"/>
          <p:cNvSpPr txBox="1"/>
          <p:nvPr/>
        </p:nvSpPr>
        <p:spPr>
          <a:xfrm>
            <a:off x="3520440" y="1874520"/>
            <a:ext cx="2194560" cy="868680"/>
          </a:xfrm>
          <a:prstGeom prst="rect">
            <a:avLst/>
          </a:prstGeom>
          <a:noFill/>
          <a:ln/>
        </p:spPr>
        <p:txBody>
          <a:bodyPr wrap="square" lIns="0" tIns="0" rIns="0" bIns="0" rtlCol="0" anchor="t"/>
          <a:lstStyle/>
          <a:p>
            <a:pPr indent="0" marL="0">
              <a:buNone/>
            </a:pPr>
            <a:r>
              <a:rPr lang="en-US" sz="5400" b="1" dirty="0">
                <a:solidFill>
                  <a:schemeClr val="accent3"/>
                </a:solidFill>
                <a:latin typeface="Cambria" pitchFamily="34" charset="0"/>
                <a:ea typeface="Cambria" pitchFamily="34" charset="-122"/>
                <a:cs typeface="Cambria" pitchFamily="34" charset="-120"/>
              </a:rPr>
              <a:t>35</a:t>
            </a:r>
            <a:endParaRPr lang="en-US" sz="5400" dirty="0"/>
          </a:p>
        </p:txBody>
      </p:sp>
      <p:sp>
        <p:nvSpPr>
          <p:cNvPr id="15" name="Text 12"/>
          <p:cNvSpPr txBox="1"/>
          <p:nvPr/>
        </p:nvSpPr>
        <p:spPr>
          <a:xfrm>
            <a:off x="3520440" y="2834640"/>
            <a:ext cx="2194560" cy="731520"/>
          </a:xfrm>
          <a:prstGeom prst="rect">
            <a:avLst/>
          </a:prstGeom>
          <a:noFill/>
          <a:ln/>
        </p:spPr>
        <p:txBody>
          <a:bodyPr wrap="square" lIns="0" tIns="0" rIns="0" bIns="0" rtlCol="0" anchor="t"/>
          <a:lstStyle/>
          <a:p>
            <a:pPr indent="0" marL="0">
              <a:buNone/>
            </a:pPr>
            <a:r>
              <a:rPr lang="en-US" sz="1300" dirty="0">
                <a:solidFill>
                  <a:schemeClr val="tx2"/>
                </a:solidFill>
              </a:rPr>
              <a:t>darf zum Nachbessern genutzt werden</a:t>
            </a:r>
            <a:endParaRPr lang="en-US" sz="1300" dirty="0"/>
          </a:p>
        </p:txBody>
      </p:sp>
      <p:sp>
        <p:nvSpPr>
          <p:cNvPr id="16" name="Verteilung"/>
          <p:cNvSpPr/>
          <p:nvPr/>
        </p:nvSpPr>
        <p:spPr>
          <a:xfrm>
            <a:off x="6035040" y="1325880"/>
            <a:ext cx="5605272" cy="2377440"/>
          </a:xfrm>
          <a:prstGeom prst="roundRect">
            <a:avLst>
              <a:gd name="adj" fmla="val 3077"/>
            </a:avLst>
          </a:prstGeom>
          <a:solidFill>
            <a:schemeClr val="bg2"/>
          </a:solidFill>
          <a:ln/>
        </p:spPr>
        <p:txBody>
          <a:bodyPr/>
          <a:p/>
        </p:txBody>
      </p:sp>
      <p:sp>
        <p:nvSpPr>
          <p:cNvPr id="17" name="Text 14"/>
          <p:cNvSpPr txBox="1"/>
          <p:nvPr/>
        </p:nvSpPr>
        <p:spPr>
          <a:xfrm>
            <a:off x="6309360" y="1463040"/>
            <a:ext cx="5029200" cy="365760"/>
          </a:xfrm>
          <a:prstGeom prst="rect">
            <a:avLst/>
          </a:prstGeom>
          <a:noFill/>
          <a:ln/>
        </p:spPr>
        <p:txBody>
          <a:bodyPr wrap="square" lIns="0" tIns="0" rIns="0" bIns="0" rtlCol="0" anchor="t"/>
          <a:lstStyle/>
          <a:p>
            <a:pPr indent="0" marL="0">
              <a:buNone/>
            </a:pPr>
            <a:r>
              <a:rPr lang="en-US" sz="1500" b="1" dirty="0">
                <a:solidFill>
                  <a:schemeClr val="tx2"/>
                </a:solidFill>
              </a:rPr>
              <a:t>Evaluationsset (65 Fälle)</a:t>
            </a:r>
            <a:endParaRPr lang="en-US" sz="1500" dirty="0"/>
          </a:p>
        </p:txBody>
      </p:sp>
      <p:sp>
        <p:nvSpPr>
          <p:cNvPr id="18" name="Ampel"/>
          <p:cNvSpPr/>
          <p:nvPr/>
        </p:nvSpPr>
        <p:spPr>
          <a:xfrm>
            <a:off x="6309360" y="2057400"/>
            <a:ext cx="310896" cy="310896"/>
          </a:xfrm>
          <a:prstGeom prst="ellipse">
            <a:avLst/>
          </a:prstGeom>
          <a:solidFill>
            <a:srgbClr val="2A9D8F"/>
          </a:solidFill>
          <a:ln/>
        </p:spPr>
        <p:txBody>
          <a:bodyPr/>
          <a:p/>
        </p:txBody>
      </p:sp>
      <p:sp>
        <p:nvSpPr>
          <p:cNvPr id="19" name="Text 16"/>
          <p:cNvSpPr txBox="1"/>
          <p:nvPr/>
        </p:nvSpPr>
        <p:spPr>
          <a:xfrm>
            <a:off x="6720840" y="1984248"/>
            <a:ext cx="822960" cy="457200"/>
          </a:xfrm>
          <a:prstGeom prst="rect">
            <a:avLst/>
          </a:prstGeom>
          <a:noFill/>
          <a:ln/>
        </p:spPr>
        <p:txBody>
          <a:bodyPr wrap="square" lIns="0" tIns="0" rIns="0" bIns="0" rtlCol="0" anchor="ctr"/>
          <a:lstStyle/>
          <a:p>
            <a:pPr indent="0" marL="0">
              <a:buNone/>
            </a:pPr>
            <a:r>
              <a:rPr lang="en-US" sz="2600" b="1" dirty="0">
                <a:solidFill>
                  <a:schemeClr val="tx2"/>
                </a:solidFill>
              </a:rPr>
              <a:t>20</a:t>
            </a:r>
            <a:endParaRPr lang="en-US" sz="2600" dirty="0"/>
          </a:p>
        </p:txBody>
      </p:sp>
      <p:sp>
        <p:nvSpPr>
          <p:cNvPr id="20" name="Text 17"/>
          <p:cNvSpPr txBox="1"/>
          <p:nvPr/>
        </p:nvSpPr>
        <p:spPr>
          <a:xfrm>
            <a:off x="6309360" y="2560320"/>
            <a:ext cx="1280160" cy="640080"/>
          </a:xfrm>
          <a:prstGeom prst="rect">
            <a:avLst/>
          </a:prstGeom>
          <a:noFill/>
          <a:ln/>
        </p:spPr>
        <p:txBody>
          <a:bodyPr wrap="square" lIns="0" tIns="0" rIns="0" bIns="0" rtlCol="0" anchor="t"/>
          <a:lstStyle/>
          <a:p>
            <a:pPr indent="0" marL="0">
              <a:buNone/>
            </a:pPr>
            <a:r>
              <a:rPr lang="en-US" sz="1200" dirty="0">
                <a:solidFill>
                  <a:schemeClr val="accent5"/>
                </a:solidFill>
              </a:rPr>
              <a:t>grün</a:t>
            </a:r>
            <a:endParaRPr lang="en-US" sz="1200" dirty="0"/>
          </a:p>
          <a:p>
            <a:pPr indent="0" marL="0">
              <a:buNone/>
            </a:pPr>
            <a:r>
              <a:rPr lang="en-US" sz="1200" dirty="0">
                <a:solidFill>
                  <a:schemeClr val="accent5"/>
                </a:solidFill>
              </a:rPr>
              <a:t>Vorgabe ≥ 12</a:t>
            </a:r>
            <a:endParaRPr lang="en-US" sz="1200" dirty="0"/>
          </a:p>
        </p:txBody>
      </p:sp>
      <p:sp>
        <p:nvSpPr>
          <p:cNvPr id="21" name="Ampel"/>
          <p:cNvSpPr/>
          <p:nvPr/>
        </p:nvSpPr>
        <p:spPr>
          <a:xfrm>
            <a:off x="7635240" y="2057400"/>
            <a:ext cx="310896" cy="310896"/>
          </a:xfrm>
          <a:prstGeom prst="ellipse">
            <a:avLst/>
          </a:prstGeom>
          <a:solidFill>
            <a:srgbClr val="E9C46A"/>
          </a:solidFill>
          <a:ln/>
        </p:spPr>
        <p:txBody>
          <a:bodyPr/>
          <a:p/>
        </p:txBody>
      </p:sp>
      <p:sp>
        <p:nvSpPr>
          <p:cNvPr id="22" name="Text 19"/>
          <p:cNvSpPr txBox="1"/>
          <p:nvPr/>
        </p:nvSpPr>
        <p:spPr>
          <a:xfrm>
            <a:off x="8046720" y="1984248"/>
            <a:ext cx="822960" cy="457200"/>
          </a:xfrm>
          <a:prstGeom prst="rect">
            <a:avLst/>
          </a:prstGeom>
          <a:noFill/>
          <a:ln/>
        </p:spPr>
        <p:txBody>
          <a:bodyPr wrap="square" lIns="0" tIns="0" rIns="0" bIns="0" rtlCol="0" anchor="ctr"/>
          <a:lstStyle/>
          <a:p>
            <a:pPr indent="0" marL="0">
              <a:buNone/>
            </a:pPr>
            <a:r>
              <a:rPr lang="en-US" sz="2600" b="1" dirty="0">
                <a:solidFill>
                  <a:schemeClr val="tx2"/>
                </a:solidFill>
              </a:rPr>
              <a:t>10</a:t>
            </a:r>
            <a:endParaRPr lang="en-US" sz="2600" dirty="0"/>
          </a:p>
        </p:txBody>
      </p:sp>
      <p:sp>
        <p:nvSpPr>
          <p:cNvPr id="23" name="Text 20"/>
          <p:cNvSpPr txBox="1"/>
          <p:nvPr/>
        </p:nvSpPr>
        <p:spPr>
          <a:xfrm>
            <a:off x="7635240" y="2560320"/>
            <a:ext cx="1280160" cy="640080"/>
          </a:xfrm>
          <a:prstGeom prst="rect">
            <a:avLst/>
          </a:prstGeom>
          <a:noFill/>
          <a:ln/>
        </p:spPr>
        <p:txBody>
          <a:bodyPr wrap="square" lIns="0" tIns="0" rIns="0" bIns="0" rtlCol="0" anchor="t"/>
          <a:lstStyle/>
          <a:p>
            <a:pPr indent="0" marL="0">
              <a:buNone/>
            </a:pPr>
            <a:r>
              <a:rPr lang="en-US" sz="1200" dirty="0">
                <a:solidFill>
                  <a:schemeClr val="accent5"/>
                </a:solidFill>
              </a:rPr>
              <a:t>gelb</a:t>
            </a:r>
            <a:endParaRPr lang="en-US" sz="1200" dirty="0"/>
          </a:p>
          <a:p>
            <a:pPr indent="0" marL="0">
              <a:buNone/>
            </a:pPr>
            <a:r>
              <a:rPr lang="en-US" sz="1200" dirty="0">
                <a:solidFill>
                  <a:schemeClr val="accent5"/>
                </a:solidFill>
              </a:rPr>
              <a:t>Vorgabe ≥ 8</a:t>
            </a:r>
            <a:endParaRPr lang="en-US" sz="1200" dirty="0"/>
          </a:p>
        </p:txBody>
      </p:sp>
      <p:sp>
        <p:nvSpPr>
          <p:cNvPr id="24" name="Ampel"/>
          <p:cNvSpPr/>
          <p:nvPr/>
        </p:nvSpPr>
        <p:spPr>
          <a:xfrm>
            <a:off x="8961120" y="2057400"/>
            <a:ext cx="310896" cy="310896"/>
          </a:xfrm>
          <a:prstGeom prst="ellipse">
            <a:avLst/>
          </a:prstGeom>
          <a:solidFill>
            <a:srgbClr val="E76F51"/>
          </a:solidFill>
          <a:ln/>
        </p:spPr>
        <p:txBody>
          <a:bodyPr/>
          <a:p/>
        </p:txBody>
      </p:sp>
      <p:sp>
        <p:nvSpPr>
          <p:cNvPr id="25" name="Text 22"/>
          <p:cNvSpPr txBox="1"/>
          <p:nvPr/>
        </p:nvSpPr>
        <p:spPr>
          <a:xfrm>
            <a:off x="9372600" y="1984248"/>
            <a:ext cx="822960" cy="457200"/>
          </a:xfrm>
          <a:prstGeom prst="rect">
            <a:avLst/>
          </a:prstGeom>
          <a:noFill/>
          <a:ln/>
        </p:spPr>
        <p:txBody>
          <a:bodyPr wrap="square" lIns="0" tIns="0" rIns="0" bIns="0" rtlCol="0" anchor="ctr"/>
          <a:lstStyle/>
          <a:p>
            <a:pPr indent="0" marL="0">
              <a:buNone/>
            </a:pPr>
            <a:r>
              <a:rPr lang="en-US" sz="2600" b="1" dirty="0">
                <a:solidFill>
                  <a:schemeClr val="tx2"/>
                </a:solidFill>
              </a:rPr>
              <a:t>35</a:t>
            </a:r>
            <a:endParaRPr lang="en-US" sz="2600" dirty="0"/>
          </a:p>
        </p:txBody>
      </p:sp>
      <p:sp>
        <p:nvSpPr>
          <p:cNvPr id="26" name="Text 23"/>
          <p:cNvSpPr txBox="1"/>
          <p:nvPr/>
        </p:nvSpPr>
        <p:spPr>
          <a:xfrm>
            <a:off x="8961120" y="2560320"/>
            <a:ext cx="1280160" cy="640080"/>
          </a:xfrm>
          <a:prstGeom prst="rect">
            <a:avLst/>
          </a:prstGeom>
          <a:noFill/>
          <a:ln/>
        </p:spPr>
        <p:txBody>
          <a:bodyPr wrap="square" lIns="0" tIns="0" rIns="0" bIns="0" rtlCol="0" anchor="t"/>
          <a:lstStyle/>
          <a:p>
            <a:pPr indent="0" marL="0">
              <a:buNone/>
            </a:pPr>
            <a:r>
              <a:rPr lang="en-US" sz="1200" dirty="0">
                <a:solidFill>
                  <a:schemeClr val="accent5"/>
                </a:solidFill>
              </a:rPr>
              <a:t>rot</a:t>
            </a:r>
            <a:endParaRPr lang="en-US" sz="1200" dirty="0"/>
          </a:p>
          <a:p>
            <a:pPr indent="0" marL="0">
              <a:buNone/>
            </a:pPr>
            <a:r>
              <a:rPr lang="en-US" sz="1200" dirty="0">
                <a:solidFill>
                  <a:schemeClr val="accent5"/>
                </a:solidFill>
              </a:rPr>
              <a:t>Vorgabe ≥ 25</a:t>
            </a:r>
            <a:endParaRPr lang="en-US" sz="1200" dirty="0"/>
          </a:p>
        </p:txBody>
      </p:sp>
      <p:sp>
        <p:nvSpPr>
          <p:cNvPr id="27" name="Ampel"/>
          <p:cNvSpPr/>
          <p:nvPr/>
        </p:nvSpPr>
        <p:spPr>
          <a:xfrm>
            <a:off x="10287000" y="2057400"/>
            <a:ext cx="310896" cy="310896"/>
          </a:xfrm>
          <a:prstGeom prst="ellipse">
            <a:avLst/>
          </a:prstGeom>
          <a:solidFill>
            <a:srgbClr val="5C6B73"/>
          </a:solidFill>
          <a:ln/>
        </p:spPr>
        <p:txBody>
          <a:bodyPr/>
          <a:p/>
        </p:txBody>
      </p:sp>
      <p:sp>
        <p:nvSpPr>
          <p:cNvPr id="28" name="Text 25"/>
          <p:cNvSpPr txBox="1"/>
          <p:nvPr/>
        </p:nvSpPr>
        <p:spPr>
          <a:xfrm>
            <a:off x="10698480" y="1984248"/>
            <a:ext cx="822960" cy="457200"/>
          </a:xfrm>
          <a:prstGeom prst="rect">
            <a:avLst/>
          </a:prstGeom>
          <a:noFill/>
          <a:ln/>
        </p:spPr>
        <p:txBody>
          <a:bodyPr wrap="square" lIns="0" tIns="0" rIns="0" bIns="0" rtlCol="0" anchor="ctr"/>
          <a:lstStyle/>
          <a:p>
            <a:pPr indent="0" marL="0">
              <a:buNone/>
            </a:pPr>
            <a:r>
              <a:rPr lang="en-US" sz="2600" b="1" dirty="0">
                <a:solidFill>
                  <a:schemeClr val="tx2"/>
                </a:solidFill>
              </a:rPr>
              <a:t>8</a:t>
            </a:r>
            <a:endParaRPr lang="en-US" sz="2600" dirty="0"/>
          </a:p>
        </p:txBody>
      </p:sp>
      <p:sp>
        <p:nvSpPr>
          <p:cNvPr id="29" name="Text 26"/>
          <p:cNvSpPr txBox="1"/>
          <p:nvPr/>
        </p:nvSpPr>
        <p:spPr>
          <a:xfrm>
            <a:off x="10287000" y="2560320"/>
            <a:ext cx="1280160" cy="640080"/>
          </a:xfrm>
          <a:prstGeom prst="rect">
            <a:avLst/>
          </a:prstGeom>
          <a:noFill/>
          <a:ln/>
        </p:spPr>
        <p:txBody>
          <a:bodyPr wrap="square" lIns="0" tIns="0" rIns="0" bIns="0" rtlCol="0" anchor="t"/>
          <a:lstStyle/>
          <a:p>
            <a:pPr indent="0" marL="0">
              <a:buNone/>
            </a:pPr>
            <a:r>
              <a:rPr lang="en-US" sz="1200" dirty="0">
                <a:solidFill>
                  <a:schemeClr val="accent5"/>
                </a:solidFill>
              </a:rPr>
              <a:t>Grenzfall</a:t>
            </a:r>
            <a:endParaRPr lang="en-US" sz="1200" dirty="0"/>
          </a:p>
          <a:p>
            <a:pPr indent="0" marL="0">
              <a:buNone/>
            </a:pPr>
            <a:r>
              <a:rPr lang="en-US" sz="1200" dirty="0">
                <a:solidFill>
                  <a:schemeClr val="accent5"/>
                </a:solidFill>
              </a:rPr>
              <a:t>Vorgabe ≥ 5</a:t>
            </a:r>
            <a:endParaRPr lang="en-US" sz="1200" dirty="0"/>
          </a:p>
        </p:txBody>
      </p:sp>
      <p:sp>
        <p:nvSpPr>
          <p:cNvPr id="30" name="Text 27"/>
          <p:cNvSpPr txBox="1"/>
          <p:nvPr/>
        </p:nvSpPr>
        <p:spPr>
          <a:xfrm>
            <a:off x="6309360" y="3246120"/>
            <a:ext cx="5120640" cy="365760"/>
          </a:xfrm>
          <a:prstGeom prst="rect">
            <a:avLst/>
          </a:prstGeom>
          <a:noFill/>
          <a:ln/>
        </p:spPr>
        <p:txBody>
          <a:bodyPr wrap="square" lIns="0" tIns="0" rIns="0" bIns="0" rtlCol="0" anchor="t"/>
          <a:lstStyle/>
          <a:p>
            <a:pPr indent="0" marL="0">
              <a:buNone/>
            </a:pPr>
            <a:r>
              <a:rPr lang="en-US" sz="1200" dirty="0">
                <a:solidFill>
                  <a:schemeClr val="tx1"/>
                </a:solidFill>
              </a:rPr>
              <a:t>Rote Fälle je Prüfer ≥ 5: Formal 10, Diagnose 10, Mengen 9, Fristen 10</a:t>
            </a:r>
            <a:endParaRPr lang="en-US" sz="12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3931920"/>
          <a:ext cx="11091672" cy="914400"/>
        </p:xfrm>
        <a:graphic>
          <a:graphicData uri="http://schemas.openxmlformats.org/drawingml/2006/table">
            <a:tbl>
              <a:tblPr/>
              <a:tblGrid>
                <a:gridCol w="6400800"/>
                <a:gridCol w="4690872"/>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Regel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76F5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Warum</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76F51"/>
                    </a:solidFill>
                  </a:tcPr>
                </a:tc>
              </a:tr>
              <a:tr h="41148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Soll-Werte aus den Regelwerken abgeleitet, Vier-Augen-Prüfung im Team</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Referenzstandard sind nur die Regelwerke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41148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Keine ICD-Codes aus Testfällen in Prompts</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Kein Lernen auf den Test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41148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Festes Prüfdatum 26.10.2026</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Fristen bei jedem Lauf gleich</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41148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Ein Lauf: 123 Fälle, 253 Prüfungen, ca. 45 min, ca. 3 Cent je Prüfung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Stabilität statt Einzelergebnis</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bl>
          </a:graphicData>
        </a:graphic>
      </p:graphicFrame>
      <p:sp>
        <p:nvSpPr>
          <p:cNvPr id="32" name="Text 28"/>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Alle 123 Fälle in Supabase (100 Testbatterie + 23 Prüfvorlage), Ergebnisse in testlaeufe · 10 Fälle brauchen die Verordnungsfall-Prüfung und sind noch nicht gewertet</a:t>
            </a:r>
            <a:endParaRPr lang="en-US" sz="1000" dirty="0"/>
          </a:p>
        </p:txBody>
      </p:sp>
      <p:sp>
        <p:nvSpPr>
          <p:cNvPr id="34"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Einsatzplanung: vom Parallelbetrieb zum Regelbetrieb</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3"/>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Derk</a:t>
            </a:r>
            <a:endParaRPr lang="en-US" sz="1500" dirty="0"/>
          </a:p>
        </p:txBody>
      </p:sp>
      <p:sp>
        <p:nvSpPr>
          <p:cNvPr id="8" name="Phase"/>
          <p:cNvSpPr/>
          <p:nvPr/>
        </p:nvSpPr>
        <p:spPr>
          <a:xfrm>
            <a:off x="548640" y="1325880"/>
            <a:ext cx="2651760" cy="3657600"/>
          </a:xfrm>
          <a:prstGeom prst="roundRect">
            <a:avLst>
              <a:gd name="adj" fmla="val 2759"/>
            </a:avLst>
          </a:prstGeom>
          <a:solidFill>
            <a:schemeClr val="bg2"/>
          </a:solidFill>
          <a:ln/>
        </p:spPr>
        <p:txBody>
          <a:bodyPr/>
          <a:p/>
        </p:txBody>
      </p:sp>
      <p:sp>
        <p:nvSpPr>
          <p:cNvPr id="9" name="Text 6"/>
          <p:cNvSpPr txBox="1"/>
          <p:nvPr/>
        </p:nvSpPr>
        <p:spPr>
          <a:xfrm>
            <a:off x="777240" y="1463040"/>
            <a:ext cx="219456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0 · Vorbereitung</a:t>
            </a:r>
            <a:endParaRPr lang="en-US" sz="1700" dirty="0"/>
          </a:p>
        </p:txBody>
      </p:sp>
      <p:sp>
        <p:nvSpPr>
          <p:cNvPr id="10" name="Dauer"/>
          <p:cNvSpPr/>
          <p:nvPr/>
        </p:nvSpPr>
        <p:spPr>
          <a:xfrm>
            <a:off x="777240" y="1938528"/>
            <a:ext cx="1234440" cy="310896"/>
          </a:xfrm>
          <a:prstGeom prst="roundRect">
            <a:avLst>
              <a:gd name="adj" fmla="val 50000"/>
            </a:avLst>
          </a:prstGeom>
          <a:solidFill>
            <a:schemeClr val="accent3"/>
          </a:solidFill>
          <a:ln/>
        </p:spPr>
        <p:txBody>
          <a:bodyPr/>
          <a:p/>
        </p:txBody>
      </p:sp>
      <p:sp>
        <p:nvSpPr>
          <p:cNvPr id="11" name="Text 8"/>
          <p:cNvSpPr txBox="1"/>
          <p:nvPr/>
        </p:nvSpPr>
        <p:spPr>
          <a:xfrm>
            <a:off x="777240" y="1938528"/>
            <a:ext cx="1234440" cy="310896"/>
          </a:xfrm>
          <a:prstGeom prst="rect">
            <a:avLst/>
          </a:prstGeom>
          <a:noFill/>
          <a:ln/>
        </p:spPr>
        <p:txBody>
          <a:bodyPr wrap="square" lIns="0" tIns="0" rIns="0" bIns="0" rtlCol="0" anchor="ctr"/>
          <a:lstStyle/>
          <a:p>
            <a:pPr algn="ctr" indent="0" marL="0">
              <a:buNone/>
            </a:pPr>
            <a:r>
              <a:rPr lang="en-US" sz="1200" b="1" dirty="0">
                <a:solidFill>
                  <a:schemeClr val="bg1"/>
                </a:solidFill>
              </a:rPr>
              <a:t>2 Wochen</a:t>
            </a:r>
            <a:endParaRPr lang="en-US" sz="1200" dirty="0"/>
          </a:p>
        </p:txBody>
      </p:sp>
      <p:sp>
        <p:nvSpPr>
          <p:cNvPr id="12" name="Text 9"/>
          <p:cNvSpPr txBox="1"/>
          <p:nvPr/>
        </p:nvSpPr>
        <p:spPr>
          <a:xfrm>
            <a:off x="777240" y="2423160"/>
            <a:ext cx="2240280" cy="155448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Anmeldung aktiv</a:t>
            </a:r>
            <a:endParaRPr lang="en-US" sz="1400" dirty="0"/>
          </a:p>
          <a:p>
            <a:pPr marL="177800" indent="-177800">
              <a:spcAft>
                <a:spcPts val="500"/>
              </a:spcAft>
              <a:buSzPct val="100000"/>
              <a:buChar char="•"/>
            </a:pPr>
            <a:r>
              <a:rPr lang="en-US" sz="1400" dirty="0">
                <a:solidFill>
                  <a:schemeClr val="tx1"/>
                </a:solidFill>
              </a:rPr>
              <a:t>Auftragsverarbeitung, Verschwiegenheit</a:t>
            </a:r>
            <a:endParaRPr lang="en-US" sz="1400" dirty="0"/>
          </a:p>
          <a:p>
            <a:pPr marL="177800" indent="-177800">
              <a:spcAft>
                <a:spcPts val="500"/>
              </a:spcAft>
              <a:buSzPct val="100000"/>
              <a:buChar char="•"/>
            </a:pPr>
            <a:r>
              <a:rPr lang="en-US" sz="1400" dirty="0">
                <a:solidFill>
                  <a:schemeClr val="tx1"/>
                </a:solidFill>
              </a:rPr>
              <a:t>Einweisung (KI-Kompetenz, Art. 4)</a:t>
            </a:r>
            <a:endParaRPr lang="en-US" sz="1400" dirty="0"/>
          </a:p>
        </p:txBody>
      </p:sp>
      <p:sp>
        <p:nvSpPr>
          <p:cNvPr id="13" name="Text 10"/>
          <p:cNvSpPr txBox="1"/>
          <p:nvPr/>
        </p:nvSpPr>
        <p:spPr>
          <a:xfrm>
            <a:off x="777240" y="4069080"/>
            <a:ext cx="2194560" cy="274320"/>
          </a:xfrm>
          <a:prstGeom prst="rect">
            <a:avLst/>
          </a:prstGeom>
          <a:noFill/>
          <a:ln/>
        </p:spPr>
        <p:txBody>
          <a:bodyPr wrap="square" lIns="0" tIns="0" rIns="0" bIns="0" rtlCol="0" anchor="t"/>
          <a:lstStyle/>
          <a:p>
            <a:pPr indent="0" marL="0">
              <a:buNone/>
            </a:pPr>
            <a:r>
              <a:rPr lang="en-US" sz="1100" dirty="0">
                <a:solidFill>
                  <a:schemeClr val="accent5"/>
                </a:solidFill>
              </a:rPr>
              <a:t>Weiter, wenn:</a:t>
            </a:r>
            <a:endParaRPr lang="en-US" sz="1100" dirty="0"/>
          </a:p>
        </p:txBody>
      </p:sp>
      <p:sp>
        <p:nvSpPr>
          <p:cNvPr id="14" name="Text 11"/>
          <p:cNvSpPr txBox="1"/>
          <p:nvPr/>
        </p:nvSpPr>
        <p:spPr>
          <a:xfrm>
            <a:off x="777240" y="4315968"/>
            <a:ext cx="2194560" cy="594360"/>
          </a:xfrm>
          <a:prstGeom prst="rect">
            <a:avLst/>
          </a:prstGeom>
          <a:noFill/>
          <a:ln/>
        </p:spPr>
        <p:txBody>
          <a:bodyPr wrap="square" lIns="0" tIns="0" rIns="0" bIns="0" rtlCol="0" anchor="t"/>
          <a:lstStyle/>
          <a:p>
            <a:pPr indent="0" marL="0">
              <a:buNone/>
            </a:pPr>
            <a:r>
              <a:rPr lang="en-US" sz="1300" b="1" dirty="0">
                <a:solidFill>
                  <a:schemeClr val="accent1"/>
                </a:solidFill>
              </a:rPr>
              <a:t>Datenschutz freigegeben</a:t>
            </a:r>
            <a:endParaRPr lang="en-US" sz="1300" dirty="0"/>
          </a:p>
        </p:txBody>
      </p:sp>
      <p:sp>
        <p:nvSpPr>
          <p:cNvPr id="15" name="Phase"/>
          <p:cNvSpPr/>
          <p:nvPr/>
        </p:nvSpPr>
        <p:spPr>
          <a:xfrm>
            <a:off x="3355848" y="1325880"/>
            <a:ext cx="2651760" cy="3657600"/>
          </a:xfrm>
          <a:prstGeom prst="roundRect">
            <a:avLst>
              <a:gd name="adj" fmla="val 2759"/>
            </a:avLst>
          </a:prstGeom>
          <a:solidFill>
            <a:schemeClr val="tx2"/>
          </a:solidFill>
          <a:ln/>
        </p:spPr>
        <p:txBody>
          <a:bodyPr/>
          <a:p/>
        </p:txBody>
      </p:sp>
      <p:sp>
        <p:nvSpPr>
          <p:cNvPr id="16" name="Text 13"/>
          <p:cNvSpPr txBox="1"/>
          <p:nvPr/>
        </p:nvSpPr>
        <p:spPr>
          <a:xfrm>
            <a:off x="3584448" y="1463040"/>
            <a:ext cx="2194560" cy="411480"/>
          </a:xfrm>
          <a:prstGeom prst="rect">
            <a:avLst/>
          </a:prstGeom>
          <a:noFill/>
          <a:ln/>
        </p:spPr>
        <p:txBody>
          <a:bodyPr wrap="square" lIns="0" tIns="0" rIns="0" bIns="0" rtlCol="0" anchor="t"/>
          <a:lstStyle/>
          <a:p>
            <a:pPr indent="0" marL="0">
              <a:buNone/>
            </a:pPr>
            <a:r>
              <a:rPr lang="en-US" sz="1700" b="1" dirty="0">
                <a:solidFill>
                  <a:schemeClr val="bg1"/>
                </a:solidFill>
                <a:latin typeface="Cambria" pitchFamily="34" charset="0"/>
                <a:ea typeface="Cambria" pitchFamily="34" charset="-122"/>
                <a:cs typeface="Cambria" pitchFamily="34" charset="-120"/>
              </a:rPr>
              <a:t>1 · Parallelbetrieb</a:t>
            </a:r>
            <a:endParaRPr lang="en-US" sz="1700" dirty="0"/>
          </a:p>
        </p:txBody>
      </p:sp>
      <p:sp>
        <p:nvSpPr>
          <p:cNvPr id="17" name="Dauer"/>
          <p:cNvSpPr/>
          <p:nvPr/>
        </p:nvSpPr>
        <p:spPr>
          <a:xfrm>
            <a:off x="3584448" y="1938528"/>
            <a:ext cx="1234440" cy="310896"/>
          </a:xfrm>
          <a:prstGeom prst="roundRect">
            <a:avLst>
              <a:gd name="adj" fmla="val 50000"/>
            </a:avLst>
          </a:prstGeom>
          <a:solidFill>
            <a:schemeClr val="accent3"/>
          </a:solidFill>
          <a:ln/>
        </p:spPr>
        <p:txBody>
          <a:bodyPr/>
          <a:p/>
        </p:txBody>
      </p:sp>
      <p:sp>
        <p:nvSpPr>
          <p:cNvPr id="18" name="Text 15"/>
          <p:cNvSpPr txBox="1"/>
          <p:nvPr/>
        </p:nvSpPr>
        <p:spPr>
          <a:xfrm>
            <a:off x="3584448" y="1938528"/>
            <a:ext cx="1234440" cy="310896"/>
          </a:xfrm>
          <a:prstGeom prst="rect">
            <a:avLst/>
          </a:prstGeom>
          <a:noFill/>
          <a:ln/>
        </p:spPr>
        <p:txBody>
          <a:bodyPr wrap="square" lIns="0" tIns="0" rIns="0" bIns="0" rtlCol="0" anchor="ctr"/>
          <a:lstStyle/>
          <a:p>
            <a:pPr algn="ctr" indent="0" marL="0">
              <a:buNone/>
            </a:pPr>
            <a:r>
              <a:rPr lang="en-US" sz="1200" b="1" dirty="0">
                <a:solidFill>
                  <a:schemeClr val="bg1"/>
                </a:solidFill>
              </a:rPr>
              <a:t>6 Wochen</a:t>
            </a:r>
            <a:endParaRPr lang="en-US" sz="1200" dirty="0"/>
          </a:p>
        </p:txBody>
      </p:sp>
      <p:sp>
        <p:nvSpPr>
          <p:cNvPr id="19" name="Text 16"/>
          <p:cNvSpPr txBox="1"/>
          <p:nvPr/>
        </p:nvSpPr>
        <p:spPr>
          <a:xfrm>
            <a:off x="3584448" y="2423160"/>
            <a:ext cx="2240280" cy="155448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bg1"/>
                </a:solidFill>
              </a:rPr>
              <a:t>Rezeption prüft wie bisher</a:t>
            </a:r>
            <a:endParaRPr lang="en-US" sz="1400" dirty="0"/>
          </a:p>
          <a:p>
            <a:pPr marL="177800" indent="-177800">
              <a:spcAft>
                <a:spcPts val="500"/>
              </a:spcAft>
              <a:buSzPct val="100000"/>
              <a:buChar char="•"/>
            </a:pPr>
            <a:r>
              <a:rPr lang="en-US" sz="1400" dirty="0">
                <a:solidFill>
                  <a:schemeClr val="bg1"/>
                </a:solidFill>
              </a:rPr>
              <a:t>System läuft mit</a:t>
            </a:r>
            <a:endParaRPr lang="en-US" sz="1400" dirty="0"/>
          </a:p>
          <a:p>
            <a:pPr marL="177800" indent="-177800">
              <a:spcAft>
                <a:spcPts val="500"/>
              </a:spcAft>
              <a:buSzPct val="100000"/>
              <a:buChar char="•"/>
            </a:pPr>
            <a:r>
              <a:rPr lang="en-US" sz="1400" dirty="0">
                <a:solidFill>
                  <a:schemeClr val="bg1"/>
                </a:solidFill>
              </a:rPr>
              <a:t>Abweichungen werden protokolliert</a:t>
            </a:r>
            <a:endParaRPr lang="en-US" sz="1400" dirty="0"/>
          </a:p>
        </p:txBody>
      </p:sp>
      <p:sp>
        <p:nvSpPr>
          <p:cNvPr id="20" name="Text 17"/>
          <p:cNvSpPr txBox="1"/>
          <p:nvPr/>
        </p:nvSpPr>
        <p:spPr>
          <a:xfrm>
            <a:off x="3584448" y="4069080"/>
            <a:ext cx="2194560" cy="274320"/>
          </a:xfrm>
          <a:prstGeom prst="rect">
            <a:avLst/>
          </a:prstGeom>
          <a:noFill/>
          <a:ln/>
        </p:spPr>
        <p:txBody>
          <a:bodyPr wrap="square" lIns="0" tIns="0" rIns="0" bIns="0" rtlCol="0" anchor="t"/>
          <a:lstStyle/>
          <a:p>
            <a:pPr indent="0" marL="0">
              <a:buNone/>
            </a:pPr>
            <a:r>
              <a:rPr lang="en-US" sz="1100" dirty="0">
                <a:solidFill>
                  <a:schemeClr val="bg2"/>
                </a:solidFill>
              </a:rPr>
              <a:t>Weiter, wenn:</a:t>
            </a:r>
            <a:endParaRPr lang="en-US" sz="1100" dirty="0"/>
          </a:p>
        </p:txBody>
      </p:sp>
      <p:sp>
        <p:nvSpPr>
          <p:cNvPr id="21" name="Text 18"/>
          <p:cNvSpPr txBox="1"/>
          <p:nvPr/>
        </p:nvSpPr>
        <p:spPr>
          <a:xfrm>
            <a:off x="3584448" y="4315968"/>
            <a:ext cx="2194560" cy="594360"/>
          </a:xfrm>
          <a:prstGeom prst="rect">
            <a:avLst/>
          </a:prstGeom>
          <a:noFill/>
          <a:ln/>
        </p:spPr>
        <p:txBody>
          <a:bodyPr wrap="square" lIns="0" tIns="0" rIns="0" bIns="0" rtlCol="0" anchor="t"/>
          <a:lstStyle/>
          <a:p>
            <a:pPr indent="0" marL="0">
              <a:buNone/>
            </a:pPr>
            <a:r>
              <a:rPr lang="en-US" sz="1300" b="1" dirty="0">
                <a:solidFill>
                  <a:schemeClr val="accent2"/>
                </a:solidFill>
              </a:rPr>
              <a:t>≥ 98 % Übereinstimmung, 0 übersehene rote</a:t>
            </a:r>
            <a:endParaRPr lang="en-US" sz="1300" dirty="0"/>
          </a:p>
        </p:txBody>
      </p:sp>
      <p:sp>
        <p:nvSpPr>
          <p:cNvPr id="22" name="Phase"/>
          <p:cNvSpPr/>
          <p:nvPr/>
        </p:nvSpPr>
        <p:spPr>
          <a:xfrm>
            <a:off x="6163056" y="1325880"/>
            <a:ext cx="2651760" cy="3657600"/>
          </a:xfrm>
          <a:prstGeom prst="roundRect">
            <a:avLst>
              <a:gd name="adj" fmla="val 2759"/>
            </a:avLst>
          </a:prstGeom>
          <a:solidFill>
            <a:schemeClr val="bg2"/>
          </a:solidFill>
          <a:ln/>
        </p:spPr>
        <p:txBody>
          <a:bodyPr/>
          <a:p/>
        </p:txBody>
      </p:sp>
      <p:sp>
        <p:nvSpPr>
          <p:cNvPr id="23" name="Text 20"/>
          <p:cNvSpPr txBox="1"/>
          <p:nvPr/>
        </p:nvSpPr>
        <p:spPr>
          <a:xfrm>
            <a:off x="6391656" y="1463040"/>
            <a:ext cx="219456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2 · Unterstützt</a:t>
            </a:r>
            <a:endParaRPr lang="en-US" sz="1700" dirty="0"/>
          </a:p>
        </p:txBody>
      </p:sp>
      <p:sp>
        <p:nvSpPr>
          <p:cNvPr id="24" name="Dauer"/>
          <p:cNvSpPr/>
          <p:nvPr/>
        </p:nvSpPr>
        <p:spPr>
          <a:xfrm>
            <a:off x="6391656" y="1938528"/>
            <a:ext cx="1234440" cy="310896"/>
          </a:xfrm>
          <a:prstGeom prst="roundRect">
            <a:avLst>
              <a:gd name="adj" fmla="val 50000"/>
            </a:avLst>
          </a:prstGeom>
          <a:solidFill>
            <a:schemeClr val="accent3"/>
          </a:solidFill>
          <a:ln/>
        </p:spPr>
        <p:txBody>
          <a:bodyPr/>
          <a:p/>
        </p:txBody>
      </p:sp>
      <p:sp>
        <p:nvSpPr>
          <p:cNvPr id="25" name="Text 22"/>
          <p:cNvSpPr txBox="1"/>
          <p:nvPr/>
        </p:nvSpPr>
        <p:spPr>
          <a:xfrm>
            <a:off x="6391656" y="1938528"/>
            <a:ext cx="1234440" cy="310896"/>
          </a:xfrm>
          <a:prstGeom prst="rect">
            <a:avLst/>
          </a:prstGeom>
          <a:noFill/>
          <a:ln/>
        </p:spPr>
        <p:txBody>
          <a:bodyPr wrap="square" lIns="0" tIns="0" rIns="0" bIns="0" rtlCol="0" anchor="ctr"/>
          <a:lstStyle/>
          <a:p>
            <a:pPr algn="ctr" indent="0" marL="0">
              <a:buNone/>
            </a:pPr>
            <a:r>
              <a:rPr lang="en-US" sz="1200" b="1" dirty="0">
                <a:solidFill>
                  <a:schemeClr val="bg1"/>
                </a:solidFill>
              </a:rPr>
              <a:t>bis Ende Q2</a:t>
            </a:r>
            <a:endParaRPr lang="en-US" sz="1200" dirty="0"/>
          </a:p>
        </p:txBody>
      </p:sp>
      <p:sp>
        <p:nvSpPr>
          <p:cNvPr id="26" name="Text 23"/>
          <p:cNvSpPr txBox="1"/>
          <p:nvPr/>
        </p:nvSpPr>
        <p:spPr>
          <a:xfrm>
            <a:off x="6391656" y="2423160"/>
            <a:ext cx="2240280" cy="155448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System prüft zuerst</a:t>
            </a:r>
            <a:endParaRPr lang="en-US" sz="1400" dirty="0"/>
          </a:p>
          <a:p>
            <a:pPr marL="177800" indent="-177800">
              <a:spcAft>
                <a:spcPts val="500"/>
              </a:spcAft>
              <a:buSzPct val="100000"/>
              <a:buChar char="•"/>
            </a:pPr>
            <a:r>
              <a:rPr lang="en-US" sz="1400" dirty="0">
                <a:solidFill>
                  <a:schemeClr val="tx1"/>
                </a:solidFill>
              </a:rPr>
              <a:t>Mensch bestätigt die Ampel</a:t>
            </a:r>
            <a:endParaRPr lang="en-US" sz="1400" dirty="0"/>
          </a:p>
          <a:p>
            <a:pPr marL="177800" indent="-177800">
              <a:spcAft>
                <a:spcPts val="500"/>
              </a:spcAft>
              <a:buSzPct val="100000"/>
              <a:buChar char="•"/>
            </a:pPr>
            <a:r>
              <a:rPr lang="en-US" sz="1400" dirty="0">
                <a:solidFill>
                  <a:schemeClr val="tx1"/>
                </a:solidFill>
              </a:rPr>
              <a:t>Schlussprüfung bleibt</a:t>
            </a:r>
            <a:endParaRPr lang="en-US" sz="1400" dirty="0"/>
          </a:p>
        </p:txBody>
      </p:sp>
      <p:sp>
        <p:nvSpPr>
          <p:cNvPr id="27" name="Text 24"/>
          <p:cNvSpPr txBox="1"/>
          <p:nvPr/>
        </p:nvSpPr>
        <p:spPr>
          <a:xfrm>
            <a:off x="6391656" y="4069080"/>
            <a:ext cx="2194560" cy="274320"/>
          </a:xfrm>
          <a:prstGeom prst="rect">
            <a:avLst/>
          </a:prstGeom>
          <a:noFill/>
          <a:ln/>
        </p:spPr>
        <p:txBody>
          <a:bodyPr wrap="square" lIns="0" tIns="0" rIns="0" bIns="0" rtlCol="0" anchor="t"/>
          <a:lstStyle/>
          <a:p>
            <a:pPr indent="0" marL="0">
              <a:buNone/>
            </a:pPr>
            <a:r>
              <a:rPr lang="en-US" sz="1100" dirty="0">
                <a:solidFill>
                  <a:schemeClr val="accent5"/>
                </a:solidFill>
              </a:rPr>
              <a:t>Weiter, wenn:</a:t>
            </a:r>
            <a:endParaRPr lang="en-US" sz="1100" dirty="0"/>
          </a:p>
        </p:txBody>
      </p:sp>
      <p:sp>
        <p:nvSpPr>
          <p:cNvPr id="28" name="Text 25"/>
          <p:cNvSpPr txBox="1"/>
          <p:nvPr/>
        </p:nvSpPr>
        <p:spPr>
          <a:xfrm>
            <a:off x="6391656" y="4315968"/>
            <a:ext cx="2194560" cy="594360"/>
          </a:xfrm>
          <a:prstGeom prst="rect">
            <a:avLst/>
          </a:prstGeom>
          <a:noFill/>
          <a:ln/>
        </p:spPr>
        <p:txBody>
          <a:bodyPr wrap="square" lIns="0" tIns="0" rIns="0" bIns="0" rtlCol="0" anchor="t"/>
          <a:lstStyle/>
          <a:p>
            <a:pPr indent="0" marL="0">
              <a:buNone/>
            </a:pPr>
            <a:r>
              <a:rPr lang="en-US" sz="1300" b="1" dirty="0">
                <a:solidFill>
                  <a:schemeClr val="accent1"/>
                </a:solidFill>
              </a:rPr>
              <a:t>Prüfzeit −50 %</a:t>
            </a:r>
            <a:endParaRPr lang="en-US" sz="1300" dirty="0"/>
          </a:p>
        </p:txBody>
      </p:sp>
      <p:sp>
        <p:nvSpPr>
          <p:cNvPr id="29" name="Phase"/>
          <p:cNvSpPr/>
          <p:nvPr/>
        </p:nvSpPr>
        <p:spPr>
          <a:xfrm>
            <a:off x="8970264" y="1325880"/>
            <a:ext cx="2651760" cy="3657600"/>
          </a:xfrm>
          <a:prstGeom prst="roundRect">
            <a:avLst>
              <a:gd name="adj" fmla="val 2759"/>
            </a:avLst>
          </a:prstGeom>
          <a:solidFill>
            <a:schemeClr val="bg2"/>
          </a:solidFill>
          <a:ln/>
        </p:spPr>
        <p:txBody>
          <a:bodyPr/>
          <a:p/>
        </p:txBody>
      </p:sp>
      <p:sp>
        <p:nvSpPr>
          <p:cNvPr id="30" name="Text 27"/>
          <p:cNvSpPr txBox="1"/>
          <p:nvPr/>
        </p:nvSpPr>
        <p:spPr>
          <a:xfrm>
            <a:off x="9198864" y="1463040"/>
            <a:ext cx="219456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3 · Regelbetrieb</a:t>
            </a:r>
            <a:endParaRPr lang="en-US" sz="1700" dirty="0"/>
          </a:p>
        </p:txBody>
      </p:sp>
      <p:sp>
        <p:nvSpPr>
          <p:cNvPr id="31" name="Dauer"/>
          <p:cNvSpPr/>
          <p:nvPr/>
        </p:nvSpPr>
        <p:spPr>
          <a:xfrm>
            <a:off x="9198864" y="1938528"/>
            <a:ext cx="1234440" cy="310896"/>
          </a:xfrm>
          <a:prstGeom prst="roundRect">
            <a:avLst>
              <a:gd name="adj" fmla="val 50000"/>
            </a:avLst>
          </a:prstGeom>
          <a:solidFill>
            <a:schemeClr val="accent3"/>
          </a:solidFill>
          <a:ln/>
        </p:spPr>
        <p:txBody>
          <a:bodyPr/>
          <a:p/>
        </p:txBody>
      </p:sp>
      <p:sp>
        <p:nvSpPr>
          <p:cNvPr id="32" name="Text 29"/>
          <p:cNvSpPr txBox="1"/>
          <p:nvPr/>
        </p:nvSpPr>
        <p:spPr>
          <a:xfrm>
            <a:off x="9198864" y="1938528"/>
            <a:ext cx="1234440" cy="310896"/>
          </a:xfrm>
          <a:prstGeom prst="rect">
            <a:avLst/>
          </a:prstGeom>
          <a:noFill/>
          <a:ln/>
        </p:spPr>
        <p:txBody>
          <a:bodyPr wrap="square" lIns="0" tIns="0" rIns="0" bIns="0" rtlCol="0" anchor="ctr"/>
          <a:lstStyle/>
          <a:p>
            <a:pPr algn="ctr" indent="0" marL="0">
              <a:buNone/>
            </a:pPr>
            <a:r>
              <a:rPr lang="en-US" sz="1200" b="1" dirty="0">
                <a:solidFill>
                  <a:schemeClr val="bg1"/>
                </a:solidFill>
              </a:rPr>
              <a:t>ab Q3</a:t>
            </a:r>
            <a:endParaRPr lang="en-US" sz="1200" dirty="0"/>
          </a:p>
        </p:txBody>
      </p:sp>
      <p:sp>
        <p:nvSpPr>
          <p:cNvPr id="33" name="Text 30"/>
          <p:cNvSpPr txBox="1"/>
          <p:nvPr/>
        </p:nvSpPr>
        <p:spPr>
          <a:xfrm>
            <a:off x="9198864" y="2423160"/>
            <a:ext cx="2240280" cy="155448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Doppelabrechnungs-Prüfung</a:t>
            </a:r>
            <a:endParaRPr lang="en-US" sz="1400" dirty="0"/>
          </a:p>
          <a:p>
            <a:pPr marL="177800" indent="-177800">
              <a:spcAft>
                <a:spcPts val="500"/>
              </a:spcAft>
              <a:buSzPct val="100000"/>
              <a:buChar char="•"/>
            </a:pPr>
            <a:r>
              <a:rPr lang="en-US" sz="1400" dirty="0">
                <a:solidFill>
                  <a:schemeClr val="tx1"/>
                </a:solidFill>
              </a:rPr>
              <a:t>Foto-Upload der Verordnung</a:t>
            </a:r>
            <a:endParaRPr lang="en-US" sz="1400" dirty="0"/>
          </a:p>
          <a:p>
            <a:pPr marL="177800" indent="-177800">
              <a:spcAft>
                <a:spcPts val="500"/>
              </a:spcAft>
              <a:buSzPct val="100000"/>
              <a:buChar char="•"/>
            </a:pPr>
            <a:r>
              <a:rPr lang="en-US" sz="1400" dirty="0">
                <a:solidFill>
                  <a:schemeClr val="tx1"/>
                </a:solidFill>
              </a:rPr>
              <a:t>Monatlicher Qualitätsbericht</a:t>
            </a:r>
            <a:endParaRPr lang="en-US" sz="1400" dirty="0"/>
          </a:p>
        </p:txBody>
      </p:sp>
      <p:sp>
        <p:nvSpPr>
          <p:cNvPr id="34" name="Text 31"/>
          <p:cNvSpPr txBox="1"/>
          <p:nvPr/>
        </p:nvSpPr>
        <p:spPr>
          <a:xfrm>
            <a:off x="9198864" y="4069080"/>
            <a:ext cx="2194560" cy="274320"/>
          </a:xfrm>
          <a:prstGeom prst="rect">
            <a:avLst/>
          </a:prstGeom>
          <a:noFill/>
          <a:ln/>
        </p:spPr>
        <p:txBody>
          <a:bodyPr wrap="square" lIns="0" tIns="0" rIns="0" bIns="0" rtlCol="0" anchor="t"/>
          <a:lstStyle/>
          <a:p>
            <a:pPr indent="0" marL="0">
              <a:buNone/>
            </a:pPr>
            <a:r>
              <a:rPr lang="en-US" sz="1100" dirty="0">
                <a:solidFill>
                  <a:schemeClr val="accent5"/>
                </a:solidFill>
              </a:rPr>
              <a:t>Weiter, wenn:</a:t>
            </a:r>
            <a:endParaRPr lang="en-US" sz="1100" dirty="0"/>
          </a:p>
        </p:txBody>
      </p:sp>
      <p:sp>
        <p:nvSpPr>
          <p:cNvPr id="35" name="Text 32"/>
          <p:cNvSpPr txBox="1"/>
          <p:nvPr/>
        </p:nvSpPr>
        <p:spPr>
          <a:xfrm>
            <a:off x="9198864" y="4315968"/>
            <a:ext cx="2194560" cy="594360"/>
          </a:xfrm>
          <a:prstGeom prst="rect">
            <a:avLst/>
          </a:prstGeom>
          <a:noFill/>
          <a:ln/>
        </p:spPr>
        <p:txBody>
          <a:bodyPr wrap="square" lIns="0" tIns="0" rIns="0" bIns="0" rtlCol="0" anchor="t"/>
          <a:lstStyle/>
          <a:p>
            <a:pPr indent="0" marL="0">
              <a:buNone/>
            </a:pPr>
            <a:r>
              <a:rPr lang="en-US" sz="1300" b="1" dirty="0">
                <a:solidFill>
                  <a:schemeClr val="accent1"/>
                </a:solidFill>
              </a:rPr>
              <a:t>Prüfzeit −75 %</a:t>
            </a:r>
            <a:endParaRPr lang="en-US" sz="1300" dirty="0"/>
          </a:p>
        </p:txBody>
      </p:sp>
      <p:sp>
        <p:nvSpPr>
          <p:cNvPr id="36" name="Rahmen"/>
          <p:cNvSpPr/>
          <p:nvPr/>
        </p:nvSpPr>
        <p:spPr>
          <a:xfrm>
            <a:off x="548640" y="5166360"/>
            <a:ext cx="11091672" cy="731520"/>
          </a:xfrm>
          <a:prstGeom prst="roundRect">
            <a:avLst>
              <a:gd name="adj" fmla="val 10000"/>
            </a:avLst>
          </a:prstGeom>
          <a:solidFill>
            <a:schemeClr val="bg2"/>
          </a:solidFill>
          <a:ln/>
        </p:spPr>
        <p:txBody>
          <a:bodyPr/>
          <a:p/>
        </p:txBody>
      </p:sp>
      <p:sp>
        <p:nvSpPr>
          <p:cNvPr id="37" name="Symbolkreis"/>
          <p:cNvSpPr/>
          <p:nvPr/>
        </p:nvSpPr>
        <p:spPr>
          <a:xfrm>
            <a:off x="731520" y="5257800"/>
            <a:ext cx="548640" cy="548640"/>
          </a:xfrm>
          <a:prstGeom prst="ellipse">
            <a:avLst/>
          </a:prstGeom>
          <a:solidFill>
            <a:schemeClr val="accent3"/>
          </a:solidFill>
          <a:ln/>
        </p:spPr>
        <p:txBody>
          <a:bodyPr/>
          <a:p/>
        </p:txBody>
      </p:sp>
      <p:pic>
        <p:nvPicPr>
          <p:cNvPr id="38" name="Symbol" descr="preencoded.png">    </p:cNvPr>
          <p:cNvPicPr>
            <a:picLocks noChangeAspect="1"/>
          </p:cNvPicPr>
          <p:nvPr/>
        </p:nvPicPr>
        <p:blipFill>
          <a:blip r:embed="rId2"/>
          <a:stretch>
            <a:fillRect/>
          </a:stretch>
        </p:blipFill>
        <p:spPr>
          <a:xfrm>
            <a:off x="868680" y="5394960"/>
            <a:ext cx="274320" cy="274320"/>
          </a:xfrm>
          <a:prstGeom prst="rect">
            <a:avLst/>
          </a:prstGeom>
        </p:spPr>
      </p:pic>
      <p:sp>
        <p:nvSpPr>
          <p:cNvPr id="39" name="Text 35"/>
          <p:cNvSpPr txBox="1"/>
          <p:nvPr/>
        </p:nvSpPr>
        <p:spPr>
          <a:xfrm>
            <a:off x="1463040" y="5257800"/>
            <a:ext cx="9966960" cy="548640"/>
          </a:xfrm>
          <a:prstGeom prst="rect">
            <a:avLst/>
          </a:prstGeom>
          <a:noFill/>
          <a:ln/>
        </p:spPr>
        <p:txBody>
          <a:bodyPr wrap="square" lIns="0" tIns="0" rIns="0" bIns="0" rtlCol="0" anchor="ctr"/>
          <a:lstStyle/>
          <a:p>
            <a:pPr indent="0" marL="0">
              <a:buNone/>
            </a:pPr>
            <a:r>
              <a:rPr lang="en-US" sz="1400" dirty="0">
                <a:solidFill>
                  <a:schemeClr val="tx2"/>
                </a:solidFill>
              </a:rPr>
              <a:t>Verantwortlich in der Praxis: Inhaberin · Parallelbetrieb von der Praxis zugesagt (Field Study) · Rückfallebene: Prüfung wie heute, ohne System</a:t>
            </a:r>
            <a:endParaRPr lang="en-US" sz="1400" dirty="0"/>
          </a:p>
        </p:txBody>
      </p:sp>
      <p:sp>
        <p:nvSpPr>
          <p:cNvPr id="40" name="Text 36"/>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Phasen entsprechen dem Einsparziel 50 % / 75 % · Dauer der Phasen noch mit der Praxis abzustimmen</a:t>
            </a:r>
            <a:endParaRPr lang="en-US" sz="1000" dirty="0"/>
          </a:p>
        </p:txBody>
      </p:sp>
      <p:sp>
        <p:nvSpPr>
          <p:cNvPr id="41"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Risiken und nächste Schritte</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3"/>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Derk</a:t>
            </a:r>
            <a:endParaRPr lang="en-US" sz="15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6949440" cy="914400"/>
        </p:xfrm>
        <a:graphic>
          <a:graphicData uri="http://schemas.openxmlformats.org/drawingml/2006/table">
            <a:tbl>
              <a:tblPr/>
              <a:tblGrid>
                <a:gridCol w="3200400"/>
                <a:gridCol w="3749040"/>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Risiko</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76F5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Gegenmaßnahme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76F51"/>
                    </a:solidFill>
                  </a:tcPr>
                </a:tc>
              </a:tr>
              <a:tr h="621792">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Modell irrt, klingt aber plausibel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Regeln im Code, Fundstelle Pflicht, Mensch entscheidet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621792">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Tabellen aus PDF werden falsch gelesen (KBV-Liste)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KBV-Einträge für WS/EX als Tabelle im Code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621792">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Historie unvollständig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Einmaliger Import laufender Fälle; Fallprüfung nur als Hinweis</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621792">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Regelwerk ändert sich</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Wissensbasis neu laden (KBV-Liste jährlich), Stand anzeigen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621792">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Modellantwort passt nicht ins Schema</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Automatische Wiederholung („Retry on Fail“)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621792">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Akzeptanz an der Rezeption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Parallelbetrieb, Einweisung, wenige Fehlalarme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bl>
          </a:graphicData>
        </a:graphic>
      </p:graphicFrame>
      <p:sp>
        <p:nvSpPr>
          <p:cNvPr id="9" name="Nächste Schritte"/>
          <p:cNvSpPr/>
          <p:nvPr/>
        </p:nvSpPr>
        <p:spPr>
          <a:xfrm>
            <a:off x="7680960" y="1325880"/>
            <a:ext cx="3959352" cy="4572000"/>
          </a:xfrm>
          <a:prstGeom prst="roundRect">
            <a:avLst>
              <a:gd name="adj" fmla="val 1848"/>
            </a:avLst>
          </a:prstGeom>
          <a:solidFill>
            <a:schemeClr val="tx2"/>
          </a:solidFill>
          <a:ln/>
        </p:spPr>
        <p:txBody>
          <a:bodyPr/>
          <a:p/>
        </p:txBody>
      </p:sp>
      <p:sp>
        <p:nvSpPr>
          <p:cNvPr id="10" name="Text 6"/>
          <p:cNvSpPr txBox="1"/>
          <p:nvPr/>
        </p:nvSpPr>
        <p:spPr>
          <a:xfrm>
            <a:off x="7955280" y="1463040"/>
            <a:ext cx="3474720" cy="411480"/>
          </a:xfrm>
          <a:prstGeom prst="rect">
            <a:avLst/>
          </a:prstGeom>
          <a:noFill/>
          <a:ln/>
        </p:spPr>
        <p:txBody>
          <a:bodyPr wrap="square" lIns="0" tIns="0" rIns="0" bIns="0" rtlCol="0" anchor="t"/>
          <a:lstStyle/>
          <a:p>
            <a:pPr indent="0" marL="0">
              <a:buNone/>
            </a:pPr>
            <a:r>
              <a:rPr lang="en-US" sz="1800" b="1" dirty="0">
                <a:solidFill>
                  <a:schemeClr val="bg1"/>
                </a:solidFill>
                <a:latin typeface="Cambria" pitchFamily="34" charset="0"/>
                <a:ea typeface="Cambria" pitchFamily="34" charset="-122"/>
                <a:cs typeface="Cambria" pitchFamily="34" charset="-120"/>
              </a:rPr>
              <a:t>Nächste Schritte</a:t>
            </a:r>
            <a:endParaRPr lang="en-US" sz="1800" dirty="0"/>
          </a:p>
        </p:txBody>
      </p:sp>
      <p:sp>
        <p:nvSpPr>
          <p:cNvPr id="11" name="Text 7"/>
          <p:cNvSpPr txBox="1"/>
          <p:nvPr/>
        </p:nvSpPr>
        <p:spPr>
          <a:xfrm>
            <a:off x="7955280" y="2057400"/>
            <a:ext cx="1280160" cy="548640"/>
          </a:xfrm>
          <a:prstGeom prst="rect">
            <a:avLst/>
          </a:prstGeom>
          <a:noFill/>
          <a:ln/>
        </p:spPr>
        <p:txBody>
          <a:bodyPr wrap="square" lIns="0" tIns="0" rIns="0" bIns="0" rtlCol="0" anchor="ctr"/>
          <a:lstStyle/>
          <a:p>
            <a:pPr indent="0" marL="0">
              <a:buNone/>
            </a:pPr>
            <a:r>
              <a:rPr lang="en-US" sz="1400" b="1" dirty="0">
                <a:solidFill>
                  <a:schemeClr val="accent2"/>
                </a:solidFill>
              </a:rPr>
              <a:t>Sprint 2</a:t>
            </a:r>
            <a:endParaRPr lang="en-US" sz="1400" dirty="0"/>
          </a:p>
        </p:txBody>
      </p:sp>
      <p:sp>
        <p:nvSpPr>
          <p:cNvPr id="12" name="Text 8"/>
          <p:cNvSpPr txBox="1"/>
          <p:nvPr/>
        </p:nvSpPr>
        <p:spPr>
          <a:xfrm>
            <a:off x="9281160" y="2057400"/>
            <a:ext cx="2240280" cy="548640"/>
          </a:xfrm>
          <a:prstGeom prst="rect">
            <a:avLst/>
          </a:prstGeom>
          <a:noFill/>
          <a:ln/>
        </p:spPr>
        <p:txBody>
          <a:bodyPr wrap="square" lIns="0" tIns="0" rIns="0" bIns="0" rtlCol="0" anchor="ctr"/>
          <a:lstStyle/>
          <a:p>
            <a:pPr indent="0" marL="0">
              <a:buNone/>
            </a:pPr>
            <a:r>
              <a:rPr lang="en-US" sz="1400" dirty="0">
                <a:solidFill>
                  <a:schemeClr val="bg1"/>
                </a:solidFill>
              </a:rPr>
              <a:t>Verordnungsfall-Prüfung (v5)</a:t>
            </a:r>
            <a:endParaRPr lang="en-US" sz="1400" dirty="0"/>
          </a:p>
        </p:txBody>
      </p:sp>
      <p:sp>
        <p:nvSpPr>
          <p:cNvPr id="13" name="Text 9"/>
          <p:cNvSpPr txBox="1"/>
          <p:nvPr/>
        </p:nvSpPr>
        <p:spPr>
          <a:xfrm>
            <a:off x="7955280" y="2788920"/>
            <a:ext cx="1280160" cy="548640"/>
          </a:xfrm>
          <a:prstGeom prst="rect">
            <a:avLst/>
          </a:prstGeom>
          <a:noFill/>
          <a:ln/>
        </p:spPr>
        <p:txBody>
          <a:bodyPr wrap="square" lIns="0" tIns="0" rIns="0" bIns="0" rtlCol="0" anchor="ctr"/>
          <a:lstStyle/>
          <a:p>
            <a:pPr indent="0" marL="0">
              <a:buNone/>
            </a:pPr>
            <a:r>
              <a:rPr lang="en-US" sz="1400" b="1" dirty="0">
                <a:solidFill>
                  <a:schemeClr val="accent2"/>
                </a:solidFill>
              </a:rPr>
              <a:t>27.10.</a:t>
            </a:r>
            <a:endParaRPr lang="en-US" sz="1400" dirty="0"/>
          </a:p>
        </p:txBody>
      </p:sp>
      <p:sp>
        <p:nvSpPr>
          <p:cNvPr id="14" name="Text 10"/>
          <p:cNvSpPr txBox="1"/>
          <p:nvPr/>
        </p:nvSpPr>
        <p:spPr>
          <a:xfrm>
            <a:off x="9281160" y="2788920"/>
            <a:ext cx="2240280" cy="548640"/>
          </a:xfrm>
          <a:prstGeom prst="rect">
            <a:avLst/>
          </a:prstGeom>
          <a:noFill/>
          <a:ln/>
        </p:spPr>
        <p:txBody>
          <a:bodyPr wrap="square" lIns="0" tIns="0" rIns="0" bIns="0" rtlCol="0" anchor="ctr"/>
          <a:lstStyle/>
          <a:p>
            <a:pPr indent="0" marL="0">
              <a:buNone/>
            </a:pPr>
            <a:r>
              <a:rPr lang="en-US" sz="1400" dirty="0">
                <a:solidFill>
                  <a:schemeClr val="bg1"/>
                </a:solidFill>
              </a:rPr>
              <a:t>Evaluation: 2 Läufe + Nachtest ✓</a:t>
            </a:r>
            <a:endParaRPr lang="en-US" sz="1400" dirty="0"/>
          </a:p>
        </p:txBody>
      </p:sp>
      <p:sp>
        <p:nvSpPr>
          <p:cNvPr id="15" name="Text 11"/>
          <p:cNvSpPr txBox="1"/>
          <p:nvPr/>
        </p:nvSpPr>
        <p:spPr>
          <a:xfrm>
            <a:off x="7955280" y="3520440"/>
            <a:ext cx="1280160" cy="548640"/>
          </a:xfrm>
          <a:prstGeom prst="rect">
            <a:avLst/>
          </a:prstGeom>
          <a:noFill/>
          <a:ln/>
        </p:spPr>
        <p:txBody>
          <a:bodyPr wrap="square" lIns="0" tIns="0" rIns="0" bIns="0" rtlCol="0" anchor="ctr"/>
          <a:lstStyle/>
          <a:p>
            <a:pPr indent="0" marL="0">
              <a:buNone/>
            </a:pPr>
            <a:r>
              <a:rPr lang="en-US" sz="1400" b="1" dirty="0">
                <a:solidFill>
                  <a:schemeClr val="accent2"/>
                </a:solidFill>
              </a:rPr>
              <a:t>02.11.</a:t>
            </a:r>
            <a:endParaRPr lang="en-US" sz="1400" dirty="0"/>
          </a:p>
        </p:txBody>
      </p:sp>
      <p:sp>
        <p:nvSpPr>
          <p:cNvPr id="16" name="Text 12"/>
          <p:cNvSpPr txBox="1"/>
          <p:nvPr/>
        </p:nvSpPr>
        <p:spPr>
          <a:xfrm>
            <a:off x="9281160" y="3520440"/>
            <a:ext cx="2240280" cy="548640"/>
          </a:xfrm>
          <a:prstGeom prst="rect">
            <a:avLst/>
          </a:prstGeom>
          <a:noFill/>
          <a:ln/>
        </p:spPr>
        <p:txBody>
          <a:bodyPr wrap="square" lIns="0" tIns="0" rIns="0" bIns="0" rtlCol="0" anchor="ctr"/>
          <a:lstStyle/>
          <a:p>
            <a:pPr indent="0" marL="0">
              <a:buNone/>
            </a:pPr>
            <a:r>
              <a:rPr lang="en-US" sz="1400" dirty="0">
                <a:solidFill>
                  <a:schemeClr val="bg1"/>
                </a:solidFill>
              </a:rPr>
              <a:t>Generalprobe 3 × 10 min</a:t>
            </a:r>
            <a:endParaRPr lang="en-US" sz="1400" dirty="0"/>
          </a:p>
        </p:txBody>
      </p:sp>
      <p:sp>
        <p:nvSpPr>
          <p:cNvPr id="17" name="Text 13"/>
          <p:cNvSpPr txBox="1"/>
          <p:nvPr/>
        </p:nvSpPr>
        <p:spPr>
          <a:xfrm>
            <a:off x="7955280" y="4251960"/>
            <a:ext cx="1280160" cy="548640"/>
          </a:xfrm>
          <a:prstGeom prst="rect">
            <a:avLst/>
          </a:prstGeom>
          <a:noFill/>
          <a:ln/>
        </p:spPr>
        <p:txBody>
          <a:bodyPr wrap="square" lIns="0" tIns="0" rIns="0" bIns="0" rtlCol="0" anchor="ctr"/>
          <a:lstStyle/>
          <a:p>
            <a:pPr indent="0" marL="0">
              <a:buNone/>
            </a:pPr>
            <a:r>
              <a:rPr lang="en-US" sz="1400" b="1" dirty="0">
                <a:solidFill>
                  <a:schemeClr val="accent2"/>
                </a:solidFill>
              </a:rPr>
              <a:t>03.11.</a:t>
            </a:r>
            <a:endParaRPr lang="en-US" sz="1400" dirty="0"/>
          </a:p>
        </p:txBody>
      </p:sp>
      <p:sp>
        <p:nvSpPr>
          <p:cNvPr id="18" name="Text 14"/>
          <p:cNvSpPr txBox="1"/>
          <p:nvPr/>
        </p:nvSpPr>
        <p:spPr>
          <a:xfrm>
            <a:off x="9281160" y="4251960"/>
            <a:ext cx="2240280" cy="548640"/>
          </a:xfrm>
          <a:prstGeom prst="rect">
            <a:avLst/>
          </a:prstGeom>
          <a:noFill/>
          <a:ln/>
        </p:spPr>
        <p:txBody>
          <a:bodyPr wrap="square" lIns="0" tIns="0" rIns="0" bIns="0" rtlCol="0" anchor="ctr"/>
          <a:lstStyle/>
          <a:p>
            <a:pPr indent="0" marL="0">
              <a:buNone/>
            </a:pPr>
            <a:r>
              <a:rPr lang="en-US" sz="1400" dirty="0">
                <a:solidFill>
                  <a:schemeClr val="bg1"/>
                </a:solidFill>
              </a:rPr>
              <a:t>MSIT-Prüfung</a:t>
            </a:r>
            <a:endParaRPr lang="en-US" sz="1400" dirty="0"/>
          </a:p>
        </p:txBody>
      </p:sp>
      <p:sp>
        <p:nvSpPr>
          <p:cNvPr id="19" name="Text 15"/>
          <p:cNvSpPr txBox="1"/>
          <p:nvPr/>
        </p:nvSpPr>
        <p:spPr>
          <a:xfrm>
            <a:off x="7955280" y="4983480"/>
            <a:ext cx="1280160" cy="548640"/>
          </a:xfrm>
          <a:prstGeom prst="rect">
            <a:avLst/>
          </a:prstGeom>
          <a:noFill/>
          <a:ln/>
        </p:spPr>
        <p:txBody>
          <a:bodyPr wrap="square" lIns="0" tIns="0" rIns="0" bIns="0" rtlCol="0" anchor="ctr"/>
          <a:lstStyle/>
          <a:p>
            <a:pPr indent="0" marL="0">
              <a:buNone/>
            </a:pPr>
            <a:r>
              <a:rPr lang="en-US" sz="1400" b="1" dirty="0">
                <a:solidFill>
                  <a:schemeClr val="accent2"/>
                </a:solidFill>
              </a:rPr>
              <a:t>05.11.</a:t>
            </a:r>
            <a:endParaRPr lang="en-US" sz="1400" dirty="0"/>
          </a:p>
        </p:txBody>
      </p:sp>
      <p:sp>
        <p:nvSpPr>
          <p:cNvPr id="20" name="Text 16"/>
          <p:cNvSpPr txBox="1"/>
          <p:nvPr/>
        </p:nvSpPr>
        <p:spPr>
          <a:xfrm>
            <a:off x="9281160" y="4983480"/>
            <a:ext cx="2240280" cy="548640"/>
          </a:xfrm>
          <a:prstGeom prst="rect">
            <a:avLst/>
          </a:prstGeom>
          <a:noFill/>
          <a:ln/>
        </p:spPr>
        <p:txBody>
          <a:bodyPr wrap="square" lIns="0" tIns="0" rIns="0" bIns="0" rtlCol="0" anchor="ctr"/>
          <a:lstStyle/>
          <a:p>
            <a:pPr indent="0" marL="0">
              <a:buNone/>
            </a:pPr>
            <a:r>
              <a:rPr lang="en-US" sz="1400" dirty="0">
                <a:solidFill>
                  <a:schemeClr val="bg1"/>
                </a:solidFill>
              </a:rPr>
              <a:t>IHK-Prüfung</a:t>
            </a:r>
            <a:endParaRPr lang="en-US" sz="14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Reflexion: Was wir gelernt haben</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tx2"/>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Thomas</a:t>
            </a:r>
            <a:endParaRPr lang="en-US" sz="1500" dirty="0"/>
          </a:p>
        </p:txBody>
      </p:sp>
      <p:sp>
        <p:nvSpPr>
          <p:cNvPr id="8" name="Lernpunkt"/>
          <p:cNvSpPr/>
          <p:nvPr/>
        </p:nvSpPr>
        <p:spPr>
          <a:xfrm>
            <a:off x="548640" y="1325880"/>
            <a:ext cx="3611880" cy="2103120"/>
          </a:xfrm>
          <a:prstGeom prst="roundRect">
            <a:avLst>
              <a:gd name="adj" fmla="val 3478"/>
            </a:avLst>
          </a:prstGeom>
          <a:solidFill>
            <a:schemeClr val="bg2"/>
          </a:solidFill>
          <a:ln/>
        </p:spPr>
        <p:txBody>
          <a:bodyPr/>
          <a:p/>
        </p:txBody>
      </p:sp>
      <p:sp>
        <p:nvSpPr>
          <p:cNvPr id="9" name="Symbolkreis"/>
          <p:cNvSpPr/>
          <p:nvPr/>
        </p:nvSpPr>
        <p:spPr>
          <a:xfrm>
            <a:off x="777240" y="1554480"/>
            <a:ext cx="548640" cy="548640"/>
          </a:xfrm>
          <a:prstGeom prst="ellipse">
            <a:avLst/>
          </a:prstGeom>
          <a:solidFill>
            <a:schemeClr val="accent1"/>
          </a:solidFill>
          <a:ln/>
        </p:spPr>
        <p:txBody>
          <a:bodyPr/>
          <a:p/>
        </p:txBody>
      </p:sp>
      <p:pic>
        <p:nvPicPr>
          <p:cNvPr id="10" name="Symbol" descr="preencoded.png">    </p:cNvPr>
          <p:cNvPicPr>
            <a:picLocks noChangeAspect="1"/>
          </p:cNvPicPr>
          <p:nvPr/>
        </p:nvPicPr>
        <p:blipFill>
          <a:blip r:embed="rId2"/>
          <a:stretch>
            <a:fillRect/>
          </a:stretch>
        </p:blipFill>
        <p:spPr>
          <a:xfrm>
            <a:off x="914400" y="1691640"/>
            <a:ext cx="274320" cy="274320"/>
          </a:xfrm>
          <a:prstGeom prst="rect">
            <a:avLst/>
          </a:prstGeom>
        </p:spPr>
      </p:pic>
      <p:sp>
        <p:nvSpPr>
          <p:cNvPr id="11" name="Text 7"/>
          <p:cNvSpPr txBox="1"/>
          <p:nvPr/>
        </p:nvSpPr>
        <p:spPr>
          <a:xfrm>
            <a:off x="1463040" y="1508760"/>
            <a:ext cx="2514600" cy="868680"/>
          </a:xfrm>
          <a:prstGeom prst="rect">
            <a:avLst/>
          </a:prstGeom>
          <a:noFill/>
          <a:ln/>
        </p:spPr>
        <p:txBody>
          <a:bodyPr wrap="square" lIns="0" tIns="0" rIns="0" bIns="0" rtlCol="0" anchor="ctr"/>
          <a:lstStyle/>
          <a:p>
            <a:pPr indent="0" marL="0">
              <a:buNone/>
            </a:pPr>
            <a:r>
              <a:rPr lang="en-US" sz="1500" b="1" dirty="0">
                <a:solidFill>
                  <a:schemeClr val="tx2"/>
                </a:solidFill>
              </a:rPr>
              <a:t>Fehler finden war leicht, Fehlalarme senken war die Arbeit</a:t>
            </a:r>
            <a:endParaRPr lang="en-US" sz="1500" dirty="0"/>
          </a:p>
        </p:txBody>
      </p:sp>
      <p:sp>
        <p:nvSpPr>
          <p:cNvPr id="12" name="Text 8"/>
          <p:cNvSpPr txBox="1"/>
          <p:nvPr/>
        </p:nvSpPr>
        <p:spPr>
          <a:xfrm>
            <a:off x="777240" y="2423160"/>
            <a:ext cx="3200400" cy="914400"/>
          </a:xfrm>
          <a:prstGeom prst="rect">
            <a:avLst/>
          </a:prstGeom>
          <a:noFill/>
          <a:ln/>
        </p:spPr>
        <p:txBody>
          <a:bodyPr wrap="square" lIns="0" tIns="0" rIns="0" bIns="0" rtlCol="0" anchor="t"/>
          <a:lstStyle/>
          <a:p>
            <a:pPr indent="0" marL="0">
              <a:buNone/>
            </a:pPr>
            <a:r>
              <a:rPr lang="en-US" sz="1300" dirty="0">
                <a:solidFill>
                  <a:schemeClr val="tx1"/>
                </a:solidFill>
              </a:rPr>
              <a:t>Baseline: alle 8 Fehler erkannt, aber 12 kritische Fehlalarme</a:t>
            </a:r>
            <a:endParaRPr lang="en-US" sz="1300" dirty="0"/>
          </a:p>
        </p:txBody>
      </p:sp>
      <p:sp>
        <p:nvSpPr>
          <p:cNvPr id="13" name="Lernpunkt"/>
          <p:cNvSpPr/>
          <p:nvPr/>
        </p:nvSpPr>
        <p:spPr>
          <a:xfrm>
            <a:off x="4343400" y="1325880"/>
            <a:ext cx="3611880" cy="2103120"/>
          </a:xfrm>
          <a:prstGeom prst="roundRect">
            <a:avLst>
              <a:gd name="adj" fmla="val 3478"/>
            </a:avLst>
          </a:prstGeom>
          <a:solidFill>
            <a:schemeClr val="bg2"/>
          </a:solidFill>
          <a:ln/>
        </p:spPr>
        <p:txBody>
          <a:bodyPr/>
          <a:p/>
        </p:txBody>
      </p:sp>
      <p:sp>
        <p:nvSpPr>
          <p:cNvPr id="14" name="Symbolkreis"/>
          <p:cNvSpPr/>
          <p:nvPr/>
        </p:nvSpPr>
        <p:spPr>
          <a:xfrm>
            <a:off x="4572000" y="1554480"/>
            <a:ext cx="548640" cy="548640"/>
          </a:xfrm>
          <a:prstGeom prst="ellipse">
            <a:avLst/>
          </a:prstGeom>
          <a:solidFill>
            <a:schemeClr val="accent1"/>
          </a:solidFill>
          <a:ln/>
        </p:spPr>
        <p:txBody>
          <a:bodyPr/>
          <a:p/>
        </p:txBody>
      </p:sp>
      <p:pic>
        <p:nvPicPr>
          <p:cNvPr id="15" name="Symbol" descr="preencoded.png">    </p:cNvPr>
          <p:cNvPicPr>
            <a:picLocks noChangeAspect="1"/>
          </p:cNvPicPr>
          <p:nvPr/>
        </p:nvPicPr>
        <p:blipFill>
          <a:blip r:embed="rId3"/>
          <a:stretch>
            <a:fillRect/>
          </a:stretch>
        </p:blipFill>
        <p:spPr>
          <a:xfrm>
            <a:off x="4709160" y="1691640"/>
            <a:ext cx="274320" cy="274320"/>
          </a:xfrm>
          <a:prstGeom prst="rect">
            <a:avLst/>
          </a:prstGeom>
        </p:spPr>
      </p:pic>
      <p:sp>
        <p:nvSpPr>
          <p:cNvPr id="16" name="Text 11"/>
          <p:cNvSpPr txBox="1"/>
          <p:nvPr/>
        </p:nvSpPr>
        <p:spPr>
          <a:xfrm>
            <a:off x="5257800" y="1508760"/>
            <a:ext cx="2514600" cy="868680"/>
          </a:xfrm>
          <a:prstGeom prst="rect">
            <a:avLst/>
          </a:prstGeom>
          <a:noFill/>
          <a:ln/>
        </p:spPr>
        <p:txBody>
          <a:bodyPr wrap="square" lIns="0" tIns="0" rIns="0" bIns="0" rtlCol="0" anchor="ctr"/>
          <a:lstStyle/>
          <a:p>
            <a:pPr indent="0" marL="0">
              <a:buNone/>
            </a:pPr>
            <a:r>
              <a:rPr lang="en-US" sz="1500" b="1" dirty="0">
                <a:solidFill>
                  <a:schemeClr val="tx2"/>
                </a:solidFill>
              </a:rPr>
              <a:t>Regeln gehören in den Code</a:t>
            </a:r>
            <a:endParaRPr lang="en-US" sz="1500" dirty="0"/>
          </a:p>
        </p:txBody>
      </p:sp>
      <p:sp>
        <p:nvSpPr>
          <p:cNvPr id="17" name="Text 12"/>
          <p:cNvSpPr txBox="1"/>
          <p:nvPr/>
        </p:nvSpPr>
        <p:spPr>
          <a:xfrm>
            <a:off x="4572000" y="2423160"/>
            <a:ext cx="3200400" cy="914400"/>
          </a:xfrm>
          <a:prstGeom prst="rect">
            <a:avLst/>
          </a:prstGeom>
          <a:noFill/>
          <a:ln/>
        </p:spPr>
        <p:txBody>
          <a:bodyPr wrap="square" lIns="0" tIns="0" rIns="0" bIns="0" rtlCol="0" anchor="t"/>
          <a:lstStyle/>
          <a:p>
            <a:pPr indent="0" marL="0">
              <a:buNone/>
            </a:pPr>
            <a:r>
              <a:rPr lang="en-US" sz="1300" dirty="0">
                <a:solidFill>
                  <a:schemeClr val="tx1"/>
                </a:solidFill>
              </a:rPr>
              <a:t>Bestätigt durch die Testbatterie: 83,1 % → 96,6 % allein durch fünf Regeln im Code</a:t>
            </a:r>
            <a:endParaRPr lang="en-US" sz="1300" dirty="0"/>
          </a:p>
        </p:txBody>
      </p:sp>
      <p:sp>
        <p:nvSpPr>
          <p:cNvPr id="18" name="Lernpunkt"/>
          <p:cNvSpPr/>
          <p:nvPr/>
        </p:nvSpPr>
        <p:spPr>
          <a:xfrm>
            <a:off x="548640" y="3611880"/>
            <a:ext cx="3611880" cy="2103120"/>
          </a:xfrm>
          <a:prstGeom prst="roundRect">
            <a:avLst>
              <a:gd name="adj" fmla="val 3478"/>
            </a:avLst>
          </a:prstGeom>
          <a:solidFill>
            <a:schemeClr val="bg2"/>
          </a:solidFill>
          <a:ln/>
        </p:spPr>
        <p:txBody>
          <a:bodyPr/>
          <a:p/>
        </p:txBody>
      </p:sp>
      <p:sp>
        <p:nvSpPr>
          <p:cNvPr id="19" name="Symbolkreis"/>
          <p:cNvSpPr/>
          <p:nvPr/>
        </p:nvSpPr>
        <p:spPr>
          <a:xfrm>
            <a:off x="777240" y="3840480"/>
            <a:ext cx="548640" cy="548640"/>
          </a:xfrm>
          <a:prstGeom prst="ellipse">
            <a:avLst/>
          </a:prstGeom>
          <a:solidFill>
            <a:schemeClr val="accent1"/>
          </a:solidFill>
          <a:ln/>
        </p:spPr>
        <p:txBody>
          <a:bodyPr/>
          <a:p/>
        </p:txBody>
      </p:sp>
      <p:pic>
        <p:nvPicPr>
          <p:cNvPr id="20" name="Symbol" descr="preencoded.png">    </p:cNvPr>
          <p:cNvPicPr>
            <a:picLocks noChangeAspect="1"/>
          </p:cNvPicPr>
          <p:nvPr/>
        </p:nvPicPr>
        <p:blipFill>
          <a:blip r:embed="rId4"/>
          <a:stretch>
            <a:fillRect/>
          </a:stretch>
        </p:blipFill>
        <p:spPr>
          <a:xfrm>
            <a:off x="914400" y="3977640"/>
            <a:ext cx="274320" cy="274320"/>
          </a:xfrm>
          <a:prstGeom prst="rect">
            <a:avLst/>
          </a:prstGeom>
        </p:spPr>
      </p:pic>
      <p:sp>
        <p:nvSpPr>
          <p:cNvPr id="21" name="Text 15"/>
          <p:cNvSpPr txBox="1"/>
          <p:nvPr/>
        </p:nvSpPr>
        <p:spPr>
          <a:xfrm>
            <a:off x="1463040" y="3794760"/>
            <a:ext cx="2514600" cy="868680"/>
          </a:xfrm>
          <a:prstGeom prst="rect">
            <a:avLst/>
          </a:prstGeom>
          <a:noFill/>
          <a:ln/>
        </p:spPr>
        <p:txBody>
          <a:bodyPr wrap="square" lIns="0" tIns="0" rIns="0" bIns="0" rtlCol="0" anchor="ctr"/>
          <a:lstStyle/>
          <a:p>
            <a:pPr indent="0" marL="0">
              <a:buNone/>
            </a:pPr>
            <a:r>
              <a:rPr lang="en-US" sz="1500" b="1" dirty="0">
                <a:solidFill>
                  <a:schemeClr val="tx2"/>
                </a:solidFill>
              </a:rPr>
              <a:t>Die Field Study hat den Schwerpunkt verschoben</a:t>
            </a:r>
            <a:endParaRPr lang="en-US" sz="1500" dirty="0"/>
          </a:p>
        </p:txBody>
      </p:sp>
      <p:sp>
        <p:nvSpPr>
          <p:cNvPr id="22" name="Text 16"/>
          <p:cNvSpPr txBox="1"/>
          <p:nvPr/>
        </p:nvSpPr>
        <p:spPr>
          <a:xfrm>
            <a:off x="777240" y="4709160"/>
            <a:ext cx="3200400" cy="914400"/>
          </a:xfrm>
          <a:prstGeom prst="rect">
            <a:avLst/>
          </a:prstGeom>
          <a:noFill/>
          <a:ln/>
        </p:spPr>
        <p:txBody>
          <a:bodyPr wrap="square" lIns="0" tIns="0" rIns="0" bIns="0" rtlCol="0" anchor="t"/>
          <a:lstStyle/>
          <a:p>
            <a:pPr indent="0" marL="0">
              <a:buNone/>
            </a:pPr>
            <a:r>
              <a:rPr lang="en-US" sz="1300" dirty="0">
                <a:solidFill>
                  <a:schemeClr val="tx1"/>
                </a:solidFill>
              </a:rPr>
              <a:t>90 % der Fehler bei Folgeverordnungen → Verordnungsfall-Prüfung zuerst</a:t>
            </a:r>
            <a:endParaRPr lang="en-US" sz="1300" dirty="0"/>
          </a:p>
        </p:txBody>
      </p:sp>
      <p:sp>
        <p:nvSpPr>
          <p:cNvPr id="23" name="Lernpunkt"/>
          <p:cNvSpPr/>
          <p:nvPr/>
        </p:nvSpPr>
        <p:spPr>
          <a:xfrm>
            <a:off x="4343400" y="3611880"/>
            <a:ext cx="3611880" cy="2103120"/>
          </a:xfrm>
          <a:prstGeom prst="roundRect">
            <a:avLst>
              <a:gd name="adj" fmla="val 3478"/>
            </a:avLst>
          </a:prstGeom>
          <a:solidFill>
            <a:schemeClr val="bg2"/>
          </a:solidFill>
          <a:ln/>
        </p:spPr>
        <p:txBody>
          <a:bodyPr/>
          <a:p/>
        </p:txBody>
      </p:sp>
      <p:sp>
        <p:nvSpPr>
          <p:cNvPr id="24" name="Symbolkreis"/>
          <p:cNvSpPr/>
          <p:nvPr/>
        </p:nvSpPr>
        <p:spPr>
          <a:xfrm>
            <a:off x="4572000" y="3840480"/>
            <a:ext cx="548640" cy="548640"/>
          </a:xfrm>
          <a:prstGeom prst="ellipse">
            <a:avLst/>
          </a:prstGeom>
          <a:solidFill>
            <a:schemeClr val="accent1"/>
          </a:solidFill>
          <a:ln/>
        </p:spPr>
        <p:txBody>
          <a:bodyPr/>
          <a:p/>
        </p:txBody>
      </p:sp>
      <p:pic>
        <p:nvPicPr>
          <p:cNvPr id="25" name="Symbol" descr="preencoded.png">    </p:cNvPr>
          <p:cNvPicPr>
            <a:picLocks noChangeAspect="1"/>
          </p:cNvPicPr>
          <p:nvPr/>
        </p:nvPicPr>
        <p:blipFill>
          <a:blip r:embed="rId5"/>
          <a:stretch>
            <a:fillRect/>
          </a:stretch>
        </p:blipFill>
        <p:spPr>
          <a:xfrm>
            <a:off x="4709160" y="3977640"/>
            <a:ext cx="274320" cy="274320"/>
          </a:xfrm>
          <a:prstGeom prst="rect">
            <a:avLst/>
          </a:prstGeom>
        </p:spPr>
      </p:pic>
      <p:sp>
        <p:nvSpPr>
          <p:cNvPr id="26" name="Text 19"/>
          <p:cNvSpPr txBox="1"/>
          <p:nvPr/>
        </p:nvSpPr>
        <p:spPr>
          <a:xfrm>
            <a:off x="5257800" y="3794760"/>
            <a:ext cx="2514600" cy="868680"/>
          </a:xfrm>
          <a:prstGeom prst="rect">
            <a:avLst/>
          </a:prstGeom>
          <a:noFill/>
          <a:ln/>
        </p:spPr>
        <p:txBody>
          <a:bodyPr wrap="square" lIns="0" tIns="0" rIns="0" bIns="0" rtlCol="0" anchor="ctr"/>
          <a:lstStyle/>
          <a:p>
            <a:pPr indent="0" marL="0">
              <a:buNone/>
            </a:pPr>
            <a:r>
              <a:rPr lang="en-US" sz="1500" b="1" dirty="0">
                <a:solidFill>
                  <a:schemeClr val="tx2"/>
                </a:solidFill>
              </a:rPr>
              <a:t>Zusammenführen braucht Kompatibilität</a:t>
            </a:r>
            <a:endParaRPr lang="en-US" sz="1500" dirty="0"/>
          </a:p>
        </p:txBody>
      </p:sp>
      <p:sp>
        <p:nvSpPr>
          <p:cNvPr id="27" name="Text 20"/>
          <p:cNvSpPr txBox="1"/>
          <p:nvPr/>
        </p:nvSpPr>
        <p:spPr>
          <a:xfrm>
            <a:off x="4572000" y="4709160"/>
            <a:ext cx="3200400" cy="914400"/>
          </a:xfrm>
          <a:prstGeom prst="rect">
            <a:avLst/>
          </a:prstGeom>
          <a:noFill/>
          <a:ln/>
        </p:spPr>
        <p:txBody>
          <a:bodyPr wrap="square" lIns="0" tIns="0" rIns="0" bIns="0" rtlCol="0" anchor="t"/>
          <a:lstStyle/>
          <a:p>
            <a:pPr indent="0" marL="0">
              <a:buNone/>
            </a:pPr>
            <a:r>
              <a:rPr lang="en-US" sz="1300" dirty="0">
                <a:solidFill>
                  <a:schemeClr val="tx1"/>
                </a:solidFill>
              </a:rPr>
              <a:t>Embedding-Modell und Wissensbasis gehören zusammen; Fallback behalten</a:t>
            </a:r>
            <a:endParaRPr lang="en-US" sz="1300" dirty="0"/>
          </a:p>
        </p:txBody>
      </p:sp>
      <p:sp>
        <p:nvSpPr>
          <p:cNvPr id="28" name="Vorgehen"/>
          <p:cNvSpPr/>
          <p:nvPr/>
        </p:nvSpPr>
        <p:spPr>
          <a:xfrm>
            <a:off x="8138160" y="1325880"/>
            <a:ext cx="3502152" cy="4389120"/>
          </a:xfrm>
          <a:prstGeom prst="roundRect">
            <a:avLst>
              <a:gd name="adj" fmla="val 2089"/>
            </a:avLst>
          </a:prstGeom>
          <a:solidFill>
            <a:schemeClr val="tx2"/>
          </a:solidFill>
          <a:ln/>
        </p:spPr>
        <p:txBody>
          <a:bodyPr/>
          <a:p/>
        </p:txBody>
      </p:sp>
      <p:sp>
        <p:nvSpPr>
          <p:cNvPr id="29" name="Symbolkreis"/>
          <p:cNvSpPr/>
          <p:nvPr/>
        </p:nvSpPr>
        <p:spPr>
          <a:xfrm>
            <a:off x="8366760" y="1508760"/>
            <a:ext cx="548640" cy="548640"/>
          </a:xfrm>
          <a:prstGeom prst="ellipse">
            <a:avLst/>
          </a:prstGeom>
          <a:solidFill>
            <a:schemeClr val="accent2"/>
          </a:solidFill>
          <a:ln/>
        </p:spPr>
        <p:txBody>
          <a:bodyPr/>
          <a:p/>
        </p:txBody>
      </p:sp>
      <p:pic>
        <p:nvPicPr>
          <p:cNvPr id="30" name="Symbol" descr="preencoded.png">    </p:cNvPr>
          <p:cNvPicPr>
            <a:picLocks noChangeAspect="1"/>
          </p:cNvPicPr>
          <p:nvPr/>
        </p:nvPicPr>
        <p:blipFill>
          <a:blip r:embed="rId6"/>
          <a:stretch>
            <a:fillRect/>
          </a:stretch>
        </p:blipFill>
        <p:spPr>
          <a:xfrm>
            <a:off x="8503920" y="1645920"/>
            <a:ext cx="274320" cy="274320"/>
          </a:xfrm>
          <a:prstGeom prst="rect">
            <a:avLst/>
          </a:prstGeom>
        </p:spPr>
      </p:pic>
      <p:sp>
        <p:nvSpPr>
          <p:cNvPr id="31" name="Text 23"/>
          <p:cNvSpPr txBox="1"/>
          <p:nvPr/>
        </p:nvSpPr>
        <p:spPr>
          <a:xfrm>
            <a:off x="9052560" y="1508760"/>
            <a:ext cx="2468880" cy="548640"/>
          </a:xfrm>
          <a:prstGeom prst="rect">
            <a:avLst/>
          </a:prstGeom>
          <a:noFill/>
          <a:ln/>
        </p:spPr>
        <p:txBody>
          <a:bodyPr wrap="square" lIns="0" tIns="0" rIns="0" bIns="0" rtlCol="0" anchor="ctr"/>
          <a:lstStyle/>
          <a:p>
            <a:pPr indent="0" marL="0">
              <a:buNone/>
            </a:pPr>
            <a:r>
              <a:rPr lang="en-US" sz="1600" b="1" dirty="0">
                <a:solidFill>
                  <a:schemeClr val="bg1"/>
                </a:solidFill>
                <a:latin typeface="Cambria" pitchFamily="34" charset="0"/>
                <a:ea typeface="Cambria" pitchFamily="34" charset="-122"/>
                <a:cs typeface="Cambria" pitchFamily="34" charset="-120"/>
              </a:rPr>
              <a:t>Für künftige Projekte</a:t>
            </a:r>
            <a:endParaRPr lang="en-US" sz="1600" dirty="0"/>
          </a:p>
        </p:txBody>
      </p:sp>
      <p:sp>
        <p:nvSpPr>
          <p:cNvPr id="32" name="Text 24"/>
          <p:cNvSpPr txBox="1"/>
          <p:nvPr/>
        </p:nvSpPr>
        <p:spPr>
          <a:xfrm>
            <a:off x="8366760" y="2240280"/>
            <a:ext cx="3108960" cy="338328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bg1"/>
                </a:solidFill>
              </a:rPr>
              <a:t>Erst Field Study, dann bauen</a:t>
            </a:r>
            <a:endParaRPr lang="en-US" sz="1400" dirty="0"/>
          </a:p>
          <a:p>
            <a:pPr marL="177800" indent="-177800">
              <a:spcAft>
                <a:spcPts val="500"/>
              </a:spcAft>
              <a:buSzPct val="100000"/>
              <a:buChar char="•"/>
            </a:pPr>
            <a:r>
              <a:rPr lang="en-US" sz="1300" dirty="0">
                <a:solidFill>
                  <a:schemeClr val="bg1"/>
                </a:solidFill>
              </a:rPr>
              <a:t>Früh messen; Testfälle vor dem Tuning trennen</a:t>
            </a:r>
            <a:endParaRPr lang="en-US" sz="1400" dirty="0"/>
          </a:p>
          <a:p>
            <a:pPr marL="177800" indent="-177800">
              <a:spcAft>
                <a:spcPts val="500"/>
              </a:spcAft>
              <a:buSzPct val="100000"/>
              <a:buChar char="•"/>
            </a:pPr>
            <a:r>
              <a:rPr lang="en-US" sz="1300" dirty="0">
                <a:solidFill>
                  <a:schemeClr val="bg1"/>
                </a:solidFill>
              </a:rPr>
              <a:t>Rechtliche Einordnung an der Zweckbestimmung festmachen – ändert sie sich, neu prüfen</a:t>
            </a:r>
            <a:endParaRPr lang="en-US" sz="1400" dirty="0"/>
          </a:p>
          <a:p>
            <a:pPr marL="177800" indent="-177800">
              <a:spcAft>
                <a:spcPts val="500"/>
              </a:spcAft>
              <a:buSzPct val="100000"/>
              <a:buChar char="•"/>
            </a:pPr>
            <a:r>
              <a:rPr lang="en-US" sz="1300" dirty="0">
                <a:solidFill>
                  <a:schemeClr val="bg1"/>
                </a:solidFill>
              </a:rPr>
              <a:t>Tool-Auswahl regelmäßig überprüfen: E-Verordnung macht Texterkennung zur Übergangslösung</a:t>
            </a:r>
            <a:endParaRPr lang="en-US" sz="1400" dirty="0"/>
          </a:p>
        </p:txBody>
      </p:sp>
      <p:sp>
        <p:nvSpPr>
          <p:cNvPr id="33" name="Text 25"/>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Umfang von Kapitel 6 (Reflexion, roter Faden, Fazit) noch mit dem Tutor zu klären</a:t>
            </a:r>
            <a:endParaRPr lang="en-US" sz="1000" dirty="0"/>
          </a:p>
        </p:txBody>
      </p:sp>
      <p:sp>
        <p:nvSpPr>
          <p:cNvPr id="34"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bg1"/>
                </a:solidFill>
                <a:latin typeface="Cambria" pitchFamily="34" charset="0"/>
                <a:ea typeface="Cambria" pitchFamily="34" charset="-122"/>
                <a:cs typeface="Cambria" pitchFamily="34" charset="-120"/>
              </a:rPr>
              <a:t>Fazit: Fehler vor der Behandlung finden</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bg1"/>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tx2"/>
                </a:solidFill>
              </a:rPr>
              <a:t>Thomas</a:t>
            </a:r>
            <a:endParaRPr lang="en-US" sz="1500" dirty="0"/>
          </a:p>
        </p:txBody>
      </p:sp>
      <p:sp>
        <p:nvSpPr>
          <p:cNvPr id="6" name="Kennzahl Fazit"/>
          <p:cNvSpPr/>
          <p:nvPr/>
        </p:nvSpPr>
        <p:spPr>
          <a:xfrm>
            <a:off x="548640" y="1371600"/>
            <a:ext cx="3566160" cy="2514600"/>
          </a:xfrm>
          <a:prstGeom prst="roundRect">
            <a:avLst>
              <a:gd name="adj" fmla="val 2909"/>
            </a:avLst>
          </a:prstGeom>
          <a:solidFill>
            <a:schemeClr val="accent6"/>
          </a:solidFill>
          <a:ln/>
        </p:spPr>
        <p:txBody>
          <a:bodyPr/>
          <a:p/>
        </p:txBody>
      </p:sp>
      <p:sp>
        <p:nvSpPr>
          <p:cNvPr id="7" name="Text 4"/>
          <p:cNvSpPr txBox="1"/>
          <p:nvPr/>
        </p:nvSpPr>
        <p:spPr>
          <a:xfrm>
            <a:off x="822960" y="1508760"/>
            <a:ext cx="3017520" cy="914400"/>
          </a:xfrm>
          <a:prstGeom prst="rect">
            <a:avLst/>
          </a:prstGeom>
          <a:noFill/>
          <a:ln/>
        </p:spPr>
        <p:txBody>
          <a:bodyPr wrap="square" lIns="0" tIns="0" rIns="0" bIns="0" rtlCol="0" anchor="t"/>
          <a:lstStyle/>
          <a:p>
            <a:pPr indent="0" marL="0">
              <a:buNone/>
            </a:pPr>
            <a:r>
              <a:rPr lang="en-US" sz="4400" b="1" dirty="0">
                <a:solidFill>
                  <a:schemeClr val="accent2"/>
                </a:solidFill>
                <a:latin typeface="Cambria" pitchFamily="34" charset="0"/>
                <a:ea typeface="Cambria" pitchFamily="34" charset="-122"/>
                <a:cs typeface="Cambria" pitchFamily="34" charset="-120"/>
              </a:rPr>
              <a:t>96,6 %</a:t>
            </a:r>
            <a:endParaRPr lang="en-US" sz="4400" dirty="0"/>
          </a:p>
        </p:txBody>
      </p:sp>
      <p:sp>
        <p:nvSpPr>
          <p:cNvPr id="8" name="Text 5"/>
          <p:cNvSpPr txBox="1"/>
          <p:nvPr/>
        </p:nvSpPr>
        <p:spPr>
          <a:xfrm>
            <a:off x="822960" y="2423160"/>
            <a:ext cx="3017520" cy="365760"/>
          </a:xfrm>
          <a:prstGeom prst="rect">
            <a:avLst/>
          </a:prstGeom>
          <a:noFill/>
          <a:ln/>
        </p:spPr>
        <p:txBody>
          <a:bodyPr wrap="square" lIns="0" tIns="0" rIns="0" bIns="0" rtlCol="0" anchor="t"/>
          <a:lstStyle/>
          <a:p>
            <a:pPr indent="0" marL="0">
              <a:buNone/>
            </a:pPr>
            <a:r>
              <a:rPr lang="en-US" sz="1600" b="1" dirty="0">
                <a:solidFill>
                  <a:schemeClr val="bg1"/>
                </a:solidFill>
              </a:rPr>
              <a:t>richtige Ampeln (Ziel 98 %)</a:t>
            </a:r>
            <a:endParaRPr lang="en-US" sz="1600" dirty="0"/>
          </a:p>
        </p:txBody>
      </p:sp>
      <p:sp>
        <p:nvSpPr>
          <p:cNvPr id="9" name="Text 6"/>
          <p:cNvSpPr txBox="1"/>
          <p:nvPr/>
        </p:nvSpPr>
        <p:spPr>
          <a:xfrm>
            <a:off x="822960" y="2834640"/>
            <a:ext cx="3017520" cy="914400"/>
          </a:xfrm>
          <a:prstGeom prst="rect">
            <a:avLst/>
          </a:prstGeom>
          <a:noFill/>
          <a:ln/>
        </p:spPr>
        <p:txBody>
          <a:bodyPr wrap="square" lIns="0" tIns="0" rIns="0" bIns="0" rtlCol="0" anchor="t"/>
          <a:lstStyle/>
          <a:p>
            <a:pPr indent="0" marL="0">
              <a:buNone/>
            </a:pPr>
            <a:r>
              <a:rPr lang="en-US" sz="1300" dirty="0">
                <a:solidFill>
                  <a:schemeClr val="bg2"/>
                </a:solidFill>
              </a:rPr>
              <a:t>gegen höchstens ca. 85 % bei menschlicher Doppelkontrolle</a:t>
            </a:r>
            <a:endParaRPr lang="en-US" sz="1300" dirty="0"/>
          </a:p>
        </p:txBody>
      </p:sp>
      <p:sp>
        <p:nvSpPr>
          <p:cNvPr id="10" name="Kennzahl Fazit"/>
          <p:cNvSpPr/>
          <p:nvPr/>
        </p:nvSpPr>
        <p:spPr>
          <a:xfrm>
            <a:off x="4297680" y="1371600"/>
            <a:ext cx="3566160" cy="2514600"/>
          </a:xfrm>
          <a:prstGeom prst="roundRect">
            <a:avLst>
              <a:gd name="adj" fmla="val 2909"/>
            </a:avLst>
          </a:prstGeom>
          <a:solidFill>
            <a:schemeClr val="accent6"/>
          </a:solidFill>
          <a:ln/>
        </p:spPr>
        <p:txBody>
          <a:bodyPr/>
          <a:p/>
        </p:txBody>
      </p:sp>
      <p:sp>
        <p:nvSpPr>
          <p:cNvPr id="11" name="Text 8"/>
          <p:cNvSpPr txBox="1"/>
          <p:nvPr/>
        </p:nvSpPr>
        <p:spPr>
          <a:xfrm>
            <a:off x="4572000" y="1508760"/>
            <a:ext cx="3017520" cy="914400"/>
          </a:xfrm>
          <a:prstGeom prst="rect">
            <a:avLst/>
          </a:prstGeom>
          <a:noFill/>
          <a:ln/>
        </p:spPr>
        <p:txBody>
          <a:bodyPr wrap="square" lIns="0" tIns="0" rIns="0" bIns="0" rtlCol="0" anchor="t"/>
          <a:lstStyle/>
          <a:p>
            <a:pPr indent="0" marL="0">
              <a:buNone/>
            </a:pPr>
            <a:r>
              <a:rPr lang="en-US" sz="4400" b="1" dirty="0">
                <a:solidFill>
                  <a:schemeClr val="accent2"/>
                </a:solidFill>
                <a:latin typeface="Cambria" pitchFamily="34" charset="0"/>
                <a:ea typeface="Cambria" pitchFamily="34" charset="-122"/>
                <a:cs typeface="Cambria" pitchFamily="34" charset="-120"/>
              </a:rPr>
              <a:t>vorher</a:t>
            </a:r>
            <a:endParaRPr lang="en-US" sz="4400" dirty="0"/>
          </a:p>
        </p:txBody>
      </p:sp>
      <p:sp>
        <p:nvSpPr>
          <p:cNvPr id="12" name="Text 9"/>
          <p:cNvSpPr txBox="1"/>
          <p:nvPr/>
        </p:nvSpPr>
        <p:spPr>
          <a:xfrm>
            <a:off x="4572000" y="2423160"/>
            <a:ext cx="3017520" cy="365760"/>
          </a:xfrm>
          <a:prstGeom prst="rect">
            <a:avLst/>
          </a:prstGeom>
          <a:noFill/>
          <a:ln/>
        </p:spPr>
        <p:txBody>
          <a:bodyPr wrap="square" lIns="0" tIns="0" rIns="0" bIns="0" rtlCol="0" anchor="t"/>
          <a:lstStyle/>
          <a:p>
            <a:pPr indent="0" marL="0">
              <a:buNone/>
            </a:pPr>
            <a:r>
              <a:rPr lang="en-US" sz="1600" b="1" dirty="0">
                <a:solidFill>
                  <a:schemeClr val="bg1"/>
                </a:solidFill>
              </a:rPr>
              <a:t>statt nachher</a:t>
            </a:r>
            <a:endParaRPr lang="en-US" sz="1600" dirty="0"/>
          </a:p>
        </p:txBody>
      </p:sp>
      <p:sp>
        <p:nvSpPr>
          <p:cNvPr id="13" name="Text 10"/>
          <p:cNvSpPr txBox="1"/>
          <p:nvPr/>
        </p:nvSpPr>
        <p:spPr>
          <a:xfrm>
            <a:off x="4572000" y="2834640"/>
            <a:ext cx="3017520" cy="914400"/>
          </a:xfrm>
          <a:prstGeom prst="rect">
            <a:avLst/>
          </a:prstGeom>
          <a:noFill/>
          <a:ln/>
        </p:spPr>
        <p:txBody>
          <a:bodyPr wrap="square" lIns="0" tIns="0" rIns="0" bIns="0" rtlCol="0" anchor="t"/>
          <a:lstStyle/>
          <a:p>
            <a:pPr indent="0" marL="0">
              <a:buNone/>
            </a:pPr>
            <a:r>
              <a:rPr lang="en-US" sz="1300" dirty="0">
                <a:solidFill>
                  <a:schemeClr val="bg2"/>
                </a:solidFill>
              </a:rPr>
              <a:t>Fehler fallen vor der Behandlung auf, nicht erst bei der Abrechnung</a:t>
            </a:r>
            <a:endParaRPr lang="en-US" sz="1300" dirty="0"/>
          </a:p>
        </p:txBody>
      </p:sp>
      <p:sp>
        <p:nvSpPr>
          <p:cNvPr id="14" name="Kennzahl Fazit"/>
          <p:cNvSpPr/>
          <p:nvPr/>
        </p:nvSpPr>
        <p:spPr>
          <a:xfrm>
            <a:off x="8046720" y="1371600"/>
            <a:ext cx="3566160" cy="2514600"/>
          </a:xfrm>
          <a:prstGeom prst="roundRect">
            <a:avLst>
              <a:gd name="adj" fmla="val 2909"/>
            </a:avLst>
          </a:prstGeom>
          <a:solidFill>
            <a:schemeClr val="accent6"/>
          </a:solidFill>
          <a:ln/>
        </p:spPr>
        <p:txBody>
          <a:bodyPr/>
          <a:p/>
        </p:txBody>
      </p:sp>
      <p:sp>
        <p:nvSpPr>
          <p:cNvPr id="15" name="Text 12"/>
          <p:cNvSpPr txBox="1"/>
          <p:nvPr/>
        </p:nvSpPr>
        <p:spPr>
          <a:xfrm>
            <a:off x="8321040" y="1508760"/>
            <a:ext cx="3017520" cy="914400"/>
          </a:xfrm>
          <a:prstGeom prst="rect">
            <a:avLst/>
          </a:prstGeom>
          <a:noFill/>
          <a:ln/>
        </p:spPr>
        <p:txBody>
          <a:bodyPr wrap="square" lIns="0" tIns="0" rIns="0" bIns="0" rtlCol="0" anchor="t"/>
          <a:lstStyle/>
          <a:p>
            <a:pPr indent="0" marL="0">
              <a:buNone/>
            </a:pPr>
            <a:r>
              <a:rPr lang="en-US" sz="4400" b="1" dirty="0">
                <a:solidFill>
                  <a:schemeClr val="accent2"/>
                </a:solidFill>
                <a:latin typeface="Cambria" pitchFamily="34" charset="0"/>
                <a:ea typeface="Cambria" pitchFamily="34" charset="-122"/>
                <a:cs typeface="Cambria" pitchFamily="34" charset="-120"/>
              </a:rPr>
              <a:t>≈ 4.300 €</a:t>
            </a:r>
            <a:endParaRPr lang="en-US" sz="4400" dirty="0"/>
          </a:p>
        </p:txBody>
      </p:sp>
      <p:sp>
        <p:nvSpPr>
          <p:cNvPr id="16" name="Text 13"/>
          <p:cNvSpPr txBox="1"/>
          <p:nvPr/>
        </p:nvSpPr>
        <p:spPr>
          <a:xfrm>
            <a:off x="8321040" y="2423160"/>
            <a:ext cx="3017520" cy="365760"/>
          </a:xfrm>
          <a:prstGeom prst="rect">
            <a:avLst/>
          </a:prstGeom>
          <a:noFill/>
          <a:ln/>
        </p:spPr>
        <p:txBody>
          <a:bodyPr wrap="square" lIns="0" tIns="0" rIns="0" bIns="0" rtlCol="0" anchor="t"/>
          <a:lstStyle/>
          <a:p>
            <a:pPr indent="0" marL="0">
              <a:buNone/>
            </a:pPr>
            <a:r>
              <a:rPr lang="en-US" sz="1600" b="1" dirty="0">
                <a:solidFill>
                  <a:schemeClr val="bg1"/>
                </a:solidFill>
              </a:rPr>
              <a:t>pro Jahr ab Jahr 2</a:t>
            </a:r>
            <a:endParaRPr lang="en-US" sz="1600" dirty="0"/>
          </a:p>
        </p:txBody>
      </p:sp>
      <p:sp>
        <p:nvSpPr>
          <p:cNvPr id="17" name="Text 14"/>
          <p:cNvSpPr txBox="1"/>
          <p:nvPr/>
        </p:nvSpPr>
        <p:spPr>
          <a:xfrm>
            <a:off x="8321040" y="2834640"/>
            <a:ext cx="3017520" cy="914400"/>
          </a:xfrm>
          <a:prstGeom prst="rect">
            <a:avLst/>
          </a:prstGeom>
          <a:noFill/>
          <a:ln/>
        </p:spPr>
        <p:txBody>
          <a:bodyPr wrap="square" lIns="0" tIns="0" rIns="0" bIns="0" rtlCol="0" anchor="t"/>
          <a:lstStyle/>
          <a:p>
            <a:pPr indent="0" marL="0">
              <a:buNone/>
            </a:pPr>
            <a:r>
              <a:rPr lang="en-US" sz="1300" dirty="0">
                <a:solidFill>
                  <a:schemeClr val="bg2"/>
                </a:solidFill>
              </a:rPr>
              <a:t>etwa ½ Minijob an Prüfzeit frei für Patienten und Telefon</a:t>
            </a:r>
            <a:endParaRPr lang="en-US" sz="1300" dirty="0"/>
          </a:p>
        </p:txBody>
      </p:sp>
      <p:sp>
        <p:nvSpPr>
          <p:cNvPr id="18" name="Empfehlung"/>
          <p:cNvSpPr/>
          <p:nvPr/>
        </p:nvSpPr>
        <p:spPr>
          <a:xfrm>
            <a:off x="548640" y="4114800"/>
            <a:ext cx="11091672" cy="1737360"/>
          </a:xfrm>
          <a:prstGeom prst="roundRect">
            <a:avLst>
              <a:gd name="adj" fmla="val 4211"/>
            </a:avLst>
          </a:prstGeom>
          <a:solidFill>
            <a:schemeClr val="bg1"/>
          </a:solidFill>
          <a:ln/>
        </p:spPr>
        <p:txBody>
          <a:bodyPr/>
          <a:p/>
        </p:txBody>
      </p:sp>
      <p:sp>
        <p:nvSpPr>
          <p:cNvPr id="19" name="Symbolkreis"/>
          <p:cNvSpPr/>
          <p:nvPr/>
        </p:nvSpPr>
        <p:spPr>
          <a:xfrm>
            <a:off x="822960" y="4343400"/>
            <a:ext cx="640080" cy="640080"/>
          </a:xfrm>
          <a:prstGeom prst="ellipse">
            <a:avLst/>
          </a:prstGeom>
          <a:solidFill>
            <a:schemeClr val="accent1"/>
          </a:solidFill>
          <a:ln/>
        </p:spPr>
        <p:txBody>
          <a:bodyPr/>
          <a:p/>
        </p:txBody>
      </p:sp>
      <p:pic>
        <p:nvPicPr>
          <p:cNvPr id="20" name="Symbol" descr="preencoded.png">    </p:cNvPr>
          <p:cNvPicPr>
            <a:picLocks noChangeAspect="1"/>
          </p:cNvPicPr>
          <p:nvPr/>
        </p:nvPicPr>
        <p:blipFill>
          <a:blip r:embed="rId2"/>
          <a:stretch>
            <a:fillRect/>
          </a:stretch>
        </p:blipFill>
        <p:spPr>
          <a:xfrm>
            <a:off x="982980" y="4503420"/>
            <a:ext cx="320040" cy="320040"/>
          </a:xfrm>
          <a:prstGeom prst="rect">
            <a:avLst/>
          </a:prstGeom>
        </p:spPr>
      </p:pic>
      <p:sp>
        <p:nvSpPr>
          <p:cNvPr id="21" name="Text 17"/>
          <p:cNvSpPr txBox="1"/>
          <p:nvPr/>
        </p:nvSpPr>
        <p:spPr>
          <a:xfrm>
            <a:off x="1645920" y="4315968"/>
            <a:ext cx="5486400" cy="41148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Unsere Empfehlung</a:t>
            </a:r>
            <a:endParaRPr lang="en-US" sz="1800" dirty="0"/>
          </a:p>
        </p:txBody>
      </p:sp>
      <p:sp>
        <p:nvSpPr>
          <p:cNvPr id="22" name="Text 18"/>
          <p:cNvSpPr txBox="1"/>
          <p:nvPr/>
        </p:nvSpPr>
        <p:spPr>
          <a:xfrm>
            <a:off x="1645920" y="4754880"/>
            <a:ext cx="9692640" cy="1005840"/>
          </a:xfrm>
          <a:prstGeom prst="rect">
            <a:avLst/>
          </a:prstGeom>
          <a:noFill/>
          <a:ln/>
        </p:spPr>
        <p:txBody>
          <a:bodyPr wrap="square" lIns="0" tIns="0" rIns="0" bIns="0" rtlCol="0" anchor="t"/>
          <a:lstStyle/>
          <a:p>
            <a:pPr indent="0" marL="0">
              <a:buNone/>
            </a:pPr>
            <a:r>
              <a:rPr lang="en-US" sz="1500" dirty="0">
                <a:solidFill>
                  <a:schemeClr val="tx1"/>
                </a:solidFill>
              </a:rPr>
              <a:t>Pilot im Parallelbetrieb starten: sechs Wochen mitlaufen lassen, messen, dann entscheiden. Vorher die KBV-Liste und die Verordnungsfall-Prüfung in den Code bringen. Kein Hochrisiko-KI-System, Datenschutz durch Technik eingebaut – die Rezeption behält die Entscheidung und gewinnt Zeit für die Patienten.</a:t>
            </a:r>
            <a:endParaRPr lang="en-US" sz="15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Anhang: Rechtsquellen und Stand</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1"/>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Valentin</a:t>
            </a:r>
            <a:endParaRPr lang="en-US" sz="15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291840"/>
                <a:gridCol w="4846320"/>
                <a:gridCol w="2953512"/>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Quelle</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Relevante Stellen</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Stand / Hinweis</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r>
              <a:tr h="640080">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KI-Verordnung (EU) 2024/1689</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Art. 3 Nr. 1, 3, 4 · Art. 4 · Art. 5 · Art. 6 Abs. 1–3 · Anhang I, III · Art. 26 · Art. 50 · Art. 53 · Art. 95</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Art. 4 seit 02.02.2025; Art. 50 seit 02.08.2026</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566928">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VO (EU) 2026/1744 (KI-Omnibus)</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Art. 4 als Förderpflicht; Hochrisiko Anhang III ab 02.12.2027, Anhang I ab 02.08.2028</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ABl. 24.07.2026, in Kraft seit 27.07.2026</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502920">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Medizinprodukte-VO (EU) 2017/745</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Art. 2 Nr. 1 (Medizinprodukt)</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Leitlinie MDCG 2019-11 Rev. 1 zur Software</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640080">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DSGVO (EU) 2016/679</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Art. 4 Nr. 15 · Art. 5 · Art. 9 Abs. 1–3 · Art. 22 · Art. 25 · Art. 28 · Art. 32 · Art. 35 · Art. 44 ff. · EG 26, 91</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411480">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BDSG</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 22 Abs. 1 Nr. 1 lit. b</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457200">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StGB</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 203 Abs. 1 Nr. 1, Abs. 3, Abs. 4</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Fassung seit 2017 (Mitwirkung Dritter)</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Heilmittel-Richtlinie, Heilmittelkatalog (G-BA); Diagnoseliste (KBV)</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HeilM-RL § 7, § 12, § 13, § 15, § 16</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KBV-Diagnoseliste Stand 01.01.2026</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bl>
          </a:graphicData>
        </a:graphic>
      </p:graphicFrame>
      <p:sp>
        <p:nvSpPr>
          <p:cNvPr id="7" name="Text 3"/>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Keine Rechtsberatung · Einordnung durch das Team auf Basis der Normtexte und Sekundärquellen (IHK, Kanzleien), Stand 23.10.2026</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theme/theme1.xml><?xml version="1.0" encoding="utf-8"?>
<a:theme xmlns:a="http://schemas.openxmlformats.org/drawingml/2006/main" name="Verordnungs-Check">
  <a:themeElements>
    <a:clrScheme name="Verordnungs-Check">
      <a:dk1>
        <a:srgbClr val="1B2B30"/>
      </a:dk1>
      <a:lt1>
        <a:srgbClr val="FFFFFF"/>
      </a:lt1>
      <a:dk2>
        <a:srgbClr val="12343B"/>
      </a:dk2>
      <a:lt2>
        <a:srgbClr val="EEF4F3"/>
      </a:lt2>
      <a:accent1>
        <a:srgbClr val="2A9D8F"/>
      </a:accent1>
      <a:accent2>
        <a:srgbClr val="E9C46A"/>
      </a:accent2>
      <a:accent3>
        <a:srgbClr val="E76F51"/>
      </a:accent3>
      <a:accent4>
        <a:srgbClr val="8AB17D"/>
      </a:accent4>
      <a:accent5>
        <a:srgbClr val="5C6B73"/>
      </a:accent5>
      <a:accent6>
        <a:srgbClr val="264653"/>
      </a:accent6>
      <a:hlink>
        <a:srgbClr val="2A9D8F"/>
      </a:hlink>
      <a:folHlink>
        <a:srgbClr val="5C6B73"/>
      </a:folHlink>
    </a:clrScheme>
    <a:fontScheme name="Verordnungs-Chec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Verordnungs-Check – IHK-Präsentation 3 × 15 Minuten</dc:title>
  <dc:subject>PptxGenJS Presentation</dc:subject>
  <dc:creator>Thomas Kullmann, Valentin Klamka, Derk Ermler</dc:creator>
  <cp:lastModifiedBy>Thomas Kullmann, Valentin Klamka, Derk Ermler</cp:lastModifiedBy>
  <cp:revision>1</cp:revision>
  <dcterms:created xsi:type="dcterms:W3CDTF">2026-10-23T08:56:39Z</dcterms:created>
  <dcterms:modified xsi:type="dcterms:W3CDTF">2026-10-23T08:56:39Z</dcterms:modified>
</cp:coreProperties>
</file>