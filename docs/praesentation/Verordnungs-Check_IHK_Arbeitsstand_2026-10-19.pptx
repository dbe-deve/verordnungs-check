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ganisation" id="{6442b99d-78e5-aaf2-8274-7c21d2f2a637}">
          <p14:sldIdLst>
            <p14:sldId id="256"/>
            <p14:sldId id="257"/>
            <p14:sldId id="258"/>
            <p14:sldId id="259"/>
          </p14:sldIdLst>
        </p14:section>
        <p14:section name="Thomas" id="{7f8e341a-f49f-73c6-8b70-743a1235bd19}">
          <p14:sldIdLst>
            <p14:sldId id="260"/>
            <p14:sldId id="261"/>
            <p14:sldId id="262"/>
            <p14:sldId id="263"/>
            <p14:sldId id="264"/>
          </p14:sldIdLst>
        </p14:section>
        <p14:section name="Valentin" id="{466654b4-6464-4bdc-bc80-3ba995e344de}">
          <p14:sldIdLst>
            <p14:sldId id="265"/>
            <p14:sldId id="266"/>
            <p14:sldId id="267"/>
            <p14:sldId id="268"/>
            <p14:sldId id="269"/>
          </p14:sldIdLst>
        </p14:section>
        <p14:section name="Derk" id="{06abffa1-221e-08d3-cb95-40e03e869f4e}">
          <p14:sldIdLst>
            <p14:sldId id="270"/>
            <p14:sldId id="271"/>
            <p14:sldId id="272"/>
            <p14:sldId id="273"/>
            <p14:sldId id="274"/>
          </p14:sldIdLst>
        </p14:section>
        <p14:section name="Abschluss" id="{0dd77f5e-e252-2caa-461b-501cf296c3a8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Ist/Soll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Einsatzfelder</c:v>
                </c:pt>
              </c:strCache>
            </c:strRef>
          </c:tx>
          <c:spPr>
            <a:solidFill>
              <a:srgbClr val="5C6B73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Roter Faden</c:v>
                </c:pt>
              </c:strCache>
            </c:strRef>
          </c:tx>
          <c:spPr>
            <a:solidFill>
              <a:srgbClr val="7A8C93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Tool-Vergleich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Tool-Auswahl &amp; Einsatzplanung</c:v>
                </c:pt>
              </c:strCache>
            </c:strRef>
          </c:tx>
          <c:spPr>
            <a:solidFill>
              <a:srgbClr val="5FB8AC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Erfolgsmessung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Orthografie &amp; Schreibstil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Thomas</c:v>
                  </c:pt>
                  <c:pt idx="1">
                    <c:v>Valentin</c:v>
                  </c:pt>
                  <c:pt idx="2">
                    <c:v>Derk</c:v>
                  </c:pt>
                  <c:pt idx="3">
                    <c:v>Gemeinsam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34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43B"/>
                </a:solidFill>
                <a:latin typeface="+mn-lt"/>
              </a:rPr>
              <a:t>Eingesparte Arbeitgeberkosten je Quartal (20,97 € pro Stunde)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Jahr 1 (Anlauf)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 &quot;€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361</c:v>
                </c:pt>
                <c:pt idx="1">
                  <c:v>722</c:v>
                </c:pt>
                <c:pt idx="2">
                  <c:v>903</c:v>
                </c:pt>
                <c:pt idx="3">
                  <c:v>1084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 Jahr 2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#,##0 &quot;€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1084</c:v>
                </c:pt>
                <c:pt idx="5">
                  <c:v>1084</c:v>
                </c:pt>
                <c:pt idx="6">
                  <c:v>1084</c:v>
                </c:pt>
                <c:pt idx="7">
                  <c:v>1084</c:v>
                </c:pt>
              </c:numCache>
            </c:numRef>
          </c:val>
        </c:ser>
        <c:dLbls>
          <c:numFmt formatCode="#,##0 &quot;€&quot;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234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Der Verordnungs-Check · IHK-Präsentation · Arbeitsstand 19.10.2026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Der Verordnungs-Check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Weniger Admin, mehr Zeit für Patienten · IHK-Präsentation, Arbeitsstand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Thomas · Valentin · Derk  |  19.10.2026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Präsentationsplan: 3 × 15 Minuten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sp>
        <p:nvSpPr>
          <p:cNvPr id="6" name="Plan Thomas"/>
          <p:cNvSpPr/>
          <p:nvPr/>
        </p:nvSpPr>
        <p:spPr>
          <a:xfrm>
            <a:off x="548640" y="1325880"/>
            <a:ext cx="3520440" cy="43434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lan Kopf Thomas"/>
          <p:cNvSpPr/>
          <p:nvPr/>
        </p:nvSpPr>
        <p:spPr>
          <a:xfrm>
            <a:off x="777240" y="1554480"/>
            <a:ext cx="306324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Thomas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15 min · 35 Punkte</a:t>
            </a:r>
            <a:endParaRPr lang="en-US" sz="1300" dirty="0"/>
          </a:p>
        </p:txBody>
      </p:sp>
      <p:sp>
        <p:nvSpPr>
          <p:cNvPr id="10" name="Status Thomas 1"/>
          <p:cNvSpPr/>
          <p:nvPr/>
        </p:nvSpPr>
        <p:spPr>
          <a:xfrm>
            <a:off x="822960" y="2542032"/>
            <a:ext cx="256032" cy="256032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468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Einstieg und Ist-Analyse (Field Study)</a:t>
            </a:r>
            <a:endParaRPr lang="en-US" sz="1400" dirty="0"/>
          </a:p>
        </p:txBody>
      </p:sp>
      <p:sp>
        <p:nvSpPr>
          <p:cNvPr id="12" name="Status Thomas 2"/>
          <p:cNvSpPr/>
          <p:nvPr/>
        </p:nvSpPr>
        <p:spPr>
          <a:xfrm>
            <a:off x="822960" y="3163824"/>
            <a:ext cx="256032" cy="256032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34440" y="3090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Einsatzfelder: erst die Landkarte, dann der Pilot</a:t>
            </a:r>
            <a:endParaRPr lang="en-US" sz="1400" dirty="0"/>
          </a:p>
        </p:txBody>
      </p:sp>
      <p:sp>
        <p:nvSpPr>
          <p:cNvPr id="14" name="Status Thomas 3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34440" y="371246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Roter Faden: Weniger Admin, mehr Zeit für Patienten</a:t>
            </a:r>
            <a:endParaRPr lang="en-US" sz="1400" dirty="0"/>
          </a:p>
        </p:txBody>
      </p:sp>
      <p:sp>
        <p:nvSpPr>
          <p:cNvPr id="16" name="Status Thomas 4"/>
          <p:cNvSpPr/>
          <p:nvPr/>
        </p:nvSpPr>
        <p:spPr>
          <a:xfrm>
            <a:off x="822960" y="4407408"/>
            <a:ext cx="256032" cy="25603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34440" y="433425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Herleitung der Einsparung</a:t>
            </a:r>
            <a:endParaRPr lang="en-US" sz="1400" dirty="0"/>
          </a:p>
        </p:txBody>
      </p:sp>
      <p:sp>
        <p:nvSpPr>
          <p:cNvPr id="18" name="Status Thomas 5"/>
          <p:cNvSpPr/>
          <p:nvPr/>
        </p:nvSpPr>
        <p:spPr>
          <a:xfrm>
            <a:off x="822960" y="5029200"/>
            <a:ext cx="256032" cy="256032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49560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Fazit und Übergabe</a:t>
            </a:r>
            <a:endParaRPr lang="en-US" sz="1400" dirty="0"/>
          </a:p>
        </p:txBody>
      </p:sp>
      <p:sp>
        <p:nvSpPr>
          <p:cNvPr id="20" name="Plan Valentin"/>
          <p:cNvSpPr/>
          <p:nvPr/>
        </p:nvSpPr>
        <p:spPr>
          <a:xfrm>
            <a:off x="4325112" y="1325880"/>
            <a:ext cx="3520440" cy="43434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lan Kopf Valentin"/>
          <p:cNvSpPr/>
          <p:nvPr/>
        </p:nvSpPr>
        <p:spPr>
          <a:xfrm>
            <a:off x="4553712" y="1554480"/>
            <a:ext cx="30632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36592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Valentin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062472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15 min · 20 Punkte</a:t>
            </a:r>
            <a:endParaRPr lang="en-US" sz="1300" dirty="0"/>
          </a:p>
        </p:txBody>
      </p:sp>
      <p:sp>
        <p:nvSpPr>
          <p:cNvPr id="24" name="Status Valentin 1"/>
          <p:cNvSpPr/>
          <p:nvPr/>
        </p:nvSpPr>
        <p:spPr>
          <a:xfrm>
            <a:off x="4599432" y="2542032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10912" y="2468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Tool-Vergleich</a:t>
            </a:r>
            <a:endParaRPr lang="en-US" sz="1400" dirty="0"/>
          </a:p>
        </p:txBody>
      </p:sp>
      <p:sp>
        <p:nvSpPr>
          <p:cNvPr id="26" name="Status Valentin 2"/>
          <p:cNvSpPr/>
          <p:nvPr/>
        </p:nvSpPr>
        <p:spPr>
          <a:xfrm>
            <a:off x="4599432" y="3163824"/>
            <a:ext cx="256032" cy="25603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10912" y="3090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Architektur: Regeln rechnet der Code</a:t>
            </a:r>
            <a:endParaRPr lang="en-US" sz="1400" dirty="0"/>
          </a:p>
        </p:txBody>
      </p:sp>
      <p:sp>
        <p:nvSpPr>
          <p:cNvPr id="28" name="Status Valentin 3"/>
          <p:cNvSpPr/>
          <p:nvPr/>
        </p:nvSpPr>
        <p:spPr>
          <a:xfrm>
            <a:off x="4599432" y="3785616"/>
            <a:ext cx="256032" cy="25603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10912" y="371246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Bauplan der vier Prüfer</a:t>
            </a:r>
            <a:endParaRPr lang="en-US" sz="1400" dirty="0"/>
          </a:p>
        </p:txBody>
      </p:sp>
      <p:sp>
        <p:nvSpPr>
          <p:cNvPr id="30" name="Status Valentin 4"/>
          <p:cNvSpPr/>
          <p:nvPr/>
        </p:nvSpPr>
        <p:spPr>
          <a:xfrm>
            <a:off x="4599432" y="4407408"/>
            <a:ext cx="256032" cy="25603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10912" y="433425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Formal-Prüfer und Diagnose-Prüfer</a:t>
            </a:r>
            <a:endParaRPr lang="en-US" sz="1400" dirty="0"/>
          </a:p>
        </p:txBody>
      </p:sp>
      <p:sp>
        <p:nvSpPr>
          <p:cNvPr id="32" name="Status Valentin 5"/>
          <p:cNvSpPr/>
          <p:nvPr/>
        </p:nvSpPr>
        <p:spPr>
          <a:xfrm>
            <a:off x="4599432" y="5029200"/>
            <a:ext cx="256032" cy="256032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10912" y="49560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Governance: EU AI Act, DSGVO</a:t>
            </a:r>
            <a:endParaRPr lang="en-US" sz="1400" dirty="0"/>
          </a:p>
        </p:txBody>
      </p:sp>
      <p:sp>
        <p:nvSpPr>
          <p:cNvPr id="34" name="Plan Derk"/>
          <p:cNvSpPr/>
          <p:nvPr/>
        </p:nvSpPr>
        <p:spPr>
          <a:xfrm>
            <a:off x="8101584" y="1325880"/>
            <a:ext cx="3520440" cy="43434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Plan Kopf Derk"/>
          <p:cNvSpPr/>
          <p:nvPr/>
        </p:nvSpPr>
        <p:spPr>
          <a:xfrm>
            <a:off x="8330184" y="1554480"/>
            <a:ext cx="306324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513064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Derk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9838944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15 min · 20 Punkte</a:t>
            </a:r>
            <a:endParaRPr lang="en-US" sz="1300" dirty="0"/>
          </a:p>
        </p:txBody>
      </p:sp>
      <p:sp>
        <p:nvSpPr>
          <p:cNvPr id="38" name="Status Derk 1"/>
          <p:cNvSpPr/>
          <p:nvPr/>
        </p:nvSpPr>
        <p:spPr>
          <a:xfrm>
            <a:off x="8375904" y="2542032"/>
            <a:ext cx="256032" cy="25603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787384" y="2468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Mengen-Prüfer und Fristen-Prüfer</a:t>
            </a:r>
            <a:endParaRPr lang="en-US" sz="1400" dirty="0"/>
          </a:p>
        </p:txBody>
      </p:sp>
      <p:sp>
        <p:nvSpPr>
          <p:cNvPr id="40" name="Status Derk 2"/>
          <p:cNvSpPr/>
          <p:nvPr/>
        </p:nvSpPr>
        <p:spPr>
          <a:xfrm>
            <a:off x="8375904" y="316382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787384" y="3090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Live-Demo</a:t>
            </a:r>
            <a:endParaRPr lang="en-US" sz="1400" dirty="0"/>
          </a:p>
        </p:txBody>
      </p:sp>
      <p:sp>
        <p:nvSpPr>
          <p:cNvPr id="42" name="Status Derk 3"/>
          <p:cNvSpPr/>
          <p:nvPr/>
        </p:nvSpPr>
        <p:spPr>
          <a:xfrm>
            <a:off x="8375904" y="3785616"/>
            <a:ext cx="256032" cy="256032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787384" y="371246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Erfolgsmessung: ≥ 98 % auf 50 Fällen</a:t>
            </a:r>
            <a:endParaRPr lang="en-US" sz="1400" dirty="0"/>
          </a:p>
        </p:txBody>
      </p:sp>
      <p:sp>
        <p:nvSpPr>
          <p:cNvPr id="44" name="Status Derk 4"/>
          <p:cNvSpPr/>
          <p:nvPr/>
        </p:nvSpPr>
        <p:spPr>
          <a:xfrm>
            <a:off x="8375904" y="4407408"/>
            <a:ext cx="256032" cy="256032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87384" y="433425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Einsatzplanung und Pilot (Parallelbetrieb)</a:t>
            </a:r>
            <a:endParaRPr lang="en-US" sz="1400" dirty="0"/>
          </a:p>
        </p:txBody>
      </p:sp>
      <p:sp>
        <p:nvSpPr>
          <p:cNvPr id="46" name="Status Derk 5"/>
          <p:cNvSpPr/>
          <p:nvPr/>
        </p:nvSpPr>
        <p:spPr>
          <a:xfrm>
            <a:off x="8375904" y="5029200"/>
            <a:ext cx="256032" cy="256032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787384" y="49560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Risiken und nächste Schritte</a:t>
            </a:r>
            <a:endParaRPr lang="en-US" sz="1400" dirty="0"/>
          </a:p>
        </p:txBody>
      </p:sp>
      <p:sp>
        <p:nvSpPr>
          <p:cNvPr id="48" name="Legende Fertig"/>
          <p:cNvSpPr/>
          <p:nvPr/>
        </p:nvSpPr>
        <p:spPr>
          <a:xfrm>
            <a:off x="548640" y="5824728"/>
            <a:ext cx="219456" cy="219456"/>
          </a:xfrm>
          <a:prstGeom prst="ellipse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8680" y="5760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Fertig</a:t>
            </a:r>
            <a:endParaRPr lang="en-US" sz="1200" dirty="0"/>
          </a:p>
        </p:txBody>
      </p:sp>
      <p:sp>
        <p:nvSpPr>
          <p:cNvPr id="50" name="Legende Entwurf"/>
          <p:cNvSpPr/>
          <p:nvPr/>
        </p:nvSpPr>
        <p:spPr>
          <a:xfrm>
            <a:off x="2011680" y="5824728"/>
            <a:ext cx="219456" cy="219456"/>
          </a:xfrm>
          <a:prstGeom prst="ellipse">
            <a:avLst/>
          </a:prstGeom>
          <a:solidFill>
            <a:srgbClr val="E9C46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331720" y="5760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Entwurf</a:t>
            </a:r>
            <a:endParaRPr lang="en-US" sz="1200" dirty="0"/>
          </a:p>
        </p:txBody>
      </p:sp>
      <p:sp>
        <p:nvSpPr>
          <p:cNvPr id="52" name="Legende Offen"/>
          <p:cNvSpPr/>
          <p:nvPr/>
        </p:nvSpPr>
        <p:spPr>
          <a:xfrm>
            <a:off x="3474720" y="582472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794760" y="5760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Offen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5120640" y="576072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Faustregel: ca. 2 min je Folie, also 6–8 Folien pro Person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Wer macht was: drei Rollen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sp>
        <p:nvSpPr>
          <p:cNvPr id="6" name="Rolle Thomas"/>
          <p:cNvSpPr/>
          <p:nvPr/>
        </p:nvSpPr>
        <p:spPr>
          <a:xfrm>
            <a:off x="548640" y="13716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olle Thomas circle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Rolle Thomas icon" descr="Rolle Thom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8973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74520" y="1719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Thomas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87452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Koordination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9260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Ist/Soll-Analyse und Field Study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Einsatzfelder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Business Case und roter Faden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Abstimmung mit MSIT</a:t>
            </a:r>
            <a:endParaRPr lang="en-US" sz="1600" dirty="0"/>
          </a:p>
        </p:txBody>
      </p:sp>
      <p:sp>
        <p:nvSpPr>
          <p:cNvPr id="12" name="Rolle Valentin"/>
          <p:cNvSpPr/>
          <p:nvPr/>
        </p:nvSpPr>
        <p:spPr>
          <a:xfrm>
            <a:off x="4325112" y="13716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olle Valentin circle"/>
          <p:cNvSpPr/>
          <p:nvPr/>
        </p:nvSpPr>
        <p:spPr>
          <a:xfrm>
            <a:off x="4645152" y="1691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Rolle Valentin icon" descr="Rolle Valent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92" y="18973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50992" y="1719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Valentin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5650992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Tools, Architektur &amp; Governance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690872" y="29260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Tool-Vergleich und Tool-Auswahl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Architektur und Trade-offs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EU AI Act, DSGVO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IHK-Deck</a:t>
            </a:r>
            <a:endParaRPr lang="en-US" sz="1600" dirty="0"/>
          </a:p>
        </p:txBody>
      </p:sp>
      <p:sp>
        <p:nvSpPr>
          <p:cNvPr id="18" name="Rolle Derk"/>
          <p:cNvSpPr/>
          <p:nvPr/>
        </p:nvSpPr>
        <p:spPr>
          <a:xfrm>
            <a:off x="8101584" y="13716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olle Derk circle"/>
          <p:cNvSpPr/>
          <p:nvPr/>
        </p:nvSpPr>
        <p:spPr>
          <a:xfrm>
            <a:off x="8421624" y="16916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Rolle Derk icon" descr="Rolle De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364" y="18973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427464" y="1719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Derk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427464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Build, Demo &amp; Evaluation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467344" y="29260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n8n-Workflow und Supabase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Verordnungsfall-Prüfung (v5)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Evaluation mit 50 Testfällen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Einsatzplanung und Pilot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Gemeinsam: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Orthografie und Schreibstil im Vier-Augen-Prinzip. Jede Person präsentiert in der IHK-Prüfung 15 Minuten.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IHK-Bewertung: wer welche Punkte verantwortet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graphicFrame>
        <p:nvGraphicFramePr>
          <p:cNvPr id="6" name="Punkteverteilung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ummen"/>
          <p:cNvSpPr/>
          <p:nvPr/>
        </p:nvSpPr>
        <p:spPr>
          <a:xfrm>
            <a:off x="8595360" y="1280160"/>
            <a:ext cx="3017520" cy="48463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86968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Punkte je Person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86968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Thomas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332720" y="2103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869680" y="2852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Valentin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0332720" y="28529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8869680" y="36027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Derk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0332720" y="36027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8869680" y="43525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Gemeinsam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332720" y="435254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8869680" y="5257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Inhalt 60 + Form 40 = 100 Punkte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Ist-Analyse: So prüft die Praxis heute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ENTWURF</a:t>
            </a:r>
            <a:endParaRPr lang="en-US" sz="1000" dirty="0"/>
          </a:p>
        </p:txBody>
      </p:sp>
      <p:sp>
        <p:nvSpPr>
          <p:cNvPr id="7" name="Ist Annahme"/>
          <p:cNvSpPr/>
          <p:nvPr/>
        </p:nvSpPr>
        <p:spPr>
          <a:xfrm>
            <a:off x="548640" y="1325880"/>
            <a:ext cx="2057400" cy="21945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st Annahme circle"/>
          <p:cNvSpPr/>
          <p:nvPr/>
        </p:nvSpPr>
        <p:spPr>
          <a:xfrm>
            <a:off x="1275588" y="1481328"/>
            <a:ext cx="603504" cy="6035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st Annahme icon" descr="Ist Annah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63220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Annahme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Rezeption prüft die Verordnung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Ø 6 min (1–10)</a:t>
            </a:r>
            <a:endParaRPr lang="en-US" sz="1300" dirty="0"/>
          </a:p>
        </p:txBody>
      </p:sp>
      <p:sp>
        <p:nvSpPr>
          <p:cNvPr id="13" name="Ist Pfeil 1"/>
          <p:cNvSpPr/>
          <p:nvPr/>
        </p:nvSpPr>
        <p:spPr>
          <a:xfrm>
            <a:off x="2624328" y="2286000"/>
            <a:ext cx="15544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Ist Behandlung"/>
          <p:cNvSpPr/>
          <p:nvPr/>
        </p:nvSpPr>
        <p:spPr>
          <a:xfrm>
            <a:off x="2798064" y="1325880"/>
            <a:ext cx="2057400" cy="21945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st Behandlung circle"/>
          <p:cNvSpPr/>
          <p:nvPr/>
        </p:nvSpPr>
        <p:spPr>
          <a:xfrm>
            <a:off x="3525012" y="148132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st Behandlung icon" descr="Ist Behandlu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6322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889504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Behandlung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2935224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Leistung wird erbracht</a:t>
            </a:r>
            <a:endParaRPr lang="en-US" sz="1200" dirty="0"/>
          </a:p>
        </p:txBody>
      </p:sp>
      <p:sp>
        <p:nvSpPr>
          <p:cNvPr id="19" name="Ist Pfeil 2"/>
          <p:cNvSpPr/>
          <p:nvPr/>
        </p:nvSpPr>
        <p:spPr>
          <a:xfrm>
            <a:off x="4873752" y="2286000"/>
            <a:ext cx="15544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Ist Schlussprüfung"/>
          <p:cNvSpPr/>
          <p:nvPr/>
        </p:nvSpPr>
        <p:spPr>
          <a:xfrm>
            <a:off x="5047488" y="1325880"/>
            <a:ext cx="2057400" cy="21945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st Schlussprüfung circle"/>
          <p:cNvSpPr/>
          <p:nvPr/>
        </p:nvSpPr>
        <p:spPr>
          <a:xfrm>
            <a:off x="5774436" y="148132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st Schlussprüfung icon" descr="Ist Schlussprüfu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163220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138928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Schlussprüfung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184648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vor der Abrechnung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138928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ca. 2 min</a:t>
            </a:r>
            <a:endParaRPr lang="en-US" sz="1300" dirty="0"/>
          </a:p>
        </p:txBody>
      </p:sp>
      <p:sp>
        <p:nvSpPr>
          <p:cNvPr id="26" name="Ist Pfeil 3"/>
          <p:cNvSpPr/>
          <p:nvPr/>
        </p:nvSpPr>
        <p:spPr>
          <a:xfrm>
            <a:off x="7123176" y="2286000"/>
            <a:ext cx="15544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Ist Dienstleister"/>
          <p:cNvSpPr/>
          <p:nvPr/>
        </p:nvSpPr>
        <p:spPr>
          <a:xfrm>
            <a:off x="7296912" y="1325880"/>
            <a:ext cx="2057400" cy="21945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st Dienstleister circle"/>
          <p:cNvSpPr/>
          <p:nvPr/>
        </p:nvSpPr>
        <p:spPr>
          <a:xfrm>
            <a:off x="8023860" y="148132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st Dienstleister icon" descr="Ist Dienstleis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632204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88352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Dienstleister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434072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fängt fast alle übrigen Fehler ab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88352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3–6 % vom Umsatz</a:t>
            </a:r>
            <a:endParaRPr lang="en-US" sz="1300" dirty="0"/>
          </a:p>
        </p:txBody>
      </p:sp>
      <p:sp>
        <p:nvSpPr>
          <p:cNvPr id="33" name="Ist Pfeil 4"/>
          <p:cNvSpPr/>
          <p:nvPr/>
        </p:nvSpPr>
        <p:spPr>
          <a:xfrm>
            <a:off x="9372600" y="2286000"/>
            <a:ext cx="155448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Ist Krankenkasse"/>
          <p:cNvSpPr/>
          <p:nvPr/>
        </p:nvSpPr>
        <p:spPr>
          <a:xfrm>
            <a:off x="9546336" y="1325880"/>
            <a:ext cx="2057400" cy="21945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st Krankenkasse circle"/>
          <p:cNvSpPr/>
          <p:nvPr/>
        </p:nvSpPr>
        <p:spPr>
          <a:xfrm>
            <a:off x="10273284" y="1481328"/>
            <a:ext cx="603504" cy="6035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Ist Krankenkasse icon" descr="Ist Krankenkas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1632204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637776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Krankenkasse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683496" y="2542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kürzt ohne Begründung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9637776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ca. 10 Fälle pro Jahr</a:t>
            </a:r>
            <a:endParaRPr lang="en-US" sz="1300" dirty="0"/>
          </a:p>
        </p:txBody>
      </p:sp>
      <p:sp>
        <p:nvSpPr>
          <p:cNvPr id="40" name="Schmerzpunkt 1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82296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3000" dirty="0"/>
          </a:p>
        </p:txBody>
      </p:sp>
      <p:sp>
        <p:nvSpPr>
          <p:cNvPr id="42" name="Text 34"/>
          <p:cNvSpPr txBox="1"/>
          <p:nvPr/>
        </p:nvSpPr>
        <p:spPr>
          <a:xfrm>
            <a:off x="822960" y="4617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der Fehler entstehen bei Doppel- und Folgeverordnungen</a:t>
            </a:r>
            <a:endParaRPr lang="en-US" sz="1400" dirty="0"/>
          </a:p>
        </p:txBody>
      </p:sp>
      <p:sp>
        <p:nvSpPr>
          <p:cNvPr id="43" name="Schmerzpunkt 2"/>
          <p:cNvSpPr/>
          <p:nvPr/>
        </p:nvSpPr>
        <p:spPr>
          <a:xfrm>
            <a:off x="429768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unsichtbar</a:t>
            </a:r>
            <a:endParaRPr lang="en-US" sz="3000" dirty="0"/>
          </a:p>
        </p:txBody>
      </p:sp>
      <p:sp>
        <p:nvSpPr>
          <p:cNvPr id="45" name="Text 37"/>
          <p:cNvSpPr txBox="1"/>
          <p:nvPr/>
        </p:nvSpPr>
        <p:spPr>
          <a:xfrm>
            <a:off x="4572000" y="4617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Die Praxissoftware zeigt nicht, wie viele Einheiten ein Patient beim selben Arzt schon hatte</a:t>
            </a:r>
            <a:endParaRPr lang="en-US" sz="1400" dirty="0"/>
          </a:p>
        </p:txBody>
      </p:sp>
      <p:sp>
        <p:nvSpPr>
          <p:cNvPr id="46" name="Schmerzpunkt 3"/>
          <p:cNvSpPr/>
          <p:nvPr/>
        </p:nvSpPr>
        <p:spPr>
          <a:xfrm>
            <a:off x="804672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832104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85 %</a:t>
            </a:r>
            <a:endParaRPr lang="en-US" sz="3000" dirty="0"/>
          </a:p>
        </p:txBody>
      </p:sp>
      <p:sp>
        <p:nvSpPr>
          <p:cNvPr id="48" name="Text 40"/>
          <p:cNvSpPr txBox="1"/>
          <p:nvPr/>
        </p:nvSpPr>
        <p:spPr>
          <a:xfrm>
            <a:off x="8321040" y="4617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Wirksamkeit menschlicher Doppelkontrollen; Qualität hängt von der Einarbeitung ab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Quelle: Field Study, Ist-Interview mit der Mitinhaberin (anonym) am 16.10.2026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Einsatzfelder: erst die Landkarte, dann der Pilot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ENTWURF</a:t>
            </a:r>
            <a:endParaRPr lang="en-US" sz="1000" dirty="0"/>
          </a:p>
        </p:txBody>
      </p:sp>
      <p:sp>
        <p:nvSpPr>
          <p:cNvPr id="7" name="Matrix"/>
          <p:cNvSpPr/>
          <p:nvPr/>
        </p:nvSpPr>
        <p:spPr>
          <a:xfrm>
            <a:off x="548640" y="1371600"/>
            <a:ext cx="7040880" cy="4160520"/>
          </a:xfrm>
          <a:prstGeom prst="rect">
            <a:avLst/>
          </a:prstGeom>
          <a:solidFill>
            <a:schemeClr val="bg2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8" name="Matrix Mitte senkrecht"/>
          <p:cNvSpPr/>
          <p:nvPr/>
        </p:nvSpPr>
        <p:spPr>
          <a:xfrm>
            <a:off x="4069080" y="1371600"/>
            <a:ext cx="0" cy="4160520"/>
          </a:xfrm>
          <a:prstGeom prst="line">
            <a:avLst/>
          </a:prstGeom>
          <a:noFill/>
          <a:ln w="12700">
            <a:solidFill>
              <a:srgbClr val="C9D6D4"/>
            </a:solidFill>
            <a:prstDash val="dash"/>
          </a:ln>
        </p:spPr>
      </p:sp>
      <p:sp>
        <p:nvSpPr>
          <p:cNvPr id="9" name="Matrix Mitte waagerecht"/>
          <p:cNvSpPr/>
          <p:nvPr/>
        </p:nvSpPr>
        <p:spPr>
          <a:xfrm>
            <a:off x="548640" y="3451860"/>
            <a:ext cx="7040880" cy="0"/>
          </a:xfrm>
          <a:prstGeom prst="line">
            <a:avLst/>
          </a:prstGeom>
          <a:noFill/>
          <a:ln w="12700">
            <a:solidFill>
              <a:srgbClr val="C9D6D4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58368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↑ Nutzen für die Praxis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77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Machbarkeit (Daten, Schnittstellen, Risiko) →</a:t>
            </a:r>
            <a:endParaRPr lang="en-US" sz="1200" dirty="0"/>
          </a:p>
        </p:txBody>
      </p:sp>
      <p:sp>
        <p:nvSpPr>
          <p:cNvPr id="12" name="Feld Verordnungs-Check"/>
          <p:cNvSpPr/>
          <p:nvPr/>
        </p:nvSpPr>
        <p:spPr>
          <a:xfrm>
            <a:off x="6070702" y="1702613"/>
            <a:ext cx="502920" cy="50292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0422" y="1771193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Verordnungs-Check</a:t>
            </a:r>
            <a:endParaRPr lang="en-US" sz="1400" dirty="0"/>
          </a:p>
        </p:txBody>
      </p:sp>
      <p:sp>
        <p:nvSpPr>
          <p:cNvPr id="14" name="Feld Terminvergabe &amp; Telefon"/>
          <p:cNvSpPr/>
          <p:nvPr/>
        </p:nvSpPr>
        <p:spPr>
          <a:xfrm>
            <a:off x="3332074" y="2113178"/>
            <a:ext cx="347472" cy="34747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70986" y="210403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Terminvergabe &amp; Telefon</a:t>
            </a:r>
            <a:endParaRPr lang="en-US" sz="1200" dirty="0"/>
          </a:p>
        </p:txBody>
      </p:sp>
      <p:sp>
        <p:nvSpPr>
          <p:cNvPr id="16" name="Feld Abrechnungs-Vorbereitung"/>
          <p:cNvSpPr/>
          <p:nvPr/>
        </p:nvSpPr>
        <p:spPr>
          <a:xfrm>
            <a:off x="1642262" y="2612441"/>
            <a:ext cx="347472" cy="34747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81174" y="260329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Abrechnungs-Vorbereitung</a:t>
            </a:r>
            <a:endParaRPr lang="en-US" sz="1200" dirty="0"/>
          </a:p>
        </p:txBody>
      </p:sp>
      <p:sp>
        <p:nvSpPr>
          <p:cNvPr id="18" name="Feld Erinnerungen an Patienten"/>
          <p:cNvSpPr/>
          <p:nvPr/>
        </p:nvSpPr>
        <p:spPr>
          <a:xfrm>
            <a:off x="6007608" y="3444545"/>
            <a:ext cx="347472" cy="34747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67328" y="3435401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Erinnerungen an Patienten</a:t>
            </a:r>
            <a:endParaRPr lang="en-US" sz="1200" dirty="0"/>
          </a:p>
        </p:txBody>
      </p:sp>
      <p:sp>
        <p:nvSpPr>
          <p:cNvPr id="20" name="Feld Therapieberichte an Ärzte"/>
          <p:cNvSpPr/>
          <p:nvPr/>
        </p:nvSpPr>
        <p:spPr>
          <a:xfrm>
            <a:off x="3191256" y="4193438"/>
            <a:ext cx="347472" cy="34747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30168" y="418429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Therapieberichte an Ärzte</a:t>
            </a:r>
            <a:endParaRPr lang="en-US" sz="1200" dirty="0"/>
          </a:p>
        </p:txBody>
      </p:sp>
      <p:sp>
        <p:nvSpPr>
          <p:cNvPr id="22" name="Feld Dienst- &amp; Raumplanung"/>
          <p:cNvSpPr/>
          <p:nvPr/>
        </p:nvSpPr>
        <p:spPr>
          <a:xfrm>
            <a:off x="4740250" y="4692701"/>
            <a:ext cx="347472" cy="347472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79162" y="468355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Dienst- &amp; Raumplanung</a:t>
            </a:r>
            <a:endParaRPr lang="en-US" sz="1200" dirty="0"/>
          </a:p>
        </p:txBody>
      </p:sp>
      <p:sp>
        <p:nvSpPr>
          <p:cNvPr id="24" name="Warum der Pilot"/>
          <p:cNvSpPr/>
          <p:nvPr/>
        </p:nvSpPr>
        <p:spPr>
          <a:xfrm>
            <a:off x="7955280" y="137160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Pilot circle"/>
          <p:cNvSpPr/>
          <p:nvPr/>
        </p:nvSpPr>
        <p:spPr>
          <a:xfrm>
            <a:off x="822960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Pilot icon" descr="Pil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3736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915400" y="1664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dieser Pilot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22960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Trifft das größte Problem: 90 % der Fehler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Regeln sind öffentlich und belegbar (G-BA, KBV)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Keine Schnittstelle nötig: Eingabe im Chat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Geringes Risiko: Die Rezeption entscheidet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Messbar: Zeit, Trefferquote, Nacharbeit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95528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Einschätzung des Teams, im Pilot zu überprüfen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Weniger Admin, mehr Zeit für Patienten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sp>
        <p:nvSpPr>
          <p:cNvPr id="6" name="Ist"/>
          <p:cNvSpPr/>
          <p:nvPr/>
        </p:nvSpPr>
        <p:spPr>
          <a:xfrm>
            <a:off x="548640" y="128016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st circle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st icon" descr="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5887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011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40 Verordnungen pro Woche, je 8 min Prüfung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90 % der Fehler bei Doppel- und Folgeverordnungen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Doppelkontrolle höchstens ca. 85 % wirksam</a:t>
            </a:r>
            <a:endParaRPr lang="en-US" sz="1200" dirty="0"/>
          </a:p>
        </p:txBody>
      </p:sp>
      <p:sp>
        <p:nvSpPr>
          <p:cNvPr id="11" name="Soll"/>
          <p:cNvSpPr/>
          <p:nvPr/>
        </p:nvSpPr>
        <p:spPr>
          <a:xfrm>
            <a:off x="548640" y="3703320"/>
            <a:ext cx="32918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oll circle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Soll icon" descr="So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0119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44348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KI-Prüfung vor Behandlungsbeginn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Ampel mit Fundstelle im Regelwerk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Die Rezeption entscheidet</a:t>
            </a:r>
            <a:endParaRPr lang="en-US" sz="1200" dirty="0"/>
          </a:p>
        </p:txBody>
      </p:sp>
      <p:sp>
        <p:nvSpPr>
          <p:cNvPr id="16" name="Pfeil Nutzen"/>
          <p:cNvSpPr/>
          <p:nvPr/>
        </p:nvSpPr>
        <p:spPr>
          <a:xfrm>
            <a:off x="3931920" y="3291840"/>
            <a:ext cx="320040" cy="4114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Nutzen Hart · belegt"/>
          <p:cNvSpPr/>
          <p:nvPr/>
        </p:nvSpPr>
        <p:spPr>
          <a:xfrm>
            <a:off x="4343400" y="1280160"/>
            <a:ext cx="434340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tzen Hart · belegt circle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Nutzen Hart · belegt icon" descr="Nutzen Hart · beleg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4592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12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Hart · belegt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27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4.300 €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5212080" y="2084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 Jahr ab Jahr 2: rund 4 h pro Woche frei, etwa ½ Minijob</a:t>
            </a:r>
            <a:endParaRPr lang="en-US" sz="1100" dirty="0"/>
          </a:p>
        </p:txBody>
      </p:sp>
      <p:sp>
        <p:nvSpPr>
          <p:cNvPr id="23" name="Nutzen Kapazität · Ziel"/>
          <p:cNvSpPr/>
          <p:nvPr/>
        </p:nvSpPr>
        <p:spPr>
          <a:xfrm>
            <a:off x="4343400" y="2761488"/>
            <a:ext cx="434340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tzen Kapazität · Ziel circle"/>
          <p:cNvSpPr/>
          <p:nvPr/>
        </p:nvSpPr>
        <p:spPr>
          <a:xfrm>
            <a:off x="4526280" y="2990088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Nutzen Kapazität · Ziel icon" descr="Nutzen Kapazität · Zi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12724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1208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Kapazität · Ziel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21208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Minijob</a:t>
            </a:r>
            <a:endParaRPr lang="en-US" sz="2400" dirty="0"/>
          </a:p>
        </p:txBody>
      </p:sp>
      <p:sp>
        <p:nvSpPr>
          <p:cNvPr id="28" name="Text 21"/>
          <p:cNvSpPr txBox="1"/>
          <p:nvPr/>
        </p:nvSpPr>
        <p:spPr>
          <a:xfrm>
            <a:off x="521208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bei Wachstum nicht nötig, ≈ 9.500 € pro Jahr: mit Doppelverordnungs-Prüfung und weniger Nacharbeit, im Pilot zu belegen</a:t>
            </a:r>
            <a:endParaRPr lang="en-US" sz="1100" dirty="0"/>
          </a:p>
        </p:txBody>
      </p:sp>
      <p:sp>
        <p:nvSpPr>
          <p:cNvPr id="29" name="Nutzen Weich · gemessen"/>
          <p:cNvSpPr/>
          <p:nvPr/>
        </p:nvSpPr>
        <p:spPr>
          <a:xfrm>
            <a:off x="4343400" y="4242816"/>
            <a:ext cx="434340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tzen Weich · gemessen circle"/>
          <p:cNvSpPr/>
          <p:nvPr/>
        </p:nvSpPr>
        <p:spPr>
          <a:xfrm>
            <a:off x="4526280" y="447141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Nutzen Weich · gemessen icon" descr="Nutzen Weich · gemess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60857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21208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Weich · gemessen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212080" y="4590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Patientenzeit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5212080" y="5047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mehr Zeit am Empfang und am Telefon, schnellere Einarbeitung, Fehler vor statt nach der Behandlung</a:t>
            </a:r>
            <a:endParaRPr lang="en-US" sz="1100" dirty="0"/>
          </a:p>
        </p:txBody>
      </p:sp>
      <p:sp>
        <p:nvSpPr>
          <p:cNvPr id="35" name="Messung"/>
          <p:cNvSpPr/>
          <p:nvPr/>
        </p:nvSpPr>
        <p:spPr>
          <a:xfrm>
            <a:off x="8915400" y="1280160"/>
            <a:ext cx="2697480" cy="4389120"/>
          </a:xfrm>
          <a:prstGeom prst="roundRect">
            <a:avLst>
              <a:gd name="adj" fmla="val 27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Messung circle"/>
          <p:cNvSpPr/>
          <p:nvPr/>
        </p:nvSpPr>
        <p:spPr>
          <a:xfrm>
            <a:off x="909828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Messung icon" descr="Messu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4010" y="1588770"/>
            <a:ext cx="251460" cy="25146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6926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messen wir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9098280" y="210312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Prüfzeit je Verordnung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Nacharbeit: Rückfragen bei Arzt und Kasse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Erreichbarkeit am Telefon, Wartezeit am Empfang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Einarbeitungszeit neuer Kräfte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Ampel-Trefferquote ≥ 98 %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Annahmen: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Mindestlohn 2026 + 15 % = 15,99 €/h, mit Minijob-Abgaben (bis 31,17 %) ≈ 20,97 €/h · 52 Wochen · Anstieg auf 75 % in vier Quartalen · Betriebskosten noch gegenzurechnen · Pilot im Parallelbetrieb zugesagt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Herleitung: 75 % der Prüfzeit nach einem Jahr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graphicFrame>
        <p:nvGraphicFramePr>
          <p:cNvPr id="6" name="Einsparung je Quartal" descr=""/>
          <p:cNvGraphicFramePr/>
          <p:nvPr/>
        </p:nvGraphicFramePr>
        <p:xfrm>
          <a:off x="548640" y="128016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Kennzahl Jahr 1"/>
          <p:cNvSpPr/>
          <p:nvPr/>
        </p:nvSpPr>
        <p:spPr>
          <a:xfrm>
            <a:off x="8412480" y="1280160"/>
            <a:ext cx="32004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6868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Jahr 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 h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≈ 3.070 €</a:t>
            </a:r>
            <a:endParaRPr lang="en-US" sz="1600" dirty="0"/>
          </a:p>
        </p:txBody>
      </p:sp>
      <p:sp>
        <p:nvSpPr>
          <p:cNvPr id="11" name="Kennzahl ab Jahr 2"/>
          <p:cNvSpPr/>
          <p:nvPr/>
        </p:nvSpPr>
        <p:spPr>
          <a:xfrm>
            <a:off x="8412480" y="3246120"/>
            <a:ext cx="32004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ab Jahr 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3749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 h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0" y="4480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≈ 4.335 € pro Jahr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5,3 h pro Woche × 13 Wochen je Quartal · Anstieg Q1 25 % · Q2 50 % · Q3 62,5 % · Q4 75 %, danach 75 %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Annahmen und Einordnung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sp>
        <p:nvSpPr>
          <p:cNvPr id="6" name="Annahmen"/>
          <p:cNvSpPr/>
          <p:nvPr/>
        </p:nvSpPr>
        <p:spPr>
          <a:xfrm>
            <a:off x="548640" y="1325880"/>
            <a:ext cx="621792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nnahmen circle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Annahmen icon" descr="Annahm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7030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Rechenweg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Prüfzeit heute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2331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5,3 h pro Woche (40 Verordnungen × 8 min, Ist-Interview)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Einsparziel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3063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50 % nach zwei Quartalen, weitere 25 % danach: 75 % nach einem Jahr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Stundenlohn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3794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15,99 € = Mindestlohn 2026 (13,90 €) + 15 %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4526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Arbeitgeberkosten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560320" y="4526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 Minijob-Pauschalabgaben bis 31,17 % = 20,97 € pro Stunde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22960" y="5257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Minijob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560320" y="5257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max. 603 € pro Monat ≈ 8,7 h pro Woche; mit Abgaben ≈ 9.500 € pro Jahr</a:t>
            </a:r>
            <a:endParaRPr lang="en-US" sz="1400" dirty="0"/>
          </a:p>
        </p:txBody>
      </p:sp>
      <p:sp>
        <p:nvSpPr>
          <p:cNvPr id="20" name="Einordnung"/>
          <p:cNvSpPr/>
          <p:nvPr/>
        </p:nvSpPr>
        <p:spPr>
          <a:xfrm>
            <a:off x="7132320" y="1325880"/>
            <a:ext cx="4480560" cy="475488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Einordnung circle"/>
          <p:cNvSpPr/>
          <p:nvPr/>
        </p:nvSpPr>
        <p:spPr>
          <a:xfrm>
            <a:off x="7406640" y="15544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Einordnung icon" descr="Einordnu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230" y="1703070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18388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Einordnung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7406640" y="23317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Nicht doppelt gezählt: Die freien Stunden sind der halbe Minijob, nicht zusätzlich.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„Vermeiden“ statt „ersetzen“: keine Kündigung, sondern keine zusätzliche Stelle bei Wachstum.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Marktvergleich Rezeption Physiotherapie: ca. 12,77–15,36 € pro Stunde (gehalt.de).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Ab 2027 Mindestlohn 14,60 €.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Noch gegenzurechnen: KI ca. 80 € pro Jahr, dazu n8n- und Supabase-Abo.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Architektur: Regeln rechnet der Code</a:t>
            </a:r>
            <a:endParaRPr lang="en-US" sz="3000" dirty="0"/>
          </a:p>
        </p:txBody>
      </p:sp>
      <p:sp>
        <p:nvSpPr>
          <p:cNvPr id="3" name="Folie gehört Valentin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Valentin</a:t>
            </a:r>
            <a:endParaRPr lang="en-US" sz="1400" dirty="0"/>
          </a:p>
        </p:txBody>
      </p:sp>
      <p:sp>
        <p:nvSpPr>
          <p:cNvPr id="6" name="Schritt Chat"/>
          <p:cNvSpPr/>
          <p:nvPr/>
        </p:nvSpPr>
        <p:spPr>
          <a:xfrm>
            <a:off x="548640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chritt Chat circle"/>
          <p:cNvSpPr/>
          <p:nvPr/>
        </p:nvSpPr>
        <p:spPr>
          <a:xfrm>
            <a:off x="1211580" y="164592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Schritt Chat icon" descr="Schritt Ch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059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Rezeption gibt die Verordnung ein</a:t>
            </a:r>
            <a:endParaRPr lang="en-US" sz="1200" dirty="0"/>
          </a:p>
        </p:txBody>
      </p:sp>
      <p:sp>
        <p:nvSpPr>
          <p:cNvPr id="11" name="Pfeil 1"/>
          <p:cNvSpPr/>
          <p:nvPr/>
        </p:nvSpPr>
        <p:spPr>
          <a:xfrm>
            <a:off x="2551176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Schritt Erfassen"/>
          <p:cNvSpPr/>
          <p:nvPr/>
        </p:nvSpPr>
        <p:spPr>
          <a:xfrm>
            <a:off x="2825496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chritt Erfassen circle"/>
          <p:cNvSpPr/>
          <p:nvPr/>
        </p:nvSpPr>
        <p:spPr>
          <a:xfrm>
            <a:off x="3488436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Schritt Erfassen icon" descr="Schritt Erfass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8059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62656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Erfassen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962656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LLM überführt Text in festes Schema</a:t>
            </a:r>
            <a:endParaRPr lang="en-US" sz="1200" dirty="0"/>
          </a:p>
        </p:txBody>
      </p:sp>
      <p:sp>
        <p:nvSpPr>
          <p:cNvPr id="17" name="Pfeil 2"/>
          <p:cNvSpPr/>
          <p:nvPr/>
        </p:nvSpPr>
        <p:spPr>
          <a:xfrm>
            <a:off x="4828032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Schritt Fakten"/>
          <p:cNvSpPr/>
          <p:nvPr/>
        </p:nvSpPr>
        <p:spPr>
          <a:xfrm>
            <a:off x="5102352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chritt Fakten circle"/>
          <p:cNvSpPr/>
          <p:nvPr/>
        </p:nvSpPr>
        <p:spPr>
          <a:xfrm>
            <a:off x="5765292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Schritt Fakten icon" descr="Schritt Fakt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18059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39512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Fakten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239512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Code: Fristen, Formate, ICD → Diagnosegruppe</a:t>
            </a:r>
            <a:endParaRPr lang="en-US" sz="1200" dirty="0"/>
          </a:p>
        </p:txBody>
      </p:sp>
      <p:sp>
        <p:nvSpPr>
          <p:cNvPr id="23" name="Pfeil 3"/>
          <p:cNvSpPr/>
          <p:nvPr/>
        </p:nvSpPr>
        <p:spPr>
          <a:xfrm>
            <a:off x="7104888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Schritt 4 Prüfer"/>
          <p:cNvSpPr/>
          <p:nvPr/>
        </p:nvSpPr>
        <p:spPr>
          <a:xfrm>
            <a:off x="7379208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chritt 4 Prüfer circle"/>
          <p:cNvSpPr/>
          <p:nvPr/>
        </p:nvSpPr>
        <p:spPr>
          <a:xfrm>
            <a:off x="8042148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Schritt 4 Prüfer icon" descr="Schritt 4 Prüf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18059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16368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Prüfer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516368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Formal · Diagnose · Mengen · Fristen</a:t>
            </a:r>
            <a:endParaRPr lang="en-US" sz="1200" dirty="0"/>
          </a:p>
        </p:txBody>
      </p:sp>
      <p:sp>
        <p:nvSpPr>
          <p:cNvPr id="29" name="Pfeil 4"/>
          <p:cNvSpPr/>
          <p:nvPr/>
        </p:nvSpPr>
        <p:spPr>
          <a:xfrm>
            <a:off x="9381744" y="237744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Schritt Ampel"/>
          <p:cNvSpPr/>
          <p:nvPr/>
        </p:nvSpPr>
        <p:spPr>
          <a:xfrm>
            <a:off x="9656064" y="1463040"/>
            <a:ext cx="1965960" cy="21031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chritt Ampel circle"/>
          <p:cNvSpPr/>
          <p:nvPr/>
        </p:nvSpPr>
        <p:spPr>
          <a:xfrm>
            <a:off x="10319004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chritt Ampel icon" descr="Schritt Ampe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24" y="18059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793224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Ampel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793224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Code: rot / gelb / grün, Absetzungsrisiko</a:t>
            </a:r>
            <a:endParaRPr lang="en-US" sz="1200" dirty="0"/>
          </a:p>
        </p:txBody>
      </p:sp>
      <p:sp>
        <p:nvSpPr>
          <p:cNvPr id="35" name="Supabase"/>
          <p:cNvSpPr/>
          <p:nvPr/>
        </p:nvSpPr>
        <p:spPr>
          <a:xfrm>
            <a:off x="548640" y="4160520"/>
            <a:ext cx="67665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Supabase Rahmen"/>
          <p:cNvSpPr/>
          <p:nvPr/>
        </p:nvSpPr>
        <p:spPr>
          <a:xfrm>
            <a:off x="548640" y="4160520"/>
            <a:ext cx="67665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37" name="Supabase circle"/>
          <p:cNvSpPr/>
          <p:nvPr/>
        </p:nvSpPr>
        <p:spPr>
          <a:xfrm>
            <a:off x="777240" y="43891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Supabase icon" descr="Supaba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" y="4537710"/>
            <a:ext cx="297180" cy="29718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554480" y="4434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Supabase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1554480" y="484632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Wissensbasis (RAG): HeilM-RL, Heilmittelkatalog, KBV-Diagnoseliste, rund 380 Abschnitte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Protokoll jeder Prüfung und jedes Befunds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Neu in Sprint 2: Verordnungshistorie für die Verordnungsfall-Prüfung</a:t>
            </a:r>
            <a:endParaRPr lang="en-US" sz="1200" dirty="0"/>
          </a:p>
        </p:txBody>
      </p:sp>
      <p:sp>
        <p:nvSpPr>
          <p:cNvPr id="41" name="Stack"/>
          <p:cNvSpPr/>
          <p:nvPr/>
        </p:nvSpPr>
        <p:spPr>
          <a:xfrm>
            <a:off x="7589520" y="416052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78638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Stack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7863840" y="4800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n8n Cloud (Workflow, Chat)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OpenAI gpt-4.1-mini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Supabase (pgvector, EU)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GitHub: Exporte, Tests, Doku</a:t>
            </a:r>
            <a:endParaRPr lang="en-US" sz="1200" dirty="0"/>
          </a:p>
        </p:txBody>
      </p:sp>
      <p:sp>
        <p:nvSpPr>
          <p:cNvPr id="44" name="RAG Verbindung"/>
          <p:cNvSpPr/>
          <p:nvPr/>
        </p:nvSpPr>
        <p:spPr>
          <a:xfrm>
            <a:off x="8362188" y="3566160"/>
            <a:ext cx="0" cy="59436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</a:ln>
        </p:spPr>
      </p:sp>
      <p:sp>
        <p:nvSpPr>
          <p:cNvPr id="45" name="Text 36"/>
          <p:cNvSpPr txBox="1"/>
          <p:nvPr/>
        </p:nvSpPr>
        <p:spPr>
          <a:xfrm>
            <a:off x="8453628" y="3703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RAG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Bauplan: Alle vier Prüfer sind gleich aufgebaut</a:t>
            </a:r>
            <a:endParaRPr lang="en-US" sz="3000" dirty="0"/>
          </a:p>
        </p:txBody>
      </p:sp>
      <p:sp>
        <p:nvSpPr>
          <p:cNvPr id="3" name="Folie gehört Valentin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Valentin</a:t>
            </a:r>
            <a:endParaRPr lang="en-US" sz="1400" dirty="0"/>
          </a:p>
        </p:txBody>
      </p:sp>
      <p:sp>
        <p:nvSpPr>
          <p:cNvPr id="6" name="Bauplan Eingabe"/>
          <p:cNvSpPr/>
          <p:nvPr/>
        </p:nvSpPr>
        <p:spPr>
          <a:xfrm>
            <a:off x="548640" y="1325880"/>
            <a:ext cx="32918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auplan Eingabe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Bauplan Eingabe icon" descr="Bauplan Einga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Eingabe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Verordnung als festes Schema + berechnete Fakten aus dem Code (verbindlich)</a:t>
            </a:r>
            <a:endParaRPr lang="en-US" sz="1400" dirty="0"/>
          </a:p>
        </p:txBody>
      </p:sp>
      <p:sp>
        <p:nvSpPr>
          <p:cNvPr id="11" name="Pfeil 1"/>
          <p:cNvSpPr/>
          <p:nvPr/>
        </p:nvSpPr>
        <p:spPr>
          <a:xfrm>
            <a:off x="3977640" y="2194560"/>
            <a:ext cx="32004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Bauplan Prüf-Agent"/>
          <p:cNvSpPr/>
          <p:nvPr/>
        </p:nvSpPr>
        <p:spPr>
          <a:xfrm>
            <a:off x="4434840" y="1325880"/>
            <a:ext cx="32918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uplan Prüf-Agent circle"/>
          <p:cNvSpPr/>
          <p:nvPr/>
        </p:nvSpPr>
        <p:spPr>
          <a:xfrm>
            <a:off x="47091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Bauplan Prüf-Agent icon" descr="Bauplan Prüf-Ag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17145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3212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Prüf-Agent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70916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gpt-4.1-mini, Temperatur 0,1, max. 6 Schritte, eigenes Mandat im Systemprompt</a:t>
            </a:r>
            <a:endParaRPr lang="en-US" sz="1400" dirty="0"/>
          </a:p>
        </p:txBody>
      </p:sp>
      <p:sp>
        <p:nvSpPr>
          <p:cNvPr id="17" name="Pfeil 2"/>
          <p:cNvSpPr/>
          <p:nvPr/>
        </p:nvSpPr>
        <p:spPr>
          <a:xfrm>
            <a:off x="7863840" y="2194560"/>
            <a:ext cx="32004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Bauplan Ausgabe"/>
          <p:cNvSpPr/>
          <p:nvPr/>
        </p:nvSpPr>
        <p:spPr>
          <a:xfrm>
            <a:off x="8321040" y="1325880"/>
            <a:ext cx="32918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uplan Ausgabe circle"/>
          <p:cNvSpPr/>
          <p:nvPr/>
        </p:nvSpPr>
        <p:spPr>
          <a:xfrm>
            <a:off x="859536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Bauplan Ausgabe icon" descr="Bauplan Ausga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0" y="17145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41832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Ausgabe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JSON: Prüfer, Befunde mit Feld, Status, Fundstelle, Korrekturhinweis</a:t>
            </a:r>
            <a:endParaRPr lang="en-US" sz="1400" dirty="0"/>
          </a:p>
        </p:txBody>
      </p:sp>
      <p:sp>
        <p:nvSpPr>
          <p:cNvPr id="23" name="Werkzeug"/>
          <p:cNvSpPr/>
          <p:nvPr/>
        </p:nvSpPr>
        <p:spPr>
          <a:xfrm>
            <a:off x="4434840" y="3703320"/>
            <a:ext cx="32918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24" name="Werkzeug circle"/>
          <p:cNvSpPr/>
          <p:nvPr/>
        </p:nvSpPr>
        <p:spPr>
          <a:xfrm>
            <a:off x="461772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Werkzeug icon" descr="Werkzeu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776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3767328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Werkzeug „Regelwerk“: Vektorsuche in Supabase, 5 Treffer, je Prüfer eigener Ausschnitt</a:t>
            </a:r>
            <a:endParaRPr lang="en-US" sz="1200" dirty="0"/>
          </a:p>
        </p:txBody>
      </p:sp>
      <p:sp>
        <p:nvSpPr>
          <p:cNvPr id="27" name="Werkzeug Verbindung"/>
          <p:cNvSpPr/>
          <p:nvPr/>
        </p:nvSpPr>
        <p:spPr>
          <a:xfrm>
            <a:off x="6080760" y="3429000"/>
            <a:ext cx="0" cy="27432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</a:ln>
        </p:spPr>
      </p:sp>
      <p:sp>
        <p:nvSpPr>
          <p:cNvPr id="28" name="Regeln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4919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Gemeinsame Regeln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5285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Nur das eigene Mandat prüfen · keine Paragraphen erfinden, jede Regel mit Fundstelle belegen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Keine Fundstelle gefunden: höchstens „Hinweis“ · „fehlt“ nur, wenn das Feld wirklich leer ist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Berechnete Fakten haben Vorrang vor der eigenen Einschätzung · Status: ok / fehlt / fehlerhaft / Hinweis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Formal-Prüfer: Sind alle Pflichtangaben vollständig?</a:t>
            </a:r>
            <a:endParaRPr lang="en-US" sz="3000" dirty="0"/>
          </a:p>
        </p:txBody>
      </p:sp>
      <p:sp>
        <p:nvSpPr>
          <p:cNvPr id="3" name="Folie gehört Valentin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Valentin</a:t>
            </a:r>
            <a:endParaRPr lang="en-US" sz="1400" dirty="0"/>
          </a:p>
        </p:txBody>
      </p:sp>
      <p:sp>
        <p:nvSpPr>
          <p:cNvPr id="6" name="Formal-Prüfer Aufbau"/>
          <p:cNvSpPr/>
          <p:nvPr/>
        </p:nvSpPr>
        <p:spPr>
          <a:xfrm>
            <a:off x="548640" y="1325880"/>
            <a:ext cx="3383280" cy="47548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Formal-Prüfer circle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Formal-Prüfer icon" descr="Formal-Prüf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65735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Formal-Prüfer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Mandat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Vollständigkeit und Form der Pflichtangaben. Genau ein Befund je Feld (10 Felder).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Wissensquelle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Nur die Heilmittel-Richtlinie (Filter: Quelle = HeilM-RL)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Fakten aus dem Code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160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lanr_format_ok, bsnr_format_ok (9 Ziffern)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617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Nicht sein Mandat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Ob ICD-Code und Diagnosegruppe zusammenpassen</a:t>
            </a:r>
            <a:endParaRPr lang="en-US" sz="1200" dirty="0"/>
          </a:p>
        </p:txBody>
      </p:sp>
      <p:sp>
        <p:nvSpPr>
          <p:cNvPr id="18" name="Formal-Prüfer Prüfpunkte"/>
          <p:cNvSpPr/>
          <p:nvPr/>
        </p:nvSpPr>
        <p:spPr>
          <a:xfrm>
            <a:off x="4160520" y="1325880"/>
            <a:ext cx="4480560" cy="475488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8912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Prüfpunkte und Bewertung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Kostenträger, Ausstellungsdatum, Unterschrift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38912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leer = fehlt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LANR, BSNR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38912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leer = fehlt · Format laut Code falsch = fehlerhaft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38912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ICD-10-Code, Diagnosegruppe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38912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leer = fehlt (Passung prüft der Diagnose-Prüfer)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38912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Leitsymptomatik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38912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Buchstabe a, b, c oder Freitext = ok · leer = fehlt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438912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Heilmittel mit Einheiten, Therapiefrequenz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438912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leer = fehlt</a:t>
            </a:r>
            <a:endParaRPr lang="en-US" sz="1200" dirty="0"/>
          </a:p>
        </p:txBody>
      </p:sp>
      <p:sp>
        <p:nvSpPr>
          <p:cNvPr id="30" name="Formal-Prüfer Test"/>
          <p:cNvSpPr/>
          <p:nvPr/>
        </p:nvSpPr>
        <p:spPr>
          <a:xfrm>
            <a:off x="8869680" y="1325880"/>
            <a:ext cx="274320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Formal-Prüfer Test circle"/>
          <p:cNvSpPr/>
          <p:nvPr/>
        </p:nvSpPr>
        <p:spPr>
          <a:xfrm>
            <a:off x="90525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Formal-Prüfer Test icon" descr="Formal-Prüfer T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1577340"/>
            <a:ext cx="228600" cy="2286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6012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 Test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9052560" y="20116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TF05: LANR und Leitsymptomatik fehlen → 2× „fehlt“, Ampel rot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Erste Version: Das Modell „prüfte“ LANR im Kopf und meldete falsche Fehler. Jetzt prüft der Code das Format.</a:t>
            </a:r>
            <a:endParaRPr lang="en-US" sz="1200" dirty="0"/>
          </a:p>
        </p:txBody>
      </p:sp>
      <p:sp>
        <p:nvSpPr>
          <p:cNvPr id="35" name="Formal-Prüfer Grenzen"/>
          <p:cNvSpPr/>
          <p:nvPr/>
        </p:nvSpPr>
        <p:spPr>
          <a:xfrm>
            <a:off x="886968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Formal-Prüfer Grenzen circle"/>
          <p:cNvSpPr/>
          <p:nvPr/>
        </p:nvSpPr>
        <p:spPr>
          <a:xfrm>
            <a:off x="9052560" y="4251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Formal-Prüfer Grenzen icon" descr="Formal-Prüfer Grenz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4366260"/>
            <a:ext cx="228600" cy="2286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601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Grenzen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9052560" y="4754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Prüfziffer der LANR wird nicht nachgerechnet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Echtheit der Unterschrift ist nicht prüfbar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Diagnose-Prüfer: Passt die Diagnose zur Verordnung?</a:t>
            </a:r>
            <a:endParaRPr lang="en-US" sz="3000" dirty="0"/>
          </a:p>
        </p:txBody>
      </p:sp>
      <p:sp>
        <p:nvSpPr>
          <p:cNvPr id="3" name="Folie gehört Valentin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Valentin</a:t>
            </a:r>
            <a:endParaRPr lang="en-US" sz="1400" dirty="0"/>
          </a:p>
        </p:txBody>
      </p:sp>
      <p:sp>
        <p:nvSpPr>
          <p:cNvPr id="6" name="Diagnose-Prüfer Aufbau"/>
          <p:cNvSpPr/>
          <p:nvPr/>
        </p:nvSpPr>
        <p:spPr>
          <a:xfrm>
            <a:off x="548640" y="1325880"/>
            <a:ext cx="3383280" cy="47548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Diagnose-Prüfer circle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Diagnose-Prüfer icon" descr="Diagnose-Prüf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65735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Diagnose-Prüfer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Mandat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ICD-10-Code ↔ Diagnosegruppe, Leitsymptomatik, KBV-Diagnoseliste. 3 Befunde.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Wissensquelle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Gesamte Wissensbasis: Heilmittelkatalog, KBV-Diagnoseliste, HeilM-RL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Fakten aus dem Code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icd_passende_diagnosegruppe, diagnosegruppe_passt_zu_icd (WS / EX)</a:t>
            </a:r>
            <a:endParaRPr lang="en-US" sz="1200" dirty="0"/>
          </a:p>
        </p:txBody>
      </p:sp>
      <p:sp>
        <p:nvSpPr>
          <p:cNvPr id="16" name="Diagnose-Prüfer Prüfpunkte"/>
          <p:cNvSpPr/>
          <p:nvPr/>
        </p:nvSpPr>
        <p:spPr>
          <a:xfrm>
            <a:off x="4160520" y="1325880"/>
            <a:ext cx="4480560" cy="475488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38912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Prüfpunkte und Bewertung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38912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Diagnosegruppe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389120" y="2286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 sagt passt = ok · passt nicht = fehlerhaft, mit richtiger Gruppe · Code kennt den Bereich nicht: Prüfung per Regelwerk, im Zweifel Hinweis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Leitsymptomatik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38912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a, b, c oder patientenindividuell = ok · leer = Hinweis an den Formal-Prüfer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Besonderer Verordnungsbedarf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389120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 steht auf der KBV-Liste = Hinweis (Vorteil für die Praxis) · nicht gefunden = ok · nie rot</a:t>
            </a:r>
            <a:endParaRPr lang="en-US" sz="1200" dirty="0"/>
          </a:p>
        </p:txBody>
      </p:sp>
      <p:sp>
        <p:nvSpPr>
          <p:cNvPr id="24" name="Diagnose-Prüfer Test"/>
          <p:cNvSpPr/>
          <p:nvPr/>
        </p:nvSpPr>
        <p:spPr>
          <a:xfrm>
            <a:off x="8869680" y="1325880"/>
            <a:ext cx="274320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Diagnose-Prüfer Test circle"/>
          <p:cNvSpPr/>
          <p:nvPr/>
        </p:nvSpPr>
        <p:spPr>
          <a:xfrm>
            <a:off x="90525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Diagnose-Prüfer Test icon" descr="Diagnose-Prüfer T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15773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6012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 Test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9052560" y="20116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TF03: Schulter-Code M75.1 mit WS → fehlerhaft, rot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TF09: M50.1 → Hinweis KBV-Liste, im Regelwerk bestätigt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Fehlermodus: Modell ordnete Knie-Code S83.5 der Wirbelsäule zu → Zuordnung jetzt im Code</a:t>
            </a:r>
            <a:endParaRPr lang="en-US" sz="1200" dirty="0"/>
          </a:p>
        </p:txBody>
      </p:sp>
      <p:sp>
        <p:nvSpPr>
          <p:cNvPr id="29" name="Diagnose-Prüfer Grenzen"/>
          <p:cNvSpPr/>
          <p:nvPr/>
        </p:nvSpPr>
        <p:spPr>
          <a:xfrm>
            <a:off x="886968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Diagnose-Prüfer Grenzen circle"/>
          <p:cNvSpPr/>
          <p:nvPr/>
        </p:nvSpPr>
        <p:spPr>
          <a:xfrm>
            <a:off x="9052560" y="4251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Diagnose-Prüfer Grenzen icon" descr="Diagnose-Prüfer Grenz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436626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601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Grenzen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052560" y="4754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Code-Zuordnung nur für WS und EX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Zweitcode der KBV-Liste (z. B. G55.1) noch nicht geprüft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Governance: Mensch entscheidet, Daten geschützt</a:t>
            </a:r>
            <a:endParaRPr lang="en-US" sz="3000" dirty="0"/>
          </a:p>
        </p:txBody>
      </p:sp>
      <p:sp>
        <p:nvSpPr>
          <p:cNvPr id="3" name="Folie gehört Valentin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Valentin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ENTWURF</a:t>
            </a:r>
            <a:endParaRPr lang="en-US" sz="1000" dirty="0"/>
          </a:p>
        </p:txBody>
      </p:sp>
      <p:sp>
        <p:nvSpPr>
          <p:cNvPr id="7" name="Governance EU AI Act"/>
          <p:cNvSpPr/>
          <p:nvPr/>
        </p:nvSpPr>
        <p:spPr>
          <a:xfrm>
            <a:off x="548640" y="1325880"/>
            <a:ext cx="3520440" cy="47548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Governance EU AI Act circl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Governance EU AI Act icon" descr="Governance EU AI 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7602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1709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4688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Vorläufige Einordnung: kein Hochrisiko-System; das System prüft Formalien, es entscheidet nicht über Behandlung oder Leistungen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Transparenz: Nutzer wissen, dass sie mit einer KI arbeiten (Art. 50)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KI-Kompetenz: Einweisung der Rezeption (Art. 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Kein Medizinprodukt: keine Diagnose- oder Therapieaussage (zu bestätigen)</a:t>
            </a:r>
            <a:endParaRPr lang="en-US" sz="1300" dirty="0"/>
          </a:p>
        </p:txBody>
      </p:sp>
      <p:sp>
        <p:nvSpPr>
          <p:cNvPr id="12" name="Governance DSGVO"/>
          <p:cNvSpPr/>
          <p:nvPr/>
        </p:nvSpPr>
        <p:spPr>
          <a:xfrm>
            <a:off x="4325112" y="1325880"/>
            <a:ext cx="3520440" cy="47548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Governance DSGVO circle"/>
          <p:cNvSpPr/>
          <p:nvPr/>
        </p:nvSpPr>
        <p:spPr>
          <a:xfrm>
            <a:off x="4599432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Governance DSGVO icon" descr="Governance DSG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452" y="17602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76672" y="1709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DSGVO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599432" y="24688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Verordnungen sind Gesundheitsdaten (Art. 9)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Prototyp: nur synthetische Daten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Echtbetrieb: Patientennummer als Pseudonym, Auftragsverarbeitungsverträge, EU-Hosting, Löschkonzept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Datenschutz-Folgenabschätzung (Art. 35) prüfen</a:t>
            </a:r>
            <a:endParaRPr lang="en-US" sz="1300" dirty="0"/>
          </a:p>
        </p:txBody>
      </p:sp>
      <p:sp>
        <p:nvSpPr>
          <p:cNvPr id="17" name="Governance Aufsicht &amp; Sicherheit"/>
          <p:cNvSpPr/>
          <p:nvPr/>
        </p:nvSpPr>
        <p:spPr>
          <a:xfrm>
            <a:off x="8101584" y="1325880"/>
            <a:ext cx="3520440" cy="47548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Governance Aufsicht &amp; Sicherheit circle"/>
          <p:cNvSpPr/>
          <p:nvPr/>
        </p:nvSpPr>
        <p:spPr>
          <a:xfrm>
            <a:off x="8375904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Governance Aufsicht &amp; Sicherheit icon" descr="Governance Aufsicht &amp; Sicherhe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924" y="17602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53144" y="1709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Aufsicht &amp; Sicherheit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375904" y="24688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Ampel ist eine Empfehlung, die Rezeption entscheidet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Jeder Befund nennt seine Fundstelle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Jede Prüfung wird protokolliert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Zugriffsschutz in der Datenbank, Schlüssel nie im Repository, Chat nur mit Anmeldung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Mengen-Prüfer: Stimmt die verordnete Menge?</a:t>
            </a:r>
            <a:endParaRPr lang="en-US" sz="3000" dirty="0"/>
          </a:p>
        </p:txBody>
      </p:sp>
      <p:sp>
        <p:nvSpPr>
          <p:cNvPr id="3" name="Folie gehört Derk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Derk</a:t>
            </a:r>
            <a:endParaRPr lang="en-US" sz="1400" dirty="0"/>
          </a:p>
        </p:txBody>
      </p:sp>
      <p:sp>
        <p:nvSpPr>
          <p:cNvPr id="6" name="Mengen-Prüfer Aufbau"/>
          <p:cNvSpPr/>
          <p:nvPr/>
        </p:nvSpPr>
        <p:spPr>
          <a:xfrm>
            <a:off x="548640" y="1325880"/>
            <a:ext cx="3383280" cy="47548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Mengen-Prüfer circle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Mengen-Prüfer icon" descr="Mengen-Prüf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65735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Mengen-Prüfer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Mandat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Höchstmenge je Verordnung, Heilmittel-Kombination, Therapiefrequenz. 3 Befunde.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Wissensquelle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Gesamte Wissensbasis (Heilmittelkatalog, HeilM-RL, KBV-Diagnoseliste)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Fakten aus dem Code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summe_einheiten, anzahl_vorrangige_heilmittel</a:t>
            </a:r>
            <a:endParaRPr lang="en-US" sz="1200" dirty="0"/>
          </a:p>
        </p:txBody>
      </p:sp>
      <p:sp>
        <p:nvSpPr>
          <p:cNvPr id="16" name="Mengen-Prüfer Prüfpunkte"/>
          <p:cNvSpPr/>
          <p:nvPr/>
        </p:nvSpPr>
        <p:spPr>
          <a:xfrm>
            <a:off x="4160520" y="1325880"/>
            <a:ext cx="4480560" cy="475488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38912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Prüfpunkte und Bewertung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38912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Einheiten je Verordnung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389120" y="2286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WS / EX bis 6 = ok · mehr = fehlerhaft · Ausnahme: besonderer oder langfristiger Bedarf (bis 12 Wochen)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Heilmittel-Kombination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38912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höchstens 3 vorrangige Heilmittel · ergänzende nicht mehr Einheiten als vorrangige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Therapiefrequenz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38912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 Rahmen des Katalogs (z. B. 1–3× wöchentlich) = ok · nur belegte Abweichung = Hinweis</a:t>
            </a:r>
            <a:endParaRPr lang="en-US" sz="1200" dirty="0"/>
          </a:p>
        </p:txBody>
      </p:sp>
      <p:sp>
        <p:nvSpPr>
          <p:cNvPr id="24" name="Mengen-Prüfer Test"/>
          <p:cNvSpPr/>
          <p:nvPr/>
        </p:nvSpPr>
        <p:spPr>
          <a:xfrm>
            <a:off x="8869680" y="1325880"/>
            <a:ext cx="274320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Mengen-Prüfer Test circle"/>
          <p:cNvSpPr/>
          <p:nvPr/>
        </p:nvSpPr>
        <p:spPr>
          <a:xfrm>
            <a:off x="90525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Mengen-Prüfer Test icon" descr="Mengen-Prüfer T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15773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6012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 Test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9052560" y="20116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TF04: 10 Einheiten bei WS → fehlerhaft, rot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Erste Version meldete die Frequenz unnötig als Hinweis; jetzt nur noch bei belegter Abweichung</a:t>
            </a:r>
            <a:endParaRPr lang="en-US" sz="1200" dirty="0"/>
          </a:p>
        </p:txBody>
      </p:sp>
      <p:sp>
        <p:nvSpPr>
          <p:cNvPr id="29" name="Mengen-Prüfer Grenzen"/>
          <p:cNvSpPr/>
          <p:nvPr/>
        </p:nvSpPr>
        <p:spPr>
          <a:xfrm>
            <a:off x="886968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Mengen-Prüfer Grenzen circle"/>
          <p:cNvSpPr/>
          <p:nvPr/>
        </p:nvSpPr>
        <p:spPr>
          <a:xfrm>
            <a:off x="9052560" y="4251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Mengen-Prüfer Grenzen icon" descr="Mengen-Prüfer Grenz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436626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601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2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052560" y="4754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Bekommt die Verordnungsfall-Fakten: Einheiten im Fall gegen die orientierende Menge (18) → Hinweis (gelb)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Deckt die Folgeverordnungen 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Fristen-Prüfer: Ist die Verordnung noch gültig?</a:t>
            </a:r>
            <a:endParaRPr lang="en-US" sz="3000" dirty="0"/>
          </a:p>
        </p:txBody>
      </p:sp>
      <p:sp>
        <p:nvSpPr>
          <p:cNvPr id="3" name="Folie gehört Derk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Derk</a:t>
            </a:r>
            <a:endParaRPr lang="en-US" sz="1400" dirty="0"/>
          </a:p>
        </p:txBody>
      </p:sp>
      <p:sp>
        <p:nvSpPr>
          <p:cNvPr id="6" name="Fristen-Prüfer Aufbau"/>
          <p:cNvSpPr/>
          <p:nvPr/>
        </p:nvSpPr>
        <p:spPr>
          <a:xfrm>
            <a:off x="548640" y="1325880"/>
            <a:ext cx="3383280" cy="47548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Fristen-Prüfer circle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Fristen-Prüfer icon" descr="Fristen-Prüf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65735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Fristen-Prüfer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Mandat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Behandlungsbeginn und Unterbrechung. 2 Befunde.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017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Wissensquelle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291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Nur die Heilmittel-Richtlinie (Filter: Quelle = HeilM-RL)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74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Fakten aus dem Code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023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Tage bis Beginn, Fristgrenze (28 / 14), beginn_fristgerecht, Tage Unterbrechung, unterbrechung_zulaessig, bereits_begonnen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754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Wichtig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5029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Rechnet selbst keine Tage aus</a:t>
            </a:r>
            <a:endParaRPr lang="en-US" sz="1200" dirty="0"/>
          </a:p>
        </p:txBody>
      </p:sp>
      <p:sp>
        <p:nvSpPr>
          <p:cNvPr id="18" name="Fristen-Prüfer Prüfpunkte"/>
          <p:cNvSpPr/>
          <p:nvPr/>
        </p:nvSpPr>
        <p:spPr>
          <a:xfrm>
            <a:off x="4160520" y="1325880"/>
            <a:ext cx="4480560" cy="475488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8912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Prüfpunkte und Bewertung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Behandlungsbeginn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389120" y="2286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bis 28 Tage nach Ausstellung (14 bei dringlichem Bedarf) = ok · später = fehlerhaft, Verordnung ungültig · Behandlung läuft schon = ok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Unterbrechung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38912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bis 14 Tage oder mit Grund = ok · länger ohne Grund = fehlerhaft · keine Unterbrechung = ok</a:t>
            </a:r>
            <a:endParaRPr lang="en-US" sz="1200" dirty="0"/>
          </a:p>
        </p:txBody>
      </p:sp>
      <p:sp>
        <p:nvSpPr>
          <p:cNvPr id="24" name="Fristen-Prüfer Test"/>
          <p:cNvSpPr/>
          <p:nvPr/>
        </p:nvSpPr>
        <p:spPr>
          <a:xfrm>
            <a:off x="8869680" y="1325880"/>
            <a:ext cx="274320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risten-Prüfer Test circle"/>
          <p:cNvSpPr/>
          <p:nvPr/>
        </p:nvSpPr>
        <p:spPr>
          <a:xfrm>
            <a:off x="90525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risten-Prüfer Test icon" descr="Fristen-Prüfer T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15773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6012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 Test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9052560" y="201168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TF02: Beginn nach 41 Tagen → rot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TF06: 22 Tage Pause ohne Grund → rot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TF07: dringlich, 18 Tage → rot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TF10: dringlich, 7 Tage → grün ✓</a:t>
            </a:r>
            <a:endParaRPr lang="en-US" sz="1200" dirty="0"/>
          </a:p>
        </p:txBody>
      </p:sp>
      <p:sp>
        <p:nvSpPr>
          <p:cNvPr id="29" name="Fristen-Prüfer Grenzen"/>
          <p:cNvSpPr/>
          <p:nvPr/>
        </p:nvSpPr>
        <p:spPr>
          <a:xfrm>
            <a:off x="8869680" y="4114800"/>
            <a:ext cx="274320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Fristen-Prüfer Grenzen circle"/>
          <p:cNvSpPr/>
          <p:nvPr/>
        </p:nvSpPr>
        <p:spPr>
          <a:xfrm>
            <a:off x="9052560" y="4251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Fristen-Prüfer Grenzen icon" descr="Fristen-Prüfer Grenz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436626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601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Grenzen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052560" y="4754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Rechnet nur mit den erfassten Daten: ein falsch erfasstes Datum ergibt eine falsche Frist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Erfolgsmessung: ≥ 98 % auf 50 neuen Fällen</a:t>
            </a:r>
            <a:endParaRPr lang="en-US" sz="3000" dirty="0"/>
          </a:p>
        </p:txBody>
      </p:sp>
      <p:sp>
        <p:nvSpPr>
          <p:cNvPr id="3" name="Folie gehört Derk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Derk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ENTWURF</a:t>
            </a:r>
            <a:endParaRPr lang="en-US" sz="1000" dirty="0"/>
          </a:p>
        </p:txBody>
      </p:sp>
      <p:sp>
        <p:nvSpPr>
          <p:cNvPr id="7" name="Ziele"/>
          <p:cNvSpPr/>
          <p:nvPr/>
        </p:nvSpPr>
        <p:spPr>
          <a:xfrm>
            <a:off x="54864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Ziele circle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Ziele icon" descr="Zie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98 %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richtige Ampel, höchstens 1 Fehler bei 50 Fällen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Harte Bedingungen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8404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0 übersehene rote Verordnungen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≤ 1 kritischer Fehlalarm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Verordnungsfall-Summe 100 % exakt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≤ 30 s und ≤ 5 Cent je Prüfung</a:t>
            </a:r>
            <a:endParaRPr lang="en-US" sz="1300" dirty="0"/>
          </a:p>
        </p:txBody>
      </p:sp>
      <p:sp>
        <p:nvSpPr>
          <p:cNvPr id="14" name="Testset"/>
          <p:cNvSpPr/>
          <p:nvPr/>
        </p:nvSpPr>
        <p:spPr>
          <a:xfrm>
            <a:off x="443484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stset circle"/>
          <p:cNvSpPr/>
          <p:nvPr/>
        </p:nvSpPr>
        <p:spPr>
          <a:xfrm>
            <a:off x="46634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Testset icon" descr="Tests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459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9240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Testset (Sprint 3)</a:t>
            </a:r>
            <a:endParaRPr lang="en-US" sz="1800" dirty="0"/>
          </a:p>
        </p:txBody>
      </p:sp>
      <p:sp>
        <p:nvSpPr>
          <p:cNvPr id="18" name="Testset grün"/>
          <p:cNvSpPr/>
          <p:nvPr/>
        </p:nvSpPr>
        <p:spPr>
          <a:xfrm>
            <a:off x="4709160" y="2331720"/>
            <a:ext cx="329184" cy="329184"/>
          </a:xfrm>
          <a:prstGeom prst="ellipse">
            <a:avLst/>
          </a:prstGeom>
          <a:solidFill>
            <a:srgbClr val="8AB17D"/>
          </a:solidFill>
          <a:ln w="12700">
            <a:solidFill>
              <a:srgbClr val="8AB17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21208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grün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0" y="2240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≥ 12</a:t>
            </a:r>
            <a:endParaRPr lang="en-US" sz="1800" dirty="0"/>
          </a:p>
        </p:txBody>
      </p:sp>
      <p:sp>
        <p:nvSpPr>
          <p:cNvPr id="21" name="Testset gelb"/>
          <p:cNvSpPr/>
          <p:nvPr/>
        </p:nvSpPr>
        <p:spPr>
          <a:xfrm>
            <a:off x="4709160" y="2953512"/>
            <a:ext cx="329184" cy="3291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12080" y="2862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gelb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0" y="28620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≥ 8</a:t>
            </a:r>
            <a:endParaRPr lang="en-US" sz="1800" dirty="0"/>
          </a:p>
        </p:txBody>
      </p:sp>
      <p:sp>
        <p:nvSpPr>
          <p:cNvPr id="24" name="Testset rot"/>
          <p:cNvSpPr/>
          <p:nvPr/>
        </p:nvSpPr>
        <p:spPr>
          <a:xfrm>
            <a:off x="4709160" y="3575304"/>
            <a:ext cx="329184" cy="32918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0" y="34838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858000" y="34838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≥ 25</a:t>
            </a:r>
            <a:endParaRPr lang="en-US" sz="1800" dirty="0"/>
          </a:p>
        </p:txBody>
      </p:sp>
      <p:sp>
        <p:nvSpPr>
          <p:cNvPr id="27" name="Testset Grenzfall"/>
          <p:cNvSpPr/>
          <p:nvPr/>
        </p:nvSpPr>
        <p:spPr>
          <a:xfrm>
            <a:off x="4709160" y="4197096"/>
            <a:ext cx="329184" cy="329184"/>
          </a:xfrm>
          <a:prstGeom prst="ellipse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212080" y="410565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Grenzfall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6858000" y="41056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≥ 5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663440" y="48463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Je Fall 3 Läufe = 150 Prüfungen · Soll-Ampel und Fundstelle vorher festgelegt · Schwerpunkt Folgeverordnungen</a:t>
            </a:r>
            <a:endParaRPr lang="en-US" sz="1200" dirty="0"/>
          </a:p>
        </p:txBody>
      </p:sp>
      <p:sp>
        <p:nvSpPr>
          <p:cNvPr id="31" name="Bisher"/>
          <p:cNvSpPr/>
          <p:nvPr/>
        </p:nvSpPr>
        <p:spPr>
          <a:xfrm>
            <a:off x="8321040" y="132588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5496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Bisher (v4, 10 Fälle)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8549640" y="19202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10/10 Ampeln korrekt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 kritische Fehlalarme (Start: 12)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zählt nicht als formale Evaluation</a:t>
            </a:r>
            <a:endParaRPr lang="en-US" sz="1300" dirty="0"/>
          </a:p>
        </p:txBody>
      </p:sp>
      <p:sp>
        <p:nvSpPr>
          <p:cNvPr id="34" name="Ergebnis Platzhalter"/>
          <p:cNvSpPr/>
          <p:nvPr/>
        </p:nvSpPr>
        <p:spPr>
          <a:xfrm>
            <a:off x="8321040" y="3794760"/>
            <a:ext cx="329184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9050">
            <a:solidFill>
              <a:srgbClr val="E76F51"/>
            </a:solidFill>
            <a:prstDash val="dash"/>
          </a:ln>
        </p:spPr>
      </p:sp>
      <p:sp>
        <p:nvSpPr>
          <p:cNvPr id="35" name="Text 30"/>
          <p:cNvSpPr txBox="1"/>
          <p:nvPr/>
        </p:nvSpPr>
        <p:spPr>
          <a:xfrm>
            <a:off x="854964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Ergebnis Sprint 3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8549640" y="43891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Trefferquote, Fehlalarme, Stabilität, Laufzeit und Kosten werden nach dem Testlauf (26.–30.10.) eingetragen.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Einsatzplanung: vom Parallelbetrieb zum Regelbetrieb</a:t>
            </a:r>
            <a:endParaRPr lang="en-US" sz="3000" dirty="0"/>
          </a:p>
        </p:txBody>
      </p:sp>
      <p:sp>
        <p:nvSpPr>
          <p:cNvPr id="3" name="Folie gehört Derk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Derk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ENTWURF</a:t>
            </a:r>
            <a:endParaRPr lang="en-US" sz="1000" dirty="0"/>
          </a:p>
        </p:txBody>
      </p:sp>
      <p:sp>
        <p:nvSpPr>
          <p:cNvPr id="7" name="Phase 0 · Vorbereitung"/>
          <p:cNvSpPr/>
          <p:nvPr/>
        </p:nvSpPr>
        <p:spPr>
          <a:xfrm>
            <a:off x="548640" y="13258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 · Vorbereitung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 Wochen</a:t>
            </a:r>
            <a:endParaRPr lang="en-US" sz="1200" dirty="0"/>
          </a:p>
        </p:txBody>
      </p:sp>
      <p:sp>
        <p:nvSpPr>
          <p:cNvPr id="10" name="Phase Inhalt 1"/>
          <p:cNvSpPr/>
          <p:nvPr/>
        </p:nvSpPr>
        <p:spPr>
          <a:xfrm>
            <a:off x="548640" y="21488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3317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Chat mit Anmeldung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Auftragsverarbeitung geklärt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Einweisung Inhaberin und Rezeption</a:t>
            </a:r>
            <a:endParaRPr lang="en-US" sz="1300" dirty="0"/>
          </a:p>
        </p:txBody>
      </p:sp>
      <p:sp>
        <p:nvSpPr>
          <p:cNvPr id="12" name="Phase Go 1"/>
          <p:cNvSpPr/>
          <p:nvPr/>
        </p:nvSpPr>
        <p:spPr>
          <a:xfrm>
            <a:off x="548640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Go Rahmen 1"/>
          <p:cNvSpPr/>
          <p:nvPr/>
        </p:nvSpPr>
        <p:spPr>
          <a:xfrm>
            <a:off x="548640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736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Weiter, wenn: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0109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Datenschutz freigegeben</a:t>
            </a:r>
            <a:endParaRPr lang="en-US" sz="1300" dirty="0"/>
          </a:p>
        </p:txBody>
      </p:sp>
      <p:sp>
        <p:nvSpPr>
          <p:cNvPr id="16" name="Phase 1 · Parallelbetrieb"/>
          <p:cNvSpPr/>
          <p:nvPr/>
        </p:nvSpPr>
        <p:spPr>
          <a:xfrm>
            <a:off x="3364992" y="13258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47872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· Parallelbetrieb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547872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6 Wochen</a:t>
            </a:r>
            <a:endParaRPr lang="en-US" sz="1200" dirty="0"/>
          </a:p>
        </p:txBody>
      </p:sp>
      <p:sp>
        <p:nvSpPr>
          <p:cNvPr id="19" name="Phase Inhalt 2"/>
          <p:cNvSpPr/>
          <p:nvPr/>
        </p:nvSpPr>
        <p:spPr>
          <a:xfrm>
            <a:off x="3364992" y="21488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47872" y="23317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Rezeption prüft wie bisher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System läuft mit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Abweichungen werden protokolliert</a:t>
            </a:r>
            <a:endParaRPr lang="en-US" sz="1300" dirty="0"/>
          </a:p>
        </p:txBody>
      </p:sp>
      <p:sp>
        <p:nvSpPr>
          <p:cNvPr id="21" name="Phase Go 2"/>
          <p:cNvSpPr/>
          <p:nvPr/>
        </p:nvSpPr>
        <p:spPr>
          <a:xfrm>
            <a:off x="3364992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Go Rahmen 2"/>
          <p:cNvSpPr/>
          <p:nvPr/>
        </p:nvSpPr>
        <p:spPr>
          <a:xfrm>
            <a:off x="3364992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47872" y="4736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Weiter, wenn: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547872" y="50109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≥ 98 % Übereinstimmung, 0 übersehene rote</a:t>
            </a:r>
            <a:endParaRPr lang="en-US" sz="1300" dirty="0"/>
          </a:p>
        </p:txBody>
      </p:sp>
      <p:sp>
        <p:nvSpPr>
          <p:cNvPr id="25" name="Phase 2 · Unterstützt"/>
          <p:cNvSpPr/>
          <p:nvPr/>
        </p:nvSpPr>
        <p:spPr>
          <a:xfrm>
            <a:off x="6181344" y="13258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64224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· Unterstützt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364224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bis Ende Q2</a:t>
            </a:r>
            <a:endParaRPr lang="en-US" sz="1200" dirty="0"/>
          </a:p>
        </p:txBody>
      </p:sp>
      <p:sp>
        <p:nvSpPr>
          <p:cNvPr id="28" name="Phase Inhalt 3"/>
          <p:cNvSpPr/>
          <p:nvPr/>
        </p:nvSpPr>
        <p:spPr>
          <a:xfrm>
            <a:off x="6181344" y="21488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64224" y="23317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System prüft zuerst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Mensch bestätigt die Ampel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Schlussprüfung bleibt</a:t>
            </a:r>
            <a:endParaRPr lang="en-US" sz="1300" dirty="0"/>
          </a:p>
        </p:txBody>
      </p:sp>
      <p:sp>
        <p:nvSpPr>
          <p:cNvPr id="30" name="Phase Go 3"/>
          <p:cNvSpPr/>
          <p:nvPr/>
        </p:nvSpPr>
        <p:spPr>
          <a:xfrm>
            <a:off x="6181344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Go Rahmen 3"/>
          <p:cNvSpPr/>
          <p:nvPr/>
        </p:nvSpPr>
        <p:spPr>
          <a:xfrm>
            <a:off x="6181344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64224" y="4736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Weiter, wenn: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364224" y="50109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Prüfzeit −50 %</a:t>
            </a:r>
            <a:endParaRPr lang="en-US" sz="1300" dirty="0"/>
          </a:p>
        </p:txBody>
      </p:sp>
      <p:sp>
        <p:nvSpPr>
          <p:cNvPr id="34" name="Phase 3 · Regelbetrieb"/>
          <p:cNvSpPr/>
          <p:nvPr/>
        </p:nvSpPr>
        <p:spPr>
          <a:xfrm>
            <a:off x="8997696" y="13258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80576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· Regelbetrieb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9180576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ab Q3</a:t>
            </a:r>
            <a:endParaRPr lang="en-US" sz="1200" dirty="0"/>
          </a:p>
        </p:txBody>
      </p:sp>
      <p:sp>
        <p:nvSpPr>
          <p:cNvPr id="37" name="Phase Inhalt 4"/>
          <p:cNvSpPr/>
          <p:nvPr/>
        </p:nvSpPr>
        <p:spPr>
          <a:xfrm>
            <a:off x="8997696" y="21488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80576" y="23317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Doppelverordnungs-Prüfung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Foto-Upload der Verordnung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Monatlicher Qualitätsbericht</a:t>
            </a:r>
            <a:endParaRPr lang="en-US" sz="1300" dirty="0"/>
          </a:p>
        </p:txBody>
      </p:sp>
      <p:sp>
        <p:nvSpPr>
          <p:cNvPr id="39" name="Phase Go 4"/>
          <p:cNvSpPr/>
          <p:nvPr/>
        </p:nvSpPr>
        <p:spPr>
          <a:xfrm>
            <a:off x="8997696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Go Rahmen 4"/>
          <p:cNvSpPr/>
          <p:nvPr/>
        </p:nvSpPr>
        <p:spPr>
          <a:xfrm>
            <a:off x="8997696" y="4663440"/>
            <a:ext cx="26060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180576" y="4736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Weiter, wenn: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9180576" y="50109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Prüfzeit −75 %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58338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Verantwortlich in der Praxis: Inhaberin · Parallelbetrieb von der Praxis zugesagt (Field Study) · Phasen entsprechen dem Einsparziel 50 % / 75 %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Risiken und nächste Schritte</a:t>
            </a:r>
            <a:endParaRPr lang="en-US" sz="3000" dirty="0"/>
          </a:p>
        </p:txBody>
      </p:sp>
      <p:sp>
        <p:nvSpPr>
          <p:cNvPr id="3" name="Folie gehört Derk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Derk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ENTWURF</a:t>
            </a:r>
            <a:endParaRPr lang="en-US" sz="1000" dirty="0"/>
          </a:p>
        </p:txBody>
      </p:sp>
      <p:sp>
        <p:nvSpPr>
          <p:cNvPr id="7" name="Risiken"/>
          <p:cNvSpPr/>
          <p:nvPr/>
        </p:nvSpPr>
        <p:spPr>
          <a:xfrm>
            <a:off x="548640" y="1325880"/>
            <a:ext cx="694944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Risiko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Gegenmaßnahme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Modell irrt, klingt aber plausibel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Regeln im Code, Fundstelle Pflicht, Mensch entscheidet</a:t>
            </a:r>
            <a:endParaRPr lang="en-US" sz="1300" dirty="0"/>
          </a:p>
        </p:txBody>
      </p:sp>
      <p:sp>
        <p:nvSpPr>
          <p:cNvPr id="12" name="Trenner 1"/>
          <p:cNvSpPr/>
          <p:nvPr/>
        </p:nvSpPr>
        <p:spPr>
          <a:xfrm>
            <a:off x="777240" y="2514600"/>
            <a:ext cx="6492240" cy="0"/>
          </a:xfrm>
          <a:prstGeom prst="line">
            <a:avLst/>
          </a:prstGeom>
          <a:noFill/>
          <a:ln w="9525">
            <a:solidFill>
              <a:srgbClr val="D5E1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5603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Historie unvollständig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2560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Einmaliger Import laufender Fälle; Fallprüfung nur als Hinweis</a:t>
            </a:r>
            <a:endParaRPr lang="en-US" sz="1300" dirty="0"/>
          </a:p>
        </p:txBody>
      </p:sp>
      <p:sp>
        <p:nvSpPr>
          <p:cNvPr id="15" name="Trenner 2"/>
          <p:cNvSpPr/>
          <p:nvPr/>
        </p:nvSpPr>
        <p:spPr>
          <a:xfrm>
            <a:off x="777240" y="3200400"/>
            <a:ext cx="6492240" cy="0"/>
          </a:xfrm>
          <a:prstGeom prst="line">
            <a:avLst/>
          </a:prstGeom>
          <a:noFill/>
          <a:ln w="9525">
            <a:solidFill>
              <a:srgbClr val="D5E1D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2461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Regelwerk ändert sich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3246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Wissensbasis neu laden (KBV-Liste jährlich), Stand anzeigen</a:t>
            </a:r>
            <a:endParaRPr lang="en-US" sz="1300" dirty="0"/>
          </a:p>
        </p:txBody>
      </p:sp>
      <p:sp>
        <p:nvSpPr>
          <p:cNvPr id="18" name="Trenner 3"/>
          <p:cNvSpPr/>
          <p:nvPr/>
        </p:nvSpPr>
        <p:spPr>
          <a:xfrm>
            <a:off x="777240" y="3886200"/>
            <a:ext cx="6492240" cy="0"/>
          </a:xfrm>
          <a:prstGeom prst="line">
            <a:avLst/>
          </a:prstGeom>
          <a:noFill/>
          <a:ln w="9525">
            <a:solidFill>
              <a:srgbClr val="D5E1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9319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Gesundheitsdaten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61188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Pseudonym, Auftragsverarbeitung, EU-Hosting, Löschkonzept</a:t>
            </a:r>
            <a:endParaRPr lang="en-US" sz="1300" dirty="0"/>
          </a:p>
        </p:txBody>
      </p:sp>
      <p:sp>
        <p:nvSpPr>
          <p:cNvPr id="21" name="Trenner 4"/>
          <p:cNvSpPr/>
          <p:nvPr/>
        </p:nvSpPr>
        <p:spPr>
          <a:xfrm>
            <a:off x="777240" y="4572000"/>
            <a:ext cx="6492240" cy="0"/>
          </a:xfrm>
          <a:prstGeom prst="line">
            <a:avLst/>
          </a:prstGeom>
          <a:noFill/>
          <a:ln w="9525">
            <a:solidFill>
              <a:srgbClr val="D5E1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6177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Akzeptanz an der Rezeption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611880" y="4617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Parallelbetrieb, Einweisung, wenige Fehlalarme</a:t>
            </a:r>
            <a:endParaRPr lang="en-US" sz="1300" dirty="0"/>
          </a:p>
        </p:txBody>
      </p:sp>
      <p:sp>
        <p:nvSpPr>
          <p:cNvPr id="24" name="Trenner 5"/>
          <p:cNvSpPr/>
          <p:nvPr/>
        </p:nvSpPr>
        <p:spPr>
          <a:xfrm>
            <a:off x="777240" y="5257800"/>
            <a:ext cx="6492240" cy="0"/>
          </a:xfrm>
          <a:prstGeom prst="line">
            <a:avLst/>
          </a:prstGeom>
          <a:noFill/>
          <a:ln w="9525">
            <a:solidFill>
              <a:srgbClr val="D5E1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303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Team nur noch zu dritt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611880" y="5303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Klare Streichliste: Foto-Upload zuerst</a:t>
            </a:r>
            <a:endParaRPr lang="en-US" sz="1300" dirty="0"/>
          </a:p>
        </p:txBody>
      </p:sp>
      <p:sp>
        <p:nvSpPr>
          <p:cNvPr id="27" name="Nächste Schritte"/>
          <p:cNvSpPr/>
          <p:nvPr/>
        </p:nvSpPr>
        <p:spPr>
          <a:xfrm>
            <a:off x="7726680" y="1325880"/>
            <a:ext cx="3886200" cy="4754880"/>
          </a:xfrm>
          <a:prstGeom prst="roundRect">
            <a:avLst>
              <a:gd name="adj" fmla="val 1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Nächste Schritte circle"/>
          <p:cNvSpPr/>
          <p:nvPr/>
        </p:nvSpPr>
        <p:spPr>
          <a:xfrm>
            <a:off x="795528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Nächste Schritte icon" descr="Nächste Schri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4592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641080" y="1572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795528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bis 23.10.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914400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Workflow v5 mit Verordnungsfall-Prüfung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7955280" y="3017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26.–30.10.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914400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Evaluation mit 50 Fällen, Governance, Deck vollständig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795528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02.11.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914400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Generalprobe 3 × 15 min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7955280" y="4480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03.11.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9144000" y="4480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MSIT-Prüfung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7955280" y="5212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05.11.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9144000" y="5212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IHK-Prüfung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Fazit: Fehler vor der Behandlung finden</a:t>
            </a:r>
            <a:endParaRPr lang="en-US" sz="3000" dirty="0"/>
          </a:p>
        </p:txBody>
      </p:sp>
      <p:sp>
        <p:nvSpPr>
          <p:cNvPr id="3" name="Folie gehört Thomas"/>
          <p:cNvSpPr/>
          <p:nvPr/>
        </p:nvSpPr>
        <p:spPr>
          <a:xfrm>
            <a:off x="10241280" y="475488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Owner Icon" descr="Präsentiert v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52760" y="475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Thomas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ENTWURF</a:t>
            </a:r>
            <a:endParaRPr lang="en-US" sz="1000" dirty="0"/>
          </a:p>
        </p:txBody>
      </p:sp>
      <p:sp>
        <p:nvSpPr>
          <p:cNvPr id="7" name="Fazit 1"/>
          <p:cNvSpPr/>
          <p:nvPr/>
        </p:nvSpPr>
        <p:spPr>
          <a:xfrm>
            <a:off x="548640" y="1325880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508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98 %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Zielquote des Systems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gegen höchstens ca. 85 % bei menschlicher Doppelkontrolle</a:t>
            </a:r>
            <a:endParaRPr lang="en-US" sz="1400" dirty="0"/>
          </a:p>
        </p:txBody>
      </p:sp>
      <p:sp>
        <p:nvSpPr>
          <p:cNvPr id="11" name="Fazit 2"/>
          <p:cNvSpPr/>
          <p:nvPr/>
        </p:nvSpPr>
        <p:spPr>
          <a:xfrm>
            <a:off x="4325112" y="1325880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99432" y="1508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→ 1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4599432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Minijob an Kapazität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99432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≈ 4.300 € belegt, bis ≈ 9.500 € pro Jahr als Ziel</a:t>
            </a:r>
            <a:endParaRPr lang="en-US" sz="1400" dirty="0"/>
          </a:p>
        </p:txBody>
      </p:sp>
      <p:sp>
        <p:nvSpPr>
          <p:cNvPr id="15" name="Fazit 3"/>
          <p:cNvSpPr/>
          <p:nvPr/>
        </p:nvSpPr>
        <p:spPr>
          <a:xfrm>
            <a:off x="8101584" y="1325880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75904" y="1508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vorher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8375904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statt nachher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75904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Fehler fallen vor der Behandlung auf, nicht erst bei der Abrechnung</a:t>
            </a:r>
            <a:endParaRPr lang="en-US" sz="1400" dirty="0"/>
          </a:p>
        </p:txBody>
      </p:sp>
      <p:sp>
        <p:nvSpPr>
          <p:cNvPr id="19" name="Empfehlung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Empfehlung circle"/>
          <p:cNvSpPr/>
          <p:nvPr/>
        </p:nvSpPr>
        <p:spPr>
          <a:xfrm>
            <a:off x="822960" y="47091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Empfehlung icon" descr="Empfehlu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4880610"/>
            <a:ext cx="342900" cy="3429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737360" y="4617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Unsere Empfehlung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1737360" y="5029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Pilot im Parallelbetrieb starten: sechs Wochen mitlaufen lassen, messen, dann entscheiden. Die Rezeption behält die Entscheidung, gewinnt aber Zeit für die Patienten.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IHK">
  <a:themeElements>
    <a:clrScheme name="Capstone IHK">
      <a:dk1>
        <a:srgbClr val="1B2B30"/>
      </a:dk1>
      <a:lt1>
        <a:srgbClr val="FFFFFF"/>
      </a:lt1>
      <a:dk2>
        <a:srgbClr val="12343B"/>
      </a:dk2>
      <a:lt2>
        <a:srgbClr val="EEF4F3"/>
      </a:lt2>
      <a:accent1>
        <a:srgbClr val="2A9D8F"/>
      </a:accent1>
      <a:accent2>
        <a:srgbClr val="E9C46A"/>
      </a:accent2>
      <a:accent3>
        <a:srgbClr val="E76F51"/>
      </a:accent3>
      <a:accent4>
        <a:srgbClr val="8AB17D"/>
      </a:accent4>
      <a:accent5>
        <a:srgbClr val="5C6B73"/>
      </a:accent5>
      <a:accent6>
        <a:srgbClr val="264653"/>
      </a:accent6>
      <a:hlink>
        <a:srgbClr val="2A9D8F"/>
      </a:hlink>
      <a:folHlink>
        <a:srgbClr val="264653"/>
      </a:folHlink>
    </a:clrScheme>
    <a:fontScheme name="Capstone IH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Verordnungs-Check – IHK-Präsentation, Arbeitsstand</dc:title>
  <dc:subject>PptxGenJS Presentation</dc:subject>
  <dc:creator>Team Thomas, Valentin, Derk</dc:creator>
  <cp:lastModifiedBy>Team Thomas, Valentin, Derk</cp:lastModifiedBy>
  <cp:revision>1</cp:revision>
  <dcterms:created xsi:type="dcterms:W3CDTF">2026-10-19T15:30:26Z</dcterms:created>
  <dcterms:modified xsi:type="dcterms:W3CDTF">2026-10-19T15:30:26Z</dcterms:modified>
</cp:coreProperties>
</file>