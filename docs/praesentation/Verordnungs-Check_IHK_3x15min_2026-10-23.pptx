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omas: Ist/Soll und Business Case" id="{f30849dd-a60b-66bd-0a71-bd762ec44f12}">
          <p14:sldIdLst>
            <p14:sldId id="256"/>
            <p14:sldId id="257"/>
            <p14:sldId id="258"/>
            <p14:sldId id="259"/>
            <p14:sldId id="260"/>
            <p14:sldId id="261"/>
            <p14:sldId id="262"/>
            <p14:sldId id="263"/>
          </p14:sldIdLst>
        </p14:section>
        <p14:section name="Valentin: Tools, Architektur, Governance" id="{66aac475-47ba-716a-6e8d-1b557e92ec73}">
          <p14:sldIdLst>
            <p14:sldId id="264"/>
            <p14:sldId id="265"/>
            <p14:sldId id="266"/>
            <p14:sldId id="267"/>
            <p14:sldId id="268"/>
            <p14:sldId id="269"/>
            <p14:sldId id="270"/>
            <p14:sldId id="271"/>
            <p14:sldId id="272"/>
            <p14:sldId id="273"/>
            <p14:sldId id="274"/>
          </p14:sldIdLst>
        </p14:section>
        <p14:section name="Derk: Prüfer, Messung, Einsatz" id="{84b0dbb0-2f06-2755-b2e2-91d8ec01e411}">
          <p14:sldIdLst>
            <p14:sldId id="275"/>
            <p14:sldId id="276"/>
            <p14:sldId id="277"/>
            <p14:sldId id="278"/>
            <p14:sldId id="279"/>
            <p14:sldId id="280"/>
            <p14:sldId id="281"/>
            <p14:sldId id="282"/>
          </p14:sldIdLst>
        </p14:section>
        <p14:section name="Thomas: Schluss" id="{af014d88-f06a-9fcb-4ed2-93b5ea18d7cd}">
          <p14:sldIdLst>
            <p14:sldId id="283"/>
            <p14:sldId id="284"/>
          </p14:sldIdLst>
        </p14:section>
        <p14:section name="Anhang" id="{c354d3dd-26c4-6504-7f33-dc42369aea50}">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43B"/>
                </a:solidFill>
                <a:latin typeface="+mn-lt"/>
              </a:defRPr>
            </a:pPr>
            <a:r>
              <a:rPr sz="1400" b="0" i="0" u="none" strike="noStrike">
                <a:solidFill>
                  <a:srgbClr val="12343B"/>
                </a:solidFill>
                <a:latin typeface="+mn-lt"/>
              </a:rPr>
              <a:t>Eingesparte Arbeitgeberkosten je Quartal in €</a:t>
            </a:r>
          </a:p>
        </c:rich>
      </c:tx>
      <c:layout/>
      <c:overlay val="0"/>
    </c:title>
    <c:autoTitleDeleted val="0"/>
    <c:plotArea>
      <c:layout/>
      <c:barChart>
        <c:barDir val="col"/>
        <c:grouping val="stacked"/>
        <c:varyColors val="0"/>
        <c:ser>
          <c:idx val="0"/>
          <c:order val="0"/>
          <c:tx>
            <c:strRef>
              <c:f>Sheet1!$B$1</c:f>
              <c:strCache>
                <c:ptCount val="1"/>
                <c:pt idx="0">
                  <c:v>Jahr 1 (Anlauf)</c:v>
                </c:pt>
              </c:strCache>
            </c:strRef>
          </c:tx>
          <c:spPr>
            <a:solidFill>
              <a:srgbClr val="2A9D8F"/>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Sheet1!$B$2:$B$9</c:f>
              <c:numCache>
                <c:formatCode>General</c:formatCode>
                <c:ptCount val="8"/>
                <c:pt idx="0">
                  <c:v>361</c:v>
                </c:pt>
                <c:pt idx="1">
                  <c:v>722</c:v>
                </c:pt>
                <c:pt idx="2">
                  <c:v>903</c:v>
                </c:pt>
                <c:pt idx="3">
                  <c:v>1084</c:v>
                </c:pt>
                <c:pt idx="4">
                  <c:v>0</c:v>
                </c:pt>
                <c:pt idx="5">
                  <c:v>0</c:v>
                </c:pt>
                <c:pt idx="6">
                  <c:v>0</c:v>
                </c:pt>
                <c:pt idx="7">
                  <c:v>0</c:v>
                </c:pt>
              </c:numCache>
            </c:numRef>
          </c:val>
        </c:ser>
        <c:ser>
          <c:idx val="1"/>
          <c:order val="1"/>
          <c:tx>
            <c:strRef>
              <c:f>Sheet1!$C$1</c:f>
              <c:strCache>
                <c:ptCount val="1"/>
                <c:pt idx="0">
                  <c:v>ab Jahr 2</c:v>
                </c:pt>
              </c:strCache>
            </c:strRef>
          </c:tx>
          <c:spPr>
            <a:solidFill>
              <a:srgbClr val="12343B"/>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Sheet1!$C$2:$C$9</c:f>
              <c:numCache>
                <c:formatCode>General</c:formatCode>
                <c:ptCount val="8"/>
                <c:pt idx="0">
                  <c:v>0</c:v>
                </c:pt>
                <c:pt idx="1">
                  <c:v>0</c:v>
                </c:pt>
                <c:pt idx="2">
                  <c:v>0</c:v>
                </c:pt>
                <c:pt idx="3">
                  <c:v>0</c:v>
                </c:pt>
                <c:pt idx="4">
                  <c:v>1084</c:v>
                </c:pt>
                <c:pt idx="5">
                  <c:v>1084</c:v>
                </c:pt>
                <c:pt idx="6">
                  <c:v>1084</c:v>
                </c:pt>
                <c:pt idx="7">
                  <c:v>1084</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6E4"/>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C6B7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30 Sekunden.
Begrüßung, Team vorstellen. Thema in einem Satz: Wir prüfen ärztliche Heilmittelverordnungen mit KI, bevor die Behandlung beginnt, damit die Rezeption weniger Zeit mit Verwaltung verbringt.
Hinweis: Die Praxis ist anonymisiert, alle Testdaten sind synthetisch.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Wer präsentiert was. Die Reihenfolge folgt den IHK-Kriterien: Ist/Soll und Einsatzfelder, dann Tool-Vergleich und Tool-Auswahl, dann Einsatzplanung und Erfolgsmessung, am Ende Reflexion.
Roter Faden: weniger Verwaltung, mehr Zeit für Patienten.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Rahmenbedingungen).
Rahmenbedingungen nach IHK-Leitfaden: Branche, Größe, Standorte, Relevanz von KI.
Wichtig für das Verständnis: Die Rezeption prüft jede Verordnung, bevor behandelt wird, denn fehlerhafte Verordnungen kosten Geld. Die Regeln dafür sind öffentlich – das ist später unser Vorteil für die Wissensbasis.
Bisher keine KI im Prozess.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2 min (IHK: Ist/Soll, 10 Punkte).
Ablauf heute: Die Rezeption prüft bei der Annahme (im Schnitt 6 min) und noch einmal vor der Abrechnung (ca. 2 min). Bei ca. 40 neuen Kassenverordnungen pro Woche sind das ca. 5,3 Stunden pro Woche.
Kernaussage: 90 % der Fehler entstehen bei Doppel- und Folgeverordnungen. Die Praxissoftware zeigt nicht, wie viele Einheiten ein Patient beim selben Arzt schon hatte. Menschliche Doppelkontrollen sind höchstens ca. 85 % wirksam.
Absetzungen: nur ca. 10 Fälle bzw. ca. 500 € pro Jahr. Der Hebel ist also die Prüfzeit, nicht die Absetzung.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2 min (IHK: Einsatzfelder im Unternehmen, 10 Punkte).
Bereiche Rezeption, Therapie und Verwaltung durchgegangen und jedes Einsatzfeld nach Nutzen und Machbarkeit eingeordnet.
Terminvergabe hat hohen Nutzen, braucht aber eine Schnittstelle zur Praxissoftware. Abrechnung liegt beim Dienstleister. Therapieberichte enthalten Gesundheitsdaten im Freitext – höheres Risiko.
Begründung für den Pilot: größtes Problem, öffentliche Regeln, keine Schnittstelle, geringes Risiko, messbar.
Offen: je Einsatzfeld zwei, drei Sätze, was die KI genau tun würde.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Ziele und Erfolgsindikatoren).
Soll: Die KI prüft vor Behandlungsbeginn, zeigt eine Ampel mit Fundstelle, die Rezeption entscheidet.
Der IHK-Leitfaden verlangt konkrete Erfolgsindikatoren als späteren Kontrollmaßstab. Die vier Ziele hier greift Derk in der Erfolgsmessung wieder auf.
Wichtig: Die Schlussprüfung fällt erst weg, wenn der Parallelbetrieb bestanden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Nutzen).
Im ersten Jahr steigt die Ersparnis von 25 % auf 75 % der Prüfzeit, ab dem zweiten Jahr bleibt sie bei 75 %.
Ergebnis: ca. 3.070 € im ersten Jahr, ca. 4.300 € pro Jahr ab dem zweiten Jahr. Das sind rund 4 Stunden pro Woche, also etwa ein halber Minijob.
Wichtig: Der Hebel ist die Zeit, nicht die Absetzungen.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(IHK: Ist/Soll).
Jede Zahl hat eine Herkunft: gemessen im Interview oder als Annahme gekennzeichnet.
Drei Punkte zur Einordnung: keine Doppelzählung, vermeiden statt ersetzen, Betriebskosten werden gegengerechnet – die KI-Kosten selbst sind klein, das zeigt Valentin gleich im Tool-Vergleich.
Übergabe an Valentin: Mit welchen Werkzeugen erreichen wir 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10 Punkte).
Wir sind schrittweise vorgegangen, wie es der IHK-Leitfaden verlangt: Anforderungen, Kriterien, Vorauswahl, Praxistest, Fazit.
Jede Anforderung kommt aus Thomas' Ist/Soll und ist einem der fünf IHK-Kriterien zugeordnet. Auf den nächsten Folien vergleichen wir dort, wo wir wirklich entschieden haben: Orchestrierung, Sprachmodell, Wissensbasis, Eingabekanal.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Offen ansprechen: n8n ist im Capstone vorgegeben. Wir haben es trotzdem bewertet.
Entscheidend war: Sprachmodell, Vektorsuche, eigene Rechenlogik und Datenbank in einem Werkzeug. Copilot Studio kennen wir, aber die Rechenlogik und Supabase sind dort umständlicher.
Eine reine Regel-Engine scheidet aus, weil die Eingabe Freitext ist und die Regeln in PDFs stehen.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1,5 min (IHK: Tool-Vergleich).
Warum das kleine Modell: Die harte Logik rechnet der Code. Das Modell muss lesen, suchen und formulieren – dafür reicht mini. Größere Modelle hätten unseren wichtigsten Fehler nicht gelöst; das hat erst Code geschafft.
EU-Hosting ist für den Echtbetrieb wichtig, im Prototyp arbeiten wir nur mit synthetischen Daten.
Embeddings: Beim Zusammenführen mit meinem Formular-Stand haben wir gelernt, dass das Embedding-Modell zur geladenen Wissensbasis passen muss. Das Chat-Modell haben wir vereinheitlicht, damit die Evaluation vergleichbar bleibt – eine bewusste Entscheidung, keine technische Notwendigkeit.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Kernargument für RAG: Die Rezeption muss jeden Befund nachvollziehen können. Mit RAG nennt jeder Befund seine Fundstelle. Und wenn die KBV ihre Liste zum Jahreswechsel ändert, laden wir neu – kein Training.
Supabase, weil wir ohnehin eine Datenbank für das Protokoll brauchen; die Vektorsuche ist dort eingebaut, und die Daten liegen in Frankfurt.
Ehrliche Grenze: Tabellen aus PDFs liest das Modell nicht zuverlässig. Deshalb wollen wir die KBV-Liste als Tabelle in den Code übernehmen.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Fazit).
Beim Eingabekanal war die Überraschung: Die KI kostet nur 70 bis 142 € im Jahr. Die Gesamtkosten liegen bei 823 bis 2.054 €, weil die Eingabezeit der Rezeption dominiert.
Deshalb haben wir Valentins Formular übernommen: strukturiert, keine Extraktionsfehler, und die Patientendaten werden ersetzt, bevor das Modell sie sieht.
Fazit Tool-Vergleich: n8n, gpt-4.1-mini, Supabase mit RAG, Formular plus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Tool-Auswahl und Einsatzplanung).
Der Ablauf in fünf Schritten. Die dunklen Kästen sind Code: Fakten berechnen und Ampel bilden. Die hellen nutzen das Sprachmodell.
Der Leitsatz ist kein Dogma, sondern Ergebnis unserer Tests – das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1,5 min (IHK: Tool-Auswahl).
Das ist unsere wichtigste Architekturentscheidung. Jede Zeile hat einen Beleg aus unseren Tests.
Besonders eindrücklich: Das Modell hat einen Knie-Code der Wirbelsäule zugeordnet – mit Fundstelle und plausibler Begründung. Für die Rezeption ist so ein Fehler kaum zu erkennen.
Das Muster hat sich am 23.10. wiederholt: bei der Leitsymptomatik. Deshalb steht auch diese Regel jetzt im Code.
Ergebnis: kritische Fehlalarme von 12 auf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Tool-Auswahl und Einsatzplanung).
Die übrigen Entscheidungen jeweils mit Alternative.
Hervorheben: Patientendaten ersetzen wir, bevor das Modell sie sieht – das ist auch der Übergang zur Governance.
Und: Der Mensch entscheidet. Das ist nicht nur fachlich richtig, sondern auch für die rechtliche Einordnung wichtig.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2 min (IHK: Tool-Auswahl und Einsatzplanung, rechtliche Rahmenbedingungen).
Wir prüfen in vier Schritten nach der KI-Verordnung (EU) 2024/1689.
1. Ja, es ist ein KI-System. Wir als Entwickler sind Anbieter, die Praxis Betreiberin.
2. Keine verbotene Praxis nach Art. 5.
3. Hochrisiko über Produktrecht nur, wenn es ein Medizinprodukt wäre. Unsere Zweckbestimmung ist administrativ: formale Gültigkeit für die Abrechnung. Keine Diagnose, keine Therapieempfehlung. Laut MDCG-Leitlinie 2019-11 ist Abrechnungs- und Verwaltungssoftware in der Regel kein Medizinprodukt.
4. Anhang III Nr. 5 a klingt ähnlich, trifft aber nicht: Er gilt für Behörden oder Stellen in deren Namen, die über Ansprüche auf öffentliche Leistungen entscheiden. Wir sind eine private Praxis und prüfen ein Dokument; die Kasse entscheidet.
Wichtig: Die Einordnung hängt an der Zweckbestimmung. Würde das System später Therapie vorschlagen oder für eine Kasse Leistungen bewilligen, müssten wir neu prüfen.
Falls gefragt: Hochrisiko-Pflichten gelten nach dem KI-Omnibus (VO (EU) 2026/1744) ohnehin erst ab 02.12.2027 (Anhang III) bzw. 02.08.2028 (Anhang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rechtliche Rahmenbedingungen).
Kein Hochrisiko heißt nicht pflichtfrei.
Art. 4 KI-Kompetenz gilt seit Februar 2025. Durch den KI-Omnibus ist es seit Juli 2026 eine Förderpflicht: Maßnahmen ergreifen statt Kompetenz garantieren. Wir setzen das mit einer dokumentierten Einweisung um.
Art. 50 Abs. 1 Transparenz gilt seit 2. August 2026 – bei uns ohnehin offensichtlich, wir kennzeichnen trotzdem.
Die Hochrisiko-Pflichten wie menschliche Aufsicht und Protokollierung übernehmen wir freiwillig.
Die Pflichten für das Basismodell trägt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1,5 min (IHK: rechtliche Rahmenbedingungen).
Verordnungen sind Gesundheitsdaten nach Art. 9 DSGVO.
Im Prototyp verarbeiten wir nur synthetische Daten – damit fallen keine personenbezogenen Daten an.
Für den Echtbetrieb ist die Rechtsgrundlage Art. 9 Abs. 2 lit. h mit § 22 BDSG – die gleiche Grundlage, auf der die Praxis heute schon Verordnungen verarbeitet.
Zusätzlich zum Datenschutz gilt das Berufsgeheimnis nach § 203 StGB: Unsere Dienstleister sind mitwirkende Personen und müssen zur Verschwiegenheit verpflichtet werden.
Offen vor Echtbetrieb: Datenschutz-Folgenabschätzung, OpenAI mit EU-Datenresidenz oder Data Privacy Framework.
Übergabe an Derk: Wie gut funktioniert das heute?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Prototyp als Anwendungsbeispiel).
Alle vier Prüfer folgen demselben Bauplan: Eingabe, Agent, Ausgabe. Das macht sie einzeln testbar.
Wichtig: Die berechneten Fakten aus dem Code sind für die Prüfer verbindlich. So kann das Modell nicht gegen die Rechnung argumentieren.
Jeder Befund hat eine Fundstelle – sonst darf er höchstens ein Hinweis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2 min (IHK: Einsatzplanung).
Je Prüfer: Mandat, welche Fakten er vom Code bekommt, und ein Beispiel aus den Tests.
Der wichtigste Ausbau ist die Verordnungsfall-Prüfung: Sie deckt die Folgeverordnungen ab, und dort entstehen laut Field Study 90 % der Fehler.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3 min (IHK: Prototyp als Anwendungsbeispiel).
Live-Demo im Merge-Workflow über das Formular. Ablauf: Formular ausfüllen, absenden, Ergebnis zeigen, kurz das Protokoll in Supabase.
Zwei Fälle: ein grüner und ein roter. Beim roten den Korrekturhinweis und die Fundstelle vorlesen.
Vorher: Workflow nur mit aktiver Anmeldung freischalten, Testlauf am Morgen. Screenshots als Rückfall bereithalten.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Prototyp).
Hauptstand ist der Merge-Workflow, v4 bleibt Fallback.
Die Tabelle zeigt ehrlich, wie wir arbeiten: testen, Fehler finden, Ursache klären, beheben, erneut testen.
Offener Punkt: Der Hinweis auf besonderen Verordnungsbedarf ist per Prompt nicht zuverlässig. Lösung nach unserem Leitsatz: die KBV-Liste als Tabelle in den Code.
Zahlen: Läufe 914–933 vom 23.10.; 13 von 20 einwandfrei, die übrigen sind die behobenen Fehlalarme, 4 verpasste KBV-Hinweise und 1 Abbruch.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Erfolgsmessung, 10 Punkte).
Zielwert: mindestens 98 % richtige Ampeln auf mindestens 50 neuen Fällen, jeder Fall dreimal. Höchstens ein Fehler.
Die harten Bedingungen: kein übersehener roter Fall, höchstens ein kritischer Fehlalarm. Begründung: Ein übersehener Fehler kostet Geld, zu viele Fehlalarme zerstören das Vertrauen.
Referenzstandard sind ausschließlich die Regelwerke, nicht die Meinung des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Erfolgsmessung).
100 neue Fälle, aufgeteilt in ein Evaluationsset, das wir nie zum Nachbessern anschauen, und ein Entwicklungsset.
Das Evaluationsset erfüllt alle Vorgaben: genug grüne, gelbe, rote und Grenzfälle, je Prüfer mindestens fünf rote.
Wichtig: Wir lernen nicht auf den Test – keine Codes aus den Testfällen im Prompt.
Ergebnisse der formalen Evaluation folgen in Sprint 3 (26.–30.10.).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2 min (IHK: Einsatzplanung, Teil von 20 Punkten).
Vier Phasen. In der Vorbereitung setzen wir um, was Valentin rechtlich gezeigt hat: Anmeldung, Auftragsverarbeitung, Einweisung.
Sechs Wochen Parallelbetrieb: Die Rezeption prüft wie bisher, das System läuft mit. Erst bei mindestens 98 % Übereinstimmung und keinem übersehenen roten Fall geht es weiter.
Die Phasen hängen direkt am Einsparziel aus dem Business Case: −50 % und −75 %.
Rückfallebene: Die Praxis kann jederzeit wie heute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Die Risiken mit Gegenmaßnahme. Die ersten beiden haben dieselbe Antwort wie unsere Architektur: Was eine Regel ist, kommt in den Code.
Zeitplan bis zur Prüfung.
Übergabe an Thomas für den Schluss.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Reflexion, roter Faden 15 Punkte).
Vier Lernpunkte. Der zweite hat sich bis zuletzt bestätigt: Wo eine Regel feststeht, schlägt Code jedes noch so gute Prompting.
Für künftige Projekte: erst die Praxis verstehen, dann bauen; früh messen; die rechtliche Einordnung hängt an der Zweckbestimmung; und die Tool-Auswahl ist nicht statisch.
Auch die Teamarbeit erwähnen: Wechsel von vier auf drei Personen mit klarer Streichliste.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Fazit, roter Faden).
Zurück zum Anfang: weniger Verwaltung, mehr Zeit für Patienten.
Drei Zahlen: Zielquote mindestens 98 % gegen höchstens ca. 85 % bei menschlicher Doppelkontrolle; Fehler vor der Behandlung statt bei der Abrechnung; ab dem zweiten Jahr ca. 4.300 € pro Jahr an Prüfzeit.
Empfehlung: Pilot im Parallelbetrieb, sechs Wochen, dann entscheiden.
Dank und Übergang zu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ANHANG · nicht vortragen, nur bei Rückfragen zeigen.
Quellen zur rechtlichen Einordnung. Bei Nachfragen zum KI-Omnibus: Verordnung (EU) 2026/1744, im Amtsblatt am 24.07.2026, in Kraft seit 27.07.2026.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Titel</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rtlCol="0"/>
          <a:lstStyle>
            <a:lvl1pPr indent="0" marL="0">
              <a:buNone/>
              <a:defRPr lang="en-US" sz="2000" dirty="0">
                <a:solidFill>
                  <a:schemeClr val="accent2"/>
                </a:solidFill>
                <a:latin typeface="Calibri" pitchFamily="34" charset="0"/>
                <a:ea typeface="Calibri" pitchFamily="34" charset="-122"/>
                <a:cs typeface="Calibri" pitchFamily="34" charset="-120"/>
              </a:defRPr>
            </a:lvl1pPr>
          </a:lstStyle>
          <a:p>
            <a:pPr indent="0" marL="0">
              <a:buNone/>
            </a:pPr>
            <a:r>
              <a:rPr lang="en-US" sz="2000" dirty="0">
                <a:solidFill>
                  <a:schemeClr val="accent2"/>
                </a:solidFill>
                <a:latin typeface="Calibri" pitchFamily="34" charset="0"/>
                <a:ea typeface="Calibri" pitchFamily="34" charset="-122"/>
                <a:cs typeface="Calibri" pitchFamily="34" charset="-120"/>
              </a:rPr>
              <a:t>Untertitel</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r>
              <a:rPr lang="en-US" sz="2800" b="1" dirty="0">
                <a:solidFill>
                  <a:schemeClr val="tx2"/>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Verordnungs-Check · IHK-Präsentation · Arbeitsstand 23.10.2026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r>
              <a:rPr lang="en-US" sz="2800" b="1" dirty="0">
                <a:solidFill>
                  <a:schemeClr val="bg1"/>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Verordnungs-Check · IHK-Präsentation · Arbeitsstand 23.10.2026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3.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Der Verordnungs-Check</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lIns="0" tIns="0" rIns="0" bIns="0" rtlCol="0" anchor="t"/>
          <a:lstStyle/>
          <a:p>
            <a:pPr indent="0" marL="0">
              <a:buNone/>
            </a:pPr>
            <a:r>
              <a:rPr lang="en-US" sz="2000" dirty="0">
                <a:solidFill>
                  <a:schemeClr val="accent2"/>
                </a:solidFill>
                <a:latin typeface="Calibri" pitchFamily="34" charset="0"/>
                <a:ea typeface="Calibri" pitchFamily="34" charset="-122"/>
                <a:cs typeface="Calibri" pitchFamily="34" charset="-120"/>
              </a:rPr>
              <a:t>Weniger Admin, mehr Zeit für Patienten</a:t>
            </a:r>
            <a:endParaRPr lang="en-US" sz="2000" dirty="0"/>
          </a:p>
          <a:p>
            <a:pPr indent="0" marL="0">
              <a:buNone/>
            </a:pPr>
            <a:r>
              <a:rPr lang="en-US" sz="2000" dirty="0">
                <a:solidFill>
                  <a:schemeClr val="accent2"/>
                </a:solidFill>
                <a:latin typeface="Calibri" pitchFamily="34" charset="0"/>
                <a:ea typeface="Calibri" pitchFamily="34" charset="-122"/>
                <a:cs typeface="Calibri" pitchFamily="34" charset="-120"/>
              </a:rPr>
              <a:t>IHK-Präsentation · Arbeitsstand 23.10.2026</a:t>
            </a:r>
            <a:endParaRPr lang="en-US" sz="2000" dirty="0"/>
          </a:p>
        </p:txBody>
      </p:sp>
      <p:sp>
        <p:nvSpPr>
          <p:cNvPr id="4" name="Rolleninhaber"/>
          <p:cNvSpPr/>
          <p:nvPr/>
        </p:nvSpPr>
        <p:spPr>
          <a:xfrm>
            <a:off x="10195560" y="457200"/>
            <a:ext cx="1463040" cy="438912"/>
          </a:xfrm>
          <a:prstGeom prst="roundRect">
            <a:avLst>
              <a:gd name="adj" fmla="val 50000"/>
            </a:avLst>
          </a:prstGeom>
          <a:solidFill>
            <a:schemeClr val="bg1"/>
          </a:solidFill>
          <a:ln/>
        </p:spPr>
      </p:sp>
      <p:pic>
        <p:nvPicPr>
          <p:cNvPr id="5"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6"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7" name="Text 4"/>
          <p:cNvSpPr txBox="1"/>
          <p:nvPr/>
        </p:nvSpPr>
        <p:spPr>
          <a:xfrm>
            <a:off x="731520" y="4846320"/>
            <a:ext cx="8229600" cy="365760"/>
          </a:xfrm>
          <a:prstGeom prst="rect">
            <a:avLst/>
          </a:prstGeom>
          <a:noFill/>
          <a:ln/>
        </p:spPr>
        <p:txBody>
          <a:bodyPr wrap="square" lIns="0" tIns="0" rIns="0" bIns="0" rtlCol="0" anchor="t"/>
          <a:lstStyle/>
          <a:p>
            <a:pPr indent="0" marL="0">
              <a:buNone/>
            </a:pPr>
            <a:r>
              <a:rPr lang="en-US" sz="1600" dirty="0">
                <a:solidFill>
                  <a:schemeClr val="bg1"/>
                </a:solidFill>
              </a:rPr>
              <a:t>Thomas Kullmann · Valentin Klamka · Derk Ermler</a:t>
            </a:r>
            <a:endParaRPr lang="en-US" sz="1600" dirty="0"/>
          </a:p>
        </p:txBody>
      </p:sp>
      <p:sp>
        <p:nvSpPr>
          <p:cNvPr id="8" name="Text 5"/>
          <p:cNvSpPr txBox="1"/>
          <p:nvPr/>
        </p:nvSpPr>
        <p:spPr>
          <a:xfrm>
            <a:off x="731520" y="5257800"/>
            <a:ext cx="9144000" cy="365760"/>
          </a:xfrm>
          <a:prstGeom prst="rect">
            <a:avLst/>
          </a:prstGeom>
          <a:noFill/>
          <a:ln/>
        </p:spPr>
        <p:txBody>
          <a:bodyPr wrap="square" lIns="0" tIns="0" rIns="0" bIns="0" rtlCol="0" anchor="t"/>
          <a:lstStyle/>
          <a:p>
            <a:pPr indent="0" marL="0">
              <a:buNone/>
            </a:pPr>
            <a:r>
              <a:rPr lang="en-US" sz="1300" dirty="0">
                <a:solidFill>
                  <a:schemeClr val="bg2"/>
                </a:solidFill>
              </a:rPr>
              <a:t>KI-gestützte Prüfung von Heilmittelverordnungen (Physiotherapie, GKV, Muster 13) · Praxis anonymisiert, nur synthetische Testdaten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Ablauf: drei Rollen, ein roter Faden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Block Thomas"/>
          <p:cNvSpPr/>
          <p:nvPr/>
        </p:nvSpPr>
        <p:spPr>
          <a:xfrm>
            <a:off x="548640" y="1325880"/>
            <a:ext cx="3566160" cy="4206240"/>
          </a:xfrm>
          <a:prstGeom prst="roundRect">
            <a:avLst>
              <a:gd name="adj" fmla="val 2051"/>
            </a:avLst>
          </a:prstGeom>
          <a:solidFill>
            <a:schemeClr val="bg2"/>
          </a:solidFill>
          <a:ln/>
        </p:spPr>
      </p:sp>
      <p:sp>
        <p:nvSpPr>
          <p:cNvPr id="7" name="Kopf Thomas"/>
          <p:cNvSpPr/>
          <p:nvPr/>
        </p:nvSpPr>
        <p:spPr>
          <a:xfrm>
            <a:off x="548640" y="1325880"/>
            <a:ext cx="3566160" cy="868680"/>
          </a:xfrm>
          <a:prstGeom prst="roundRect">
            <a:avLst>
              <a:gd name="adj" fmla="val 8421"/>
            </a:avLst>
          </a:prstGeom>
          <a:solidFill>
            <a:schemeClr val="tx2"/>
          </a:solidFill>
          <a:ln/>
        </p:spPr>
      </p:sp>
      <p:sp>
        <p:nvSpPr>
          <p:cNvPr id="8" name="Text 5"/>
          <p:cNvSpPr txBox="1"/>
          <p:nvPr/>
        </p:nvSpPr>
        <p:spPr>
          <a:xfrm>
            <a:off x="77724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Thomas</a:t>
            </a:r>
            <a:endParaRPr lang="en-US" sz="2000" dirty="0"/>
          </a:p>
        </p:txBody>
      </p:sp>
      <p:sp>
        <p:nvSpPr>
          <p:cNvPr id="9" name="Text 6"/>
          <p:cNvSpPr txBox="1"/>
          <p:nvPr/>
        </p:nvSpPr>
        <p:spPr>
          <a:xfrm>
            <a:off x="77724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15 min</a:t>
            </a:r>
            <a:endParaRPr lang="en-US" sz="1300" dirty="0"/>
          </a:p>
        </p:txBody>
      </p:sp>
      <p:pic>
        <p:nvPicPr>
          <p:cNvPr id="10" name="Personen-Symbol" descr="preencoded.png">    </p:cNvPr>
          <p:cNvPicPr>
            <a:picLocks noChangeAspect="1"/>
          </p:cNvPicPr>
          <p:nvPr/>
        </p:nvPicPr>
        <p:blipFill>
          <a:blip r:embed="rId2"/>
          <a:stretch>
            <a:fillRect/>
          </a:stretch>
        </p:blipFill>
        <p:spPr>
          <a:xfrm>
            <a:off x="3520440" y="1581912"/>
            <a:ext cx="347472" cy="347472"/>
          </a:xfrm>
          <a:prstGeom prst="rect">
            <a:avLst/>
          </a:prstGeom>
        </p:spPr>
      </p:pic>
      <p:sp>
        <p:nvSpPr>
          <p:cNvPr id="11" name="Text 7"/>
          <p:cNvSpPr txBox="1"/>
          <p:nvPr/>
        </p:nvSpPr>
        <p:spPr>
          <a:xfrm>
            <a:off x="77724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Koordination, Ist/Soll &amp; Business Case</a:t>
            </a:r>
            <a:endParaRPr lang="en-US" sz="1300" dirty="0"/>
          </a:p>
        </p:txBody>
      </p:sp>
      <p:sp>
        <p:nvSpPr>
          <p:cNvPr id="12" name="Text 8"/>
          <p:cNvSpPr txBox="1"/>
          <p:nvPr/>
        </p:nvSpPr>
        <p:spPr>
          <a:xfrm>
            <a:off x="77724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Unternehmen und Ist-Situation</a:t>
            </a:r>
            <a:endParaRPr lang="en-US" sz="1400" dirty="0"/>
          </a:p>
          <a:p>
            <a:pPr marL="177800" indent="-177800">
              <a:spcAft>
                <a:spcPts val="500"/>
              </a:spcAft>
              <a:buSzPct val="100000"/>
              <a:buChar char="•"/>
            </a:pPr>
            <a:r>
              <a:rPr lang="en-US" sz="1500" dirty="0">
                <a:solidFill>
                  <a:schemeClr val="tx1"/>
                </a:solidFill>
              </a:rPr>
              <a:t>Einsatzfelder im Unternehmen</a:t>
            </a:r>
            <a:endParaRPr lang="en-US" sz="1400" dirty="0"/>
          </a:p>
          <a:p>
            <a:pPr marL="177800" indent="-177800">
              <a:spcAft>
                <a:spcPts val="500"/>
              </a:spcAft>
              <a:buSzPct val="100000"/>
              <a:buChar char="•"/>
            </a:pPr>
            <a:r>
              <a:rPr lang="en-US" sz="1500" dirty="0">
                <a:solidFill>
                  <a:schemeClr val="tx1"/>
                </a:solidFill>
              </a:rPr>
              <a:t>Soll, Ziele, Business Case</a:t>
            </a:r>
            <a:endParaRPr lang="en-US" sz="1400" dirty="0"/>
          </a:p>
          <a:p>
            <a:pPr marL="177800" indent="-177800">
              <a:spcAft>
                <a:spcPts val="500"/>
              </a:spcAft>
              <a:buSzPct val="100000"/>
              <a:buChar char="•"/>
            </a:pPr>
            <a:r>
              <a:rPr lang="en-US" sz="1500" dirty="0">
                <a:solidFill>
                  <a:schemeClr val="tx1"/>
                </a:solidFill>
              </a:rPr>
              <a:t>Schluss: Reflexion und Fazit</a:t>
            </a:r>
            <a:endParaRPr lang="en-US" sz="1400" dirty="0"/>
          </a:p>
        </p:txBody>
      </p:sp>
      <p:sp>
        <p:nvSpPr>
          <p:cNvPr id="13" name="Text 9"/>
          <p:cNvSpPr txBox="1"/>
          <p:nvPr/>
        </p:nvSpPr>
        <p:spPr>
          <a:xfrm>
            <a:off x="777240" y="4892040"/>
            <a:ext cx="3108960" cy="502920"/>
          </a:xfrm>
          <a:prstGeom prst="rect">
            <a:avLst/>
          </a:prstGeom>
          <a:noFill/>
          <a:ln/>
        </p:spPr>
        <p:txBody>
          <a:bodyPr wrap="square" lIns="0" tIns="0" rIns="0" bIns="0" rtlCol="0" anchor="t"/>
          <a:lstStyle/>
          <a:p>
            <a:pPr indent="0" marL="0">
              <a:buNone/>
            </a:pPr>
            <a:r>
              <a:rPr lang="en-US" sz="1200" b="1" dirty="0">
                <a:solidFill>
                  <a:schemeClr val="tx2"/>
                </a:solidFill>
              </a:rPr>
              <a:t>IHK-Punkte: Ist/Soll 10 · Einsatzfelder 10 · Roter Faden 15</a:t>
            </a:r>
            <a:endParaRPr lang="en-US" sz="1200" dirty="0"/>
          </a:p>
        </p:txBody>
      </p:sp>
      <p:sp>
        <p:nvSpPr>
          <p:cNvPr id="14" name="Block Valentin"/>
          <p:cNvSpPr/>
          <p:nvPr/>
        </p:nvSpPr>
        <p:spPr>
          <a:xfrm>
            <a:off x="4297680" y="1325880"/>
            <a:ext cx="3566160" cy="4206240"/>
          </a:xfrm>
          <a:prstGeom prst="roundRect">
            <a:avLst>
              <a:gd name="adj" fmla="val 2051"/>
            </a:avLst>
          </a:prstGeom>
          <a:solidFill>
            <a:schemeClr val="bg2"/>
          </a:solidFill>
          <a:ln/>
        </p:spPr>
      </p:sp>
      <p:sp>
        <p:nvSpPr>
          <p:cNvPr id="15" name="Kopf Valentin"/>
          <p:cNvSpPr/>
          <p:nvPr/>
        </p:nvSpPr>
        <p:spPr>
          <a:xfrm>
            <a:off x="4297680" y="1325880"/>
            <a:ext cx="3566160" cy="868680"/>
          </a:xfrm>
          <a:prstGeom prst="roundRect">
            <a:avLst>
              <a:gd name="adj" fmla="val 8421"/>
            </a:avLst>
          </a:prstGeom>
          <a:solidFill>
            <a:schemeClr val="accent1"/>
          </a:solidFill>
          <a:ln/>
        </p:spPr>
      </p:sp>
      <p:sp>
        <p:nvSpPr>
          <p:cNvPr id="16" name="Text 12"/>
          <p:cNvSpPr txBox="1"/>
          <p:nvPr/>
        </p:nvSpPr>
        <p:spPr>
          <a:xfrm>
            <a:off x="452628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Valentin</a:t>
            </a:r>
            <a:endParaRPr lang="en-US" sz="2000" dirty="0"/>
          </a:p>
        </p:txBody>
      </p:sp>
      <p:sp>
        <p:nvSpPr>
          <p:cNvPr id="17" name="Text 13"/>
          <p:cNvSpPr txBox="1"/>
          <p:nvPr/>
        </p:nvSpPr>
        <p:spPr>
          <a:xfrm>
            <a:off x="452628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15 min</a:t>
            </a:r>
            <a:endParaRPr lang="en-US" sz="1300" dirty="0"/>
          </a:p>
        </p:txBody>
      </p:sp>
      <p:pic>
        <p:nvPicPr>
          <p:cNvPr id="18" name="Personen-Symbol" descr="preencoded.png">    </p:cNvPr>
          <p:cNvPicPr>
            <a:picLocks noChangeAspect="1"/>
          </p:cNvPicPr>
          <p:nvPr/>
        </p:nvPicPr>
        <p:blipFill>
          <a:blip r:embed="rId3"/>
          <a:stretch>
            <a:fillRect/>
          </a:stretch>
        </p:blipFill>
        <p:spPr>
          <a:xfrm>
            <a:off x="7269480" y="1581912"/>
            <a:ext cx="347472" cy="347472"/>
          </a:xfrm>
          <a:prstGeom prst="rect">
            <a:avLst/>
          </a:prstGeom>
        </p:spPr>
      </p:pic>
      <p:sp>
        <p:nvSpPr>
          <p:cNvPr id="19" name="Text 14"/>
          <p:cNvSpPr txBox="1"/>
          <p:nvPr/>
        </p:nvSpPr>
        <p:spPr>
          <a:xfrm>
            <a:off x="452628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Tools, Architektur &amp; Governance</a:t>
            </a:r>
            <a:endParaRPr lang="en-US" sz="1300" dirty="0"/>
          </a:p>
        </p:txBody>
      </p:sp>
      <p:sp>
        <p:nvSpPr>
          <p:cNvPr id="20" name="Text 15"/>
          <p:cNvSpPr txBox="1"/>
          <p:nvPr/>
        </p:nvSpPr>
        <p:spPr>
          <a:xfrm>
            <a:off x="452628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Tool-Vergleich: warum, warum nicht</a:t>
            </a:r>
            <a:endParaRPr lang="en-US" sz="1400" dirty="0"/>
          </a:p>
          <a:p>
            <a:pPr marL="177800" indent="-177800">
              <a:spcAft>
                <a:spcPts val="500"/>
              </a:spcAft>
              <a:buSzPct val="100000"/>
              <a:buChar char="•"/>
            </a:pPr>
            <a:r>
              <a:rPr lang="en-US" sz="1500" dirty="0">
                <a:solidFill>
                  <a:schemeClr val="tx1"/>
                </a:solidFill>
              </a:rPr>
              <a:t>Architekturentscheidungen</a:t>
            </a:r>
            <a:endParaRPr lang="en-US" sz="1400" dirty="0"/>
          </a:p>
          <a:p>
            <a:pPr marL="177800" indent="-177800">
              <a:spcAft>
                <a:spcPts val="500"/>
              </a:spcAft>
              <a:buSzPct val="100000"/>
              <a:buChar char="•"/>
            </a:pPr>
            <a:r>
              <a:rPr lang="en-US" sz="1500" dirty="0">
                <a:solidFill>
                  <a:schemeClr val="tx1"/>
                </a:solidFill>
              </a:rPr>
              <a:t>EU AI Act und DSGVO</a:t>
            </a:r>
            <a:endParaRPr lang="en-US" sz="1400" dirty="0"/>
          </a:p>
        </p:txBody>
      </p:sp>
      <p:sp>
        <p:nvSpPr>
          <p:cNvPr id="21" name="Text 16"/>
          <p:cNvSpPr txBox="1"/>
          <p:nvPr/>
        </p:nvSpPr>
        <p:spPr>
          <a:xfrm>
            <a:off x="4526280" y="4892040"/>
            <a:ext cx="3108960" cy="502920"/>
          </a:xfrm>
          <a:prstGeom prst="rect">
            <a:avLst/>
          </a:prstGeom>
          <a:noFill/>
          <a:ln/>
        </p:spPr>
        <p:txBody>
          <a:bodyPr wrap="square" lIns="0" tIns="0" rIns="0" bIns="0" rtlCol="0" anchor="t"/>
          <a:lstStyle/>
          <a:p>
            <a:pPr indent="0" marL="0">
              <a:buNone/>
            </a:pPr>
            <a:r>
              <a:rPr lang="en-US" sz="1200" b="1" dirty="0">
                <a:solidFill>
                  <a:schemeClr val="accent1"/>
                </a:solidFill>
              </a:rPr>
              <a:t>IHK-Punkte: Tool-Vergleich 10 · Tool-Auswahl 10</a:t>
            </a:r>
            <a:endParaRPr lang="en-US" sz="1200" dirty="0"/>
          </a:p>
        </p:txBody>
      </p:sp>
      <p:sp>
        <p:nvSpPr>
          <p:cNvPr id="22" name="Block Derk"/>
          <p:cNvSpPr/>
          <p:nvPr/>
        </p:nvSpPr>
        <p:spPr>
          <a:xfrm>
            <a:off x="8046720" y="1325880"/>
            <a:ext cx="3566160" cy="4206240"/>
          </a:xfrm>
          <a:prstGeom prst="roundRect">
            <a:avLst>
              <a:gd name="adj" fmla="val 2051"/>
            </a:avLst>
          </a:prstGeom>
          <a:solidFill>
            <a:schemeClr val="bg2"/>
          </a:solidFill>
          <a:ln/>
        </p:spPr>
      </p:sp>
      <p:sp>
        <p:nvSpPr>
          <p:cNvPr id="23" name="Kopf Derk"/>
          <p:cNvSpPr/>
          <p:nvPr/>
        </p:nvSpPr>
        <p:spPr>
          <a:xfrm>
            <a:off x="8046720" y="1325880"/>
            <a:ext cx="3566160" cy="868680"/>
          </a:xfrm>
          <a:prstGeom prst="roundRect">
            <a:avLst>
              <a:gd name="adj" fmla="val 8421"/>
            </a:avLst>
          </a:prstGeom>
          <a:solidFill>
            <a:schemeClr val="accent3"/>
          </a:solidFill>
          <a:ln/>
        </p:spPr>
      </p:sp>
      <p:sp>
        <p:nvSpPr>
          <p:cNvPr id="24" name="Text 19"/>
          <p:cNvSpPr txBox="1"/>
          <p:nvPr/>
        </p:nvSpPr>
        <p:spPr>
          <a:xfrm>
            <a:off x="827532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Derk</a:t>
            </a:r>
            <a:endParaRPr lang="en-US" sz="2000" dirty="0"/>
          </a:p>
        </p:txBody>
      </p:sp>
      <p:sp>
        <p:nvSpPr>
          <p:cNvPr id="25" name="Text 20"/>
          <p:cNvSpPr txBox="1"/>
          <p:nvPr/>
        </p:nvSpPr>
        <p:spPr>
          <a:xfrm>
            <a:off x="827532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15 min</a:t>
            </a:r>
            <a:endParaRPr lang="en-US" sz="1300" dirty="0"/>
          </a:p>
        </p:txBody>
      </p:sp>
      <p:pic>
        <p:nvPicPr>
          <p:cNvPr id="26" name="Personen-Symbol" descr="preencoded.png">    </p:cNvPr>
          <p:cNvPicPr>
            <a:picLocks noChangeAspect="1"/>
          </p:cNvPicPr>
          <p:nvPr/>
        </p:nvPicPr>
        <p:blipFill>
          <a:blip r:embed="rId4"/>
          <a:stretch>
            <a:fillRect/>
          </a:stretch>
        </p:blipFill>
        <p:spPr>
          <a:xfrm>
            <a:off x="11018520" y="1581912"/>
            <a:ext cx="347472" cy="347472"/>
          </a:xfrm>
          <a:prstGeom prst="rect">
            <a:avLst/>
          </a:prstGeom>
        </p:spPr>
      </p:pic>
      <p:sp>
        <p:nvSpPr>
          <p:cNvPr id="27" name="Text 21"/>
          <p:cNvSpPr txBox="1"/>
          <p:nvPr/>
        </p:nvSpPr>
        <p:spPr>
          <a:xfrm>
            <a:off x="827532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Build, Demo &amp; Evaluation</a:t>
            </a:r>
            <a:endParaRPr lang="en-US" sz="1300" dirty="0"/>
          </a:p>
        </p:txBody>
      </p:sp>
      <p:sp>
        <p:nvSpPr>
          <p:cNvPr id="28" name="Text 22"/>
          <p:cNvSpPr txBox="1"/>
          <p:nvPr/>
        </p:nvSpPr>
        <p:spPr>
          <a:xfrm>
            <a:off x="827532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Die vier Prüfer</a:t>
            </a:r>
            <a:endParaRPr lang="en-US" sz="1400" dirty="0"/>
          </a:p>
          <a:p>
            <a:pPr marL="177800" indent="-177800">
              <a:spcAft>
                <a:spcPts val="500"/>
              </a:spcAft>
              <a:buSzPct val="100000"/>
              <a:buChar char="•"/>
            </a:pPr>
            <a:r>
              <a:rPr lang="en-US" sz="1500" dirty="0">
                <a:solidFill>
                  <a:schemeClr val="tx1"/>
                </a:solidFill>
              </a:rPr>
              <a:t>Live-Demo</a:t>
            </a:r>
            <a:endParaRPr lang="en-US" sz="1400" dirty="0"/>
          </a:p>
          <a:p>
            <a:pPr marL="177800" indent="-177800">
              <a:spcAft>
                <a:spcPts val="500"/>
              </a:spcAft>
              <a:buSzPct val="100000"/>
              <a:buChar char="•"/>
            </a:pPr>
            <a:r>
              <a:rPr lang="en-US" sz="1500" dirty="0">
                <a:solidFill>
                  <a:schemeClr val="tx1"/>
                </a:solidFill>
              </a:rPr>
              <a:t>Erfolgsmessung, Testbatterie</a:t>
            </a:r>
            <a:endParaRPr lang="en-US" sz="1400" dirty="0"/>
          </a:p>
          <a:p>
            <a:pPr marL="177800" indent="-177800">
              <a:spcAft>
                <a:spcPts val="500"/>
              </a:spcAft>
              <a:buSzPct val="100000"/>
              <a:buChar char="•"/>
            </a:pPr>
            <a:r>
              <a:rPr lang="en-US" sz="1500" dirty="0">
                <a:solidFill>
                  <a:schemeClr val="tx1"/>
                </a:solidFill>
              </a:rPr>
              <a:t>Einsatzplanung und Risiken</a:t>
            </a:r>
            <a:endParaRPr lang="en-US" sz="1400" dirty="0"/>
          </a:p>
        </p:txBody>
      </p:sp>
      <p:sp>
        <p:nvSpPr>
          <p:cNvPr id="29" name="Text 23"/>
          <p:cNvSpPr txBox="1"/>
          <p:nvPr/>
        </p:nvSpPr>
        <p:spPr>
          <a:xfrm>
            <a:off x="8275320" y="4892040"/>
            <a:ext cx="3108960" cy="502920"/>
          </a:xfrm>
          <a:prstGeom prst="rect">
            <a:avLst/>
          </a:prstGeom>
          <a:noFill/>
          <a:ln/>
        </p:spPr>
        <p:txBody>
          <a:bodyPr wrap="square" lIns="0" tIns="0" rIns="0" bIns="0" rtlCol="0" anchor="t"/>
          <a:lstStyle/>
          <a:p>
            <a:pPr indent="0" marL="0">
              <a:buNone/>
            </a:pPr>
            <a:r>
              <a:rPr lang="en-US" sz="1200" b="1" dirty="0">
                <a:solidFill>
                  <a:schemeClr val="accent3"/>
                </a:solidFill>
              </a:rPr>
              <a:t>IHK-Punkte: Einsatzplanung 10 · Erfolgsmessung 10</a:t>
            </a:r>
            <a:endParaRPr lang="en-US" sz="1200" dirty="0"/>
          </a:p>
        </p:txBody>
      </p:sp>
      <p:sp>
        <p:nvSpPr>
          <p:cNvPr id="30" name="Text 24"/>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300" b="1" dirty="0">
                <a:solidFill>
                  <a:schemeClr val="tx2"/>
                </a:solidFill>
              </a:rPr>
              <a:t>Gesamt ca. 45 min · Orthografie und Schreibstil (25 Punkte) verantworten wir gemeinsam im Vier-Augen-Prinzip</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Das Unternehmen: Physiotherapie im GKV-System</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Kennzahl"/>
          <p:cNvSpPr/>
          <p:nvPr/>
        </p:nvSpPr>
        <p:spPr>
          <a:xfrm>
            <a:off x="548640" y="1325880"/>
            <a:ext cx="2651760" cy="2148840"/>
          </a:xfrm>
          <a:prstGeom prst="roundRect">
            <a:avLst>
              <a:gd name="adj" fmla="val 3404"/>
            </a:avLst>
          </a:prstGeom>
          <a:solidFill>
            <a:schemeClr val="bg2"/>
          </a:solidFill>
          <a:ln/>
        </p:spPr>
      </p:sp>
      <p:sp>
        <p:nvSpPr>
          <p:cNvPr id="7" name="Symbolkreis"/>
          <p:cNvSpPr/>
          <p:nvPr/>
        </p:nvSpPr>
        <p:spPr>
          <a:xfrm>
            <a:off x="777240" y="1508760"/>
            <a:ext cx="566928" cy="566928"/>
          </a:xfrm>
          <a:prstGeom prst="ellipse">
            <a:avLst/>
          </a:prstGeom>
          <a:solidFill>
            <a:schemeClr val="accent1"/>
          </a:solidFill>
          <a:ln/>
        </p:spPr>
      </p:sp>
      <p:pic>
        <p:nvPicPr>
          <p:cNvPr id="8" name="Symbol" descr="preencoded.png">    </p:cNvPr>
          <p:cNvPicPr>
            <a:picLocks noChangeAspect="1"/>
          </p:cNvPicPr>
          <p:nvPr/>
        </p:nvPicPr>
        <p:blipFill>
          <a:blip r:embed="rId2"/>
          <a:stretch>
            <a:fillRect/>
          </a:stretch>
        </p:blipFill>
        <p:spPr>
          <a:xfrm>
            <a:off x="918972" y="1650492"/>
            <a:ext cx="283464" cy="283464"/>
          </a:xfrm>
          <a:prstGeom prst="rect">
            <a:avLst/>
          </a:prstGeom>
        </p:spPr>
      </p:pic>
      <p:sp>
        <p:nvSpPr>
          <p:cNvPr id="9" name="Text 5"/>
          <p:cNvSpPr txBox="1"/>
          <p:nvPr/>
        </p:nvSpPr>
        <p:spPr>
          <a:xfrm>
            <a:off x="777240" y="2194560"/>
            <a:ext cx="2286000" cy="566928"/>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ca. 10</a:t>
            </a:r>
            <a:endParaRPr lang="en-US" sz="3200" dirty="0"/>
          </a:p>
        </p:txBody>
      </p:sp>
      <p:sp>
        <p:nvSpPr>
          <p:cNvPr id="10" name="Text 6"/>
          <p:cNvSpPr txBox="1"/>
          <p:nvPr/>
        </p:nvSpPr>
        <p:spPr>
          <a:xfrm>
            <a:off x="777240" y="2788920"/>
            <a:ext cx="2286000" cy="640080"/>
          </a:xfrm>
          <a:prstGeom prst="rect">
            <a:avLst/>
          </a:prstGeom>
          <a:noFill/>
          <a:ln/>
        </p:spPr>
        <p:txBody>
          <a:bodyPr wrap="square" lIns="0" tIns="0" rIns="0" bIns="0" rtlCol="0" anchor="t"/>
          <a:lstStyle/>
          <a:p>
            <a:pPr indent="0" marL="0">
              <a:buNone/>
            </a:pPr>
            <a:r>
              <a:rPr lang="en-US" sz="1300" dirty="0">
                <a:solidFill>
                  <a:schemeClr val="tx1"/>
                </a:solidFill>
              </a:rPr>
              <a:t>Mitarbeitende, zwei Standorte</a:t>
            </a:r>
            <a:endParaRPr lang="en-US" sz="1300" dirty="0"/>
          </a:p>
        </p:txBody>
      </p:sp>
      <p:sp>
        <p:nvSpPr>
          <p:cNvPr id="11" name="Kennzahl"/>
          <p:cNvSpPr/>
          <p:nvPr/>
        </p:nvSpPr>
        <p:spPr>
          <a:xfrm>
            <a:off x="3355848" y="1325880"/>
            <a:ext cx="2651760" cy="2148840"/>
          </a:xfrm>
          <a:prstGeom prst="roundRect">
            <a:avLst>
              <a:gd name="adj" fmla="val 3404"/>
            </a:avLst>
          </a:prstGeom>
          <a:solidFill>
            <a:schemeClr val="bg2"/>
          </a:solidFill>
          <a:ln/>
        </p:spPr>
      </p:sp>
      <p:sp>
        <p:nvSpPr>
          <p:cNvPr id="12" name="Symbolkreis"/>
          <p:cNvSpPr/>
          <p:nvPr/>
        </p:nvSpPr>
        <p:spPr>
          <a:xfrm>
            <a:off x="3584448" y="1508760"/>
            <a:ext cx="566928" cy="566928"/>
          </a:xfrm>
          <a:prstGeom prst="ellipse">
            <a:avLst/>
          </a:prstGeom>
          <a:solidFill>
            <a:schemeClr val="accent1"/>
          </a:solidFill>
          <a:ln/>
        </p:spPr>
      </p:sp>
      <p:pic>
        <p:nvPicPr>
          <p:cNvPr id="13" name="Symbol" descr="preencoded.png">    </p:cNvPr>
          <p:cNvPicPr>
            <a:picLocks noChangeAspect="1"/>
          </p:cNvPicPr>
          <p:nvPr/>
        </p:nvPicPr>
        <p:blipFill>
          <a:blip r:embed="rId3"/>
          <a:stretch>
            <a:fillRect/>
          </a:stretch>
        </p:blipFill>
        <p:spPr>
          <a:xfrm>
            <a:off x="3726180" y="1650492"/>
            <a:ext cx="283464" cy="283464"/>
          </a:xfrm>
          <a:prstGeom prst="rect">
            <a:avLst/>
          </a:prstGeom>
        </p:spPr>
      </p:pic>
      <p:sp>
        <p:nvSpPr>
          <p:cNvPr id="14" name="Text 9"/>
          <p:cNvSpPr txBox="1"/>
          <p:nvPr/>
        </p:nvSpPr>
        <p:spPr>
          <a:xfrm>
            <a:off x="3584448" y="2194560"/>
            <a:ext cx="2286000" cy="566928"/>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ca. 40</a:t>
            </a:r>
            <a:endParaRPr lang="en-US" sz="3200" dirty="0"/>
          </a:p>
        </p:txBody>
      </p:sp>
      <p:sp>
        <p:nvSpPr>
          <p:cNvPr id="15" name="Text 10"/>
          <p:cNvSpPr txBox="1"/>
          <p:nvPr/>
        </p:nvSpPr>
        <p:spPr>
          <a:xfrm>
            <a:off x="3584448" y="2788920"/>
            <a:ext cx="2286000" cy="640080"/>
          </a:xfrm>
          <a:prstGeom prst="rect">
            <a:avLst/>
          </a:prstGeom>
          <a:noFill/>
          <a:ln/>
        </p:spPr>
        <p:txBody>
          <a:bodyPr wrap="square" lIns="0" tIns="0" rIns="0" bIns="0" rtlCol="0" anchor="t"/>
          <a:lstStyle/>
          <a:p>
            <a:pPr indent="0" marL="0">
              <a:buNone/>
            </a:pPr>
            <a:r>
              <a:rPr lang="en-US" sz="1300" dirty="0">
                <a:solidFill>
                  <a:schemeClr val="tx1"/>
                </a:solidFill>
              </a:rPr>
              <a:t>neue Kassenverordnungen pro Woche</a:t>
            </a:r>
            <a:endParaRPr lang="en-US" sz="1300" dirty="0"/>
          </a:p>
        </p:txBody>
      </p:sp>
      <p:sp>
        <p:nvSpPr>
          <p:cNvPr id="16" name="Kennzahl"/>
          <p:cNvSpPr/>
          <p:nvPr/>
        </p:nvSpPr>
        <p:spPr>
          <a:xfrm>
            <a:off x="6163056" y="1325880"/>
            <a:ext cx="2651760" cy="2148840"/>
          </a:xfrm>
          <a:prstGeom prst="roundRect">
            <a:avLst>
              <a:gd name="adj" fmla="val 3404"/>
            </a:avLst>
          </a:prstGeom>
          <a:solidFill>
            <a:schemeClr val="bg2"/>
          </a:solidFill>
          <a:ln/>
        </p:spPr>
      </p:sp>
      <p:sp>
        <p:nvSpPr>
          <p:cNvPr id="17" name="Symbolkreis"/>
          <p:cNvSpPr/>
          <p:nvPr/>
        </p:nvSpPr>
        <p:spPr>
          <a:xfrm>
            <a:off x="6391656" y="1508760"/>
            <a:ext cx="566928" cy="566928"/>
          </a:xfrm>
          <a:prstGeom prst="ellipse">
            <a:avLst/>
          </a:prstGeom>
          <a:solidFill>
            <a:schemeClr val="accent1"/>
          </a:solidFill>
          <a:ln/>
        </p:spPr>
      </p:sp>
      <p:pic>
        <p:nvPicPr>
          <p:cNvPr id="18" name="Symbol" descr="preencoded.png">    </p:cNvPr>
          <p:cNvPicPr>
            <a:picLocks noChangeAspect="1"/>
          </p:cNvPicPr>
          <p:nvPr/>
        </p:nvPicPr>
        <p:blipFill>
          <a:blip r:embed="rId4"/>
          <a:stretch>
            <a:fillRect/>
          </a:stretch>
        </p:blipFill>
        <p:spPr>
          <a:xfrm>
            <a:off x="6533388" y="1650492"/>
            <a:ext cx="283464" cy="283464"/>
          </a:xfrm>
          <a:prstGeom prst="rect">
            <a:avLst/>
          </a:prstGeom>
        </p:spPr>
      </p:pic>
      <p:sp>
        <p:nvSpPr>
          <p:cNvPr id="19" name="Text 13"/>
          <p:cNvSpPr txBox="1"/>
          <p:nvPr/>
        </p:nvSpPr>
        <p:spPr>
          <a:xfrm>
            <a:off x="6391656" y="2194560"/>
            <a:ext cx="2286000" cy="566928"/>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3–6 %</a:t>
            </a:r>
            <a:endParaRPr lang="en-US" sz="3200" dirty="0"/>
          </a:p>
        </p:txBody>
      </p:sp>
      <p:sp>
        <p:nvSpPr>
          <p:cNvPr id="20" name="Text 14"/>
          <p:cNvSpPr txBox="1"/>
          <p:nvPr/>
        </p:nvSpPr>
        <p:spPr>
          <a:xfrm>
            <a:off x="6391656" y="2788920"/>
            <a:ext cx="2286000" cy="640080"/>
          </a:xfrm>
          <a:prstGeom prst="rect">
            <a:avLst/>
          </a:prstGeom>
          <a:noFill/>
          <a:ln/>
        </p:spPr>
        <p:txBody>
          <a:bodyPr wrap="square" lIns="0" tIns="0" rIns="0" bIns="0" rtlCol="0" anchor="t"/>
          <a:lstStyle/>
          <a:p>
            <a:pPr indent="0" marL="0">
              <a:buNone/>
            </a:pPr>
            <a:r>
              <a:rPr lang="en-US" sz="1300" dirty="0">
                <a:solidFill>
                  <a:schemeClr val="tx1"/>
                </a:solidFill>
              </a:rPr>
              <a:t>vom Umsatz an den externen Abrechnungsdienstleister</a:t>
            </a:r>
            <a:endParaRPr lang="en-US" sz="1300" dirty="0"/>
          </a:p>
        </p:txBody>
      </p:sp>
      <p:sp>
        <p:nvSpPr>
          <p:cNvPr id="21" name="Kennzahl"/>
          <p:cNvSpPr/>
          <p:nvPr/>
        </p:nvSpPr>
        <p:spPr>
          <a:xfrm>
            <a:off x="8970264" y="1325880"/>
            <a:ext cx="2651760" cy="2148840"/>
          </a:xfrm>
          <a:prstGeom prst="roundRect">
            <a:avLst>
              <a:gd name="adj" fmla="val 3404"/>
            </a:avLst>
          </a:prstGeom>
          <a:solidFill>
            <a:schemeClr val="bg2"/>
          </a:solidFill>
          <a:ln/>
        </p:spPr>
      </p:sp>
      <p:sp>
        <p:nvSpPr>
          <p:cNvPr id="22" name="Symbolkreis"/>
          <p:cNvSpPr/>
          <p:nvPr/>
        </p:nvSpPr>
        <p:spPr>
          <a:xfrm>
            <a:off x="9198864" y="1508760"/>
            <a:ext cx="566928" cy="566928"/>
          </a:xfrm>
          <a:prstGeom prst="ellipse">
            <a:avLst/>
          </a:prstGeom>
          <a:solidFill>
            <a:schemeClr val="accent1"/>
          </a:solidFill>
          <a:ln/>
        </p:spPr>
      </p:sp>
      <p:pic>
        <p:nvPicPr>
          <p:cNvPr id="23" name="Symbol" descr="preencoded.png">    </p:cNvPr>
          <p:cNvPicPr>
            <a:picLocks noChangeAspect="1"/>
          </p:cNvPicPr>
          <p:nvPr/>
        </p:nvPicPr>
        <p:blipFill>
          <a:blip r:embed="rId5"/>
          <a:stretch>
            <a:fillRect/>
          </a:stretch>
        </p:blipFill>
        <p:spPr>
          <a:xfrm>
            <a:off x="9340596" y="1650492"/>
            <a:ext cx="283464" cy="283464"/>
          </a:xfrm>
          <a:prstGeom prst="rect">
            <a:avLst/>
          </a:prstGeom>
        </p:spPr>
      </p:pic>
      <p:sp>
        <p:nvSpPr>
          <p:cNvPr id="24" name="Text 17"/>
          <p:cNvSpPr txBox="1"/>
          <p:nvPr/>
        </p:nvSpPr>
        <p:spPr>
          <a:xfrm>
            <a:off x="9198864" y="2194560"/>
            <a:ext cx="2286000" cy="566928"/>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keine</a:t>
            </a:r>
            <a:endParaRPr lang="en-US" sz="3200" dirty="0"/>
          </a:p>
        </p:txBody>
      </p:sp>
      <p:sp>
        <p:nvSpPr>
          <p:cNvPr id="25" name="Text 18"/>
          <p:cNvSpPr txBox="1"/>
          <p:nvPr/>
        </p:nvSpPr>
        <p:spPr>
          <a:xfrm>
            <a:off x="9198864" y="2788920"/>
            <a:ext cx="2286000" cy="640080"/>
          </a:xfrm>
          <a:prstGeom prst="rect">
            <a:avLst/>
          </a:prstGeom>
          <a:noFill/>
          <a:ln/>
        </p:spPr>
        <p:txBody>
          <a:bodyPr wrap="square" lIns="0" tIns="0" rIns="0" bIns="0" rtlCol="0" anchor="t"/>
          <a:lstStyle/>
          <a:p>
            <a:pPr indent="0" marL="0">
              <a:buNone/>
            </a:pPr>
            <a:r>
              <a:rPr lang="en-US" sz="1300" dirty="0">
                <a:solidFill>
                  <a:schemeClr val="tx1"/>
                </a:solidFill>
              </a:rPr>
              <a:t>KI im Prüfprozess; die Praxissoftware verwaltet, prüft aber nicht</a:t>
            </a:r>
            <a:endParaRPr lang="en-US" sz="1300" dirty="0"/>
          </a:p>
        </p:txBody>
      </p:sp>
      <p:sp>
        <p:nvSpPr>
          <p:cNvPr id="26" name="Rahmen"/>
          <p:cNvSpPr/>
          <p:nvPr/>
        </p:nvSpPr>
        <p:spPr>
          <a:xfrm>
            <a:off x="548640" y="3703320"/>
            <a:ext cx="11091672" cy="2194560"/>
          </a:xfrm>
          <a:prstGeom prst="roundRect">
            <a:avLst>
              <a:gd name="adj" fmla="val 3333"/>
            </a:avLst>
          </a:prstGeom>
          <a:solidFill>
            <a:schemeClr val="tx2"/>
          </a:solidFill>
          <a:ln/>
        </p:spPr>
      </p:sp>
      <p:sp>
        <p:nvSpPr>
          <p:cNvPr id="27" name="Text 20"/>
          <p:cNvSpPr txBox="1"/>
          <p:nvPr/>
        </p:nvSpPr>
        <p:spPr>
          <a:xfrm>
            <a:off x="868680" y="3840480"/>
            <a:ext cx="7315200" cy="38404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Warum die Verordnung so wichtig ist</a:t>
            </a:r>
            <a:endParaRPr lang="en-US" sz="1800" dirty="0"/>
          </a:p>
        </p:txBody>
      </p:sp>
      <p:sp>
        <p:nvSpPr>
          <p:cNvPr id="28" name="Text 21"/>
          <p:cNvSpPr txBox="1"/>
          <p:nvPr/>
        </p:nvSpPr>
        <p:spPr>
          <a:xfrm>
            <a:off x="868680" y="4343400"/>
            <a:ext cx="10424160" cy="14630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bg1"/>
                </a:solidFill>
              </a:rPr>
              <a:t>Jede Behandlung zu Lasten der Krankenkasse braucht eine gültige ärztliche Verordnung (Muster 13).</a:t>
            </a:r>
            <a:endParaRPr lang="en-US" sz="1400" dirty="0"/>
          </a:p>
          <a:p>
            <a:pPr marL="177800" indent="-177800">
              <a:spcAft>
                <a:spcPts val="500"/>
              </a:spcAft>
              <a:buSzPct val="100000"/>
              <a:buChar char="•"/>
            </a:pPr>
            <a:r>
              <a:rPr lang="en-US" sz="1500" dirty="0">
                <a:solidFill>
                  <a:schemeClr val="bg1"/>
                </a:solidFill>
              </a:rPr>
              <a:t>Ob sie gültig ist, regeln öffentliche Regelwerke: Heilmittel-Richtlinie und Heilmittelkatalog des G-BA, Diagnoseliste der KBV.</a:t>
            </a:r>
            <a:endParaRPr lang="en-US" sz="1400" dirty="0"/>
          </a:p>
          <a:p>
            <a:pPr marL="177800" indent="-177800">
              <a:spcAft>
                <a:spcPts val="500"/>
              </a:spcAft>
              <a:buSzPct val="100000"/>
              <a:buChar char="•"/>
            </a:pPr>
            <a:r>
              <a:rPr lang="en-US" sz="1500" dirty="0">
                <a:solidFill>
                  <a:schemeClr val="bg1"/>
                </a:solidFill>
              </a:rPr>
              <a:t>Ist die Verordnung fehlerhaft, behandelt die Praxis auf eigenes Risiko: Die Kasse kann die Vergütung kürzen (Absetzung).</a:t>
            </a:r>
            <a:endParaRPr lang="en-US" sz="1400" dirty="0"/>
          </a:p>
        </p:txBody>
      </p:sp>
      <p:sp>
        <p:nvSpPr>
          <p:cNvPr id="29" name="Text 22"/>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 Field Study, Ist-Interview mit der Mitinhaberin (anonym) am 16.10.2026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Ist-Situation: So prüft die Praxis heute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Prozessschritt"/>
          <p:cNvSpPr/>
          <p:nvPr/>
        </p:nvSpPr>
        <p:spPr>
          <a:xfrm>
            <a:off x="548640" y="1325880"/>
            <a:ext cx="2011680" cy="2011680"/>
          </a:xfrm>
          <a:prstGeom prst="roundRect">
            <a:avLst>
              <a:gd name="adj" fmla="val 3636"/>
            </a:avLst>
          </a:prstGeom>
          <a:solidFill>
            <a:schemeClr val="bg2"/>
          </a:solidFill>
          <a:ln/>
        </p:spPr>
      </p:sp>
      <p:sp>
        <p:nvSpPr>
          <p:cNvPr id="7" name="Symbolkreis"/>
          <p:cNvSpPr/>
          <p:nvPr/>
        </p:nvSpPr>
        <p:spPr>
          <a:xfrm>
            <a:off x="1225296" y="1481328"/>
            <a:ext cx="658368" cy="658368"/>
          </a:xfrm>
          <a:prstGeom prst="ellipse">
            <a:avLst/>
          </a:prstGeom>
          <a:solidFill>
            <a:schemeClr val="accent1"/>
          </a:solidFill>
          <a:ln/>
        </p:spPr>
      </p:sp>
      <p:pic>
        <p:nvPicPr>
          <p:cNvPr id="8" name="Symbol" descr="preencoded.png">    </p:cNvPr>
          <p:cNvPicPr>
            <a:picLocks noChangeAspect="1"/>
          </p:cNvPicPr>
          <p:nvPr/>
        </p:nvPicPr>
        <p:blipFill>
          <a:blip r:embed="rId2"/>
          <a:stretch>
            <a:fillRect/>
          </a:stretch>
        </p:blipFill>
        <p:spPr>
          <a:xfrm>
            <a:off x="1389888" y="1645920"/>
            <a:ext cx="329184" cy="329184"/>
          </a:xfrm>
          <a:prstGeom prst="rect">
            <a:avLst/>
          </a:prstGeom>
        </p:spPr>
      </p:pic>
      <p:sp>
        <p:nvSpPr>
          <p:cNvPr id="9" name="Text 5"/>
          <p:cNvSpPr txBox="1"/>
          <p:nvPr/>
        </p:nvSpPr>
        <p:spPr>
          <a:xfrm>
            <a:off x="64008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Annahme</a:t>
            </a:r>
            <a:endParaRPr lang="en-US" sz="1500" dirty="0"/>
          </a:p>
        </p:txBody>
      </p:sp>
      <p:sp>
        <p:nvSpPr>
          <p:cNvPr id="10" name="Text 6"/>
          <p:cNvSpPr txBox="1"/>
          <p:nvPr/>
        </p:nvSpPr>
        <p:spPr>
          <a:xfrm>
            <a:off x="64008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Rezeption prüft die Verordnung</a:t>
            </a:r>
            <a:endParaRPr lang="en-US" sz="1200" dirty="0"/>
          </a:p>
        </p:txBody>
      </p:sp>
      <p:sp>
        <p:nvSpPr>
          <p:cNvPr id="11" name="Text 7"/>
          <p:cNvSpPr txBox="1"/>
          <p:nvPr/>
        </p:nvSpPr>
        <p:spPr>
          <a:xfrm>
            <a:off x="64008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Ø 6 min</a:t>
            </a:r>
            <a:endParaRPr lang="en-US" sz="1300" dirty="0"/>
          </a:p>
        </p:txBody>
      </p:sp>
      <p:sp>
        <p:nvSpPr>
          <p:cNvPr id="12" name="Pfeil"/>
          <p:cNvSpPr/>
          <p:nvPr/>
        </p:nvSpPr>
        <p:spPr>
          <a:xfrm rot="5400000">
            <a:off x="2569464" y="2258568"/>
            <a:ext cx="237744" cy="146304"/>
          </a:xfrm>
          <a:prstGeom prst="triangle">
            <a:avLst/>
          </a:prstGeom>
          <a:solidFill>
            <a:schemeClr val="accent5"/>
          </a:solidFill>
          <a:ln/>
        </p:spPr>
      </p:sp>
      <p:sp>
        <p:nvSpPr>
          <p:cNvPr id="13" name="Prozessschritt"/>
          <p:cNvSpPr/>
          <p:nvPr/>
        </p:nvSpPr>
        <p:spPr>
          <a:xfrm>
            <a:off x="2811780" y="1325880"/>
            <a:ext cx="2011680" cy="2011680"/>
          </a:xfrm>
          <a:prstGeom prst="roundRect">
            <a:avLst>
              <a:gd name="adj" fmla="val 3636"/>
            </a:avLst>
          </a:prstGeom>
          <a:solidFill>
            <a:schemeClr val="bg2"/>
          </a:solidFill>
          <a:ln/>
        </p:spPr>
      </p:sp>
      <p:sp>
        <p:nvSpPr>
          <p:cNvPr id="14" name="Symbolkreis"/>
          <p:cNvSpPr/>
          <p:nvPr/>
        </p:nvSpPr>
        <p:spPr>
          <a:xfrm>
            <a:off x="3488436" y="1481328"/>
            <a:ext cx="658368" cy="658368"/>
          </a:xfrm>
          <a:prstGeom prst="ellipse">
            <a:avLst/>
          </a:prstGeom>
          <a:solidFill>
            <a:schemeClr val="accent5"/>
          </a:solidFill>
          <a:ln/>
        </p:spPr>
      </p:sp>
      <p:pic>
        <p:nvPicPr>
          <p:cNvPr id="15" name="Symbol" descr="preencoded.png">    </p:cNvPr>
          <p:cNvPicPr>
            <a:picLocks noChangeAspect="1"/>
          </p:cNvPicPr>
          <p:nvPr/>
        </p:nvPicPr>
        <p:blipFill>
          <a:blip r:embed="rId3"/>
          <a:stretch>
            <a:fillRect/>
          </a:stretch>
        </p:blipFill>
        <p:spPr>
          <a:xfrm>
            <a:off x="3653028" y="1645920"/>
            <a:ext cx="329184" cy="329184"/>
          </a:xfrm>
          <a:prstGeom prst="rect">
            <a:avLst/>
          </a:prstGeom>
        </p:spPr>
      </p:pic>
      <p:sp>
        <p:nvSpPr>
          <p:cNvPr id="16" name="Text 11"/>
          <p:cNvSpPr txBox="1"/>
          <p:nvPr/>
        </p:nvSpPr>
        <p:spPr>
          <a:xfrm>
            <a:off x="290322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Behandlung</a:t>
            </a:r>
            <a:endParaRPr lang="en-US" sz="1500" dirty="0"/>
          </a:p>
        </p:txBody>
      </p:sp>
      <p:sp>
        <p:nvSpPr>
          <p:cNvPr id="17" name="Text 12"/>
          <p:cNvSpPr txBox="1"/>
          <p:nvPr/>
        </p:nvSpPr>
        <p:spPr>
          <a:xfrm>
            <a:off x="290322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Leistung wird erbracht</a:t>
            </a:r>
            <a:endParaRPr lang="en-US" sz="1200" dirty="0"/>
          </a:p>
        </p:txBody>
      </p:sp>
      <p:sp>
        <p:nvSpPr>
          <p:cNvPr id="18" name="Pfeil"/>
          <p:cNvSpPr/>
          <p:nvPr/>
        </p:nvSpPr>
        <p:spPr>
          <a:xfrm rot="5400000">
            <a:off x="4832604" y="2258568"/>
            <a:ext cx="237744" cy="146304"/>
          </a:xfrm>
          <a:prstGeom prst="triangle">
            <a:avLst/>
          </a:prstGeom>
          <a:solidFill>
            <a:schemeClr val="accent5"/>
          </a:solidFill>
          <a:ln/>
        </p:spPr>
      </p:sp>
      <p:sp>
        <p:nvSpPr>
          <p:cNvPr id="19" name="Prozessschritt"/>
          <p:cNvSpPr/>
          <p:nvPr/>
        </p:nvSpPr>
        <p:spPr>
          <a:xfrm>
            <a:off x="5074920" y="1325880"/>
            <a:ext cx="2011680" cy="2011680"/>
          </a:xfrm>
          <a:prstGeom prst="roundRect">
            <a:avLst>
              <a:gd name="adj" fmla="val 3636"/>
            </a:avLst>
          </a:prstGeom>
          <a:solidFill>
            <a:schemeClr val="bg2"/>
          </a:solidFill>
          <a:ln/>
        </p:spPr>
      </p:sp>
      <p:sp>
        <p:nvSpPr>
          <p:cNvPr id="20" name="Symbolkreis"/>
          <p:cNvSpPr/>
          <p:nvPr/>
        </p:nvSpPr>
        <p:spPr>
          <a:xfrm>
            <a:off x="5751576" y="1481328"/>
            <a:ext cx="658368" cy="658368"/>
          </a:xfrm>
          <a:prstGeom prst="ellipse">
            <a:avLst/>
          </a:prstGeom>
          <a:solidFill>
            <a:schemeClr val="accent1"/>
          </a:solidFill>
          <a:ln/>
        </p:spPr>
      </p:sp>
      <p:pic>
        <p:nvPicPr>
          <p:cNvPr id="21" name="Symbol" descr="preencoded.png">    </p:cNvPr>
          <p:cNvPicPr>
            <a:picLocks noChangeAspect="1"/>
          </p:cNvPicPr>
          <p:nvPr/>
        </p:nvPicPr>
        <p:blipFill>
          <a:blip r:embed="rId4"/>
          <a:stretch>
            <a:fillRect/>
          </a:stretch>
        </p:blipFill>
        <p:spPr>
          <a:xfrm>
            <a:off x="5916168" y="1645920"/>
            <a:ext cx="329184" cy="329184"/>
          </a:xfrm>
          <a:prstGeom prst="rect">
            <a:avLst/>
          </a:prstGeom>
        </p:spPr>
      </p:pic>
      <p:sp>
        <p:nvSpPr>
          <p:cNvPr id="22" name="Text 16"/>
          <p:cNvSpPr txBox="1"/>
          <p:nvPr/>
        </p:nvSpPr>
        <p:spPr>
          <a:xfrm>
            <a:off x="516636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Schlussprüfung</a:t>
            </a:r>
            <a:endParaRPr lang="en-US" sz="1500" dirty="0"/>
          </a:p>
        </p:txBody>
      </p:sp>
      <p:sp>
        <p:nvSpPr>
          <p:cNvPr id="23" name="Text 17"/>
          <p:cNvSpPr txBox="1"/>
          <p:nvPr/>
        </p:nvSpPr>
        <p:spPr>
          <a:xfrm>
            <a:off x="516636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vor der Abrechnung</a:t>
            </a:r>
            <a:endParaRPr lang="en-US" sz="1200" dirty="0"/>
          </a:p>
        </p:txBody>
      </p:sp>
      <p:sp>
        <p:nvSpPr>
          <p:cNvPr id="24" name="Text 18"/>
          <p:cNvSpPr txBox="1"/>
          <p:nvPr/>
        </p:nvSpPr>
        <p:spPr>
          <a:xfrm>
            <a:off x="516636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2 min</a:t>
            </a:r>
            <a:endParaRPr lang="en-US" sz="1300" dirty="0"/>
          </a:p>
        </p:txBody>
      </p:sp>
      <p:sp>
        <p:nvSpPr>
          <p:cNvPr id="25" name="Pfeil"/>
          <p:cNvSpPr/>
          <p:nvPr/>
        </p:nvSpPr>
        <p:spPr>
          <a:xfrm rot="5400000">
            <a:off x="7095744" y="2258568"/>
            <a:ext cx="237744" cy="146304"/>
          </a:xfrm>
          <a:prstGeom prst="triangle">
            <a:avLst/>
          </a:prstGeom>
          <a:solidFill>
            <a:schemeClr val="accent5"/>
          </a:solidFill>
          <a:ln/>
        </p:spPr>
      </p:sp>
      <p:sp>
        <p:nvSpPr>
          <p:cNvPr id="26" name="Prozessschritt"/>
          <p:cNvSpPr/>
          <p:nvPr/>
        </p:nvSpPr>
        <p:spPr>
          <a:xfrm>
            <a:off x="7338060" y="1325880"/>
            <a:ext cx="2011680" cy="2011680"/>
          </a:xfrm>
          <a:prstGeom prst="roundRect">
            <a:avLst>
              <a:gd name="adj" fmla="val 3636"/>
            </a:avLst>
          </a:prstGeom>
          <a:solidFill>
            <a:schemeClr val="bg2"/>
          </a:solidFill>
          <a:ln/>
        </p:spPr>
      </p:sp>
      <p:sp>
        <p:nvSpPr>
          <p:cNvPr id="27" name="Symbolkreis"/>
          <p:cNvSpPr/>
          <p:nvPr/>
        </p:nvSpPr>
        <p:spPr>
          <a:xfrm>
            <a:off x="8014716" y="1481328"/>
            <a:ext cx="658368" cy="658368"/>
          </a:xfrm>
          <a:prstGeom prst="ellipse">
            <a:avLst/>
          </a:prstGeom>
          <a:solidFill>
            <a:schemeClr val="accent5"/>
          </a:solidFill>
          <a:ln/>
        </p:spPr>
      </p:sp>
      <p:pic>
        <p:nvPicPr>
          <p:cNvPr id="28" name="Symbol" descr="preencoded.png">    </p:cNvPr>
          <p:cNvPicPr>
            <a:picLocks noChangeAspect="1"/>
          </p:cNvPicPr>
          <p:nvPr/>
        </p:nvPicPr>
        <p:blipFill>
          <a:blip r:embed="rId5"/>
          <a:stretch>
            <a:fillRect/>
          </a:stretch>
        </p:blipFill>
        <p:spPr>
          <a:xfrm>
            <a:off x="8179308" y="1645920"/>
            <a:ext cx="329184" cy="329184"/>
          </a:xfrm>
          <a:prstGeom prst="rect">
            <a:avLst/>
          </a:prstGeom>
        </p:spPr>
      </p:pic>
      <p:sp>
        <p:nvSpPr>
          <p:cNvPr id="29" name="Text 22"/>
          <p:cNvSpPr txBox="1"/>
          <p:nvPr/>
        </p:nvSpPr>
        <p:spPr>
          <a:xfrm>
            <a:off x="742950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Dienstleister</a:t>
            </a:r>
            <a:endParaRPr lang="en-US" sz="1500" dirty="0"/>
          </a:p>
        </p:txBody>
      </p:sp>
      <p:sp>
        <p:nvSpPr>
          <p:cNvPr id="30" name="Text 23"/>
          <p:cNvSpPr txBox="1"/>
          <p:nvPr/>
        </p:nvSpPr>
        <p:spPr>
          <a:xfrm>
            <a:off x="742950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rechnet ab</a:t>
            </a:r>
            <a:endParaRPr lang="en-US" sz="1200" dirty="0"/>
          </a:p>
        </p:txBody>
      </p:sp>
      <p:sp>
        <p:nvSpPr>
          <p:cNvPr id="31" name="Text 24"/>
          <p:cNvSpPr txBox="1"/>
          <p:nvPr/>
        </p:nvSpPr>
        <p:spPr>
          <a:xfrm>
            <a:off x="742950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3–6 % vom Umsatz</a:t>
            </a:r>
            <a:endParaRPr lang="en-US" sz="1300" dirty="0"/>
          </a:p>
        </p:txBody>
      </p:sp>
      <p:sp>
        <p:nvSpPr>
          <p:cNvPr id="32" name="Pfeil"/>
          <p:cNvSpPr/>
          <p:nvPr/>
        </p:nvSpPr>
        <p:spPr>
          <a:xfrm rot="5400000">
            <a:off x="9358884" y="2258568"/>
            <a:ext cx="237744" cy="146304"/>
          </a:xfrm>
          <a:prstGeom prst="triangle">
            <a:avLst/>
          </a:prstGeom>
          <a:solidFill>
            <a:schemeClr val="accent5"/>
          </a:solidFill>
          <a:ln/>
        </p:spPr>
      </p:sp>
      <p:sp>
        <p:nvSpPr>
          <p:cNvPr id="33" name="Prozessschritt"/>
          <p:cNvSpPr/>
          <p:nvPr/>
        </p:nvSpPr>
        <p:spPr>
          <a:xfrm>
            <a:off x="9601200" y="1325880"/>
            <a:ext cx="2011680" cy="2011680"/>
          </a:xfrm>
          <a:prstGeom prst="roundRect">
            <a:avLst>
              <a:gd name="adj" fmla="val 3636"/>
            </a:avLst>
          </a:prstGeom>
          <a:solidFill>
            <a:schemeClr val="bg2"/>
          </a:solidFill>
          <a:ln/>
        </p:spPr>
      </p:sp>
      <p:sp>
        <p:nvSpPr>
          <p:cNvPr id="34" name="Symbolkreis"/>
          <p:cNvSpPr/>
          <p:nvPr/>
        </p:nvSpPr>
        <p:spPr>
          <a:xfrm>
            <a:off x="10277856" y="1481328"/>
            <a:ext cx="658368" cy="658368"/>
          </a:xfrm>
          <a:prstGeom prst="ellipse">
            <a:avLst/>
          </a:prstGeom>
          <a:solidFill>
            <a:schemeClr val="accent5"/>
          </a:solidFill>
          <a:ln/>
        </p:spPr>
      </p:sp>
      <p:pic>
        <p:nvPicPr>
          <p:cNvPr id="35" name="Symbol" descr="preencoded.png">    </p:cNvPr>
          <p:cNvPicPr>
            <a:picLocks noChangeAspect="1"/>
          </p:cNvPicPr>
          <p:nvPr/>
        </p:nvPicPr>
        <p:blipFill>
          <a:blip r:embed="rId6"/>
          <a:stretch>
            <a:fillRect/>
          </a:stretch>
        </p:blipFill>
        <p:spPr>
          <a:xfrm>
            <a:off x="10442448" y="1645920"/>
            <a:ext cx="329184" cy="329184"/>
          </a:xfrm>
          <a:prstGeom prst="rect">
            <a:avLst/>
          </a:prstGeom>
        </p:spPr>
      </p:pic>
      <p:sp>
        <p:nvSpPr>
          <p:cNvPr id="36" name="Text 28"/>
          <p:cNvSpPr txBox="1"/>
          <p:nvPr/>
        </p:nvSpPr>
        <p:spPr>
          <a:xfrm>
            <a:off x="969264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Krankenkasse</a:t>
            </a:r>
            <a:endParaRPr lang="en-US" sz="1500" dirty="0"/>
          </a:p>
        </p:txBody>
      </p:sp>
      <p:sp>
        <p:nvSpPr>
          <p:cNvPr id="37" name="Text 29"/>
          <p:cNvSpPr txBox="1"/>
          <p:nvPr/>
        </p:nvSpPr>
        <p:spPr>
          <a:xfrm>
            <a:off x="969264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kürzt bei Fehlern</a:t>
            </a:r>
            <a:endParaRPr lang="en-US" sz="1200" dirty="0"/>
          </a:p>
        </p:txBody>
      </p:sp>
      <p:sp>
        <p:nvSpPr>
          <p:cNvPr id="38" name="Text 30"/>
          <p:cNvSpPr txBox="1"/>
          <p:nvPr/>
        </p:nvSpPr>
        <p:spPr>
          <a:xfrm>
            <a:off x="969264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10 Fälle/Jahr</a:t>
            </a:r>
            <a:endParaRPr lang="en-US" sz="1300" dirty="0"/>
          </a:p>
        </p:txBody>
      </p:sp>
      <p:sp>
        <p:nvSpPr>
          <p:cNvPr id="39" name="Kennzahl"/>
          <p:cNvSpPr/>
          <p:nvPr/>
        </p:nvSpPr>
        <p:spPr>
          <a:xfrm>
            <a:off x="548640" y="3657600"/>
            <a:ext cx="3566160" cy="2194560"/>
          </a:xfrm>
          <a:prstGeom prst="roundRect">
            <a:avLst>
              <a:gd name="adj" fmla="val 3333"/>
            </a:avLst>
          </a:prstGeom>
          <a:solidFill>
            <a:schemeClr val="tx2"/>
          </a:solidFill>
          <a:ln/>
        </p:spPr>
      </p:sp>
      <p:sp>
        <p:nvSpPr>
          <p:cNvPr id="40" name="Text 32"/>
          <p:cNvSpPr txBox="1"/>
          <p:nvPr/>
        </p:nvSpPr>
        <p:spPr>
          <a:xfrm>
            <a:off x="82296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90 %</a:t>
            </a:r>
            <a:endParaRPr lang="en-US" sz="4800" dirty="0"/>
          </a:p>
        </p:txBody>
      </p:sp>
      <p:sp>
        <p:nvSpPr>
          <p:cNvPr id="41" name="Text 33"/>
          <p:cNvSpPr txBox="1"/>
          <p:nvPr/>
        </p:nvSpPr>
        <p:spPr>
          <a:xfrm>
            <a:off x="82296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der Fehler entstehen bei Doppel- und Folgeverordnungen</a:t>
            </a:r>
            <a:endParaRPr lang="en-US" sz="1500" dirty="0"/>
          </a:p>
        </p:txBody>
      </p:sp>
      <p:sp>
        <p:nvSpPr>
          <p:cNvPr id="42" name="Kennzahl"/>
          <p:cNvSpPr/>
          <p:nvPr/>
        </p:nvSpPr>
        <p:spPr>
          <a:xfrm>
            <a:off x="4297680" y="3657600"/>
            <a:ext cx="3566160" cy="2194560"/>
          </a:xfrm>
          <a:prstGeom prst="roundRect">
            <a:avLst>
              <a:gd name="adj" fmla="val 3333"/>
            </a:avLst>
          </a:prstGeom>
          <a:solidFill>
            <a:schemeClr val="tx2"/>
          </a:solidFill>
          <a:ln/>
        </p:spPr>
      </p:sp>
      <p:sp>
        <p:nvSpPr>
          <p:cNvPr id="43" name="Text 35"/>
          <p:cNvSpPr txBox="1"/>
          <p:nvPr/>
        </p:nvSpPr>
        <p:spPr>
          <a:xfrm>
            <a:off x="457200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 85 %</a:t>
            </a:r>
            <a:endParaRPr lang="en-US" sz="4800" dirty="0"/>
          </a:p>
        </p:txBody>
      </p:sp>
      <p:sp>
        <p:nvSpPr>
          <p:cNvPr id="44" name="Text 36"/>
          <p:cNvSpPr txBox="1"/>
          <p:nvPr/>
        </p:nvSpPr>
        <p:spPr>
          <a:xfrm>
            <a:off x="457200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Wirksamkeit menschlicher Doppelkontrollen</a:t>
            </a:r>
            <a:endParaRPr lang="en-US" sz="1500" dirty="0"/>
          </a:p>
        </p:txBody>
      </p:sp>
      <p:sp>
        <p:nvSpPr>
          <p:cNvPr id="45" name="Kennzahl"/>
          <p:cNvSpPr/>
          <p:nvPr/>
        </p:nvSpPr>
        <p:spPr>
          <a:xfrm>
            <a:off x="8046720" y="3657600"/>
            <a:ext cx="3566160" cy="2194560"/>
          </a:xfrm>
          <a:prstGeom prst="roundRect">
            <a:avLst>
              <a:gd name="adj" fmla="val 3333"/>
            </a:avLst>
          </a:prstGeom>
          <a:solidFill>
            <a:schemeClr val="tx2"/>
          </a:solidFill>
          <a:ln/>
        </p:spPr>
      </p:sp>
      <p:sp>
        <p:nvSpPr>
          <p:cNvPr id="46" name="Text 38"/>
          <p:cNvSpPr txBox="1"/>
          <p:nvPr/>
        </p:nvSpPr>
        <p:spPr>
          <a:xfrm>
            <a:off x="832104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5,3 h</a:t>
            </a:r>
            <a:endParaRPr lang="en-US" sz="4800" dirty="0"/>
          </a:p>
        </p:txBody>
      </p:sp>
      <p:sp>
        <p:nvSpPr>
          <p:cNvPr id="47" name="Text 39"/>
          <p:cNvSpPr txBox="1"/>
          <p:nvPr/>
        </p:nvSpPr>
        <p:spPr>
          <a:xfrm>
            <a:off x="832104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Prüfzeit pro Woche: 40 Verordnungen × 8 min</a:t>
            </a:r>
            <a:endParaRPr lang="en-US" sz="1500" dirty="0"/>
          </a:p>
        </p:txBody>
      </p:sp>
      <p:sp>
        <p:nvSpPr>
          <p:cNvPr id="48" name="Text 40"/>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 Field Study, Ist-Interview am 16.10.2026 · Die Praxissoftware zeigt nicht, wie viele Einheiten ein Patient beim selben Arzt schon hatte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Einsatzfelder: erst die Landkarte, dann der Pilot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Matrix"/>
          <p:cNvSpPr/>
          <p:nvPr/>
        </p:nvSpPr>
        <p:spPr>
          <a:xfrm>
            <a:off x="1965960" y="1325880"/>
            <a:ext cx="5074920" cy="3611880"/>
          </a:xfrm>
          <a:prstGeom prst="roundRect">
            <a:avLst>
              <a:gd name="adj" fmla="val 2025"/>
            </a:avLst>
          </a:prstGeom>
          <a:solidFill>
            <a:schemeClr val="bg2"/>
          </a:solidFill>
          <a:ln/>
        </p:spPr>
      </p:sp>
      <p:sp>
        <p:nvSpPr>
          <p:cNvPr id="9" name="Hilfslinie"/>
          <p:cNvSpPr/>
          <p:nvPr/>
        </p:nvSpPr>
        <p:spPr>
          <a:xfrm>
            <a:off x="4503420" y="1463040"/>
            <a:ext cx="0" cy="3337560"/>
          </a:xfrm>
          <a:prstGeom prst="line">
            <a:avLst/>
          </a:prstGeom>
          <a:noFill/>
          <a:ln w="12700">
            <a:solidFill>
              <a:srgbClr val="C9D6D3"/>
            </a:solidFill>
            <a:prstDash val="dash"/>
          </a:ln>
        </p:spPr>
      </p:sp>
      <p:sp>
        <p:nvSpPr>
          <p:cNvPr id="10" name="Hilfslinie"/>
          <p:cNvSpPr/>
          <p:nvPr/>
        </p:nvSpPr>
        <p:spPr>
          <a:xfrm>
            <a:off x="2103120" y="3131820"/>
            <a:ext cx="4800600" cy="0"/>
          </a:xfrm>
          <a:prstGeom prst="line">
            <a:avLst/>
          </a:prstGeom>
          <a:noFill/>
          <a:ln w="12700">
            <a:solidFill>
              <a:srgbClr val="C9D6D3"/>
            </a:solidFill>
            <a:prstDash val="dash"/>
          </a:ln>
        </p:spPr>
      </p:sp>
      <p:sp>
        <p:nvSpPr>
          <p:cNvPr id="11" name="Achse Nutzen"/>
          <p:cNvSpPr/>
          <p:nvPr/>
        </p:nvSpPr>
        <p:spPr>
          <a:xfrm flipV="1">
            <a:off x="1856232" y="1325880"/>
            <a:ext cx="0" cy="3611880"/>
          </a:xfrm>
          <a:prstGeom prst="line">
            <a:avLst/>
          </a:prstGeom>
          <a:noFill/>
          <a:ln w="25400">
            <a:solidFill>
              <a:srgbClr val="12343B"/>
            </a:solidFill>
            <a:prstDash val="solid"/>
            <a:tailEnd type="triangle"/>
          </a:ln>
        </p:spPr>
      </p:sp>
      <p:sp>
        <p:nvSpPr>
          <p:cNvPr id="12" name="Text 9"/>
          <p:cNvSpPr txBox="1"/>
          <p:nvPr/>
        </p:nvSpPr>
        <p:spPr>
          <a:xfrm>
            <a:off x="548640" y="1325880"/>
            <a:ext cx="1234440" cy="274320"/>
          </a:xfrm>
          <a:prstGeom prst="rect">
            <a:avLst/>
          </a:prstGeom>
          <a:noFill/>
          <a:ln/>
        </p:spPr>
        <p:txBody>
          <a:bodyPr wrap="square" lIns="0" tIns="0" rIns="0" bIns="0" rtlCol="0" anchor="t"/>
          <a:lstStyle/>
          <a:p>
            <a:pPr algn="r" indent="0" marL="0">
              <a:buNone/>
            </a:pPr>
            <a:r>
              <a:rPr lang="en-US" sz="1200" b="1" dirty="0">
                <a:solidFill>
                  <a:schemeClr val="accent5"/>
                </a:solidFill>
              </a:rPr>
              <a:t>hoch</a:t>
            </a:r>
            <a:endParaRPr lang="en-US" sz="1200" dirty="0"/>
          </a:p>
        </p:txBody>
      </p:sp>
      <p:sp>
        <p:nvSpPr>
          <p:cNvPr id="13" name="Text 10"/>
          <p:cNvSpPr txBox="1"/>
          <p:nvPr/>
        </p:nvSpPr>
        <p:spPr>
          <a:xfrm>
            <a:off x="548640" y="2240280"/>
            <a:ext cx="1234440" cy="365760"/>
          </a:xfrm>
          <a:prstGeom prst="rect">
            <a:avLst/>
          </a:prstGeom>
          <a:noFill/>
          <a:ln/>
        </p:spPr>
        <p:txBody>
          <a:bodyPr wrap="square" lIns="0" tIns="0" rIns="0" bIns="0" rtlCol="0" anchor="t"/>
          <a:lstStyle/>
          <a:p>
            <a:pPr algn="r" indent="0" marL="0">
              <a:buNone/>
            </a:pPr>
            <a:r>
              <a:rPr lang="en-US" sz="1800" b="1" dirty="0">
                <a:solidFill>
                  <a:schemeClr val="tx2"/>
                </a:solidFill>
                <a:latin typeface="Cambria" pitchFamily="34" charset="0"/>
                <a:ea typeface="Cambria" pitchFamily="34" charset="-122"/>
                <a:cs typeface="Cambria" pitchFamily="34" charset="-120"/>
              </a:rPr>
              <a:t>Nutzen</a:t>
            </a:r>
            <a:endParaRPr lang="en-US" sz="1800" dirty="0"/>
          </a:p>
        </p:txBody>
      </p:sp>
      <p:sp>
        <p:nvSpPr>
          <p:cNvPr id="14" name="Text 11"/>
          <p:cNvSpPr txBox="1"/>
          <p:nvPr/>
        </p:nvSpPr>
        <p:spPr>
          <a:xfrm>
            <a:off x="548640" y="2624328"/>
            <a:ext cx="1234440" cy="1188720"/>
          </a:xfrm>
          <a:prstGeom prst="rect">
            <a:avLst/>
          </a:prstGeom>
          <a:noFill/>
          <a:ln/>
        </p:spPr>
        <p:txBody>
          <a:bodyPr wrap="square" lIns="0" tIns="0" rIns="0" bIns="0" rtlCol="0" anchor="t"/>
          <a:lstStyle/>
          <a:p>
            <a:pPr algn="r" indent="0" marL="0">
              <a:buNone/>
            </a:pPr>
            <a:r>
              <a:rPr lang="en-US" sz="1200" dirty="0">
                <a:solidFill>
                  <a:schemeClr val="tx1"/>
                </a:solidFill>
              </a:rPr>
              <a:t>Zeit gespart, Fehler vermieden, Rezeption entlastet</a:t>
            </a:r>
            <a:endParaRPr lang="en-US" sz="1200" dirty="0"/>
          </a:p>
        </p:txBody>
      </p:sp>
      <p:sp>
        <p:nvSpPr>
          <p:cNvPr id="15" name="Text 12"/>
          <p:cNvSpPr txBox="1"/>
          <p:nvPr/>
        </p:nvSpPr>
        <p:spPr>
          <a:xfrm>
            <a:off x="548640" y="4663440"/>
            <a:ext cx="1234440" cy="274320"/>
          </a:xfrm>
          <a:prstGeom prst="rect">
            <a:avLst/>
          </a:prstGeom>
          <a:noFill/>
          <a:ln/>
        </p:spPr>
        <p:txBody>
          <a:bodyPr wrap="square" lIns="0" tIns="0" rIns="0" bIns="0" rtlCol="0" anchor="t"/>
          <a:lstStyle/>
          <a:p>
            <a:pPr algn="r" indent="0" marL="0">
              <a:buNone/>
            </a:pPr>
            <a:r>
              <a:rPr lang="en-US" sz="1200" b="1" dirty="0">
                <a:solidFill>
                  <a:schemeClr val="accent5"/>
                </a:solidFill>
              </a:rPr>
              <a:t>gering</a:t>
            </a:r>
            <a:endParaRPr lang="en-US" sz="1200" dirty="0"/>
          </a:p>
        </p:txBody>
      </p:sp>
      <p:sp>
        <p:nvSpPr>
          <p:cNvPr id="16" name="Achse Machbarkeit"/>
          <p:cNvSpPr/>
          <p:nvPr/>
        </p:nvSpPr>
        <p:spPr>
          <a:xfrm>
            <a:off x="1965960" y="5047488"/>
            <a:ext cx="5074920" cy="0"/>
          </a:xfrm>
          <a:prstGeom prst="line">
            <a:avLst/>
          </a:prstGeom>
          <a:noFill/>
          <a:ln w="25400">
            <a:solidFill>
              <a:srgbClr val="12343B"/>
            </a:solidFill>
            <a:prstDash val="solid"/>
            <a:tailEnd type="triangle"/>
          </a:ln>
        </p:spPr>
      </p:sp>
      <p:sp>
        <p:nvSpPr>
          <p:cNvPr id="17" name="Text 14"/>
          <p:cNvSpPr txBox="1"/>
          <p:nvPr/>
        </p:nvSpPr>
        <p:spPr>
          <a:xfrm>
            <a:off x="1965960" y="5120640"/>
            <a:ext cx="914400" cy="274320"/>
          </a:xfrm>
          <a:prstGeom prst="rect">
            <a:avLst/>
          </a:prstGeom>
          <a:noFill/>
          <a:ln/>
        </p:spPr>
        <p:txBody>
          <a:bodyPr wrap="square" lIns="0" tIns="0" rIns="0" bIns="0" rtlCol="0" anchor="t"/>
          <a:lstStyle/>
          <a:p>
            <a:pPr indent="0" marL="0">
              <a:buNone/>
            </a:pPr>
            <a:r>
              <a:rPr lang="en-US" sz="1200" b="1" dirty="0">
                <a:solidFill>
                  <a:schemeClr val="accent5"/>
                </a:solidFill>
              </a:rPr>
              <a:t>gering</a:t>
            </a:r>
            <a:endParaRPr lang="en-US" sz="1200" dirty="0"/>
          </a:p>
        </p:txBody>
      </p:sp>
      <p:sp>
        <p:nvSpPr>
          <p:cNvPr id="18" name="Text 15"/>
          <p:cNvSpPr txBox="1"/>
          <p:nvPr/>
        </p:nvSpPr>
        <p:spPr>
          <a:xfrm>
            <a:off x="6126480" y="5120640"/>
            <a:ext cx="914400" cy="274320"/>
          </a:xfrm>
          <a:prstGeom prst="rect">
            <a:avLst/>
          </a:prstGeom>
          <a:noFill/>
          <a:ln/>
        </p:spPr>
        <p:txBody>
          <a:bodyPr wrap="square" lIns="0" tIns="0" rIns="0" bIns="0" rtlCol="0" anchor="t"/>
          <a:lstStyle/>
          <a:p>
            <a:pPr algn="r" indent="0" marL="0">
              <a:buNone/>
            </a:pPr>
            <a:r>
              <a:rPr lang="en-US" sz="1200" b="1" dirty="0">
                <a:solidFill>
                  <a:schemeClr val="accent5"/>
                </a:solidFill>
              </a:rPr>
              <a:t>hoch</a:t>
            </a:r>
            <a:endParaRPr lang="en-US" sz="1200" dirty="0"/>
          </a:p>
        </p:txBody>
      </p:sp>
      <p:sp>
        <p:nvSpPr>
          <p:cNvPr id="19" name="Text 16"/>
          <p:cNvSpPr txBox="1"/>
          <p:nvPr/>
        </p:nvSpPr>
        <p:spPr>
          <a:xfrm>
            <a:off x="2880360" y="5120640"/>
            <a:ext cx="32461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Machbarkeit</a:t>
            </a:r>
            <a:endParaRPr lang="en-US" sz="1800" dirty="0"/>
          </a:p>
        </p:txBody>
      </p:sp>
      <p:sp>
        <p:nvSpPr>
          <p:cNvPr id="20" name="Text 17"/>
          <p:cNvSpPr txBox="1"/>
          <p:nvPr/>
        </p:nvSpPr>
        <p:spPr>
          <a:xfrm>
            <a:off x="1691640" y="5504688"/>
            <a:ext cx="5623560" cy="457200"/>
          </a:xfrm>
          <a:prstGeom prst="rect">
            <a:avLst/>
          </a:prstGeom>
          <a:noFill/>
          <a:ln/>
        </p:spPr>
        <p:txBody>
          <a:bodyPr wrap="square" lIns="0" tIns="0" rIns="0" bIns="0" rtlCol="0" anchor="t"/>
          <a:lstStyle/>
          <a:p>
            <a:pPr algn="ctr" indent="0" marL="0">
              <a:buNone/>
            </a:pPr>
            <a:r>
              <a:rPr lang="en-US" sz="1200" dirty="0">
                <a:solidFill>
                  <a:schemeClr val="tx1"/>
                </a:solidFill>
              </a:rPr>
              <a:t>Daten vorhanden, ohne Schnittstelle zur Praxissoftware umsetzbar, geringes Risiko (Datenschutz, Fehlentscheidung)</a:t>
            </a:r>
            <a:endParaRPr lang="en-US" sz="1200" dirty="0"/>
          </a:p>
        </p:txBody>
      </p:sp>
      <p:sp>
        <p:nvSpPr>
          <p:cNvPr id="21" name="Einsatzfeld Verordnungs-Check"/>
          <p:cNvSpPr/>
          <p:nvPr/>
        </p:nvSpPr>
        <p:spPr>
          <a:xfrm>
            <a:off x="6483096" y="1499616"/>
            <a:ext cx="384048" cy="384048"/>
          </a:xfrm>
          <a:prstGeom prst="ellipse">
            <a:avLst/>
          </a:prstGeom>
          <a:solidFill>
            <a:schemeClr val="accent3"/>
          </a:solidFill>
          <a:ln/>
        </p:spPr>
      </p:sp>
      <p:sp>
        <p:nvSpPr>
          <p:cNvPr id="22" name="Text 19"/>
          <p:cNvSpPr txBox="1"/>
          <p:nvPr/>
        </p:nvSpPr>
        <p:spPr>
          <a:xfrm>
            <a:off x="4105656" y="1527048"/>
            <a:ext cx="2286000" cy="329184"/>
          </a:xfrm>
          <a:prstGeom prst="rect">
            <a:avLst/>
          </a:prstGeom>
          <a:noFill/>
          <a:ln/>
        </p:spPr>
        <p:txBody>
          <a:bodyPr wrap="square" lIns="0" tIns="0" rIns="0" bIns="0" rtlCol="0" anchor="ctr"/>
          <a:lstStyle/>
          <a:p>
            <a:pPr algn="r" indent="0" marL="0">
              <a:buNone/>
            </a:pPr>
            <a:r>
              <a:rPr lang="en-US" sz="1400" b="1" dirty="0">
                <a:solidFill>
                  <a:schemeClr val="accent3"/>
                </a:solidFill>
              </a:rPr>
              <a:t>Verordnungs-Check</a:t>
            </a:r>
            <a:endParaRPr lang="en-US" sz="1400" dirty="0"/>
          </a:p>
        </p:txBody>
      </p:sp>
      <p:sp>
        <p:nvSpPr>
          <p:cNvPr id="23" name="Einsatzfeld Terminvergabe &amp; Telefon"/>
          <p:cNvSpPr/>
          <p:nvPr/>
        </p:nvSpPr>
        <p:spPr>
          <a:xfrm>
            <a:off x="4375404" y="1563624"/>
            <a:ext cx="256032" cy="256032"/>
          </a:xfrm>
          <a:prstGeom prst="ellipse">
            <a:avLst/>
          </a:prstGeom>
          <a:solidFill>
            <a:schemeClr val="accent1"/>
          </a:solidFill>
          <a:ln/>
        </p:spPr>
      </p:sp>
      <p:sp>
        <p:nvSpPr>
          <p:cNvPr id="24" name="Text 21"/>
          <p:cNvSpPr txBox="1"/>
          <p:nvPr/>
        </p:nvSpPr>
        <p:spPr>
          <a:xfrm>
            <a:off x="1997964" y="152704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Terminvergabe &amp; Telefon</a:t>
            </a:r>
            <a:endParaRPr lang="en-US" sz="1200" dirty="0"/>
          </a:p>
        </p:txBody>
      </p:sp>
      <p:sp>
        <p:nvSpPr>
          <p:cNvPr id="25" name="Einsatzfeld Erinnerungen an Patienten"/>
          <p:cNvSpPr/>
          <p:nvPr/>
        </p:nvSpPr>
        <p:spPr>
          <a:xfrm>
            <a:off x="6547104" y="3003804"/>
            <a:ext cx="256032" cy="256032"/>
          </a:xfrm>
          <a:prstGeom prst="ellipse">
            <a:avLst/>
          </a:prstGeom>
          <a:solidFill>
            <a:schemeClr val="accent1"/>
          </a:solidFill>
          <a:ln/>
        </p:spPr>
      </p:sp>
      <p:sp>
        <p:nvSpPr>
          <p:cNvPr id="26" name="Text 23"/>
          <p:cNvSpPr txBox="1"/>
          <p:nvPr/>
        </p:nvSpPr>
        <p:spPr>
          <a:xfrm>
            <a:off x="4169664" y="296722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Erinnerungen an Patienten</a:t>
            </a:r>
            <a:endParaRPr lang="en-US" sz="1200" dirty="0"/>
          </a:p>
        </p:txBody>
      </p:sp>
      <p:sp>
        <p:nvSpPr>
          <p:cNvPr id="27" name="Einsatzfeld Abrechnungs-Vorbereitung"/>
          <p:cNvSpPr/>
          <p:nvPr/>
        </p:nvSpPr>
        <p:spPr>
          <a:xfrm>
            <a:off x="2203704" y="3003804"/>
            <a:ext cx="256032" cy="256032"/>
          </a:xfrm>
          <a:prstGeom prst="ellipse">
            <a:avLst/>
          </a:prstGeom>
          <a:solidFill>
            <a:schemeClr val="accent1"/>
          </a:solidFill>
          <a:ln/>
        </p:spPr>
      </p:sp>
      <p:sp>
        <p:nvSpPr>
          <p:cNvPr id="28" name="Text 25"/>
          <p:cNvSpPr txBox="1"/>
          <p:nvPr/>
        </p:nvSpPr>
        <p:spPr>
          <a:xfrm>
            <a:off x="2532888" y="296722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Abrechnungs-Vorbereitung</a:t>
            </a:r>
            <a:endParaRPr lang="en-US" sz="1200" dirty="0"/>
          </a:p>
        </p:txBody>
      </p:sp>
      <p:sp>
        <p:nvSpPr>
          <p:cNvPr id="29" name="Einsatzfeld Therapieberichte an Ärzte"/>
          <p:cNvSpPr/>
          <p:nvPr/>
        </p:nvSpPr>
        <p:spPr>
          <a:xfrm>
            <a:off x="4375404" y="3723894"/>
            <a:ext cx="256032" cy="256032"/>
          </a:xfrm>
          <a:prstGeom prst="ellipse">
            <a:avLst/>
          </a:prstGeom>
          <a:solidFill>
            <a:schemeClr val="accent1"/>
          </a:solidFill>
          <a:ln/>
        </p:spPr>
      </p:sp>
      <p:sp>
        <p:nvSpPr>
          <p:cNvPr id="30" name="Text 27"/>
          <p:cNvSpPr txBox="1"/>
          <p:nvPr/>
        </p:nvSpPr>
        <p:spPr>
          <a:xfrm>
            <a:off x="4704588" y="368731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Therapieberichte an Ärzte</a:t>
            </a:r>
            <a:endParaRPr lang="en-US" sz="1200" dirty="0"/>
          </a:p>
        </p:txBody>
      </p:sp>
      <p:sp>
        <p:nvSpPr>
          <p:cNvPr id="31" name="Einsatzfeld Dienst- &amp; Raumplanung"/>
          <p:cNvSpPr/>
          <p:nvPr/>
        </p:nvSpPr>
        <p:spPr>
          <a:xfrm>
            <a:off x="4375404" y="4443984"/>
            <a:ext cx="256032" cy="256032"/>
          </a:xfrm>
          <a:prstGeom prst="ellipse">
            <a:avLst/>
          </a:prstGeom>
          <a:solidFill>
            <a:schemeClr val="accent1"/>
          </a:solidFill>
          <a:ln/>
        </p:spPr>
      </p:sp>
      <p:sp>
        <p:nvSpPr>
          <p:cNvPr id="32" name="Text 29"/>
          <p:cNvSpPr txBox="1"/>
          <p:nvPr/>
        </p:nvSpPr>
        <p:spPr>
          <a:xfrm>
            <a:off x="4704588" y="440740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Dienst- &amp; Raumplanung</a:t>
            </a:r>
            <a:endParaRPr lang="en-US" sz="1200" dirty="0"/>
          </a:p>
        </p:txBody>
      </p:sp>
      <p:sp>
        <p:nvSpPr>
          <p:cNvPr id="33" name="Begründung Pilot"/>
          <p:cNvSpPr/>
          <p:nvPr/>
        </p:nvSpPr>
        <p:spPr>
          <a:xfrm>
            <a:off x="7315200" y="1325880"/>
            <a:ext cx="4325112" cy="4297680"/>
          </a:xfrm>
          <a:prstGeom prst="roundRect">
            <a:avLst>
              <a:gd name="adj" fmla="val 1702"/>
            </a:avLst>
          </a:prstGeom>
          <a:solidFill>
            <a:schemeClr val="tx2"/>
          </a:solidFill>
          <a:ln/>
        </p:spPr>
      </p:sp>
      <p:sp>
        <p:nvSpPr>
          <p:cNvPr id="34" name="Symbolkreis"/>
          <p:cNvSpPr/>
          <p:nvPr/>
        </p:nvSpPr>
        <p:spPr>
          <a:xfrm>
            <a:off x="7589520" y="1508760"/>
            <a:ext cx="548640" cy="548640"/>
          </a:xfrm>
          <a:prstGeom prst="ellipse">
            <a:avLst/>
          </a:prstGeom>
          <a:solidFill>
            <a:schemeClr val="accent2"/>
          </a:solidFill>
          <a:ln/>
        </p:spPr>
      </p:sp>
      <p:pic>
        <p:nvPicPr>
          <p:cNvPr id="35" name="Symbol" descr="preencoded.png">    </p:cNvPr>
          <p:cNvPicPr>
            <a:picLocks noChangeAspect="1"/>
          </p:cNvPicPr>
          <p:nvPr/>
        </p:nvPicPr>
        <p:blipFill>
          <a:blip r:embed="rId2"/>
          <a:stretch>
            <a:fillRect/>
          </a:stretch>
        </p:blipFill>
        <p:spPr>
          <a:xfrm>
            <a:off x="7726680" y="1645920"/>
            <a:ext cx="274320" cy="274320"/>
          </a:xfrm>
          <a:prstGeom prst="rect">
            <a:avLst/>
          </a:prstGeom>
        </p:spPr>
      </p:pic>
      <p:sp>
        <p:nvSpPr>
          <p:cNvPr id="36" name="Text 32"/>
          <p:cNvSpPr txBox="1"/>
          <p:nvPr/>
        </p:nvSpPr>
        <p:spPr>
          <a:xfrm>
            <a:off x="8275320" y="1600200"/>
            <a:ext cx="320040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Warum dieser Pilot</a:t>
            </a:r>
            <a:endParaRPr lang="en-US" sz="1800" dirty="0"/>
          </a:p>
        </p:txBody>
      </p:sp>
      <p:sp>
        <p:nvSpPr>
          <p:cNvPr id="37" name="Text 33"/>
          <p:cNvSpPr txBox="1"/>
          <p:nvPr/>
        </p:nvSpPr>
        <p:spPr>
          <a:xfrm>
            <a:off x="7589520" y="2286000"/>
            <a:ext cx="3794760" cy="31089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Trifft das größte Problem: 90 % der Fehler</a:t>
            </a:r>
            <a:endParaRPr lang="en-US" sz="1400" dirty="0"/>
          </a:p>
          <a:p>
            <a:pPr marL="177800" indent="-177800">
              <a:spcAft>
                <a:spcPts val="500"/>
              </a:spcAft>
              <a:buSzPct val="100000"/>
              <a:buChar char="•"/>
            </a:pPr>
            <a:r>
              <a:rPr lang="en-US" sz="1400" dirty="0">
                <a:solidFill>
                  <a:schemeClr val="bg1"/>
                </a:solidFill>
              </a:rPr>
              <a:t>Regeln sind öffentlich und belegbar (G-BA, KBV)</a:t>
            </a:r>
            <a:endParaRPr lang="en-US" sz="1400" dirty="0"/>
          </a:p>
          <a:p>
            <a:pPr marL="177800" indent="-177800">
              <a:spcAft>
                <a:spcPts val="500"/>
              </a:spcAft>
              <a:buSzPct val="100000"/>
              <a:buChar char="•"/>
            </a:pPr>
            <a:r>
              <a:rPr lang="en-US" sz="1400" dirty="0">
                <a:solidFill>
                  <a:schemeClr val="bg1"/>
                </a:solidFill>
              </a:rPr>
              <a:t>Keine Schnittstelle nötig: Eingabe per Chat oder Formular</a:t>
            </a:r>
            <a:endParaRPr lang="en-US" sz="1400" dirty="0"/>
          </a:p>
          <a:p>
            <a:pPr marL="177800" indent="-177800">
              <a:spcAft>
                <a:spcPts val="500"/>
              </a:spcAft>
              <a:buSzPct val="100000"/>
              <a:buChar char="•"/>
            </a:pPr>
            <a:r>
              <a:rPr lang="en-US" sz="1400" dirty="0">
                <a:solidFill>
                  <a:schemeClr val="bg1"/>
                </a:solidFill>
              </a:rPr>
              <a:t>Geringes Risiko: Die Rezeption entscheidet</a:t>
            </a:r>
            <a:endParaRPr lang="en-US" sz="1400" dirty="0"/>
          </a:p>
          <a:p>
            <a:pPr marL="177800" indent="-177800">
              <a:spcAft>
                <a:spcPts val="500"/>
              </a:spcAft>
              <a:buSzPct val="100000"/>
              <a:buChar char="•"/>
            </a:pPr>
            <a:r>
              <a:rPr lang="en-US" sz="1400" dirty="0">
                <a:solidFill>
                  <a:schemeClr val="bg1"/>
                </a:solidFill>
              </a:rPr>
              <a:t>Messbar: Zeit, Trefferquote, Nacharbeit</a:t>
            </a:r>
            <a:endParaRPr lang="en-US" sz="1400" dirty="0"/>
          </a:p>
        </p:txBody>
      </p:sp>
      <p:sp>
        <p:nvSpPr>
          <p:cNvPr id="38" name="Text 34"/>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Einschätzung des Teams, keine Messung · im Pilot nur für den Verordnungs-Check überprüft</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Soll: Fehler vor der Behandlung finden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oll-Prozess"/>
          <p:cNvSpPr/>
          <p:nvPr/>
        </p:nvSpPr>
        <p:spPr>
          <a:xfrm>
            <a:off x="548640" y="1325880"/>
            <a:ext cx="5120640" cy="4526280"/>
          </a:xfrm>
          <a:prstGeom prst="roundRect">
            <a:avLst>
              <a:gd name="adj" fmla="val 1616"/>
            </a:avLst>
          </a:prstGeom>
          <a:solidFill>
            <a:schemeClr val="bg2"/>
          </a:solidFill>
          <a:ln/>
        </p:spPr>
      </p:sp>
      <p:sp>
        <p:nvSpPr>
          <p:cNvPr id="7" name="Text 4"/>
          <p:cNvSpPr txBox="1"/>
          <p:nvPr/>
        </p:nvSpPr>
        <p:spPr>
          <a:xfrm>
            <a:off x="822960" y="1463040"/>
            <a:ext cx="4572000" cy="384048"/>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Soll-Prozess</a:t>
            </a:r>
            <a:endParaRPr lang="en-US" sz="1800" dirty="0"/>
          </a:p>
        </p:txBody>
      </p:sp>
      <p:sp>
        <p:nvSpPr>
          <p:cNvPr id="8" name="Schritt"/>
          <p:cNvSpPr/>
          <p:nvPr/>
        </p:nvSpPr>
        <p:spPr>
          <a:xfrm>
            <a:off x="822960" y="2011680"/>
            <a:ext cx="457200" cy="457200"/>
          </a:xfrm>
          <a:prstGeom prst="ellipse">
            <a:avLst/>
          </a:prstGeom>
          <a:solidFill>
            <a:schemeClr val="accent1"/>
          </a:solidFill>
          <a:ln/>
        </p:spPr>
      </p:sp>
      <p:sp>
        <p:nvSpPr>
          <p:cNvPr id="9" name="Text 6"/>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1463040" y="1993392"/>
            <a:ext cx="4023360" cy="320040"/>
          </a:xfrm>
          <a:prstGeom prst="rect">
            <a:avLst/>
          </a:prstGeom>
          <a:noFill/>
          <a:ln/>
        </p:spPr>
        <p:txBody>
          <a:bodyPr wrap="square" lIns="0" tIns="0" rIns="0" bIns="0" rtlCol="0" anchor="t"/>
          <a:lstStyle/>
          <a:p>
            <a:pPr indent="0" marL="0">
              <a:buNone/>
            </a:pPr>
            <a:r>
              <a:rPr lang="en-US" sz="1500" b="1" dirty="0">
                <a:solidFill>
                  <a:schemeClr val="tx2"/>
                </a:solidFill>
              </a:rPr>
              <a:t>Verordnung kommt an</a:t>
            </a:r>
            <a:endParaRPr lang="en-US" sz="1500" dirty="0"/>
          </a:p>
        </p:txBody>
      </p:sp>
      <p:sp>
        <p:nvSpPr>
          <p:cNvPr id="11" name="Text 8"/>
          <p:cNvSpPr txBox="1"/>
          <p:nvPr/>
        </p:nvSpPr>
        <p:spPr>
          <a:xfrm>
            <a:off x="1463040" y="2313432"/>
            <a:ext cx="4023360" cy="457200"/>
          </a:xfrm>
          <a:prstGeom prst="rect">
            <a:avLst/>
          </a:prstGeom>
          <a:noFill/>
          <a:ln/>
        </p:spPr>
        <p:txBody>
          <a:bodyPr wrap="square" lIns="0" tIns="0" rIns="0" bIns="0" rtlCol="0" anchor="t"/>
          <a:lstStyle/>
          <a:p>
            <a:pPr indent="0" marL="0">
              <a:buNone/>
            </a:pPr>
            <a:r>
              <a:rPr lang="en-US" sz="1300" dirty="0">
                <a:solidFill>
                  <a:schemeClr val="tx1"/>
                </a:solidFill>
              </a:rPr>
              <a:t>Rezeption gibt sie per Formular oder Chat ein</a:t>
            </a:r>
            <a:endParaRPr lang="en-US" sz="1300" dirty="0"/>
          </a:p>
        </p:txBody>
      </p:sp>
      <p:sp>
        <p:nvSpPr>
          <p:cNvPr id="12" name="Schritt"/>
          <p:cNvSpPr/>
          <p:nvPr/>
        </p:nvSpPr>
        <p:spPr>
          <a:xfrm>
            <a:off x="822960" y="2944368"/>
            <a:ext cx="457200" cy="457200"/>
          </a:xfrm>
          <a:prstGeom prst="ellipse">
            <a:avLst/>
          </a:prstGeom>
          <a:solidFill>
            <a:schemeClr val="accent1"/>
          </a:solidFill>
          <a:ln/>
        </p:spPr>
      </p:sp>
      <p:sp>
        <p:nvSpPr>
          <p:cNvPr id="13" name="Text 10"/>
          <p:cNvSpPr txBox="1"/>
          <p:nvPr/>
        </p:nvSpPr>
        <p:spPr>
          <a:xfrm>
            <a:off x="822960" y="29443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1463040" y="2926080"/>
            <a:ext cx="4023360" cy="320040"/>
          </a:xfrm>
          <a:prstGeom prst="rect">
            <a:avLst/>
          </a:prstGeom>
          <a:noFill/>
          <a:ln/>
        </p:spPr>
        <p:txBody>
          <a:bodyPr wrap="square" lIns="0" tIns="0" rIns="0" bIns="0" rtlCol="0" anchor="t"/>
          <a:lstStyle/>
          <a:p>
            <a:pPr indent="0" marL="0">
              <a:buNone/>
            </a:pPr>
            <a:r>
              <a:rPr lang="en-US" sz="1500" b="1" dirty="0">
                <a:solidFill>
                  <a:schemeClr val="tx2"/>
                </a:solidFill>
              </a:rPr>
              <a:t>KI prüft in ca. 30 s</a:t>
            </a:r>
            <a:endParaRPr lang="en-US" sz="1500" dirty="0"/>
          </a:p>
        </p:txBody>
      </p:sp>
      <p:sp>
        <p:nvSpPr>
          <p:cNvPr id="15" name="Text 12"/>
          <p:cNvSpPr txBox="1"/>
          <p:nvPr/>
        </p:nvSpPr>
        <p:spPr>
          <a:xfrm>
            <a:off x="1463040" y="3246120"/>
            <a:ext cx="4023360" cy="457200"/>
          </a:xfrm>
          <a:prstGeom prst="rect">
            <a:avLst/>
          </a:prstGeom>
          <a:noFill/>
          <a:ln/>
        </p:spPr>
        <p:txBody>
          <a:bodyPr wrap="square" lIns="0" tIns="0" rIns="0" bIns="0" rtlCol="0" anchor="t"/>
          <a:lstStyle/>
          <a:p>
            <a:pPr indent="0" marL="0">
              <a:buNone/>
            </a:pPr>
            <a:r>
              <a:rPr lang="en-US" sz="1300" dirty="0">
                <a:solidFill>
                  <a:schemeClr val="tx1"/>
                </a:solidFill>
              </a:rPr>
              <a:t>vier Prüfer, Ampel mit Fundstelle im Regelwerk</a:t>
            </a:r>
            <a:endParaRPr lang="en-US" sz="1300" dirty="0"/>
          </a:p>
        </p:txBody>
      </p:sp>
      <p:sp>
        <p:nvSpPr>
          <p:cNvPr id="16" name="Schritt"/>
          <p:cNvSpPr/>
          <p:nvPr/>
        </p:nvSpPr>
        <p:spPr>
          <a:xfrm>
            <a:off x="822960" y="3877056"/>
            <a:ext cx="457200" cy="457200"/>
          </a:xfrm>
          <a:prstGeom prst="ellipse">
            <a:avLst/>
          </a:prstGeom>
          <a:solidFill>
            <a:schemeClr val="accent1"/>
          </a:solidFill>
          <a:ln/>
        </p:spPr>
      </p:sp>
      <p:sp>
        <p:nvSpPr>
          <p:cNvPr id="17" name="Text 14"/>
          <p:cNvSpPr txBox="1"/>
          <p:nvPr/>
        </p:nvSpPr>
        <p:spPr>
          <a:xfrm>
            <a:off x="822960" y="38770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1463040" y="3858768"/>
            <a:ext cx="4023360" cy="320040"/>
          </a:xfrm>
          <a:prstGeom prst="rect">
            <a:avLst/>
          </a:prstGeom>
          <a:noFill/>
          <a:ln/>
        </p:spPr>
        <p:txBody>
          <a:bodyPr wrap="square" lIns="0" tIns="0" rIns="0" bIns="0" rtlCol="0" anchor="t"/>
          <a:lstStyle/>
          <a:p>
            <a:pPr indent="0" marL="0">
              <a:buNone/>
            </a:pPr>
            <a:r>
              <a:rPr lang="en-US" sz="1500" b="1" dirty="0">
                <a:solidFill>
                  <a:schemeClr val="tx2"/>
                </a:solidFill>
              </a:rPr>
              <a:t>Rezeption entscheidet</a:t>
            </a:r>
            <a:endParaRPr lang="en-US" sz="1500" dirty="0"/>
          </a:p>
        </p:txBody>
      </p:sp>
      <p:sp>
        <p:nvSpPr>
          <p:cNvPr id="19" name="Text 16"/>
          <p:cNvSpPr txBox="1"/>
          <p:nvPr/>
        </p:nvSpPr>
        <p:spPr>
          <a:xfrm>
            <a:off x="1463040" y="4178808"/>
            <a:ext cx="4023360" cy="457200"/>
          </a:xfrm>
          <a:prstGeom prst="rect">
            <a:avLst/>
          </a:prstGeom>
          <a:noFill/>
          <a:ln/>
        </p:spPr>
        <p:txBody>
          <a:bodyPr wrap="square" lIns="0" tIns="0" rIns="0" bIns="0" rtlCol="0" anchor="t"/>
          <a:lstStyle/>
          <a:p>
            <a:pPr indent="0" marL="0">
              <a:buNone/>
            </a:pPr>
            <a:r>
              <a:rPr lang="en-US" sz="1300" dirty="0">
                <a:solidFill>
                  <a:schemeClr val="tx1"/>
                </a:solidFill>
              </a:rPr>
              <a:t>behandeln, nachfragen oder korrigieren lassen</a:t>
            </a:r>
            <a:endParaRPr lang="en-US" sz="1300" dirty="0"/>
          </a:p>
        </p:txBody>
      </p:sp>
      <p:sp>
        <p:nvSpPr>
          <p:cNvPr id="20" name="Schritt"/>
          <p:cNvSpPr/>
          <p:nvPr/>
        </p:nvSpPr>
        <p:spPr>
          <a:xfrm>
            <a:off x="822960" y="4809744"/>
            <a:ext cx="457200" cy="457200"/>
          </a:xfrm>
          <a:prstGeom prst="ellipse">
            <a:avLst/>
          </a:prstGeom>
          <a:solidFill>
            <a:schemeClr val="accent1"/>
          </a:solidFill>
          <a:ln/>
        </p:spPr>
      </p:sp>
      <p:sp>
        <p:nvSpPr>
          <p:cNvPr id="21" name="Text 18"/>
          <p:cNvSpPr txBox="1"/>
          <p:nvPr/>
        </p:nvSpPr>
        <p:spPr>
          <a:xfrm>
            <a:off x="822960" y="48097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1463040" y="4791456"/>
            <a:ext cx="4023360" cy="320040"/>
          </a:xfrm>
          <a:prstGeom prst="rect">
            <a:avLst/>
          </a:prstGeom>
          <a:noFill/>
          <a:ln/>
        </p:spPr>
        <p:txBody>
          <a:bodyPr wrap="square" lIns="0" tIns="0" rIns="0" bIns="0" rtlCol="0" anchor="t"/>
          <a:lstStyle/>
          <a:p>
            <a:pPr indent="0" marL="0">
              <a:buNone/>
            </a:pPr>
            <a:r>
              <a:rPr lang="en-US" sz="1500" b="1" dirty="0">
                <a:solidFill>
                  <a:schemeClr val="tx2"/>
                </a:solidFill>
              </a:rPr>
              <a:t>Schlussprüfung entfällt schrittweise</a:t>
            </a:r>
            <a:endParaRPr lang="en-US" sz="1500" dirty="0"/>
          </a:p>
        </p:txBody>
      </p:sp>
      <p:sp>
        <p:nvSpPr>
          <p:cNvPr id="23" name="Text 20"/>
          <p:cNvSpPr txBox="1"/>
          <p:nvPr/>
        </p:nvSpPr>
        <p:spPr>
          <a:xfrm>
            <a:off x="1463040" y="5111496"/>
            <a:ext cx="4023360" cy="457200"/>
          </a:xfrm>
          <a:prstGeom prst="rect">
            <a:avLst/>
          </a:prstGeom>
          <a:noFill/>
          <a:ln/>
        </p:spPr>
        <p:txBody>
          <a:bodyPr wrap="square" lIns="0" tIns="0" rIns="0" bIns="0" rtlCol="0" anchor="t"/>
          <a:lstStyle/>
          <a:p>
            <a:pPr indent="0" marL="0">
              <a:buNone/>
            </a:pPr>
            <a:r>
              <a:rPr lang="en-US" sz="1300" dirty="0">
                <a:solidFill>
                  <a:schemeClr val="tx1"/>
                </a:solidFill>
              </a:rPr>
              <a:t>erst nach bestandenem Parallelbetrieb</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897880" y="1325880"/>
          <a:ext cx="5742432" cy="914400"/>
        </p:xfrm>
        <a:graphic>
          <a:graphicData uri="http://schemas.openxmlformats.org/drawingml/2006/table">
            <a:tbl>
              <a:tblPr/>
              <a:tblGrid>
                <a:gridCol w="1234440"/>
                <a:gridCol w="2514600"/>
                <a:gridCol w="19933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Erfolgsindikator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Messung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Zeit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Prüfzeit −50 % nach 2 Quartalen, −75 % nach 4</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Stoppuhr-Stichprobe vorher/nachher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Qualität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98 % richtige Ampel, 0 übersehene rote Fälle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Evaluation mit ≥ 50 Fällen × 3 Läufe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Vertrauen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1 kritischer Fehlalarm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Abweichungen im Parallelbetrieb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315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Akzeptanz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Rezeption folgt der Ampel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Quote im Pilot, Rückmeldungen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25" name="Text 21"/>
          <p:cNvSpPr txBox="1"/>
          <p:nvPr/>
        </p:nvSpPr>
        <p:spPr>
          <a:xfrm>
            <a:off x="5897880" y="5257800"/>
            <a:ext cx="5742432" cy="548640"/>
          </a:xfrm>
          <a:prstGeom prst="rect">
            <a:avLst/>
          </a:prstGeom>
          <a:noFill/>
          <a:ln/>
        </p:spPr>
        <p:txBody>
          <a:bodyPr wrap="square" lIns="0" tIns="0" rIns="0" bIns="0" rtlCol="0" anchor="t"/>
          <a:lstStyle/>
          <a:p>
            <a:pPr indent="0" marL="0">
              <a:buNone/>
            </a:pPr>
            <a:r>
              <a:rPr lang="en-US" sz="1300" i="1" dirty="0">
                <a:solidFill>
                  <a:schemeClr val="accent5"/>
                </a:solidFill>
              </a:rPr>
              <a:t>Die Indikatoren sind zugleich der Kontrollmaßstab in der Erfolgsmessung (Derk).</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Business Case: 75 % weniger Prüfzeit nach einem Jahr</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graphicFrame>
        <p:nvGraphicFramePr>
          <p:cNvPr id="6" name="Chart 0" descr=""/>
          <p:cNvGraphicFramePr/>
          <p:nvPr/>
        </p:nvGraphicFramePr>
        <p:xfrm>
          <a:off x="548640" y="1280160"/>
          <a:ext cx="6949440" cy="4480560"/>
        </p:xfrm>
        <a:graphic xmlns:a="http://schemas.openxmlformats.org/drawingml/2006/main">
          <a:graphicData uri="http://schemas.openxmlformats.org/drawingml/2006/chart">
            <c:chart xmlns:c="http://schemas.openxmlformats.org/drawingml/2006/chart" r:id="rId2"/>
          </a:graphicData>
        </a:graphic>
      </p:graphicFrame>
      <p:sp>
        <p:nvSpPr>
          <p:cNvPr id="7" name="Jahr 1"/>
          <p:cNvSpPr/>
          <p:nvPr/>
        </p:nvSpPr>
        <p:spPr>
          <a:xfrm>
            <a:off x="7818120" y="1325880"/>
            <a:ext cx="3822192" cy="1371600"/>
          </a:xfrm>
          <a:prstGeom prst="roundRect">
            <a:avLst>
              <a:gd name="adj" fmla="val 5333"/>
            </a:avLst>
          </a:prstGeom>
          <a:solidFill>
            <a:schemeClr val="bg2"/>
          </a:solidFill>
          <a:ln/>
        </p:spPr>
      </p:sp>
      <p:sp>
        <p:nvSpPr>
          <p:cNvPr id="8" name="Text 4"/>
          <p:cNvSpPr txBox="1"/>
          <p:nvPr/>
        </p:nvSpPr>
        <p:spPr>
          <a:xfrm>
            <a:off x="8092440" y="1444752"/>
            <a:ext cx="1828800" cy="274320"/>
          </a:xfrm>
          <a:prstGeom prst="rect">
            <a:avLst/>
          </a:prstGeom>
          <a:noFill/>
          <a:ln/>
        </p:spPr>
        <p:txBody>
          <a:bodyPr wrap="square" lIns="0" tIns="0" rIns="0" bIns="0" rtlCol="0" anchor="t"/>
          <a:lstStyle/>
          <a:p>
            <a:pPr indent="0" marL="0">
              <a:buNone/>
            </a:pPr>
            <a:r>
              <a:rPr lang="en-US" sz="1300" dirty="0">
                <a:solidFill>
                  <a:schemeClr val="accent5"/>
                </a:solidFill>
              </a:rPr>
              <a:t>Jahr 1</a:t>
            </a:r>
            <a:endParaRPr lang="en-US" sz="1300" dirty="0"/>
          </a:p>
        </p:txBody>
      </p:sp>
      <p:sp>
        <p:nvSpPr>
          <p:cNvPr id="9" name="Text 5"/>
          <p:cNvSpPr txBox="1"/>
          <p:nvPr/>
        </p:nvSpPr>
        <p:spPr>
          <a:xfrm>
            <a:off x="8092440" y="1737360"/>
            <a:ext cx="3273552" cy="5943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 3.070 €</a:t>
            </a:r>
            <a:endParaRPr lang="en-US" sz="3200" dirty="0"/>
          </a:p>
        </p:txBody>
      </p:sp>
      <p:sp>
        <p:nvSpPr>
          <p:cNvPr id="10" name="Text 6"/>
          <p:cNvSpPr txBox="1"/>
          <p:nvPr/>
        </p:nvSpPr>
        <p:spPr>
          <a:xfrm>
            <a:off x="8092440" y="2304288"/>
            <a:ext cx="3273552" cy="274320"/>
          </a:xfrm>
          <a:prstGeom prst="rect">
            <a:avLst/>
          </a:prstGeom>
          <a:noFill/>
          <a:ln/>
        </p:spPr>
        <p:txBody>
          <a:bodyPr wrap="square" lIns="0" tIns="0" rIns="0" bIns="0" rtlCol="0" anchor="t"/>
          <a:lstStyle/>
          <a:p>
            <a:pPr indent="0" marL="0">
              <a:buNone/>
            </a:pPr>
            <a:r>
              <a:rPr lang="en-US" sz="1200" dirty="0">
                <a:solidFill>
                  <a:schemeClr val="accent5"/>
                </a:solidFill>
              </a:rPr>
              <a:t>146 h frei · Anlauf 25 → 75 %</a:t>
            </a:r>
            <a:endParaRPr lang="en-US" sz="1200" dirty="0"/>
          </a:p>
        </p:txBody>
      </p:sp>
      <p:sp>
        <p:nvSpPr>
          <p:cNvPr id="11" name="ab Jahr 2"/>
          <p:cNvSpPr/>
          <p:nvPr/>
        </p:nvSpPr>
        <p:spPr>
          <a:xfrm>
            <a:off x="7818120" y="2834640"/>
            <a:ext cx="3822192" cy="1371600"/>
          </a:xfrm>
          <a:prstGeom prst="roundRect">
            <a:avLst>
              <a:gd name="adj" fmla="val 5333"/>
            </a:avLst>
          </a:prstGeom>
          <a:solidFill>
            <a:schemeClr val="tx2"/>
          </a:solidFill>
          <a:ln/>
        </p:spPr>
      </p:sp>
      <p:sp>
        <p:nvSpPr>
          <p:cNvPr id="12" name="Text 8"/>
          <p:cNvSpPr txBox="1"/>
          <p:nvPr/>
        </p:nvSpPr>
        <p:spPr>
          <a:xfrm>
            <a:off x="8092440" y="2953512"/>
            <a:ext cx="1828800" cy="274320"/>
          </a:xfrm>
          <a:prstGeom prst="rect">
            <a:avLst/>
          </a:prstGeom>
          <a:noFill/>
          <a:ln/>
        </p:spPr>
        <p:txBody>
          <a:bodyPr wrap="square" lIns="0" tIns="0" rIns="0" bIns="0" rtlCol="0" anchor="t"/>
          <a:lstStyle/>
          <a:p>
            <a:pPr indent="0" marL="0">
              <a:buNone/>
            </a:pPr>
            <a:r>
              <a:rPr lang="en-US" sz="1300" dirty="0">
                <a:solidFill>
                  <a:schemeClr val="bg2"/>
                </a:solidFill>
              </a:rPr>
              <a:t>ab Jahr 2</a:t>
            </a:r>
            <a:endParaRPr lang="en-US" sz="1300" dirty="0"/>
          </a:p>
        </p:txBody>
      </p:sp>
      <p:sp>
        <p:nvSpPr>
          <p:cNvPr id="13" name="Text 9"/>
          <p:cNvSpPr txBox="1"/>
          <p:nvPr/>
        </p:nvSpPr>
        <p:spPr>
          <a:xfrm>
            <a:off x="8092440" y="3246120"/>
            <a:ext cx="3273552"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 4.300 € / Jahr</a:t>
            </a:r>
            <a:endParaRPr lang="en-US" sz="3200" dirty="0"/>
          </a:p>
        </p:txBody>
      </p:sp>
      <p:sp>
        <p:nvSpPr>
          <p:cNvPr id="14" name="Text 10"/>
          <p:cNvSpPr txBox="1"/>
          <p:nvPr/>
        </p:nvSpPr>
        <p:spPr>
          <a:xfrm>
            <a:off x="8092440" y="3813048"/>
            <a:ext cx="3273552" cy="274320"/>
          </a:xfrm>
          <a:prstGeom prst="rect">
            <a:avLst/>
          </a:prstGeom>
          <a:noFill/>
          <a:ln/>
        </p:spPr>
        <p:txBody>
          <a:bodyPr wrap="square" lIns="0" tIns="0" rIns="0" bIns="0" rtlCol="0" anchor="t"/>
          <a:lstStyle/>
          <a:p>
            <a:pPr indent="0" marL="0">
              <a:buNone/>
            </a:pPr>
            <a:r>
              <a:rPr lang="en-US" sz="1200" dirty="0">
                <a:solidFill>
                  <a:schemeClr val="bg2"/>
                </a:solidFill>
              </a:rPr>
              <a:t>207 h frei · etwa ½ Minijob</a:t>
            </a:r>
            <a:endParaRPr lang="en-US" sz="1200" dirty="0"/>
          </a:p>
        </p:txBody>
      </p:sp>
      <p:sp>
        <p:nvSpPr>
          <p:cNvPr id="15" name="Hebel"/>
          <p:cNvSpPr/>
          <p:nvPr/>
        </p:nvSpPr>
        <p:spPr>
          <a:xfrm>
            <a:off x="7818120" y="4343400"/>
            <a:ext cx="3822192" cy="1417320"/>
          </a:xfrm>
          <a:prstGeom prst="roundRect">
            <a:avLst>
              <a:gd name="adj" fmla="val 5161"/>
            </a:avLst>
          </a:prstGeom>
          <a:solidFill>
            <a:schemeClr val="bg2"/>
          </a:solidFill>
          <a:ln/>
        </p:spPr>
      </p:sp>
      <p:sp>
        <p:nvSpPr>
          <p:cNvPr id="16" name="Text 12"/>
          <p:cNvSpPr txBox="1"/>
          <p:nvPr/>
        </p:nvSpPr>
        <p:spPr>
          <a:xfrm>
            <a:off x="8092440" y="4480560"/>
            <a:ext cx="3273552" cy="1188720"/>
          </a:xfrm>
          <a:prstGeom prst="rect">
            <a:avLst/>
          </a:prstGeom>
          <a:noFill/>
          <a:ln/>
        </p:spPr>
        <p:txBody>
          <a:bodyPr wrap="square" lIns="0" tIns="0" rIns="0" bIns="0" rtlCol="0" anchor="t"/>
          <a:lstStyle/>
          <a:p>
            <a:pPr indent="0" marL="0">
              <a:buNone/>
            </a:pPr>
            <a:r>
              <a:rPr lang="en-US" sz="1300" b="1" dirty="0">
                <a:solidFill>
                  <a:schemeClr val="tx2"/>
                </a:solidFill>
              </a:rPr>
              <a:t>Der Hebel ist die Prüfzeit, </a:t>
            </a:r>
            <a:pPr indent="0" marL="0">
              <a:buNone/>
            </a:pPr>
            <a:r>
              <a:rPr lang="en-US" sz="1300" dirty="0">
                <a:solidFill>
                  <a:schemeClr val="tx1"/>
                </a:solidFill>
              </a:rPr>
              <a:t>nicht die Absetzungen (nur ca. 500 € pro Jahr). Ziel: einen zusätzlichen Minijob bei Wachstum vermeiden, keine Stelle ersetzen.</a:t>
            </a:r>
            <a:endParaRPr lang="en-US" sz="1300" dirty="0"/>
          </a:p>
        </p:txBody>
      </p:sp>
      <p:sp>
        <p:nvSpPr>
          <p:cNvPr id="17" name="Text 1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5,3 h/Woche × 13 Wochen je Quartal · Anstieg Q1 25 % · Q2 50 % · Q3 62,5 % · Q4 75 %, danach 75 % · 20,97 € je Stunde (Herleitung nächste Folie)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Annahmen und Einordnung des Business Case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1737360"/>
                <a:gridCol w="2926080"/>
                <a:gridCol w="256032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Größe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Herkunft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Prüfzeit heute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5,3 h pro Woche (40 × 8 min)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Ist-Interview 16.10.2026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Einsparziel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50 % nach 2 Quartalen, 75 % nach 4</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Annahme des Teams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Stundenlohn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15,99 € = Mindestlohn 2026 (13,90 €) + 15 %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Annahme; Marktvergleich Rezeption 12,77–15,36 €/h (gehalt.de)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Arbeitgeberkosten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20,97 €/h mit Minijob-Pauschalabgaben (bis 31,17 %)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Minijob-Regeln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Minijob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max. 603 €/Monat ≈ 8,7 h/Woche; ≈ 9.500 €/Jahr mit Abgaben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Minijob-Grenze 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Einordnung"/>
          <p:cNvSpPr/>
          <p:nvPr/>
        </p:nvSpPr>
        <p:spPr>
          <a:xfrm>
            <a:off x="8001000" y="1325880"/>
            <a:ext cx="3639312" cy="4526280"/>
          </a:xfrm>
          <a:prstGeom prst="roundRect">
            <a:avLst>
              <a:gd name="adj" fmla="val 2010"/>
            </a:avLst>
          </a:prstGeom>
          <a:solidFill>
            <a:schemeClr val="tx2"/>
          </a:solidFill>
          <a:ln/>
        </p:spPr>
      </p:sp>
      <p:sp>
        <p:nvSpPr>
          <p:cNvPr id="8" name="Text 4"/>
          <p:cNvSpPr txBox="1"/>
          <p:nvPr/>
        </p:nvSpPr>
        <p:spPr>
          <a:xfrm>
            <a:off x="8275320" y="1463040"/>
            <a:ext cx="3108960" cy="38404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Einordnung</a:t>
            </a:r>
            <a:endParaRPr lang="en-US" sz="1800" dirty="0"/>
          </a:p>
        </p:txBody>
      </p:sp>
      <p:sp>
        <p:nvSpPr>
          <p:cNvPr id="9" name="Text 5"/>
          <p:cNvSpPr txBox="1"/>
          <p:nvPr/>
        </p:nvSpPr>
        <p:spPr>
          <a:xfrm>
            <a:off x="8275320" y="1965960"/>
            <a:ext cx="3154680" cy="3749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Nicht doppelt gezählt: Die freien Stunden sind der halbe Minijob, nicht zusätzlich.</a:t>
            </a:r>
            <a:endParaRPr lang="en-US" sz="1400" dirty="0"/>
          </a:p>
          <a:p>
            <a:pPr marL="177800" indent="-177800">
              <a:spcAft>
                <a:spcPts val="500"/>
              </a:spcAft>
              <a:buSzPct val="100000"/>
              <a:buChar char="•"/>
            </a:pPr>
            <a:r>
              <a:rPr lang="en-US" sz="1300" dirty="0">
                <a:solidFill>
                  <a:schemeClr val="bg1"/>
                </a:solidFill>
              </a:rPr>
              <a:t>„Vermeiden“ statt „ersetzen“: keine Kündigung, sondern keine zusätzliche Stelle bei Wachstum.</a:t>
            </a:r>
            <a:endParaRPr lang="en-US" sz="1400" dirty="0"/>
          </a:p>
          <a:p>
            <a:pPr marL="177800" indent="-177800">
              <a:spcAft>
                <a:spcPts val="500"/>
              </a:spcAft>
              <a:buSzPct val="100000"/>
              <a:buChar char="•"/>
            </a:pPr>
            <a:r>
              <a:rPr lang="en-US" sz="1300" dirty="0">
                <a:solidFill>
                  <a:schemeClr val="bg1"/>
                </a:solidFill>
              </a:rPr>
              <a:t>Ab 2027 Mindestlohn 14,60 € – Ersparnis steigt leicht.</a:t>
            </a:r>
            <a:endParaRPr lang="en-US" sz="1400" dirty="0"/>
          </a:p>
          <a:p>
            <a:pPr marL="177800" indent="-177800">
              <a:spcAft>
                <a:spcPts val="500"/>
              </a:spcAft>
              <a:buSzPct val="100000"/>
              <a:buChar char="•"/>
            </a:pPr>
            <a:r>
              <a:rPr lang="en-US" sz="1300" dirty="0">
                <a:solidFill>
                  <a:schemeClr val="bg1"/>
                </a:solidFill>
              </a:rPr>
              <a:t>Gegenzurechnen: KI-Kosten 70–142 €/Jahr (Valentin), dazu n8n- und Supabase-Abo.</a:t>
            </a:r>
            <a:endParaRPr lang="en-US" sz="1400" dirty="0"/>
          </a:p>
        </p:txBody>
      </p:sp>
      <p:sp>
        <p:nvSpPr>
          <p:cNvPr id="10" name="Text 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Annahmen sind gekennzeichnet · alle Rechenwege in der Projektarbeit, Kapitel 1</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Tool-Vergleich: von den Anforderungen zur Auswahl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chritt"/>
          <p:cNvSpPr/>
          <p:nvPr/>
        </p:nvSpPr>
        <p:spPr>
          <a:xfrm>
            <a:off x="548640" y="1325880"/>
            <a:ext cx="2011680" cy="1600200"/>
          </a:xfrm>
          <a:prstGeom prst="roundRect">
            <a:avLst>
              <a:gd name="adj" fmla="val 4571"/>
            </a:avLst>
          </a:prstGeom>
          <a:solidFill>
            <a:schemeClr val="bg2"/>
          </a:solidFill>
          <a:ln/>
        </p:spPr>
      </p:sp>
      <p:sp>
        <p:nvSpPr>
          <p:cNvPr id="7" name="Symbolkreis"/>
          <p:cNvSpPr/>
          <p:nvPr/>
        </p:nvSpPr>
        <p:spPr>
          <a:xfrm>
            <a:off x="731520" y="1463040"/>
            <a:ext cx="502920" cy="502920"/>
          </a:xfrm>
          <a:prstGeom prst="ellipse">
            <a:avLst/>
          </a:prstGeom>
          <a:solidFill>
            <a:schemeClr val="accent1"/>
          </a:solidFill>
          <a:ln/>
        </p:spPr>
      </p:sp>
      <p:pic>
        <p:nvPicPr>
          <p:cNvPr id="8" name="Symbol" descr="preencoded.png">    </p:cNvPr>
          <p:cNvPicPr>
            <a:picLocks noChangeAspect="1"/>
          </p:cNvPicPr>
          <p:nvPr/>
        </p:nvPicPr>
        <p:blipFill>
          <a:blip r:embed="rId2"/>
          <a:stretch>
            <a:fillRect/>
          </a:stretch>
        </p:blipFill>
        <p:spPr>
          <a:xfrm>
            <a:off x="857250" y="1588770"/>
            <a:ext cx="251460" cy="251460"/>
          </a:xfrm>
          <a:prstGeom prst="rect">
            <a:avLst/>
          </a:prstGeom>
        </p:spPr>
      </p:pic>
      <p:sp>
        <p:nvSpPr>
          <p:cNvPr id="9" name="Text 5"/>
          <p:cNvSpPr txBox="1"/>
          <p:nvPr/>
        </p:nvSpPr>
        <p:spPr>
          <a:xfrm>
            <a:off x="73152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1 · Anforderungen</a:t>
            </a:r>
            <a:endParaRPr lang="en-US" sz="1400" dirty="0"/>
          </a:p>
        </p:txBody>
      </p:sp>
      <p:sp>
        <p:nvSpPr>
          <p:cNvPr id="10" name="Text 6"/>
          <p:cNvSpPr txBox="1"/>
          <p:nvPr/>
        </p:nvSpPr>
        <p:spPr>
          <a:xfrm>
            <a:off x="73152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aus Ist/Soll abgeleitet</a:t>
            </a:r>
            <a:endParaRPr lang="en-US" sz="1200" dirty="0"/>
          </a:p>
        </p:txBody>
      </p:sp>
      <p:sp>
        <p:nvSpPr>
          <p:cNvPr id="11" name="Pfeil"/>
          <p:cNvSpPr/>
          <p:nvPr/>
        </p:nvSpPr>
        <p:spPr>
          <a:xfrm rot="5400000">
            <a:off x="2569464" y="2057400"/>
            <a:ext cx="237744" cy="146304"/>
          </a:xfrm>
          <a:prstGeom prst="triangle">
            <a:avLst/>
          </a:prstGeom>
          <a:solidFill>
            <a:schemeClr val="accent5"/>
          </a:solidFill>
          <a:ln/>
        </p:spPr>
      </p:sp>
      <p:sp>
        <p:nvSpPr>
          <p:cNvPr id="12" name="Schritt"/>
          <p:cNvSpPr/>
          <p:nvPr/>
        </p:nvSpPr>
        <p:spPr>
          <a:xfrm>
            <a:off x="2811780" y="1325880"/>
            <a:ext cx="2011680" cy="1600200"/>
          </a:xfrm>
          <a:prstGeom prst="roundRect">
            <a:avLst>
              <a:gd name="adj" fmla="val 4571"/>
            </a:avLst>
          </a:prstGeom>
          <a:solidFill>
            <a:schemeClr val="bg2"/>
          </a:solidFill>
          <a:ln/>
        </p:spPr>
      </p:sp>
      <p:sp>
        <p:nvSpPr>
          <p:cNvPr id="13" name="Symbolkreis"/>
          <p:cNvSpPr/>
          <p:nvPr/>
        </p:nvSpPr>
        <p:spPr>
          <a:xfrm>
            <a:off x="2994660" y="1463040"/>
            <a:ext cx="502920" cy="502920"/>
          </a:xfrm>
          <a:prstGeom prst="ellipse">
            <a:avLst/>
          </a:prstGeom>
          <a:solidFill>
            <a:schemeClr val="accent1"/>
          </a:solidFill>
          <a:ln/>
        </p:spPr>
      </p:sp>
      <p:pic>
        <p:nvPicPr>
          <p:cNvPr id="14" name="Symbol" descr="preencoded.png">    </p:cNvPr>
          <p:cNvPicPr>
            <a:picLocks noChangeAspect="1"/>
          </p:cNvPicPr>
          <p:nvPr/>
        </p:nvPicPr>
        <p:blipFill>
          <a:blip r:embed="rId3"/>
          <a:stretch>
            <a:fillRect/>
          </a:stretch>
        </p:blipFill>
        <p:spPr>
          <a:xfrm>
            <a:off x="3120390" y="1588770"/>
            <a:ext cx="251460" cy="251460"/>
          </a:xfrm>
          <a:prstGeom prst="rect">
            <a:avLst/>
          </a:prstGeom>
        </p:spPr>
      </p:pic>
      <p:sp>
        <p:nvSpPr>
          <p:cNvPr id="15" name="Text 10"/>
          <p:cNvSpPr txBox="1"/>
          <p:nvPr/>
        </p:nvSpPr>
        <p:spPr>
          <a:xfrm>
            <a:off x="299466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2 · Kriterien</a:t>
            </a:r>
            <a:endParaRPr lang="en-US" sz="1400" dirty="0"/>
          </a:p>
        </p:txBody>
      </p:sp>
      <p:sp>
        <p:nvSpPr>
          <p:cNvPr id="16" name="Text 11"/>
          <p:cNvSpPr txBox="1"/>
          <p:nvPr/>
        </p:nvSpPr>
        <p:spPr>
          <a:xfrm>
            <a:off x="299466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fünf IHK-Kriterien</a:t>
            </a:r>
            <a:endParaRPr lang="en-US" sz="1200" dirty="0"/>
          </a:p>
        </p:txBody>
      </p:sp>
      <p:sp>
        <p:nvSpPr>
          <p:cNvPr id="17" name="Pfeil"/>
          <p:cNvSpPr/>
          <p:nvPr/>
        </p:nvSpPr>
        <p:spPr>
          <a:xfrm rot="5400000">
            <a:off x="4832604" y="2057400"/>
            <a:ext cx="237744" cy="146304"/>
          </a:xfrm>
          <a:prstGeom prst="triangle">
            <a:avLst/>
          </a:prstGeom>
          <a:solidFill>
            <a:schemeClr val="accent5"/>
          </a:solidFill>
          <a:ln/>
        </p:spPr>
      </p:sp>
      <p:sp>
        <p:nvSpPr>
          <p:cNvPr id="18" name="Schritt"/>
          <p:cNvSpPr/>
          <p:nvPr/>
        </p:nvSpPr>
        <p:spPr>
          <a:xfrm>
            <a:off x="5074920" y="1325880"/>
            <a:ext cx="2011680" cy="1600200"/>
          </a:xfrm>
          <a:prstGeom prst="roundRect">
            <a:avLst>
              <a:gd name="adj" fmla="val 4571"/>
            </a:avLst>
          </a:prstGeom>
          <a:solidFill>
            <a:schemeClr val="bg2"/>
          </a:solidFill>
          <a:ln/>
        </p:spPr>
      </p:sp>
      <p:sp>
        <p:nvSpPr>
          <p:cNvPr id="19" name="Symbolkreis"/>
          <p:cNvSpPr/>
          <p:nvPr/>
        </p:nvSpPr>
        <p:spPr>
          <a:xfrm>
            <a:off x="5257800" y="1463040"/>
            <a:ext cx="502920" cy="502920"/>
          </a:xfrm>
          <a:prstGeom prst="ellipse">
            <a:avLst/>
          </a:prstGeom>
          <a:solidFill>
            <a:schemeClr val="accent1"/>
          </a:solidFill>
          <a:ln/>
        </p:spPr>
      </p:sp>
      <p:pic>
        <p:nvPicPr>
          <p:cNvPr id="20" name="Symbol" descr="preencoded.png">    </p:cNvPr>
          <p:cNvPicPr>
            <a:picLocks noChangeAspect="1"/>
          </p:cNvPicPr>
          <p:nvPr/>
        </p:nvPicPr>
        <p:blipFill>
          <a:blip r:embed="rId4"/>
          <a:stretch>
            <a:fillRect/>
          </a:stretch>
        </p:blipFill>
        <p:spPr>
          <a:xfrm>
            <a:off x="5383530" y="1588770"/>
            <a:ext cx="251460" cy="251460"/>
          </a:xfrm>
          <a:prstGeom prst="rect">
            <a:avLst/>
          </a:prstGeom>
        </p:spPr>
      </p:pic>
      <p:sp>
        <p:nvSpPr>
          <p:cNvPr id="21" name="Text 15"/>
          <p:cNvSpPr txBox="1"/>
          <p:nvPr/>
        </p:nvSpPr>
        <p:spPr>
          <a:xfrm>
            <a:off x="525780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3 · Vorauswahl</a:t>
            </a:r>
            <a:endParaRPr lang="en-US" sz="1400" dirty="0"/>
          </a:p>
        </p:txBody>
      </p:sp>
      <p:sp>
        <p:nvSpPr>
          <p:cNvPr id="22" name="Text 16"/>
          <p:cNvSpPr txBox="1"/>
          <p:nvPr/>
        </p:nvSpPr>
        <p:spPr>
          <a:xfrm>
            <a:off x="525780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je Baustein 2–4 Kandidaten</a:t>
            </a:r>
            <a:endParaRPr lang="en-US" sz="1200" dirty="0"/>
          </a:p>
        </p:txBody>
      </p:sp>
      <p:sp>
        <p:nvSpPr>
          <p:cNvPr id="23" name="Pfeil"/>
          <p:cNvSpPr/>
          <p:nvPr/>
        </p:nvSpPr>
        <p:spPr>
          <a:xfrm rot="5400000">
            <a:off x="7095744" y="2057400"/>
            <a:ext cx="237744" cy="146304"/>
          </a:xfrm>
          <a:prstGeom prst="triangle">
            <a:avLst/>
          </a:prstGeom>
          <a:solidFill>
            <a:schemeClr val="accent5"/>
          </a:solidFill>
          <a:ln/>
        </p:spPr>
      </p:sp>
      <p:sp>
        <p:nvSpPr>
          <p:cNvPr id="24" name="Schritt"/>
          <p:cNvSpPr/>
          <p:nvPr/>
        </p:nvSpPr>
        <p:spPr>
          <a:xfrm>
            <a:off x="7338060" y="1325880"/>
            <a:ext cx="2011680" cy="1600200"/>
          </a:xfrm>
          <a:prstGeom prst="roundRect">
            <a:avLst>
              <a:gd name="adj" fmla="val 4571"/>
            </a:avLst>
          </a:prstGeom>
          <a:solidFill>
            <a:schemeClr val="bg2"/>
          </a:solidFill>
          <a:ln/>
        </p:spPr>
      </p:sp>
      <p:sp>
        <p:nvSpPr>
          <p:cNvPr id="25" name="Symbolkreis"/>
          <p:cNvSpPr/>
          <p:nvPr/>
        </p:nvSpPr>
        <p:spPr>
          <a:xfrm>
            <a:off x="7520940" y="1463040"/>
            <a:ext cx="502920" cy="502920"/>
          </a:xfrm>
          <a:prstGeom prst="ellipse">
            <a:avLst/>
          </a:prstGeom>
          <a:solidFill>
            <a:schemeClr val="accent1"/>
          </a:solidFill>
          <a:ln/>
        </p:spPr>
      </p:sp>
      <p:pic>
        <p:nvPicPr>
          <p:cNvPr id="26" name="Symbol" descr="preencoded.png">    </p:cNvPr>
          <p:cNvPicPr>
            <a:picLocks noChangeAspect="1"/>
          </p:cNvPicPr>
          <p:nvPr/>
        </p:nvPicPr>
        <p:blipFill>
          <a:blip r:embed="rId5"/>
          <a:stretch>
            <a:fillRect/>
          </a:stretch>
        </p:blipFill>
        <p:spPr>
          <a:xfrm>
            <a:off x="7646670" y="1588770"/>
            <a:ext cx="251460" cy="251460"/>
          </a:xfrm>
          <a:prstGeom prst="rect">
            <a:avLst/>
          </a:prstGeom>
        </p:spPr>
      </p:pic>
      <p:sp>
        <p:nvSpPr>
          <p:cNvPr id="27" name="Text 20"/>
          <p:cNvSpPr txBox="1"/>
          <p:nvPr/>
        </p:nvSpPr>
        <p:spPr>
          <a:xfrm>
            <a:off x="752094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4 · Praxistest</a:t>
            </a:r>
            <a:endParaRPr lang="en-US" sz="1400" dirty="0"/>
          </a:p>
        </p:txBody>
      </p:sp>
      <p:sp>
        <p:nvSpPr>
          <p:cNvPr id="28" name="Text 21"/>
          <p:cNvSpPr txBox="1"/>
          <p:nvPr/>
        </p:nvSpPr>
        <p:spPr>
          <a:xfrm>
            <a:off x="752094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Prototyp v1 bis Merge</a:t>
            </a:r>
            <a:endParaRPr lang="en-US" sz="1200" dirty="0"/>
          </a:p>
        </p:txBody>
      </p:sp>
      <p:sp>
        <p:nvSpPr>
          <p:cNvPr id="29" name="Pfeil"/>
          <p:cNvSpPr/>
          <p:nvPr/>
        </p:nvSpPr>
        <p:spPr>
          <a:xfrm rot="5400000">
            <a:off x="9358884" y="2057400"/>
            <a:ext cx="237744" cy="146304"/>
          </a:xfrm>
          <a:prstGeom prst="triangle">
            <a:avLst/>
          </a:prstGeom>
          <a:solidFill>
            <a:schemeClr val="accent5"/>
          </a:solidFill>
          <a:ln/>
        </p:spPr>
      </p:sp>
      <p:sp>
        <p:nvSpPr>
          <p:cNvPr id="30" name="Schritt"/>
          <p:cNvSpPr/>
          <p:nvPr/>
        </p:nvSpPr>
        <p:spPr>
          <a:xfrm>
            <a:off x="9601200" y="1325880"/>
            <a:ext cx="2011680" cy="1600200"/>
          </a:xfrm>
          <a:prstGeom prst="roundRect">
            <a:avLst>
              <a:gd name="adj" fmla="val 4571"/>
            </a:avLst>
          </a:prstGeom>
          <a:solidFill>
            <a:schemeClr val="bg2"/>
          </a:solidFill>
          <a:ln/>
        </p:spPr>
      </p:sp>
      <p:sp>
        <p:nvSpPr>
          <p:cNvPr id="31" name="Symbolkreis"/>
          <p:cNvSpPr/>
          <p:nvPr/>
        </p:nvSpPr>
        <p:spPr>
          <a:xfrm>
            <a:off x="9784080" y="1463040"/>
            <a:ext cx="502920" cy="502920"/>
          </a:xfrm>
          <a:prstGeom prst="ellipse">
            <a:avLst/>
          </a:prstGeom>
          <a:solidFill>
            <a:schemeClr val="accent1"/>
          </a:solidFill>
          <a:ln/>
        </p:spPr>
      </p:sp>
      <p:pic>
        <p:nvPicPr>
          <p:cNvPr id="32" name="Symbol" descr="preencoded.png">    </p:cNvPr>
          <p:cNvPicPr>
            <a:picLocks noChangeAspect="1"/>
          </p:cNvPicPr>
          <p:nvPr/>
        </p:nvPicPr>
        <p:blipFill>
          <a:blip r:embed="rId6"/>
          <a:stretch>
            <a:fillRect/>
          </a:stretch>
        </p:blipFill>
        <p:spPr>
          <a:xfrm>
            <a:off x="9909810" y="1588770"/>
            <a:ext cx="251460" cy="251460"/>
          </a:xfrm>
          <a:prstGeom prst="rect">
            <a:avLst/>
          </a:prstGeom>
        </p:spPr>
      </p:pic>
      <p:sp>
        <p:nvSpPr>
          <p:cNvPr id="33" name="Text 25"/>
          <p:cNvSpPr txBox="1"/>
          <p:nvPr/>
        </p:nvSpPr>
        <p:spPr>
          <a:xfrm>
            <a:off x="978408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5 · Fazit</a:t>
            </a:r>
            <a:endParaRPr lang="en-US" sz="1400" dirty="0"/>
          </a:p>
        </p:txBody>
      </p:sp>
      <p:sp>
        <p:nvSpPr>
          <p:cNvPr id="34" name="Text 26"/>
          <p:cNvSpPr txBox="1"/>
          <p:nvPr/>
        </p:nvSpPr>
        <p:spPr>
          <a:xfrm>
            <a:off x="978408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begründete Auswahl</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11091672" cy="914400"/>
        </p:xfrm>
        <a:graphic>
          <a:graphicData uri="http://schemas.openxmlformats.org/drawingml/2006/table">
            <a:tbl>
              <a:tblPr/>
              <a:tblGrid>
                <a:gridCol w="8348472"/>
                <a:gridCol w="27432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Anforderung aus dem Ist/Soll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IHK-Kriterium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Verordnungen sind Gesundheitsdaten (Art. 9 DSGVO); Daten in der EU, Pseudonym statt Name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Datenschutz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Rezeption ohne IT-Kenntnisse: Formular oder Chat, Antwort in Sekunden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Benutzerfreundlichkeit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Jeder Befund mit Fundstelle aus öffentlichen Regelwerken; Regeln ändern sich jährlich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Funktionalität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Keine Schnittstelle zur Praxissoftware nötig, Protokoll jeder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Integrationsfähigkeit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Laufende Kosten klein gegenüber der eingesparten Zeit (Ziel ≤ 5 Cent je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Orchestrierung: n8n und die Alternativen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194560"/>
                <a:gridCol w="3657600"/>
                <a:gridCol w="3931920"/>
                <a:gridCol w="13075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Kandidat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Stärke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Schwäche für unseren Fall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86868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n8n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Agenten, Vektorsuche und Code-Knoten in einem Workflow; native Knoten für OpenAI und Supabase; Export als JSON für GitHub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Kein fertiges Frontend; JavaScript-Kenntnisse für Code-Knoten nötig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Microsoft Copilot Studio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Im MSIT-Programm bekannt, gute Chat-Oberfläche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Anbindung an Supabase und eigene Rechenlogik umständlicher; n8n ist Kernplattform des Capstones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Eigener Code (z. B. Python)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Volle Kontrolle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Bauzeit; schwerer für die Praxis zu warten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Eigenes Frontend (z. B. Lovable)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Schöne Oberfläche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Kostet Bauzeit ohne Prüfnutzen; n8n-Formular und -Chat reichen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Reine Regel-Engine ohne KI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Deterministisch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Eingabe ist Freitext, Regeln stehen in langen PDF-Regelwerken – dafür braucht es Sprachverständnis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Ehrlich bleiben: n8n ist durch das MSIT-Capstone vorgegeben – wir haben es trotzdem gegen die Alternativen bewertet · Quelle: docs/implementierung.md</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Sprachmodell und Embeddings: klein, günstig, einheitlich</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286000"/>
                <a:gridCol w="448056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Kandidat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7772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gpt-4.1-mini, Temperatur 0,1</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Reicht, weil Regeln der Code rechnet; ca. 3–4 Cent und ca. 25 s je Prüfung; niedrige Temperatur = reproduzierbarer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Größere Modelle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Kosten und Wartezeit; der wichtigste Fehler (falsche ICD-Zuordnung) wurde nicht durch Modellgröße, sondern durch Code gelöst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9601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 mit EU-Hosting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Datenschutz-Vorteil; im Prototyp nur synthetische Daten → vor Echtbetrieb neu bewerten (OpenAI bietet seit Feb. 2025 EU-Datenresidenz für API-Projekte)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Echtbetrieb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text-embedding-3-small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Wissensbasis (380 Abschnitte, 1.536 Dimensionen) ist damit geladen – Suchanfragen müssen mit demselben Modell eingebettet werden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Gemini über OpenRouter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Embeddings eines anderen Modells liegen in einem anderen Vektorraum → Suche wertlos. Nur nach komplettem Neuladen der Wissensbasis möglich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Lehre"/>
          <p:cNvSpPr/>
          <p:nvPr/>
        </p:nvSpPr>
        <p:spPr>
          <a:xfrm>
            <a:off x="8595360" y="1325880"/>
            <a:ext cx="3044952" cy="4572000"/>
          </a:xfrm>
          <a:prstGeom prst="roundRect">
            <a:avLst>
              <a:gd name="adj" fmla="val 2402"/>
            </a:avLst>
          </a:prstGeom>
          <a:solidFill>
            <a:schemeClr val="tx2"/>
          </a:solidFill>
          <a:ln/>
        </p:spPr>
      </p:sp>
      <p:sp>
        <p:nvSpPr>
          <p:cNvPr id="8" name="Symbolkreis"/>
          <p:cNvSpPr/>
          <p:nvPr/>
        </p:nvSpPr>
        <p:spPr>
          <a:xfrm>
            <a:off x="8823960" y="1508760"/>
            <a:ext cx="548640" cy="548640"/>
          </a:xfrm>
          <a:prstGeom prst="ellipse">
            <a:avLst/>
          </a:prstGeom>
          <a:solidFill>
            <a:schemeClr val="accent2"/>
          </a:solidFill>
          <a:ln/>
        </p:spPr>
      </p:sp>
      <p:pic>
        <p:nvPicPr>
          <p:cNvPr id="9" name="Symbol" descr="preencoded.png">    </p:cNvPr>
          <p:cNvPicPr>
            <a:picLocks noChangeAspect="1"/>
          </p:cNvPicPr>
          <p:nvPr/>
        </p:nvPicPr>
        <p:blipFill>
          <a:blip r:embed="rId2"/>
          <a:stretch>
            <a:fillRect/>
          </a:stretch>
        </p:blipFill>
        <p:spPr>
          <a:xfrm>
            <a:off x="8961120" y="1645920"/>
            <a:ext cx="274320" cy="274320"/>
          </a:xfrm>
          <a:prstGeom prst="rect">
            <a:avLst/>
          </a:prstGeom>
        </p:spPr>
      </p:pic>
      <p:sp>
        <p:nvSpPr>
          <p:cNvPr id="10" name="Text 5"/>
          <p:cNvSpPr txBox="1"/>
          <p:nvPr/>
        </p:nvSpPr>
        <p:spPr>
          <a:xfrm>
            <a:off x="8823960" y="2194560"/>
            <a:ext cx="2606040" cy="6858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Beim Zusammenführen gelernt</a:t>
            </a:r>
            <a:endParaRPr lang="en-US" sz="1600" dirty="0"/>
          </a:p>
        </p:txBody>
      </p:sp>
      <p:sp>
        <p:nvSpPr>
          <p:cNvPr id="11" name="Text 6"/>
          <p:cNvSpPr txBox="1"/>
          <p:nvPr/>
        </p:nvSpPr>
        <p:spPr>
          <a:xfrm>
            <a:off x="8823960" y="2926080"/>
            <a:ext cx="2606040" cy="2834640"/>
          </a:xfrm>
          <a:prstGeom prst="rect">
            <a:avLst/>
          </a:prstGeom>
          <a:noFill/>
          <a:ln/>
        </p:spPr>
        <p:txBody>
          <a:bodyPr wrap="square" lIns="0" tIns="0" rIns="0" bIns="0" rtlCol="0" anchor="t"/>
          <a:lstStyle/>
          <a:p>
            <a:pPr indent="0" marL="0">
              <a:buNone/>
            </a:pPr>
            <a:r>
              <a:rPr lang="en-US" sz="1300" b="1" dirty="0">
                <a:solidFill>
                  <a:schemeClr val="accent2"/>
                </a:solidFill>
              </a:rPr>
              <a:t>Embedding-Modell: zwingend </a:t>
            </a:r>
            <a:pPr indent="0" marL="0">
              <a:buNone/>
            </a:pPr>
            <a:r>
              <a:rPr lang="en-US" sz="1300" dirty="0">
                <a:solidFill>
                  <a:schemeClr val="bg1"/>
                </a:solidFill>
              </a:rPr>
              <a:t>dasselbe wie beim Laden der Wissensbasis.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2"/>
                </a:solidFill>
              </a:rPr>
              <a:t>Chat-Modell: bewusst vereinheitlicht, </a:t>
            </a:r>
            <a:pPr indent="0" marL="0">
              <a:buNone/>
            </a:pPr>
            <a:r>
              <a:rPr lang="en-US" sz="1300" dirty="0">
                <a:solidFill>
                  <a:schemeClr val="bg1"/>
                </a:solidFill>
              </a:rPr>
              <a:t>damit alle Testergebnisse vergleichbar bleiben. Technisch wäre ein anderes möglich.</a:t>
            </a:r>
            <a:endParaRPr lang="en-US" sz="1300" dirty="0"/>
          </a:p>
        </p:txBody>
      </p:sp>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Kosten je Prüfung: Schätzung aus ca. 77.000 Eingabetoken, noch keine gemessene Abrechnung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Wissensbasis: warum RAG mit Supabase pgvector</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468880"/>
                <a:gridCol w="429768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Ansatz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96012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RAG: Regelwerke als Abschnitte in einer Vektorsuche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Jeder Befund kann seine Fundstelle nennen; neue Fassung = Knopfdruck „Wissensbasis laden“ (KBV-Liste z. B. jährlich zum 1. Januar)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Fine-Tuning des Modells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Regeln ändern sich jährlich → jedes Mal neu trainieren; keine überprüfbare Fundstelle; teuer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Gesamte Regelwerke in den Prompt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Hunderte Seiten je Prüfung → hohe Kosten und lange Wartezeit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Supabase pgvector (EU, Frankfurt)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Eine Datenbank für Wissensbasis, Protokoll und künftig Historie; Zugriffsschutz auf Zeilenebene; EU-Region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Eigenständige Vektordatenbank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Zweites System mit eigenem Vertrag und Zugang – ohne Mehrwert bei ca. 380 Abschnitten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Quellen"/>
          <p:cNvSpPr/>
          <p:nvPr/>
        </p:nvSpPr>
        <p:spPr>
          <a:xfrm>
            <a:off x="8595360" y="1325880"/>
            <a:ext cx="3044952" cy="4572000"/>
          </a:xfrm>
          <a:prstGeom prst="roundRect">
            <a:avLst>
              <a:gd name="adj" fmla="val 2402"/>
            </a:avLst>
          </a:prstGeom>
          <a:solidFill>
            <a:schemeClr val="bg2"/>
          </a:solidFill>
          <a:ln/>
        </p:spPr>
      </p:sp>
      <p:sp>
        <p:nvSpPr>
          <p:cNvPr id="8" name="Symbolkreis"/>
          <p:cNvSpPr/>
          <p:nvPr/>
        </p:nvSpPr>
        <p:spPr>
          <a:xfrm>
            <a:off x="8823960" y="1508760"/>
            <a:ext cx="548640" cy="548640"/>
          </a:xfrm>
          <a:prstGeom prst="ellipse">
            <a:avLst/>
          </a:prstGeom>
          <a:solidFill>
            <a:schemeClr val="accent1"/>
          </a:solidFill>
          <a:ln/>
        </p:spPr>
      </p:sp>
      <p:pic>
        <p:nvPicPr>
          <p:cNvPr id="9" name="Symbol" descr="preencoded.png">    </p:cNvPr>
          <p:cNvPicPr>
            <a:picLocks noChangeAspect="1"/>
          </p:cNvPicPr>
          <p:nvPr/>
        </p:nvPicPr>
        <p:blipFill>
          <a:blip r:embed="rId2"/>
          <a:stretch>
            <a:fillRect/>
          </a:stretch>
        </p:blipFill>
        <p:spPr>
          <a:xfrm>
            <a:off x="8961120" y="1645920"/>
            <a:ext cx="274320" cy="274320"/>
          </a:xfrm>
          <a:prstGeom prst="rect">
            <a:avLst/>
          </a:prstGeom>
        </p:spPr>
      </p:pic>
      <p:sp>
        <p:nvSpPr>
          <p:cNvPr id="10" name="Text 5"/>
          <p:cNvSpPr txBox="1"/>
          <p:nvPr/>
        </p:nvSpPr>
        <p:spPr>
          <a:xfrm>
            <a:off x="8823960" y="2194560"/>
            <a:ext cx="2606040" cy="68580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Nur frei zugängliche Quellen</a:t>
            </a:r>
            <a:endParaRPr lang="en-US" sz="1600" dirty="0"/>
          </a:p>
        </p:txBody>
      </p:sp>
      <p:sp>
        <p:nvSpPr>
          <p:cNvPr id="11" name="Text 6"/>
          <p:cNvSpPr txBox="1"/>
          <p:nvPr/>
        </p:nvSpPr>
        <p:spPr>
          <a:xfrm>
            <a:off x="8823960" y="2926080"/>
            <a:ext cx="2606040" cy="2834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Heilmittel-Richtlinie (G-BA): 236 Abschnitte</a:t>
            </a:r>
            <a:endParaRPr lang="en-US" sz="1400" dirty="0"/>
          </a:p>
          <a:p>
            <a:pPr marL="177800" indent="-177800">
              <a:spcAft>
                <a:spcPts val="500"/>
              </a:spcAft>
              <a:buSzPct val="100000"/>
              <a:buChar char="•"/>
            </a:pPr>
            <a:r>
              <a:rPr lang="en-US" sz="1300" dirty="0">
                <a:solidFill>
                  <a:schemeClr val="tx1"/>
                </a:solidFill>
              </a:rPr>
              <a:t>Heilmittelkatalog (G-BA): 82</a:t>
            </a:r>
            <a:endParaRPr lang="en-US" sz="1400" dirty="0"/>
          </a:p>
          <a:p>
            <a:pPr marL="177800" indent="-177800">
              <a:spcAft>
                <a:spcPts val="500"/>
              </a:spcAft>
              <a:buSzPct val="100000"/>
              <a:buChar char="•"/>
            </a:pPr>
            <a:r>
              <a:rPr lang="en-US" sz="1300" dirty="0">
                <a:solidFill>
                  <a:schemeClr val="tx1"/>
                </a:solidFill>
              </a:rPr>
              <a:t>KBV-Diagnoseliste: 62</a:t>
            </a:r>
            <a:endParaRPr lang="en-US" sz="1400" dirty="0"/>
          </a:p>
          <a:p>
            <a:pPr marL="177800" indent="-177800">
              <a:spcAft>
                <a:spcPts val="500"/>
              </a:spcAft>
              <a:buSzPct val="100000"/>
              <a:buChar char="•"/>
            </a:pPr>
            <a:r>
              <a:rPr lang="en-US" sz="1300" dirty="0">
                <a:solidFill>
                  <a:schemeClr val="tx1"/>
                </a:solidFill>
              </a:rPr>
              <a:t>ICD-10-GM bewusst nicht vollständig im Repository (Nutzungsvertrag BfArM)</a:t>
            </a:r>
            <a:endParaRPr lang="en-US" sz="1400" dirty="0"/>
          </a:p>
        </p:txBody>
      </p:sp>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Grenze erkannt (23.10.): Tabellen aus PDF liest das Modell unzuverlässig → KBV-Liste künftig als Tabelle im Code (Entscheidung offen)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Eingabekanal und Gesamtkosten (TCO)</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377440"/>
                <a:gridCol w="1371600"/>
                <a:gridCol w="41148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Kanal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Bewertung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68580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Formular (Muster 13)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Strukturiert, kein Extraktionsfehler, Patientendaten werden vor dem Modell ersetzt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9436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Chat (Text oder JSON)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Schnell für Rückfragen; Freitext braucht Extraktion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Foto + Vision-KI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nur bei Puffer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Bequem, aber Lesefehler; Brücke bis zur E-Verordnung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9436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Scan + OCR, E-Mail, Messenger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Schritte oder unsicherer Kanal für Gesundheitsdaten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Praxissoftware / E-Verordnung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Ausblick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Beste Lösung, aber Schnittstelle nötig; E-Verordnung über die TI macht Texterkennung zur Übergangslösung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9" name="TCO"/>
          <p:cNvSpPr/>
          <p:nvPr/>
        </p:nvSpPr>
        <p:spPr>
          <a:xfrm>
            <a:off x="8595360" y="1325880"/>
            <a:ext cx="3044952" cy="4572000"/>
          </a:xfrm>
          <a:prstGeom prst="roundRect">
            <a:avLst>
              <a:gd name="adj" fmla="val 2402"/>
            </a:avLst>
          </a:prstGeom>
          <a:solidFill>
            <a:schemeClr val="tx2"/>
          </a:solidFill>
          <a:ln/>
        </p:spPr>
      </p:sp>
      <p:sp>
        <p:nvSpPr>
          <p:cNvPr id="10" name="Text 6"/>
          <p:cNvSpPr txBox="1"/>
          <p:nvPr/>
        </p:nvSpPr>
        <p:spPr>
          <a:xfrm>
            <a:off x="8823960" y="1463040"/>
            <a:ext cx="26060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Ergebnis TCO-Vergleich</a:t>
            </a:r>
            <a:endParaRPr lang="en-US" sz="1600" dirty="0"/>
          </a:p>
        </p:txBody>
      </p:sp>
      <p:sp>
        <p:nvSpPr>
          <p:cNvPr id="11" name="Text 7"/>
          <p:cNvSpPr txBox="1"/>
          <p:nvPr/>
        </p:nvSpPr>
        <p:spPr>
          <a:xfrm>
            <a:off x="8823960" y="1965960"/>
            <a:ext cx="2606040" cy="274320"/>
          </a:xfrm>
          <a:prstGeom prst="rect">
            <a:avLst/>
          </a:prstGeom>
          <a:noFill/>
          <a:ln/>
        </p:spPr>
        <p:txBody>
          <a:bodyPr wrap="square" lIns="0" tIns="0" rIns="0" bIns="0" rtlCol="0" anchor="t"/>
          <a:lstStyle/>
          <a:p>
            <a:pPr indent="0" marL="0">
              <a:buNone/>
            </a:pPr>
            <a:r>
              <a:rPr lang="en-US" sz="1200" dirty="0">
                <a:solidFill>
                  <a:schemeClr val="bg2"/>
                </a:solidFill>
              </a:rPr>
              <a:t>KI-Kosten</a:t>
            </a:r>
            <a:endParaRPr lang="en-US" sz="1200" dirty="0"/>
          </a:p>
        </p:txBody>
      </p:sp>
      <p:sp>
        <p:nvSpPr>
          <p:cNvPr id="12" name="Text 8"/>
          <p:cNvSpPr txBox="1"/>
          <p:nvPr/>
        </p:nvSpPr>
        <p:spPr>
          <a:xfrm>
            <a:off x="8823960" y="2221992"/>
            <a:ext cx="2606040" cy="50292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70–142 € / Jahr</a:t>
            </a:r>
            <a:endParaRPr lang="en-US" sz="2400" dirty="0"/>
          </a:p>
        </p:txBody>
      </p:sp>
      <p:sp>
        <p:nvSpPr>
          <p:cNvPr id="13" name="Text 9"/>
          <p:cNvSpPr txBox="1"/>
          <p:nvPr/>
        </p:nvSpPr>
        <p:spPr>
          <a:xfrm>
            <a:off x="8823960" y="2834640"/>
            <a:ext cx="2606040" cy="274320"/>
          </a:xfrm>
          <a:prstGeom prst="rect">
            <a:avLst/>
          </a:prstGeom>
          <a:noFill/>
          <a:ln/>
        </p:spPr>
        <p:txBody>
          <a:bodyPr wrap="square" lIns="0" tIns="0" rIns="0" bIns="0" rtlCol="0" anchor="t"/>
          <a:lstStyle/>
          <a:p>
            <a:pPr indent="0" marL="0">
              <a:buNone/>
            </a:pPr>
            <a:r>
              <a:rPr lang="en-US" sz="1200" dirty="0">
                <a:solidFill>
                  <a:schemeClr val="bg2"/>
                </a:solidFill>
              </a:rPr>
              <a:t>Gesamtkosten je Kanal</a:t>
            </a:r>
            <a:endParaRPr lang="en-US" sz="1200" dirty="0"/>
          </a:p>
        </p:txBody>
      </p:sp>
      <p:sp>
        <p:nvSpPr>
          <p:cNvPr id="14" name="Text 10"/>
          <p:cNvSpPr txBox="1"/>
          <p:nvPr/>
        </p:nvSpPr>
        <p:spPr>
          <a:xfrm>
            <a:off x="8823960" y="3090672"/>
            <a:ext cx="2606040" cy="50292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823–2.054 € / Jahr</a:t>
            </a:r>
            <a:endParaRPr lang="en-US" sz="2400" dirty="0"/>
          </a:p>
        </p:txBody>
      </p:sp>
      <p:sp>
        <p:nvSpPr>
          <p:cNvPr id="15" name="Text 11"/>
          <p:cNvSpPr txBox="1"/>
          <p:nvPr/>
        </p:nvSpPr>
        <p:spPr>
          <a:xfrm>
            <a:off x="8823960" y="3840480"/>
            <a:ext cx="2606040" cy="1097280"/>
          </a:xfrm>
          <a:prstGeom prst="rect">
            <a:avLst/>
          </a:prstGeom>
          <a:noFill/>
          <a:ln/>
        </p:spPr>
        <p:txBody>
          <a:bodyPr wrap="square" lIns="0" tIns="0" rIns="0" bIns="0" rtlCol="0" anchor="t"/>
          <a:lstStyle/>
          <a:p>
            <a:pPr indent="0" marL="0">
              <a:buNone/>
            </a:pPr>
            <a:r>
              <a:rPr lang="en-US" sz="1400" b="1" dirty="0">
                <a:solidFill>
                  <a:schemeClr val="bg1"/>
                </a:solidFill>
              </a:rPr>
              <a:t>Die Eingabezeit der Rezeption bestimmt die Kosten, nicht die KI.</a:t>
            </a:r>
            <a:endParaRPr lang="en-US" sz="1400" dirty="0"/>
          </a:p>
        </p:txBody>
      </p:sp>
      <p:sp>
        <p:nvSpPr>
          <p:cNvPr id="16" name="Text 12"/>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TCO-Entwurf vom 19.10.2026 · offen: Gewichtung der Kriterien, Preisquellen mit Abrufdatum</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 Regeln rechnet der Code, Sprache das Modell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chritt Eingang"/>
          <p:cNvSpPr/>
          <p:nvPr/>
        </p:nvSpPr>
        <p:spPr>
          <a:xfrm>
            <a:off x="548640" y="1325880"/>
            <a:ext cx="2011680" cy="2057400"/>
          </a:xfrm>
          <a:prstGeom prst="roundRect">
            <a:avLst>
              <a:gd name="adj" fmla="val 3636"/>
            </a:avLst>
          </a:prstGeom>
          <a:solidFill>
            <a:schemeClr val="bg2"/>
          </a:solidFill>
          <a:ln/>
        </p:spPr>
      </p:sp>
      <p:sp>
        <p:nvSpPr>
          <p:cNvPr id="7" name="Symbolkreis"/>
          <p:cNvSpPr/>
          <p:nvPr/>
        </p:nvSpPr>
        <p:spPr>
          <a:xfrm>
            <a:off x="731520" y="1463040"/>
            <a:ext cx="548640" cy="548640"/>
          </a:xfrm>
          <a:prstGeom prst="ellipse">
            <a:avLst/>
          </a:prstGeom>
          <a:solidFill>
            <a:schemeClr val="accent1"/>
          </a:solidFill>
          <a:ln/>
        </p:spPr>
      </p:sp>
      <p:pic>
        <p:nvPicPr>
          <p:cNvPr id="8" name="Symbol" descr="preencoded.png">    </p:cNvPr>
          <p:cNvPicPr>
            <a:picLocks noChangeAspect="1"/>
          </p:cNvPicPr>
          <p:nvPr/>
        </p:nvPicPr>
        <p:blipFill>
          <a:blip r:embed="rId2"/>
          <a:stretch>
            <a:fillRect/>
          </a:stretch>
        </p:blipFill>
        <p:spPr>
          <a:xfrm>
            <a:off x="868680" y="1600200"/>
            <a:ext cx="274320" cy="274320"/>
          </a:xfrm>
          <a:prstGeom prst="rect">
            <a:avLst/>
          </a:prstGeom>
        </p:spPr>
      </p:pic>
      <p:sp>
        <p:nvSpPr>
          <p:cNvPr id="9" name="Text 5"/>
          <p:cNvSpPr txBox="1"/>
          <p:nvPr/>
        </p:nvSpPr>
        <p:spPr>
          <a:xfrm>
            <a:off x="137160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Eingang</a:t>
            </a:r>
            <a:endParaRPr lang="en-US" sz="1600" dirty="0"/>
          </a:p>
        </p:txBody>
      </p:sp>
      <p:sp>
        <p:nvSpPr>
          <p:cNvPr id="10" name="Text 6"/>
          <p:cNvSpPr txBox="1"/>
          <p:nvPr/>
        </p:nvSpPr>
        <p:spPr>
          <a:xfrm>
            <a:off x="731520" y="2148840"/>
            <a:ext cx="1691640" cy="1143000"/>
          </a:xfrm>
          <a:prstGeom prst="rect">
            <a:avLst/>
          </a:prstGeom>
          <a:noFill/>
          <a:ln/>
        </p:spPr>
        <p:txBody>
          <a:bodyPr wrap="square" lIns="0" tIns="0" rIns="0" bIns="0" rtlCol="0" anchor="t"/>
          <a:lstStyle/>
          <a:p>
            <a:pPr indent="0" marL="0">
              <a:buNone/>
            </a:pPr>
            <a:r>
              <a:rPr lang="en-US" sz="1300" dirty="0">
                <a:solidFill>
                  <a:schemeClr val="tx1"/>
                </a:solidFill>
              </a:rPr>
              <a:t>Formular oder Chat</a:t>
            </a:r>
            <a:endParaRPr lang="en-US" sz="1300" dirty="0"/>
          </a:p>
        </p:txBody>
      </p:sp>
      <p:sp>
        <p:nvSpPr>
          <p:cNvPr id="11" name="Pfeil"/>
          <p:cNvSpPr/>
          <p:nvPr/>
        </p:nvSpPr>
        <p:spPr>
          <a:xfrm rot="5400000">
            <a:off x="2569464" y="2240280"/>
            <a:ext cx="237744" cy="146304"/>
          </a:xfrm>
          <a:prstGeom prst="triangle">
            <a:avLst/>
          </a:prstGeom>
          <a:solidFill>
            <a:schemeClr val="accent5"/>
          </a:solidFill>
          <a:ln/>
        </p:spPr>
      </p:sp>
      <p:sp>
        <p:nvSpPr>
          <p:cNvPr id="12" name="Schritt Erfassen"/>
          <p:cNvSpPr/>
          <p:nvPr/>
        </p:nvSpPr>
        <p:spPr>
          <a:xfrm>
            <a:off x="2811780" y="1325880"/>
            <a:ext cx="2011680" cy="2057400"/>
          </a:xfrm>
          <a:prstGeom prst="roundRect">
            <a:avLst>
              <a:gd name="adj" fmla="val 3636"/>
            </a:avLst>
          </a:prstGeom>
          <a:solidFill>
            <a:schemeClr val="bg2"/>
          </a:solidFill>
          <a:ln/>
        </p:spPr>
      </p:sp>
      <p:sp>
        <p:nvSpPr>
          <p:cNvPr id="13" name="Symbolkreis"/>
          <p:cNvSpPr/>
          <p:nvPr/>
        </p:nvSpPr>
        <p:spPr>
          <a:xfrm>
            <a:off x="2994660" y="1463040"/>
            <a:ext cx="548640" cy="548640"/>
          </a:xfrm>
          <a:prstGeom prst="ellipse">
            <a:avLst/>
          </a:prstGeom>
          <a:solidFill>
            <a:schemeClr val="accent1"/>
          </a:solidFill>
          <a:ln/>
        </p:spPr>
      </p:sp>
      <p:pic>
        <p:nvPicPr>
          <p:cNvPr id="14" name="Symbol" descr="preencoded.png">    </p:cNvPr>
          <p:cNvPicPr>
            <a:picLocks noChangeAspect="1"/>
          </p:cNvPicPr>
          <p:nvPr/>
        </p:nvPicPr>
        <p:blipFill>
          <a:blip r:embed="rId3"/>
          <a:stretch>
            <a:fillRect/>
          </a:stretch>
        </p:blipFill>
        <p:spPr>
          <a:xfrm>
            <a:off x="3131820" y="1600200"/>
            <a:ext cx="274320" cy="274320"/>
          </a:xfrm>
          <a:prstGeom prst="rect">
            <a:avLst/>
          </a:prstGeom>
        </p:spPr>
      </p:pic>
      <p:sp>
        <p:nvSpPr>
          <p:cNvPr id="15" name="Text 10"/>
          <p:cNvSpPr txBox="1"/>
          <p:nvPr/>
        </p:nvSpPr>
        <p:spPr>
          <a:xfrm>
            <a:off x="363474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Erfassen</a:t>
            </a:r>
            <a:endParaRPr lang="en-US" sz="1600" dirty="0"/>
          </a:p>
        </p:txBody>
      </p:sp>
      <p:sp>
        <p:nvSpPr>
          <p:cNvPr id="16" name="Text 11"/>
          <p:cNvSpPr txBox="1"/>
          <p:nvPr/>
        </p:nvSpPr>
        <p:spPr>
          <a:xfrm>
            <a:off x="2994660" y="2148840"/>
            <a:ext cx="1691640" cy="1143000"/>
          </a:xfrm>
          <a:prstGeom prst="rect">
            <a:avLst/>
          </a:prstGeom>
          <a:noFill/>
          <a:ln/>
        </p:spPr>
        <p:txBody>
          <a:bodyPr wrap="square" lIns="0" tIns="0" rIns="0" bIns="0" rtlCol="0" anchor="t"/>
          <a:lstStyle/>
          <a:p>
            <a:pPr indent="0" marL="0">
              <a:buNone/>
            </a:pPr>
            <a:r>
              <a:rPr lang="en-US" sz="1300" dirty="0">
                <a:solidFill>
                  <a:schemeClr val="tx1"/>
                </a:solidFill>
              </a:rPr>
              <a:t>Schema, Patientendaten entfernen</a:t>
            </a:r>
            <a:endParaRPr lang="en-US" sz="1300" dirty="0"/>
          </a:p>
        </p:txBody>
      </p:sp>
      <p:sp>
        <p:nvSpPr>
          <p:cNvPr id="17" name="Pfeil"/>
          <p:cNvSpPr/>
          <p:nvPr/>
        </p:nvSpPr>
        <p:spPr>
          <a:xfrm rot="5400000">
            <a:off x="4832604" y="2240280"/>
            <a:ext cx="237744" cy="146304"/>
          </a:xfrm>
          <a:prstGeom prst="triangle">
            <a:avLst/>
          </a:prstGeom>
          <a:solidFill>
            <a:schemeClr val="accent5"/>
          </a:solidFill>
          <a:ln/>
        </p:spPr>
      </p:sp>
      <p:sp>
        <p:nvSpPr>
          <p:cNvPr id="18" name="Schritt Fakten"/>
          <p:cNvSpPr/>
          <p:nvPr/>
        </p:nvSpPr>
        <p:spPr>
          <a:xfrm>
            <a:off x="5074920" y="1325880"/>
            <a:ext cx="2011680" cy="2057400"/>
          </a:xfrm>
          <a:prstGeom prst="roundRect">
            <a:avLst>
              <a:gd name="adj" fmla="val 3636"/>
            </a:avLst>
          </a:prstGeom>
          <a:solidFill>
            <a:schemeClr val="tx2"/>
          </a:solidFill>
          <a:ln/>
        </p:spPr>
      </p:sp>
      <p:sp>
        <p:nvSpPr>
          <p:cNvPr id="19" name="Symbolkreis"/>
          <p:cNvSpPr/>
          <p:nvPr/>
        </p:nvSpPr>
        <p:spPr>
          <a:xfrm>
            <a:off x="5257800" y="1463040"/>
            <a:ext cx="548640" cy="548640"/>
          </a:xfrm>
          <a:prstGeom prst="ellipse">
            <a:avLst/>
          </a:prstGeom>
          <a:solidFill>
            <a:schemeClr val="accent2"/>
          </a:solidFill>
          <a:ln/>
        </p:spPr>
      </p:sp>
      <p:pic>
        <p:nvPicPr>
          <p:cNvPr id="20" name="Symbol" descr="preencoded.png">    </p:cNvPr>
          <p:cNvPicPr>
            <a:picLocks noChangeAspect="1"/>
          </p:cNvPicPr>
          <p:nvPr/>
        </p:nvPicPr>
        <p:blipFill>
          <a:blip r:embed="rId4"/>
          <a:stretch>
            <a:fillRect/>
          </a:stretch>
        </p:blipFill>
        <p:spPr>
          <a:xfrm>
            <a:off x="5394960" y="1600200"/>
            <a:ext cx="274320" cy="274320"/>
          </a:xfrm>
          <a:prstGeom prst="rect">
            <a:avLst/>
          </a:prstGeom>
        </p:spPr>
      </p:pic>
      <p:sp>
        <p:nvSpPr>
          <p:cNvPr id="21" name="Text 15"/>
          <p:cNvSpPr txBox="1"/>
          <p:nvPr/>
        </p:nvSpPr>
        <p:spPr>
          <a:xfrm>
            <a:off x="589788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Fakten</a:t>
            </a:r>
            <a:endParaRPr lang="en-US" sz="1600" dirty="0"/>
          </a:p>
        </p:txBody>
      </p:sp>
      <p:sp>
        <p:nvSpPr>
          <p:cNvPr id="22" name="Text 16"/>
          <p:cNvSpPr txBox="1"/>
          <p:nvPr/>
        </p:nvSpPr>
        <p:spPr>
          <a:xfrm>
            <a:off x="5257800" y="2148840"/>
            <a:ext cx="1691640" cy="1143000"/>
          </a:xfrm>
          <a:prstGeom prst="rect">
            <a:avLst/>
          </a:prstGeom>
          <a:noFill/>
          <a:ln/>
        </p:spPr>
        <p:txBody>
          <a:bodyPr wrap="square" lIns="0" tIns="0" rIns="0" bIns="0" rtlCol="0" anchor="t"/>
          <a:lstStyle/>
          <a:p>
            <a:pPr indent="0" marL="0">
              <a:buNone/>
            </a:pPr>
            <a:r>
              <a:rPr lang="en-US" sz="1300" dirty="0">
                <a:solidFill>
                  <a:schemeClr val="bg1"/>
                </a:solidFill>
              </a:rPr>
              <a:t>Fristen, Formate, ICD → Gruppe, Leitsymptomatik, Summen</a:t>
            </a:r>
            <a:endParaRPr lang="en-US" sz="1300" dirty="0"/>
          </a:p>
        </p:txBody>
      </p:sp>
      <p:sp>
        <p:nvSpPr>
          <p:cNvPr id="23" name="Pfeil"/>
          <p:cNvSpPr/>
          <p:nvPr/>
        </p:nvSpPr>
        <p:spPr>
          <a:xfrm rot="5400000">
            <a:off x="7095744" y="2240280"/>
            <a:ext cx="237744" cy="146304"/>
          </a:xfrm>
          <a:prstGeom prst="triangle">
            <a:avLst/>
          </a:prstGeom>
          <a:solidFill>
            <a:schemeClr val="accent5"/>
          </a:solidFill>
          <a:ln/>
        </p:spPr>
      </p:sp>
      <p:sp>
        <p:nvSpPr>
          <p:cNvPr id="24" name="Schritt 4 Prüfer"/>
          <p:cNvSpPr/>
          <p:nvPr/>
        </p:nvSpPr>
        <p:spPr>
          <a:xfrm>
            <a:off x="7338060" y="1325880"/>
            <a:ext cx="2011680" cy="2057400"/>
          </a:xfrm>
          <a:prstGeom prst="roundRect">
            <a:avLst>
              <a:gd name="adj" fmla="val 3636"/>
            </a:avLst>
          </a:prstGeom>
          <a:solidFill>
            <a:schemeClr val="bg2"/>
          </a:solidFill>
          <a:ln/>
        </p:spPr>
      </p:sp>
      <p:sp>
        <p:nvSpPr>
          <p:cNvPr id="25" name="Symbolkreis"/>
          <p:cNvSpPr/>
          <p:nvPr/>
        </p:nvSpPr>
        <p:spPr>
          <a:xfrm>
            <a:off x="7520940" y="1463040"/>
            <a:ext cx="548640" cy="548640"/>
          </a:xfrm>
          <a:prstGeom prst="ellipse">
            <a:avLst/>
          </a:prstGeom>
          <a:solidFill>
            <a:schemeClr val="accent1"/>
          </a:solidFill>
          <a:ln/>
        </p:spPr>
      </p:sp>
      <p:pic>
        <p:nvPicPr>
          <p:cNvPr id="26" name="Symbol" descr="preencoded.png">    </p:cNvPr>
          <p:cNvPicPr>
            <a:picLocks noChangeAspect="1"/>
          </p:cNvPicPr>
          <p:nvPr/>
        </p:nvPicPr>
        <p:blipFill>
          <a:blip r:embed="rId5"/>
          <a:stretch>
            <a:fillRect/>
          </a:stretch>
        </p:blipFill>
        <p:spPr>
          <a:xfrm>
            <a:off x="7658100" y="1600200"/>
            <a:ext cx="274320" cy="274320"/>
          </a:xfrm>
          <a:prstGeom prst="rect">
            <a:avLst/>
          </a:prstGeom>
        </p:spPr>
      </p:pic>
      <p:sp>
        <p:nvSpPr>
          <p:cNvPr id="27" name="Text 20"/>
          <p:cNvSpPr txBox="1"/>
          <p:nvPr/>
        </p:nvSpPr>
        <p:spPr>
          <a:xfrm>
            <a:off x="816102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4 Prüfer</a:t>
            </a:r>
            <a:endParaRPr lang="en-US" sz="1600" dirty="0"/>
          </a:p>
        </p:txBody>
      </p:sp>
      <p:sp>
        <p:nvSpPr>
          <p:cNvPr id="28" name="Text 21"/>
          <p:cNvSpPr txBox="1"/>
          <p:nvPr/>
        </p:nvSpPr>
        <p:spPr>
          <a:xfrm>
            <a:off x="7520940" y="2148840"/>
            <a:ext cx="1691640" cy="1143000"/>
          </a:xfrm>
          <a:prstGeom prst="rect">
            <a:avLst/>
          </a:prstGeom>
          <a:noFill/>
          <a:ln/>
        </p:spPr>
        <p:txBody>
          <a:bodyPr wrap="square" lIns="0" tIns="0" rIns="0" bIns="0" rtlCol="0" anchor="t"/>
          <a:lstStyle/>
          <a:p>
            <a:pPr indent="0" marL="0">
              <a:buNone/>
            </a:pPr>
            <a:r>
              <a:rPr lang="en-US" sz="1300" dirty="0">
                <a:solidFill>
                  <a:schemeClr val="tx1"/>
                </a:solidFill>
              </a:rPr>
              <a:t>Formal · Diagnose · Mengen · Fristen</a:t>
            </a:r>
            <a:endParaRPr lang="en-US" sz="1300" dirty="0"/>
          </a:p>
        </p:txBody>
      </p:sp>
      <p:sp>
        <p:nvSpPr>
          <p:cNvPr id="29" name="Pfeil"/>
          <p:cNvSpPr/>
          <p:nvPr/>
        </p:nvSpPr>
        <p:spPr>
          <a:xfrm rot="5400000">
            <a:off x="9358884" y="2240280"/>
            <a:ext cx="237744" cy="146304"/>
          </a:xfrm>
          <a:prstGeom prst="triangle">
            <a:avLst/>
          </a:prstGeom>
          <a:solidFill>
            <a:schemeClr val="accent5"/>
          </a:solidFill>
          <a:ln/>
        </p:spPr>
      </p:sp>
      <p:sp>
        <p:nvSpPr>
          <p:cNvPr id="30" name="Schritt Ampel"/>
          <p:cNvSpPr/>
          <p:nvPr/>
        </p:nvSpPr>
        <p:spPr>
          <a:xfrm>
            <a:off x="9601200" y="1325880"/>
            <a:ext cx="2011680" cy="2057400"/>
          </a:xfrm>
          <a:prstGeom prst="roundRect">
            <a:avLst>
              <a:gd name="adj" fmla="val 3636"/>
            </a:avLst>
          </a:prstGeom>
          <a:solidFill>
            <a:schemeClr val="tx2"/>
          </a:solidFill>
          <a:ln/>
        </p:spPr>
      </p:sp>
      <p:sp>
        <p:nvSpPr>
          <p:cNvPr id="31" name="Symbolkreis"/>
          <p:cNvSpPr/>
          <p:nvPr/>
        </p:nvSpPr>
        <p:spPr>
          <a:xfrm>
            <a:off x="9784080" y="1463040"/>
            <a:ext cx="548640" cy="548640"/>
          </a:xfrm>
          <a:prstGeom prst="ellipse">
            <a:avLst/>
          </a:prstGeom>
          <a:solidFill>
            <a:schemeClr val="accent2"/>
          </a:solidFill>
          <a:ln/>
        </p:spPr>
      </p:sp>
      <p:pic>
        <p:nvPicPr>
          <p:cNvPr id="32" name="Symbol" descr="preencoded.png">    </p:cNvPr>
          <p:cNvPicPr>
            <a:picLocks noChangeAspect="1"/>
          </p:cNvPicPr>
          <p:nvPr/>
        </p:nvPicPr>
        <p:blipFill>
          <a:blip r:embed="rId6"/>
          <a:stretch>
            <a:fillRect/>
          </a:stretch>
        </p:blipFill>
        <p:spPr>
          <a:xfrm>
            <a:off x="9921240" y="1600200"/>
            <a:ext cx="274320" cy="274320"/>
          </a:xfrm>
          <a:prstGeom prst="rect">
            <a:avLst/>
          </a:prstGeom>
        </p:spPr>
      </p:pic>
      <p:sp>
        <p:nvSpPr>
          <p:cNvPr id="33" name="Text 25"/>
          <p:cNvSpPr txBox="1"/>
          <p:nvPr/>
        </p:nvSpPr>
        <p:spPr>
          <a:xfrm>
            <a:off x="1042416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Ampel</a:t>
            </a:r>
            <a:endParaRPr lang="en-US" sz="1600" dirty="0"/>
          </a:p>
        </p:txBody>
      </p:sp>
      <p:sp>
        <p:nvSpPr>
          <p:cNvPr id="34" name="Text 26"/>
          <p:cNvSpPr txBox="1"/>
          <p:nvPr/>
        </p:nvSpPr>
        <p:spPr>
          <a:xfrm>
            <a:off x="9784080" y="2148840"/>
            <a:ext cx="1691640" cy="1143000"/>
          </a:xfrm>
          <a:prstGeom prst="rect">
            <a:avLst/>
          </a:prstGeom>
          <a:noFill/>
          <a:ln/>
        </p:spPr>
        <p:txBody>
          <a:bodyPr wrap="square" lIns="0" tIns="0" rIns="0" bIns="0" rtlCol="0" anchor="t"/>
          <a:lstStyle/>
          <a:p>
            <a:pPr indent="0" marL="0">
              <a:buNone/>
            </a:pPr>
            <a:r>
              <a:rPr lang="en-US" sz="1300" dirty="0">
                <a:solidFill>
                  <a:schemeClr val="bg1"/>
                </a:solidFill>
              </a:rPr>
              <a:t>grün / gelb / rot, Protokoll</a:t>
            </a:r>
            <a:endParaRPr lang="en-US" sz="1300" dirty="0"/>
          </a:p>
        </p:txBody>
      </p:sp>
      <p:sp>
        <p:nvSpPr>
          <p:cNvPr id="35" name="Text 27"/>
          <p:cNvSpPr txBox="1"/>
          <p:nvPr/>
        </p:nvSpPr>
        <p:spPr>
          <a:xfrm>
            <a:off x="548640" y="3456432"/>
            <a:ext cx="7315200" cy="274320"/>
          </a:xfrm>
          <a:prstGeom prst="rect">
            <a:avLst/>
          </a:prstGeom>
          <a:noFill/>
          <a:ln/>
        </p:spPr>
        <p:txBody>
          <a:bodyPr wrap="square" lIns="0" tIns="0" rIns="0" bIns="0" rtlCol="0" anchor="t"/>
          <a:lstStyle/>
          <a:p>
            <a:pPr indent="0" marL="0">
              <a:buNone/>
            </a:pPr>
            <a:r>
              <a:rPr lang="en-US" sz="1100" i="1" dirty="0">
                <a:solidFill>
                  <a:schemeClr val="accent5"/>
                </a:solidFill>
              </a:rPr>
              <a:t>Dunkel = Code (deterministisch, getestet) · hell = Sprachmodell</a:t>
            </a:r>
            <a:endParaRPr lang="en-US" sz="1100" dirty="0"/>
          </a:p>
        </p:txBody>
      </p:sp>
      <p:sp>
        <p:nvSpPr>
          <p:cNvPr id="36" name="Stack"/>
          <p:cNvSpPr/>
          <p:nvPr/>
        </p:nvSpPr>
        <p:spPr>
          <a:xfrm>
            <a:off x="548640" y="3840480"/>
            <a:ext cx="5394960" cy="2057400"/>
          </a:xfrm>
          <a:prstGeom prst="roundRect">
            <a:avLst>
              <a:gd name="adj" fmla="val 3556"/>
            </a:avLst>
          </a:prstGeom>
          <a:solidFill>
            <a:schemeClr val="bg2"/>
          </a:solidFill>
          <a:ln/>
        </p:spPr>
      </p:sp>
      <p:sp>
        <p:nvSpPr>
          <p:cNvPr id="37" name="Symbolkreis"/>
          <p:cNvSpPr/>
          <p:nvPr/>
        </p:nvSpPr>
        <p:spPr>
          <a:xfrm>
            <a:off x="777240" y="3977640"/>
            <a:ext cx="502920" cy="502920"/>
          </a:xfrm>
          <a:prstGeom prst="ellipse">
            <a:avLst/>
          </a:prstGeom>
          <a:solidFill>
            <a:schemeClr val="accent1"/>
          </a:solidFill>
          <a:ln/>
        </p:spPr>
      </p:sp>
      <p:pic>
        <p:nvPicPr>
          <p:cNvPr id="38" name="Symbol" descr="preencoded.png">    </p:cNvPr>
          <p:cNvPicPr>
            <a:picLocks noChangeAspect="1"/>
          </p:cNvPicPr>
          <p:nvPr/>
        </p:nvPicPr>
        <p:blipFill>
          <a:blip r:embed="rId7"/>
          <a:stretch>
            <a:fillRect/>
          </a:stretch>
        </p:blipFill>
        <p:spPr>
          <a:xfrm>
            <a:off x="902970" y="4103370"/>
            <a:ext cx="251460" cy="251460"/>
          </a:xfrm>
          <a:prstGeom prst="rect">
            <a:avLst/>
          </a:prstGeom>
        </p:spPr>
      </p:pic>
      <p:sp>
        <p:nvSpPr>
          <p:cNvPr id="39" name="Text 30"/>
          <p:cNvSpPr txBox="1"/>
          <p:nvPr/>
        </p:nvSpPr>
        <p:spPr>
          <a:xfrm>
            <a:off x="1417320" y="3977640"/>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Stack</a:t>
            </a:r>
            <a:endParaRPr lang="en-US" sz="1600" dirty="0"/>
          </a:p>
        </p:txBody>
      </p:sp>
      <p:sp>
        <p:nvSpPr>
          <p:cNvPr id="40" name="Text 31"/>
          <p:cNvSpPr txBox="1"/>
          <p:nvPr/>
        </p:nvSpPr>
        <p:spPr>
          <a:xfrm>
            <a:off x="777240" y="4572000"/>
            <a:ext cx="4937760" cy="12801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n8n Cloud: Workflow, Formular, Chat</a:t>
            </a:r>
            <a:endParaRPr lang="en-US" sz="1400" dirty="0"/>
          </a:p>
          <a:p>
            <a:pPr marL="177800" indent="-177800">
              <a:spcAft>
                <a:spcPts val="500"/>
              </a:spcAft>
              <a:buSzPct val="100000"/>
              <a:buChar char="•"/>
            </a:pPr>
            <a:r>
              <a:rPr lang="en-US" sz="1300" dirty="0">
                <a:solidFill>
                  <a:schemeClr val="tx1"/>
                </a:solidFill>
              </a:rPr>
              <a:t>OpenAI gpt-4.1-mini, text-embedding-3-small</a:t>
            </a:r>
            <a:endParaRPr lang="en-US" sz="1400" dirty="0"/>
          </a:p>
          <a:p>
            <a:pPr marL="177800" indent="-177800">
              <a:spcAft>
                <a:spcPts val="500"/>
              </a:spcAft>
              <a:buSzPct val="100000"/>
              <a:buChar char="•"/>
            </a:pPr>
            <a:r>
              <a:rPr lang="en-US" sz="1300" dirty="0">
                <a:solidFill>
                  <a:schemeClr val="tx1"/>
                </a:solidFill>
              </a:rPr>
              <a:t>Supabase (Frankfurt): Wissensbasis, Protokoll</a:t>
            </a:r>
            <a:endParaRPr lang="en-US" sz="1400" dirty="0"/>
          </a:p>
          <a:p>
            <a:pPr marL="177800" indent="-177800">
              <a:spcAft>
                <a:spcPts val="500"/>
              </a:spcAft>
              <a:buSzPct val="100000"/>
              <a:buChar char="•"/>
            </a:pPr>
            <a:r>
              <a:rPr lang="en-US" sz="1300" dirty="0">
                <a:solidFill>
                  <a:schemeClr val="tx1"/>
                </a:solidFill>
              </a:rPr>
              <a:t>GitHub: Exporte, Tests, Doku</a:t>
            </a:r>
            <a:endParaRPr lang="en-US" sz="1400" dirty="0"/>
          </a:p>
        </p:txBody>
      </p:sp>
      <p:sp>
        <p:nvSpPr>
          <p:cNvPr id="41" name="Leitsatz"/>
          <p:cNvSpPr/>
          <p:nvPr/>
        </p:nvSpPr>
        <p:spPr>
          <a:xfrm>
            <a:off x="6126480" y="3840480"/>
            <a:ext cx="5513832" cy="2057400"/>
          </a:xfrm>
          <a:prstGeom prst="roundRect">
            <a:avLst>
              <a:gd name="adj" fmla="val 3556"/>
            </a:avLst>
          </a:prstGeom>
          <a:solidFill>
            <a:schemeClr val="tx2"/>
          </a:solidFill>
          <a:ln/>
        </p:spPr>
      </p:sp>
      <p:sp>
        <p:nvSpPr>
          <p:cNvPr id="42" name="Symbolkreis"/>
          <p:cNvSpPr/>
          <p:nvPr/>
        </p:nvSpPr>
        <p:spPr>
          <a:xfrm>
            <a:off x="6355080" y="3977640"/>
            <a:ext cx="502920" cy="502920"/>
          </a:xfrm>
          <a:prstGeom prst="ellipse">
            <a:avLst/>
          </a:prstGeom>
          <a:solidFill>
            <a:schemeClr val="accent2"/>
          </a:solidFill>
          <a:ln/>
        </p:spPr>
      </p:sp>
      <p:pic>
        <p:nvPicPr>
          <p:cNvPr id="43" name="Symbol" descr="preencoded.png">    </p:cNvPr>
          <p:cNvPicPr>
            <a:picLocks noChangeAspect="1"/>
          </p:cNvPicPr>
          <p:nvPr/>
        </p:nvPicPr>
        <p:blipFill>
          <a:blip r:embed="rId8"/>
          <a:stretch>
            <a:fillRect/>
          </a:stretch>
        </p:blipFill>
        <p:spPr>
          <a:xfrm>
            <a:off x="6480810" y="4103370"/>
            <a:ext cx="251460" cy="251460"/>
          </a:xfrm>
          <a:prstGeom prst="rect">
            <a:avLst/>
          </a:prstGeom>
        </p:spPr>
      </p:pic>
      <p:sp>
        <p:nvSpPr>
          <p:cNvPr id="44" name="Text 34"/>
          <p:cNvSpPr txBox="1"/>
          <p:nvPr/>
        </p:nvSpPr>
        <p:spPr>
          <a:xfrm>
            <a:off x="6995160" y="3977640"/>
            <a:ext cx="4389120" cy="502920"/>
          </a:xfrm>
          <a:prstGeom prst="rect">
            <a:avLst/>
          </a:prstGeom>
          <a:noFill/>
          <a:ln/>
        </p:spPr>
        <p:txBody>
          <a:bodyPr wrap="square" lIns="0" tIns="0" rIns="0" bIns="0" rtlCol="0" anchor="ctr"/>
          <a:lstStyle/>
          <a:p>
            <a:pPr indent="0" marL="0">
              <a:buNone/>
            </a:pPr>
            <a:r>
              <a:rPr lang="en-US" sz="1600" b="1" dirty="0">
                <a:solidFill>
                  <a:schemeClr val="bg1"/>
                </a:solidFill>
              </a:rPr>
              <a:t>Leitsatz aus der Evaluation</a:t>
            </a:r>
            <a:endParaRPr lang="en-US" sz="1600" dirty="0"/>
          </a:p>
        </p:txBody>
      </p:sp>
      <p:sp>
        <p:nvSpPr>
          <p:cNvPr id="45" name="Text 35"/>
          <p:cNvSpPr txBox="1"/>
          <p:nvPr/>
        </p:nvSpPr>
        <p:spPr>
          <a:xfrm>
            <a:off x="6355080" y="4572000"/>
            <a:ext cx="5074920" cy="1234440"/>
          </a:xfrm>
          <a:prstGeom prst="rect">
            <a:avLst/>
          </a:prstGeom>
          <a:noFill/>
          <a:ln/>
        </p:spPr>
        <p:txBody>
          <a:bodyPr wrap="square" lIns="0" tIns="0" rIns="0" bIns="0" rtlCol="0" anchor="t"/>
          <a:lstStyle/>
          <a:p>
            <a:pPr indent="0" marL="0">
              <a:buNone/>
            </a:pPr>
            <a:r>
              <a:rPr lang="en-US" sz="1400" dirty="0">
                <a:solidFill>
                  <a:schemeClr val="bg1"/>
                </a:solidFill>
              </a:rPr>
              <a:t>Was sich als Regel aufschreiben lässt, rechnet der Code. Das Sprachmodell nur dort, wo Sprachverständnis nötig ist: Freitext erfassen, Regelwerk durchsuchen, Befunde formulieren.</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Architekturentscheidung 1: Code oder Sprachmodell?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49040"/>
                <a:gridCol w="1033272"/>
                <a:gridCol w="63093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Aufgabe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 das Modell? (Beleg)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Fristen (28 / 14 Tage, Unterbrechung 14 Tage)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Datumsrechnen ist keine Sprachaufgabe; in v1–v3 rechnete das Modell Tage falsch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LANR / BSNR (9 Ziffern)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v1: Modell „prüfte“ Prüfziffern im Kopf → 4 von 7 Fällen falsche Fehler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ICD-Code → Diagnosegruppe (WS / EX)</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v3: Modell ordnete einen Knie-Code der Wirbelsäule zu – mit plausibler Begründung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Leitsymptomatik je Diagnosegruppe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23.10.: Modell behauptete „a gibt es bei WS nicht“ → kritischer Fehlalarm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Summen, Ampel, Absetzungsrisiko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Muss nachvollziehbar und prüfbar sein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Freitext erfassen, Regelwerk finden, Befund formulieren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Modell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Braucht Sprachverständnis – hier ist das Modell stark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Ergebnis"/>
          <p:cNvSpPr/>
          <p:nvPr/>
        </p:nvSpPr>
        <p:spPr>
          <a:xfrm>
            <a:off x="548640" y="5257800"/>
            <a:ext cx="11091672" cy="685800"/>
          </a:xfrm>
          <a:prstGeom prst="roundRect">
            <a:avLst>
              <a:gd name="adj" fmla="val 10667"/>
            </a:avLst>
          </a:prstGeom>
          <a:solidFill>
            <a:schemeClr val="tx2"/>
          </a:solidFill>
          <a:ln/>
        </p:spPr>
      </p:sp>
      <p:sp>
        <p:nvSpPr>
          <p:cNvPr id="8" name="Text 4"/>
          <p:cNvSpPr txBox="1"/>
          <p:nvPr/>
        </p:nvSpPr>
        <p:spPr>
          <a:xfrm>
            <a:off x="822960" y="5394960"/>
            <a:ext cx="10515600" cy="411480"/>
          </a:xfrm>
          <a:prstGeom prst="rect">
            <a:avLst/>
          </a:prstGeom>
          <a:noFill/>
          <a:ln/>
        </p:spPr>
        <p:txBody>
          <a:bodyPr wrap="square" lIns="0" tIns="0" rIns="0" bIns="0" rtlCol="0" anchor="ctr"/>
          <a:lstStyle/>
          <a:p>
            <a:pPr indent="0" marL="0">
              <a:buNone/>
            </a:pPr>
            <a:r>
              <a:rPr lang="en-US" sz="1500" b="1" dirty="0">
                <a:solidFill>
                  <a:schemeClr val="accent2"/>
                </a:solidFill>
              </a:rPr>
              <a:t>Ergebnis: </a:t>
            </a:r>
            <a:pPr indent="0" marL="0">
              <a:buNone/>
            </a:pPr>
            <a:r>
              <a:rPr lang="en-US" sz="1500" dirty="0">
                <a:solidFill>
                  <a:schemeClr val="bg1"/>
                </a:solidFill>
              </a:rPr>
              <a:t>kritische Fehlalarme von 12 (v1) auf 0 (v4); Code-Regeln mit 34 automatischen Tests (v4 und Merge) abgesichert</a:t>
            </a:r>
            <a:endParaRPr lang="en-US" sz="1500" dirty="0"/>
          </a:p>
        </p:txBody>
      </p:sp>
      <p:sp>
        <p:nvSpPr>
          <p:cNvPr id="9" name="Text 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docs/evaluation.md, docs/aenderungsprotokoll.md, tests/fakten.test.mjs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Architekturentscheidung 2: Aufbau, Sicherheit, Betrieb</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474720"/>
                <a:gridCol w="2606040"/>
                <a:gridCol w="50109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Vier spezialisierte 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 Allround-Agent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Jedes Mandat einzeln testbar; Fehler lassen sich einem Prüfer zuordnen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Patientendaten vor dem Modell ersetzen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Rohdaten an das Modell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Datenminimierung: Die Prüfung braucht keine Namen; Original bleibt nur im Protokoll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Mensch entscheidet, Ampel ist Empfehlung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Automatische Abweisung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Verantwortung bleibt bei der Praxis; menschliche Aufsicht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Fristen-Prüfer ohne Vektorsuche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Suche wie die anderen 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Die Regel (HeilM-RL § 15, § 16) ist kurz und fest – Suche bringt nur Rauschen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Formular im selben Workflow</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Formular ruft Chat-Webhook auf</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 Ablauf, ein Protokoll, keine zweite öffentliche Adresse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Zwei Workflows: Merge + v4 als Fallback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Nur ein Stand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Vor der Prüfung immer eine lauffähige Rückfallversion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Veröffentlichung erst mit Anmeldung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Offener Chat-Link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Sonst kann jeder mit dem Link Kosten erzeugen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docs/architektur.md (Trade-offs), docs/implementierung.md (erwogen und verworfen), n8n/README.md</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EU AI Act: warum kein Hochrisiko-System</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Prüfschritt"/>
          <p:cNvSpPr/>
          <p:nvPr/>
        </p:nvSpPr>
        <p:spPr>
          <a:xfrm>
            <a:off x="548640" y="1298448"/>
            <a:ext cx="11091672" cy="914400"/>
          </a:xfrm>
          <a:prstGeom prst="roundRect">
            <a:avLst>
              <a:gd name="adj" fmla="val 8000"/>
            </a:avLst>
          </a:prstGeom>
          <a:solidFill>
            <a:schemeClr val="bg2"/>
          </a:solidFill>
          <a:ln/>
        </p:spPr>
      </p:sp>
      <p:sp>
        <p:nvSpPr>
          <p:cNvPr id="7" name="Nummer"/>
          <p:cNvSpPr/>
          <p:nvPr/>
        </p:nvSpPr>
        <p:spPr>
          <a:xfrm>
            <a:off x="731520" y="1499616"/>
            <a:ext cx="512064" cy="512064"/>
          </a:xfrm>
          <a:prstGeom prst="ellipse">
            <a:avLst/>
          </a:prstGeom>
          <a:solidFill>
            <a:schemeClr val="accent1"/>
          </a:solidFill>
          <a:ln/>
        </p:spPr>
      </p:sp>
      <p:sp>
        <p:nvSpPr>
          <p:cNvPr id="8" name="Text 5"/>
          <p:cNvSpPr txBox="1"/>
          <p:nvPr/>
        </p:nvSpPr>
        <p:spPr>
          <a:xfrm>
            <a:off x="731520" y="1499616"/>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1417320" y="1408176"/>
            <a:ext cx="2377440" cy="365760"/>
          </a:xfrm>
          <a:prstGeom prst="rect">
            <a:avLst/>
          </a:prstGeom>
          <a:noFill/>
          <a:ln/>
        </p:spPr>
        <p:txBody>
          <a:bodyPr wrap="square" lIns="0" tIns="0" rIns="0" bIns="0" rtlCol="0" anchor="t"/>
          <a:lstStyle/>
          <a:p>
            <a:pPr indent="0" marL="0">
              <a:buNone/>
            </a:pPr>
            <a:r>
              <a:rPr lang="en-US" sz="1500" b="1" dirty="0">
                <a:solidFill>
                  <a:schemeClr val="tx2"/>
                </a:solidFill>
              </a:rPr>
              <a:t>KI-System?</a:t>
            </a:r>
            <a:endParaRPr lang="en-US" sz="1500" dirty="0"/>
          </a:p>
        </p:txBody>
      </p:sp>
      <p:sp>
        <p:nvSpPr>
          <p:cNvPr id="10" name="Text 7"/>
          <p:cNvSpPr txBox="1"/>
          <p:nvPr/>
        </p:nvSpPr>
        <p:spPr>
          <a:xfrm>
            <a:off x="1417320" y="1773936"/>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3 Nr. 1</a:t>
            </a:r>
            <a:endParaRPr lang="en-US" sz="1200" dirty="0"/>
          </a:p>
        </p:txBody>
      </p:sp>
      <p:sp>
        <p:nvSpPr>
          <p:cNvPr id="11" name="Antwort"/>
          <p:cNvSpPr/>
          <p:nvPr/>
        </p:nvSpPr>
        <p:spPr>
          <a:xfrm>
            <a:off x="3840480" y="1572768"/>
            <a:ext cx="685800" cy="365760"/>
          </a:xfrm>
          <a:prstGeom prst="roundRect">
            <a:avLst>
              <a:gd name="adj" fmla="val 50000"/>
            </a:avLst>
          </a:prstGeom>
          <a:solidFill>
            <a:srgbClr val="5C6B73"/>
          </a:solidFill>
          <a:ln/>
        </p:spPr>
      </p:sp>
      <p:sp>
        <p:nvSpPr>
          <p:cNvPr id="12" name="Text 9"/>
          <p:cNvSpPr txBox="1"/>
          <p:nvPr/>
        </p:nvSpPr>
        <p:spPr>
          <a:xfrm>
            <a:off x="3840480" y="1572768"/>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Ja</a:t>
            </a:r>
            <a:endParaRPr lang="en-US" sz="1300" dirty="0"/>
          </a:p>
        </p:txBody>
      </p:sp>
      <p:sp>
        <p:nvSpPr>
          <p:cNvPr id="13" name="Text 10"/>
          <p:cNvSpPr txBox="1"/>
          <p:nvPr/>
        </p:nvSpPr>
        <p:spPr>
          <a:xfrm>
            <a:off x="4709160" y="1371600"/>
            <a:ext cx="6766560" cy="786384"/>
          </a:xfrm>
          <a:prstGeom prst="rect">
            <a:avLst/>
          </a:prstGeom>
          <a:noFill/>
          <a:ln/>
        </p:spPr>
        <p:txBody>
          <a:bodyPr wrap="square" lIns="0" tIns="0" rIns="0" bIns="0" rtlCol="0" anchor="ctr"/>
          <a:lstStyle/>
          <a:p>
            <a:pPr indent="0" marL="0">
              <a:buNone/>
            </a:pPr>
            <a:r>
              <a:rPr lang="en-US" sz="1250" dirty="0">
                <a:solidFill>
                  <a:schemeClr val="tx1"/>
                </a:solidFill>
              </a:rPr>
              <a:t>Ja: Das Modell leitet aus Eingaben Befunde ab. Wir (Team) sind Anbieter (Art. 3 Nr. 3), die Praxis ist Betreiberin (Art. 3 Nr. 4).</a:t>
            </a:r>
            <a:endParaRPr lang="en-US" sz="1250" dirty="0"/>
          </a:p>
        </p:txBody>
      </p:sp>
      <p:sp>
        <p:nvSpPr>
          <p:cNvPr id="14" name="Prüfschritt"/>
          <p:cNvSpPr/>
          <p:nvPr/>
        </p:nvSpPr>
        <p:spPr>
          <a:xfrm>
            <a:off x="548640" y="2322576"/>
            <a:ext cx="11091672" cy="914400"/>
          </a:xfrm>
          <a:prstGeom prst="roundRect">
            <a:avLst>
              <a:gd name="adj" fmla="val 8000"/>
            </a:avLst>
          </a:prstGeom>
          <a:solidFill>
            <a:schemeClr val="bg2"/>
          </a:solidFill>
          <a:ln/>
        </p:spPr>
      </p:sp>
      <p:sp>
        <p:nvSpPr>
          <p:cNvPr id="15" name="Nummer"/>
          <p:cNvSpPr/>
          <p:nvPr/>
        </p:nvSpPr>
        <p:spPr>
          <a:xfrm>
            <a:off x="731520" y="2523744"/>
            <a:ext cx="512064" cy="512064"/>
          </a:xfrm>
          <a:prstGeom prst="ellipse">
            <a:avLst/>
          </a:prstGeom>
          <a:solidFill>
            <a:schemeClr val="accent1"/>
          </a:solidFill>
          <a:ln/>
        </p:spPr>
      </p:sp>
      <p:sp>
        <p:nvSpPr>
          <p:cNvPr id="16" name="Text 13"/>
          <p:cNvSpPr txBox="1"/>
          <p:nvPr/>
        </p:nvSpPr>
        <p:spPr>
          <a:xfrm>
            <a:off x="731520" y="252374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4"/>
          <p:cNvSpPr txBox="1"/>
          <p:nvPr/>
        </p:nvSpPr>
        <p:spPr>
          <a:xfrm>
            <a:off x="1417320" y="2432304"/>
            <a:ext cx="2377440" cy="365760"/>
          </a:xfrm>
          <a:prstGeom prst="rect">
            <a:avLst/>
          </a:prstGeom>
          <a:noFill/>
          <a:ln/>
        </p:spPr>
        <p:txBody>
          <a:bodyPr wrap="square" lIns="0" tIns="0" rIns="0" bIns="0" rtlCol="0" anchor="t"/>
          <a:lstStyle/>
          <a:p>
            <a:pPr indent="0" marL="0">
              <a:buNone/>
            </a:pPr>
            <a:r>
              <a:rPr lang="en-US" sz="1500" b="1" dirty="0">
                <a:solidFill>
                  <a:schemeClr val="tx2"/>
                </a:solidFill>
              </a:rPr>
              <a:t>Verbotene Praxis?</a:t>
            </a:r>
            <a:endParaRPr lang="en-US" sz="1500" dirty="0"/>
          </a:p>
        </p:txBody>
      </p:sp>
      <p:sp>
        <p:nvSpPr>
          <p:cNvPr id="18" name="Text 15"/>
          <p:cNvSpPr txBox="1"/>
          <p:nvPr/>
        </p:nvSpPr>
        <p:spPr>
          <a:xfrm>
            <a:off x="1417320" y="2798064"/>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5</a:t>
            </a:r>
            <a:endParaRPr lang="en-US" sz="1200" dirty="0"/>
          </a:p>
        </p:txBody>
      </p:sp>
      <p:sp>
        <p:nvSpPr>
          <p:cNvPr id="19" name="Antwort"/>
          <p:cNvSpPr/>
          <p:nvPr/>
        </p:nvSpPr>
        <p:spPr>
          <a:xfrm>
            <a:off x="3840480" y="2596896"/>
            <a:ext cx="685800" cy="365760"/>
          </a:xfrm>
          <a:prstGeom prst="roundRect">
            <a:avLst>
              <a:gd name="adj" fmla="val 50000"/>
            </a:avLst>
          </a:prstGeom>
          <a:solidFill>
            <a:srgbClr val="2A9D8F"/>
          </a:solidFill>
          <a:ln/>
        </p:spPr>
      </p:sp>
      <p:sp>
        <p:nvSpPr>
          <p:cNvPr id="20" name="Text 17"/>
          <p:cNvSpPr txBox="1"/>
          <p:nvPr/>
        </p:nvSpPr>
        <p:spPr>
          <a:xfrm>
            <a:off x="3840480" y="2596896"/>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21" name="Text 18"/>
          <p:cNvSpPr txBox="1"/>
          <p:nvPr/>
        </p:nvSpPr>
        <p:spPr>
          <a:xfrm>
            <a:off x="4709160" y="2395728"/>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keine Manipulation, keine Bewertung von Personen, keine Biometrie oder Emotionserkennung.</a:t>
            </a:r>
            <a:endParaRPr lang="en-US" sz="1250" dirty="0"/>
          </a:p>
        </p:txBody>
      </p:sp>
      <p:sp>
        <p:nvSpPr>
          <p:cNvPr id="22" name="Prüfschritt"/>
          <p:cNvSpPr/>
          <p:nvPr/>
        </p:nvSpPr>
        <p:spPr>
          <a:xfrm>
            <a:off x="548640" y="3346704"/>
            <a:ext cx="11091672" cy="914400"/>
          </a:xfrm>
          <a:prstGeom prst="roundRect">
            <a:avLst>
              <a:gd name="adj" fmla="val 8000"/>
            </a:avLst>
          </a:prstGeom>
          <a:solidFill>
            <a:schemeClr val="bg2"/>
          </a:solidFill>
          <a:ln/>
        </p:spPr>
      </p:sp>
      <p:sp>
        <p:nvSpPr>
          <p:cNvPr id="23" name="Nummer"/>
          <p:cNvSpPr/>
          <p:nvPr/>
        </p:nvSpPr>
        <p:spPr>
          <a:xfrm>
            <a:off x="731520" y="3547872"/>
            <a:ext cx="512064" cy="512064"/>
          </a:xfrm>
          <a:prstGeom prst="ellipse">
            <a:avLst/>
          </a:prstGeom>
          <a:solidFill>
            <a:schemeClr val="accent1"/>
          </a:solidFill>
          <a:ln/>
        </p:spPr>
      </p:sp>
      <p:sp>
        <p:nvSpPr>
          <p:cNvPr id="24" name="Text 21"/>
          <p:cNvSpPr txBox="1"/>
          <p:nvPr/>
        </p:nvSpPr>
        <p:spPr>
          <a:xfrm>
            <a:off x="731520" y="3547872"/>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Text 22"/>
          <p:cNvSpPr txBox="1"/>
          <p:nvPr/>
        </p:nvSpPr>
        <p:spPr>
          <a:xfrm>
            <a:off x="1417320" y="3456432"/>
            <a:ext cx="2377440" cy="365760"/>
          </a:xfrm>
          <a:prstGeom prst="rect">
            <a:avLst/>
          </a:prstGeom>
          <a:noFill/>
          <a:ln/>
        </p:spPr>
        <p:txBody>
          <a:bodyPr wrap="square" lIns="0" tIns="0" rIns="0" bIns="0" rtlCol="0" anchor="t"/>
          <a:lstStyle/>
          <a:p>
            <a:pPr indent="0" marL="0">
              <a:buNone/>
            </a:pPr>
            <a:r>
              <a:rPr lang="en-US" sz="1500" b="1" dirty="0">
                <a:solidFill>
                  <a:schemeClr val="tx2"/>
                </a:solidFill>
              </a:rPr>
              <a:t>Hochrisiko: Produkt?</a:t>
            </a:r>
            <a:endParaRPr lang="en-US" sz="1500" dirty="0"/>
          </a:p>
        </p:txBody>
      </p:sp>
      <p:sp>
        <p:nvSpPr>
          <p:cNvPr id="26" name="Text 23"/>
          <p:cNvSpPr txBox="1"/>
          <p:nvPr/>
        </p:nvSpPr>
        <p:spPr>
          <a:xfrm>
            <a:off x="1417320" y="3822192"/>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6 Abs. 1 + Anhang I (MDR)</a:t>
            </a:r>
            <a:endParaRPr lang="en-US" sz="1200" dirty="0"/>
          </a:p>
        </p:txBody>
      </p:sp>
      <p:sp>
        <p:nvSpPr>
          <p:cNvPr id="27" name="Antwort"/>
          <p:cNvSpPr/>
          <p:nvPr/>
        </p:nvSpPr>
        <p:spPr>
          <a:xfrm>
            <a:off x="3840480" y="3621024"/>
            <a:ext cx="685800" cy="365760"/>
          </a:xfrm>
          <a:prstGeom prst="roundRect">
            <a:avLst>
              <a:gd name="adj" fmla="val 50000"/>
            </a:avLst>
          </a:prstGeom>
          <a:solidFill>
            <a:srgbClr val="2A9D8F"/>
          </a:solidFill>
          <a:ln/>
        </p:spPr>
      </p:sp>
      <p:sp>
        <p:nvSpPr>
          <p:cNvPr id="28" name="Text 25"/>
          <p:cNvSpPr txBox="1"/>
          <p:nvPr/>
        </p:nvSpPr>
        <p:spPr>
          <a:xfrm>
            <a:off x="3840480" y="3621024"/>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29" name="Text 26"/>
          <p:cNvSpPr txBox="1"/>
          <p:nvPr/>
        </p:nvSpPr>
        <p:spPr>
          <a:xfrm>
            <a:off x="4709160" y="3419856"/>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kein Medizinprodukt. Zweck ist eine formale, administrative Prüfung für die Abrechnung – keine Diagnose oder Therapieentscheidung (Art. 2 Nr. 1 MDR; MDCG 2019-11).</a:t>
            </a:r>
            <a:endParaRPr lang="en-US" sz="1250" dirty="0"/>
          </a:p>
        </p:txBody>
      </p:sp>
      <p:sp>
        <p:nvSpPr>
          <p:cNvPr id="30" name="Prüfschritt"/>
          <p:cNvSpPr/>
          <p:nvPr/>
        </p:nvSpPr>
        <p:spPr>
          <a:xfrm>
            <a:off x="548640" y="4370832"/>
            <a:ext cx="11091672" cy="914400"/>
          </a:xfrm>
          <a:prstGeom prst="roundRect">
            <a:avLst>
              <a:gd name="adj" fmla="val 8000"/>
            </a:avLst>
          </a:prstGeom>
          <a:solidFill>
            <a:schemeClr val="bg2"/>
          </a:solidFill>
          <a:ln/>
        </p:spPr>
      </p:sp>
      <p:sp>
        <p:nvSpPr>
          <p:cNvPr id="31" name="Nummer"/>
          <p:cNvSpPr/>
          <p:nvPr/>
        </p:nvSpPr>
        <p:spPr>
          <a:xfrm>
            <a:off x="731520" y="4572000"/>
            <a:ext cx="512064" cy="512064"/>
          </a:xfrm>
          <a:prstGeom prst="ellipse">
            <a:avLst/>
          </a:prstGeom>
          <a:solidFill>
            <a:schemeClr val="accent1"/>
          </a:solidFill>
          <a:ln/>
        </p:spPr>
      </p:sp>
      <p:sp>
        <p:nvSpPr>
          <p:cNvPr id="32" name="Text 29"/>
          <p:cNvSpPr txBox="1"/>
          <p:nvPr/>
        </p:nvSpPr>
        <p:spPr>
          <a:xfrm>
            <a:off x="731520" y="457200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3" name="Text 30"/>
          <p:cNvSpPr txBox="1"/>
          <p:nvPr/>
        </p:nvSpPr>
        <p:spPr>
          <a:xfrm>
            <a:off x="1417320" y="4480560"/>
            <a:ext cx="2377440" cy="365760"/>
          </a:xfrm>
          <a:prstGeom prst="rect">
            <a:avLst/>
          </a:prstGeom>
          <a:noFill/>
          <a:ln/>
        </p:spPr>
        <p:txBody>
          <a:bodyPr wrap="square" lIns="0" tIns="0" rIns="0" bIns="0" rtlCol="0" anchor="t"/>
          <a:lstStyle/>
          <a:p>
            <a:pPr indent="0" marL="0">
              <a:buNone/>
            </a:pPr>
            <a:r>
              <a:rPr lang="en-US" sz="1500" b="1" dirty="0">
                <a:solidFill>
                  <a:schemeClr val="tx2"/>
                </a:solidFill>
              </a:rPr>
              <a:t>Hochrisiko: Anhang III?</a:t>
            </a:r>
            <a:endParaRPr lang="en-US" sz="1500" dirty="0"/>
          </a:p>
        </p:txBody>
      </p:sp>
      <p:sp>
        <p:nvSpPr>
          <p:cNvPr id="34" name="Text 31"/>
          <p:cNvSpPr txBox="1"/>
          <p:nvPr/>
        </p:nvSpPr>
        <p:spPr>
          <a:xfrm>
            <a:off x="1417320" y="4846320"/>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6 Abs. 2</a:t>
            </a:r>
            <a:endParaRPr lang="en-US" sz="1200" dirty="0"/>
          </a:p>
        </p:txBody>
      </p:sp>
      <p:sp>
        <p:nvSpPr>
          <p:cNvPr id="35" name="Antwort"/>
          <p:cNvSpPr/>
          <p:nvPr/>
        </p:nvSpPr>
        <p:spPr>
          <a:xfrm>
            <a:off x="3840480" y="4645152"/>
            <a:ext cx="685800" cy="365760"/>
          </a:xfrm>
          <a:prstGeom prst="roundRect">
            <a:avLst>
              <a:gd name="adj" fmla="val 50000"/>
            </a:avLst>
          </a:prstGeom>
          <a:solidFill>
            <a:srgbClr val="2A9D8F"/>
          </a:solidFill>
          <a:ln/>
        </p:spPr>
      </p:sp>
      <p:sp>
        <p:nvSpPr>
          <p:cNvPr id="36" name="Text 33"/>
          <p:cNvSpPr txBox="1"/>
          <p:nvPr/>
        </p:nvSpPr>
        <p:spPr>
          <a:xfrm>
            <a:off x="3840480" y="4645152"/>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37" name="Text 34"/>
          <p:cNvSpPr txBox="1"/>
          <p:nvPr/>
        </p:nvSpPr>
        <p:spPr>
          <a:xfrm>
            <a:off x="4709160" y="4443984"/>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Nr. 5 a erfasst Behörden (oder Handeln in deren Namen), die über Ansprüche auf öffentliche Leistungen entscheiden. Wir sind eine private Praxis, prüfen ein Dokument – über die Leistung entscheidet die Kasse. Nr. 5 c (Versicherungstarife) und Nr. 4 (Beschäftigte) ebenfalls nicht.</a:t>
            </a:r>
            <a:endParaRPr lang="en-US" sz="1250" dirty="0"/>
          </a:p>
        </p:txBody>
      </p:sp>
      <p:sp>
        <p:nvSpPr>
          <p:cNvPr id="38" name="Ergebnis"/>
          <p:cNvSpPr/>
          <p:nvPr/>
        </p:nvSpPr>
        <p:spPr>
          <a:xfrm>
            <a:off x="548640" y="5440680"/>
            <a:ext cx="11091672" cy="566928"/>
          </a:xfrm>
          <a:prstGeom prst="roundRect">
            <a:avLst>
              <a:gd name="adj" fmla="val 12903"/>
            </a:avLst>
          </a:prstGeom>
          <a:solidFill>
            <a:schemeClr val="tx2"/>
          </a:solidFill>
          <a:ln/>
        </p:spPr>
      </p:sp>
      <p:sp>
        <p:nvSpPr>
          <p:cNvPr id="39" name="Text 36"/>
          <p:cNvSpPr txBox="1"/>
          <p:nvPr/>
        </p:nvSpPr>
        <p:spPr>
          <a:xfrm>
            <a:off x="822960" y="5486400"/>
            <a:ext cx="10607040" cy="475488"/>
          </a:xfrm>
          <a:prstGeom prst="rect">
            <a:avLst/>
          </a:prstGeom>
          <a:noFill/>
          <a:ln/>
        </p:spPr>
        <p:txBody>
          <a:bodyPr wrap="square" lIns="0" tIns="0" rIns="0" bIns="0" rtlCol="0" anchor="ctr"/>
          <a:lstStyle/>
          <a:p>
            <a:pPr indent="0" marL="0">
              <a:buNone/>
            </a:pPr>
            <a:r>
              <a:rPr lang="en-US" sz="1350" b="1" dirty="0">
                <a:solidFill>
                  <a:schemeClr val="accent2"/>
                </a:solidFill>
              </a:rPr>
              <a:t>Ergebnis: kein Hochrisiko-KI-System. </a:t>
            </a:r>
            <a:pPr indent="0" marL="0">
              <a:buNone/>
            </a:pPr>
            <a:r>
              <a:rPr lang="en-US" sz="1350" dirty="0">
                <a:solidFill>
                  <a:schemeClr val="bg1"/>
                </a:solidFill>
              </a:rPr>
              <a:t>Die Ausnahme nach Art. 6 Abs. 3 (mit Dokumentations- und Registrierungspflicht) brauchen wir nicht, weil kein Anhang-III-Fall vorliegt.</a:t>
            </a:r>
            <a:endParaRPr lang="en-US" sz="13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EU AI Act: Was für uns trotzdem gilt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480560"/>
                <a:gridCol w="2194560"/>
                <a:gridCol w="44165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Pflicht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Unsere Umsetzung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96012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Art. 4 KI-Kompetenz: Anbieter und Betreiber ergreifen Maßnahmen, um die KI-Kompetenz ihres Personals zu fördern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02.02.2025; seit 27.07.2026 als Förderpflicht (KI-Omnibus)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Einweisung von Inhaberin und Rezeption vor dem Parallelbetrieb, dokumentiert: Was kann das System, wo irrt es, wer entscheidet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Art. 50 Abs. 1 Transparenz: Nutzer erfahren, dass sie mit einer KI interagieren (entfällt, wenn offensichtlich)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02.08.2026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Formular und Antwort sind als KI-Prüfung gekennzeichnet; Ampel als „Empfehlung, keine 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Pflichten für Hochrisiko-Betreiber (Art. 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entfällt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Trotzdem freiwillig übernommen (Art. 95): menschliche Aufsicht, Protokoll jeder Prüfung, Fundstelle je Befund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Pflichten für KI-Modelle mit allgemeinem Verwendungszweck (Art. 53 ff.)</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trifft OpenAI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Nicht unsere Pflicht als Anbieter des Gesamtsystems; Modellwahl dokumentiert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Hinweis"/>
          <p:cNvSpPr/>
          <p:nvPr/>
        </p:nvSpPr>
        <p:spPr>
          <a:xfrm>
            <a:off x="548640" y="5257800"/>
            <a:ext cx="11091672" cy="685800"/>
          </a:xfrm>
          <a:prstGeom prst="roundRect">
            <a:avLst>
              <a:gd name="adj" fmla="val 10667"/>
            </a:avLst>
          </a:prstGeom>
          <a:solidFill>
            <a:schemeClr val="bg2"/>
          </a:solidFill>
          <a:ln/>
        </p:spPr>
      </p:sp>
      <p:sp>
        <p:nvSpPr>
          <p:cNvPr id="8" name="Text 4"/>
          <p:cNvSpPr txBox="1"/>
          <p:nvPr/>
        </p:nvSpPr>
        <p:spPr>
          <a:xfrm>
            <a:off x="822960" y="5349240"/>
            <a:ext cx="10515600" cy="502920"/>
          </a:xfrm>
          <a:prstGeom prst="rect">
            <a:avLst/>
          </a:prstGeom>
          <a:noFill/>
          <a:ln/>
        </p:spPr>
        <p:txBody>
          <a:bodyPr wrap="square" lIns="0" tIns="0" rIns="0" bIns="0" rtlCol="0" anchor="ctr"/>
          <a:lstStyle/>
          <a:p>
            <a:pPr indent="0" marL="0">
              <a:buNone/>
            </a:pPr>
            <a:r>
              <a:rPr lang="en-US" sz="1300" b="1" dirty="0">
                <a:solidFill>
                  <a:schemeClr val="tx2"/>
                </a:solidFill>
              </a:rPr>
              <a:t>Zu prüfen vor Echtbetrieb: </a:t>
            </a:r>
            <a:pPr indent="0" marL="0">
              <a:buNone/>
            </a:pPr>
            <a:r>
              <a:rPr lang="en-US" sz="1300" dirty="0">
                <a:solidFill>
                  <a:schemeClr val="tx1"/>
                </a:solidFill>
              </a:rPr>
              <a:t>Art. 50 Abs. 2 (maschinenlesbare Kennzeichnung erzeugter Inhalte) zielt auf Generatoren synthetischer Inhalte – ob er interne Prüfbefunde erfasst, klären wir.</a:t>
            </a:r>
            <a:endParaRPr lang="en-US" sz="1300" dirty="0"/>
          </a:p>
        </p:txBody>
      </p:sp>
      <p:sp>
        <p:nvSpPr>
          <p:cNvPr id="9" name="Text 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KI-Verordnung (EU) 2024/1689, geändert durch VO (EU) 2026/1744 (KI-Omnibus, in Kraft seit 27.07.2026) · Quellen im Anhang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DSGVO und Berufsgeheimnis</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834640"/>
                <a:gridCol w="3566160"/>
                <a:gridCol w="469087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Thema</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Norm</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Umsetzung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Gesundheitsdaten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Nr. 15, Art. 9 Abs. 1 DSGVO</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Verordnungen sind besonders geschützt; Prototyp nur mit synthetischen 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Rechtsgrundlage (Echtbetrieb)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9 Abs. 2 lit. h, Abs. 3 DSGVO i. V. m. § 22 Abs. 1 Nr. 1 lit. b BDSG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Verarbeitung zur Verwaltung im Gesundheitsbereich durch Personal mit Schweigepflicht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Datenminimierung, Datenschutz durch Technik</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5 Abs. 1 lit. c, Art. 25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Patientendaten vor dem Modell ersetzt, Pseudonym statt Name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Dienstleister</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28; § 203 Abs. 3, 4 StGB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Auftragsverarbeitung mit n8n, OpenAI, Supabase; Verpflichtung zur Verschwiegenheit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Drittland</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44 ff.</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Supabase in Frankfurt; für OpenAI EU-Datenresidenz oder Data Privacy Framework prüfen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Sicherheit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32</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Zugriffsschutz auf Zeilenebene, Schlüssel nie im Repository, Anmeldung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Keine automatisierte Entscheidung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22</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Die Rezeption entscheidet über jede Verordnung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Folgenabschätzung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35, Erwägungsgrund 91</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Vor Echtbetrieb prüfen und dokumentieren (neue Technologie + Gesundheitsdaten)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Physiotherapeutinnen sind Berufsgeheimnisträgerinnen (§ 203 Abs. 1 Nr. 1 StGB) – Dienstleister sind „mitwirkende Personen“: sorgfältig auswählen, zur Verschwiegenheit verpflichten, nur Erforderliches offenbaren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Bauplan: Alle vier Prüfer sind gleich aufgebaut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Eingabe"/>
          <p:cNvSpPr/>
          <p:nvPr/>
        </p:nvSpPr>
        <p:spPr>
          <a:xfrm>
            <a:off x="548640" y="1325880"/>
            <a:ext cx="3566160" cy="2103120"/>
          </a:xfrm>
          <a:prstGeom prst="roundRect">
            <a:avLst>
              <a:gd name="adj" fmla="val 3478"/>
            </a:avLst>
          </a:prstGeom>
          <a:solidFill>
            <a:schemeClr val="bg2"/>
          </a:solidFill>
          <a:ln/>
        </p:spPr>
      </p:sp>
      <p:sp>
        <p:nvSpPr>
          <p:cNvPr id="7" name="Symbolkreis"/>
          <p:cNvSpPr/>
          <p:nvPr/>
        </p:nvSpPr>
        <p:spPr>
          <a:xfrm>
            <a:off x="777240" y="1481328"/>
            <a:ext cx="548640" cy="548640"/>
          </a:xfrm>
          <a:prstGeom prst="ellipse">
            <a:avLst/>
          </a:prstGeom>
          <a:solidFill>
            <a:schemeClr val="accent3"/>
          </a:solidFill>
          <a:ln/>
        </p:spPr>
      </p:sp>
      <p:pic>
        <p:nvPicPr>
          <p:cNvPr id="8" name="Symbol" descr="preencoded.png">    </p:cNvPr>
          <p:cNvPicPr>
            <a:picLocks noChangeAspect="1"/>
          </p:cNvPicPr>
          <p:nvPr/>
        </p:nvPicPr>
        <p:blipFill>
          <a:blip r:embed="rId2"/>
          <a:stretch>
            <a:fillRect/>
          </a:stretch>
        </p:blipFill>
        <p:spPr>
          <a:xfrm>
            <a:off x="914400" y="1618488"/>
            <a:ext cx="274320" cy="274320"/>
          </a:xfrm>
          <a:prstGeom prst="rect">
            <a:avLst/>
          </a:prstGeom>
        </p:spPr>
      </p:pic>
      <p:sp>
        <p:nvSpPr>
          <p:cNvPr id="9" name="Text 5"/>
          <p:cNvSpPr txBox="1"/>
          <p:nvPr/>
        </p:nvSpPr>
        <p:spPr>
          <a:xfrm>
            <a:off x="1463040" y="1481328"/>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Eingabe</a:t>
            </a:r>
            <a:endParaRPr lang="en-US" sz="1700" dirty="0"/>
          </a:p>
        </p:txBody>
      </p:sp>
      <p:sp>
        <p:nvSpPr>
          <p:cNvPr id="10" name="Text 6"/>
          <p:cNvSpPr txBox="1"/>
          <p:nvPr/>
        </p:nvSpPr>
        <p:spPr>
          <a:xfrm>
            <a:off x="777240" y="2194560"/>
            <a:ext cx="3154680" cy="1143000"/>
          </a:xfrm>
          <a:prstGeom prst="rect">
            <a:avLst/>
          </a:prstGeom>
          <a:noFill/>
          <a:ln/>
        </p:spPr>
        <p:txBody>
          <a:bodyPr wrap="square" lIns="0" tIns="0" rIns="0" bIns="0" rtlCol="0" anchor="t"/>
          <a:lstStyle/>
          <a:p>
            <a:pPr indent="0" marL="0">
              <a:buNone/>
            </a:pPr>
            <a:r>
              <a:rPr lang="en-US" sz="1400" dirty="0">
                <a:solidFill>
                  <a:schemeClr val="tx1"/>
                </a:solidFill>
              </a:rPr>
              <a:t>Verordnung im festen Schema (Patientendaten ersetzt) + berechnete Fakten aus dem Code (verbindlich)</a:t>
            </a:r>
            <a:endParaRPr lang="en-US" sz="1400" dirty="0"/>
          </a:p>
        </p:txBody>
      </p:sp>
      <p:sp>
        <p:nvSpPr>
          <p:cNvPr id="11" name="Pfeil"/>
          <p:cNvSpPr/>
          <p:nvPr/>
        </p:nvSpPr>
        <p:spPr>
          <a:xfrm rot="5400000">
            <a:off x="4123944" y="2304288"/>
            <a:ext cx="237744" cy="146304"/>
          </a:xfrm>
          <a:prstGeom prst="triangle">
            <a:avLst/>
          </a:prstGeom>
          <a:solidFill>
            <a:schemeClr val="accent5"/>
          </a:solidFill>
          <a:ln/>
        </p:spPr>
      </p:sp>
      <p:sp>
        <p:nvSpPr>
          <p:cNvPr id="12" name="Prüf-Agent"/>
          <p:cNvSpPr/>
          <p:nvPr/>
        </p:nvSpPr>
        <p:spPr>
          <a:xfrm>
            <a:off x="4297680" y="1325880"/>
            <a:ext cx="3566160" cy="2103120"/>
          </a:xfrm>
          <a:prstGeom prst="roundRect">
            <a:avLst>
              <a:gd name="adj" fmla="val 3478"/>
            </a:avLst>
          </a:prstGeom>
          <a:solidFill>
            <a:schemeClr val="tx2"/>
          </a:solidFill>
          <a:ln/>
        </p:spPr>
      </p:sp>
      <p:sp>
        <p:nvSpPr>
          <p:cNvPr id="13" name="Symbolkreis"/>
          <p:cNvSpPr/>
          <p:nvPr/>
        </p:nvSpPr>
        <p:spPr>
          <a:xfrm>
            <a:off x="4526280" y="1481328"/>
            <a:ext cx="548640" cy="548640"/>
          </a:xfrm>
          <a:prstGeom prst="ellipse">
            <a:avLst/>
          </a:prstGeom>
          <a:solidFill>
            <a:schemeClr val="accent2"/>
          </a:solidFill>
          <a:ln/>
        </p:spPr>
      </p:sp>
      <p:pic>
        <p:nvPicPr>
          <p:cNvPr id="14" name="Symbol" descr="preencoded.png">    </p:cNvPr>
          <p:cNvPicPr>
            <a:picLocks noChangeAspect="1"/>
          </p:cNvPicPr>
          <p:nvPr/>
        </p:nvPicPr>
        <p:blipFill>
          <a:blip r:embed="rId3"/>
          <a:stretch>
            <a:fillRect/>
          </a:stretch>
        </p:blipFill>
        <p:spPr>
          <a:xfrm>
            <a:off x="4663440" y="1618488"/>
            <a:ext cx="274320" cy="274320"/>
          </a:xfrm>
          <a:prstGeom prst="rect">
            <a:avLst/>
          </a:prstGeom>
        </p:spPr>
      </p:pic>
      <p:sp>
        <p:nvSpPr>
          <p:cNvPr id="15" name="Text 10"/>
          <p:cNvSpPr txBox="1"/>
          <p:nvPr/>
        </p:nvSpPr>
        <p:spPr>
          <a:xfrm>
            <a:off x="5212080" y="1481328"/>
            <a:ext cx="2468880" cy="548640"/>
          </a:xfrm>
          <a:prstGeom prst="rect">
            <a:avLst/>
          </a:prstGeom>
          <a:noFill/>
          <a:ln/>
        </p:spPr>
        <p:txBody>
          <a:bodyPr wrap="square" lIns="0" tIns="0" rIns="0" bIns="0" rtlCol="0" anchor="ctr"/>
          <a:lstStyle/>
          <a:p>
            <a:pPr indent="0" marL="0">
              <a:buNone/>
            </a:pPr>
            <a:r>
              <a:rPr lang="en-US" sz="1700" b="1" dirty="0">
                <a:solidFill>
                  <a:schemeClr val="bg1"/>
                </a:solidFill>
              </a:rPr>
              <a:t>Prüf-Agent</a:t>
            </a:r>
            <a:endParaRPr lang="en-US" sz="1700" dirty="0"/>
          </a:p>
        </p:txBody>
      </p:sp>
      <p:sp>
        <p:nvSpPr>
          <p:cNvPr id="16" name="Text 11"/>
          <p:cNvSpPr txBox="1"/>
          <p:nvPr/>
        </p:nvSpPr>
        <p:spPr>
          <a:xfrm>
            <a:off x="4526280" y="2194560"/>
            <a:ext cx="3154680" cy="1143000"/>
          </a:xfrm>
          <a:prstGeom prst="rect">
            <a:avLst/>
          </a:prstGeom>
          <a:noFill/>
          <a:ln/>
        </p:spPr>
        <p:txBody>
          <a:bodyPr wrap="square" lIns="0" tIns="0" rIns="0" bIns="0" rtlCol="0" anchor="t"/>
          <a:lstStyle/>
          <a:p>
            <a:pPr indent="0" marL="0">
              <a:buNone/>
            </a:pPr>
            <a:r>
              <a:rPr lang="en-US" sz="1400" dirty="0">
                <a:solidFill>
                  <a:schemeClr val="bg1"/>
                </a:solidFill>
              </a:rPr>
              <a:t>gpt-4.1-mini, Temperatur 0,1, max. 6 Schritte, eigenes Mandat im Systemprompt</a:t>
            </a:r>
            <a:endParaRPr lang="en-US" sz="1400" dirty="0"/>
          </a:p>
        </p:txBody>
      </p:sp>
      <p:sp>
        <p:nvSpPr>
          <p:cNvPr id="17" name="Pfeil"/>
          <p:cNvSpPr/>
          <p:nvPr/>
        </p:nvSpPr>
        <p:spPr>
          <a:xfrm rot="5400000">
            <a:off x="7872984" y="2304288"/>
            <a:ext cx="237744" cy="146304"/>
          </a:xfrm>
          <a:prstGeom prst="triangle">
            <a:avLst/>
          </a:prstGeom>
          <a:solidFill>
            <a:schemeClr val="accent5"/>
          </a:solidFill>
          <a:ln/>
        </p:spPr>
      </p:sp>
      <p:sp>
        <p:nvSpPr>
          <p:cNvPr id="18" name="Ausgabe"/>
          <p:cNvSpPr/>
          <p:nvPr/>
        </p:nvSpPr>
        <p:spPr>
          <a:xfrm>
            <a:off x="8046720" y="1325880"/>
            <a:ext cx="3566160" cy="2103120"/>
          </a:xfrm>
          <a:prstGeom prst="roundRect">
            <a:avLst>
              <a:gd name="adj" fmla="val 3478"/>
            </a:avLst>
          </a:prstGeom>
          <a:solidFill>
            <a:schemeClr val="bg2"/>
          </a:solidFill>
          <a:ln/>
        </p:spPr>
      </p:sp>
      <p:sp>
        <p:nvSpPr>
          <p:cNvPr id="19" name="Symbolkreis"/>
          <p:cNvSpPr/>
          <p:nvPr/>
        </p:nvSpPr>
        <p:spPr>
          <a:xfrm>
            <a:off x="8275320" y="1481328"/>
            <a:ext cx="548640" cy="548640"/>
          </a:xfrm>
          <a:prstGeom prst="ellipse">
            <a:avLst/>
          </a:prstGeom>
          <a:solidFill>
            <a:schemeClr val="accent3"/>
          </a:solidFill>
          <a:ln/>
        </p:spPr>
      </p:sp>
      <p:pic>
        <p:nvPicPr>
          <p:cNvPr id="20" name="Symbol" descr="preencoded.png">    </p:cNvPr>
          <p:cNvPicPr>
            <a:picLocks noChangeAspect="1"/>
          </p:cNvPicPr>
          <p:nvPr/>
        </p:nvPicPr>
        <p:blipFill>
          <a:blip r:embed="rId4"/>
          <a:stretch>
            <a:fillRect/>
          </a:stretch>
        </p:blipFill>
        <p:spPr>
          <a:xfrm>
            <a:off x="8412480" y="1618488"/>
            <a:ext cx="274320" cy="274320"/>
          </a:xfrm>
          <a:prstGeom prst="rect">
            <a:avLst/>
          </a:prstGeom>
        </p:spPr>
      </p:pic>
      <p:sp>
        <p:nvSpPr>
          <p:cNvPr id="21" name="Text 15"/>
          <p:cNvSpPr txBox="1"/>
          <p:nvPr/>
        </p:nvSpPr>
        <p:spPr>
          <a:xfrm>
            <a:off x="8961120" y="1481328"/>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Ausgabe</a:t>
            </a:r>
            <a:endParaRPr lang="en-US" sz="1700" dirty="0"/>
          </a:p>
        </p:txBody>
      </p:sp>
      <p:sp>
        <p:nvSpPr>
          <p:cNvPr id="22" name="Text 16"/>
          <p:cNvSpPr txBox="1"/>
          <p:nvPr/>
        </p:nvSpPr>
        <p:spPr>
          <a:xfrm>
            <a:off x="8275320" y="2194560"/>
            <a:ext cx="3154680" cy="1143000"/>
          </a:xfrm>
          <a:prstGeom prst="rect">
            <a:avLst/>
          </a:prstGeom>
          <a:noFill/>
          <a:ln/>
        </p:spPr>
        <p:txBody>
          <a:bodyPr wrap="square" lIns="0" tIns="0" rIns="0" bIns="0" rtlCol="0" anchor="t"/>
          <a:lstStyle/>
          <a:p>
            <a:pPr indent="0" marL="0">
              <a:buNone/>
            </a:pPr>
            <a:r>
              <a:rPr lang="en-US" sz="1400" dirty="0">
                <a:solidFill>
                  <a:schemeClr val="tx1"/>
                </a:solidFill>
              </a:rPr>
              <a:t>JSON: Prüfer, Befund je Feld mit Status, Fundstelle, Korrekturhinweis</a:t>
            </a:r>
            <a:endParaRPr lang="en-US" sz="1400" dirty="0"/>
          </a:p>
        </p:txBody>
      </p:sp>
      <p:sp>
        <p:nvSpPr>
          <p:cNvPr id="23" name="Werkzeug"/>
          <p:cNvSpPr/>
          <p:nvPr/>
        </p:nvSpPr>
        <p:spPr>
          <a:xfrm>
            <a:off x="548640" y="3611880"/>
            <a:ext cx="5394960" cy="2286000"/>
          </a:xfrm>
          <a:prstGeom prst="roundRect">
            <a:avLst>
              <a:gd name="adj" fmla="val 3200"/>
            </a:avLst>
          </a:prstGeom>
          <a:solidFill>
            <a:schemeClr val="bg2"/>
          </a:solidFill>
          <a:ln/>
        </p:spPr>
      </p:sp>
      <p:sp>
        <p:nvSpPr>
          <p:cNvPr id="24" name="Symbolkreis"/>
          <p:cNvSpPr/>
          <p:nvPr/>
        </p:nvSpPr>
        <p:spPr>
          <a:xfrm>
            <a:off x="777240" y="3749040"/>
            <a:ext cx="502920" cy="502920"/>
          </a:xfrm>
          <a:prstGeom prst="ellipse">
            <a:avLst/>
          </a:prstGeom>
          <a:solidFill>
            <a:schemeClr val="accent3"/>
          </a:solidFill>
          <a:ln/>
        </p:spPr>
      </p:sp>
      <p:pic>
        <p:nvPicPr>
          <p:cNvPr id="25" name="Symbol" descr="preencoded.png">    </p:cNvPr>
          <p:cNvPicPr>
            <a:picLocks noChangeAspect="1"/>
          </p:cNvPicPr>
          <p:nvPr/>
        </p:nvPicPr>
        <p:blipFill>
          <a:blip r:embed="rId5"/>
          <a:stretch>
            <a:fillRect/>
          </a:stretch>
        </p:blipFill>
        <p:spPr>
          <a:xfrm>
            <a:off x="902970" y="3874770"/>
            <a:ext cx="251460" cy="251460"/>
          </a:xfrm>
          <a:prstGeom prst="rect">
            <a:avLst/>
          </a:prstGeom>
        </p:spPr>
      </p:pic>
      <p:sp>
        <p:nvSpPr>
          <p:cNvPr id="26" name="Text 19"/>
          <p:cNvSpPr txBox="1"/>
          <p:nvPr/>
        </p:nvSpPr>
        <p:spPr>
          <a:xfrm>
            <a:off x="1417320" y="3749040"/>
            <a:ext cx="4114800" cy="502920"/>
          </a:xfrm>
          <a:prstGeom prst="rect">
            <a:avLst/>
          </a:prstGeom>
          <a:noFill/>
          <a:ln/>
        </p:spPr>
        <p:txBody>
          <a:bodyPr wrap="square" lIns="0" tIns="0" rIns="0" bIns="0" rtlCol="0" anchor="ctr"/>
          <a:lstStyle/>
          <a:p>
            <a:pPr indent="0" marL="0">
              <a:buNone/>
            </a:pPr>
            <a:r>
              <a:rPr lang="en-US" sz="1600" b="1" dirty="0">
                <a:solidFill>
                  <a:schemeClr val="tx2"/>
                </a:solidFill>
              </a:rPr>
              <a:t>Werkzeug „Regelwerk“</a:t>
            </a:r>
            <a:endParaRPr lang="en-US" sz="1600" dirty="0"/>
          </a:p>
        </p:txBody>
      </p:sp>
      <p:sp>
        <p:nvSpPr>
          <p:cNvPr id="27" name="Text 20"/>
          <p:cNvSpPr txBox="1"/>
          <p:nvPr/>
        </p:nvSpPr>
        <p:spPr>
          <a:xfrm>
            <a:off x="777240" y="4343400"/>
            <a:ext cx="4937760" cy="1463040"/>
          </a:xfrm>
          <a:prstGeom prst="rect">
            <a:avLst/>
          </a:prstGeom>
          <a:noFill/>
          <a:ln/>
        </p:spPr>
        <p:txBody>
          <a:bodyPr wrap="square" lIns="0" tIns="0" rIns="0" bIns="0" rtlCol="0" anchor="t"/>
          <a:lstStyle/>
          <a:p>
            <a:pPr indent="0" marL="0">
              <a:buNone/>
            </a:pPr>
            <a:r>
              <a:rPr lang="en-US" sz="1400" dirty="0">
                <a:solidFill>
                  <a:schemeClr val="tx1"/>
                </a:solidFill>
              </a:rPr>
              <a:t>Vektorsuche in Supabase, 5 Treffer, je Prüfer eigener Ausschnitt der Wissensbasis. Der Fristen-Prüfer braucht keine Suche – seine Regel steht fest.</a:t>
            </a:r>
            <a:endParaRPr lang="en-US" sz="1400" dirty="0"/>
          </a:p>
        </p:txBody>
      </p:sp>
      <p:sp>
        <p:nvSpPr>
          <p:cNvPr id="28" name="Regeln"/>
          <p:cNvSpPr/>
          <p:nvPr/>
        </p:nvSpPr>
        <p:spPr>
          <a:xfrm>
            <a:off x="6126480" y="3611880"/>
            <a:ext cx="5513832" cy="2286000"/>
          </a:xfrm>
          <a:prstGeom prst="roundRect">
            <a:avLst>
              <a:gd name="adj" fmla="val 3200"/>
            </a:avLst>
          </a:prstGeom>
          <a:solidFill>
            <a:schemeClr val="tx2"/>
          </a:solidFill>
          <a:ln/>
        </p:spPr>
      </p:sp>
      <p:sp>
        <p:nvSpPr>
          <p:cNvPr id="29" name="Text 22"/>
          <p:cNvSpPr txBox="1"/>
          <p:nvPr/>
        </p:nvSpPr>
        <p:spPr>
          <a:xfrm>
            <a:off x="6400800" y="3749040"/>
            <a:ext cx="5029200" cy="411480"/>
          </a:xfrm>
          <a:prstGeom prst="rect">
            <a:avLst/>
          </a:prstGeom>
          <a:noFill/>
          <a:ln/>
        </p:spPr>
        <p:txBody>
          <a:bodyPr wrap="square" lIns="0" tIns="0" rIns="0" bIns="0" rtlCol="0" anchor="t"/>
          <a:lstStyle/>
          <a:p>
            <a:pPr indent="0" marL="0">
              <a:buNone/>
            </a:pPr>
            <a:r>
              <a:rPr lang="en-US" sz="1600" b="1" dirty="0">
                <a:solidFill>
                  <a:schemeClr val="bg1"/>
                </a:solidFill>
              </a:rPr>
              <a:t>Gemeinsame Regeln für alle Prüfer</a:t>
            </a:r>
            <a:endParaRPr lang="en-US" sz="1600" dirty="0"/>
          </a:p>
        </p:txBody>
      </p:sp>
      <p:sp>
        <p:nvSpPr>
          <p:cNvPr id="30" name="Text 23"/>
          <p:cNvSpPr txBox="1"/>
          <p:nvPr/>
        </p:nvSpPr>
        <p:spPr>
          <a:xfrm>
            <a:off x="6400800" y="4251960"/>
            <a:ext cx="5029200" cy="1554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Nur das eigene Mandat prüfen</a:t>
            </a:r>
            <a:endParaRPr lang="en-US" sz="1400" dirty="0"/>
          </a:p>
          <a:p>
            <a:pPr marL="177800" indent="-177800">
              <a:spcAft>
                <a:spcPts val="500"/>
              </a:spcAft>
              <a:buSzPct val="100000"/>
              <a:buChar char="•"/>
            </a:pPr>
            <a:r>
              <a:rPr lang="en-US" sz="1300" dirty="0">
                <a:solidFill>
                  <a:schemeClr val="bg1"/>
                </a:solidFill>
              </a:rPr>
              <a:t>Keine Paragrafen erfinden – jede Regel mit Fundstelle</a:t>
            </a:r>
            <a:endParaRPr lang="en-US" sz="1400" dirty="0"/>
          </a:p>
          <a:p>
            <a:pPr marL="177800" indent="-177800">
              <a:spcAft>
                <a:spcPts val="500"/>
              </a:spcAft>
              <a:buSzPct val="100000"/>
              <a:buChar char="•"/>
            </a:pPr>
            <a:r>
              <a:rPr lang="en-US" sz="1300" dirty="0">
                <a:solidFill>
                  <a:schemeClr val="bg1"/>
                </a:solidFill>
              </a:rPr>
              <a:t>Keine Fundstelle gefunden: höchstens „Hinweis“</a:t>
            </a:r>
            <a:endParaRPr lang="en-US" sz="1400" dirty="0"/>
          </a:p>
          <a:p>
            <a:pPr marL="177800" indent="-177800">
              <a:spcAft>
                <a:spcPts val="500"/>
              </a:spcAft>
              <a:buSzPct val="100000"/>
              <a:buChar char="•"/>
            </a:pPr>
            <a:r>
              <a:rPr lang="en-US" sz="1300" dirty="0">
                <a:solidFill>
                  <a:schemeClr val="bg1"/>
                </a:solidFill>
              </a:rPr>
              <a:t>Berechnete Fakten haben Vorrang vor eigener Einschätzung</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Die vier Prüfer: wer prüft was</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280160"/>
                <a:gridCol w="3749040"/>
                <a:gridCol w="3017520"/>
                <a:gridCol w="30449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Mandat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Fakten aus dem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Beispiel aus dem 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Vollständigkeit der Pflichtangaben (10 Felder, HeilM-RL § 13)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Pflichtangaben ja/nein, LANR/BSNR-Format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LANR und Leitsymptomatik fehlen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91440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Diagnose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ICD-Code ↔ Diagnosegruppe, Leitsymptomatik, besonderer Verordnungsbedarf (KBV-Liste)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Passende Gruppe zum ICD-Code, Leitsymptomatik zulässig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Schulter-Code mit Wirbelsäulen-Gruppe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Mengen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Höchstmenge je Verordnung, max. 3 vorrangige Heilmittel, Frequenz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Summe vorrangiger Einheiten, Anzahl Heilmittel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 Einheiten bei Wirbelsäule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Fristen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Behandlungsbeginn, Unterbrechung (HeilM-RL § 15, § 16)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Tage bis Beginn, Grenze 28/14, Unterbrechung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Beginn nach 41 Tagen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Sprint 2"/>
          <p:cNvSpPr/>
          <p:nvPr/>
        </p:nvSpPr>
        <p:spPr>
          <a:xfrm>
            <a:off x="548640" y="5166360"/>
            <a:ext cx="11091672" cy="777240"/>
          </a:xfrm>
          <a:prstGeom prst="roundRect">
            <a:avLst>
              <a:gd name="adj" fmla="val 9412"/>
            </a:avLst>
          </a:prstGeom>
          <a:solidFill>
            <a:schemeClr val="bg2"/>
          </a:solidFill>
          <a:ln/>
        </p:spPr>
      </p:sp>
      <p:sp>
        <p:nvSpPr>
          <p:cNvPr id="8" name="Text 4"/>
          <p:cNvSpPr txBox="1"/>
          <p:nvPr/>
        </p:nvSpPr>
        <p:spPr>
          <a:xfrm>
            <a:off x="822960" y="5257800"/>
            <a:ext cx="10515600" cy="594360"/>
          </a:xfrm>
          <a:prstGeom prst="rect">
            <a:avLst/>
          </a:prstGeom>
          <a:noFill/>
          <a:ln/>
        </p:spPr>
        <p:txBody>
          <a:bodyPr wrap="square" lIns="0" tIns="0" rIns="0" bIns="0" rtlCol="0" anchor="ctr"/>
          <a:lstStyle/>
          <a:p>
            <a:pPr indent="0" marL="0">
              <a:buNone/>
            </a:pPr>
            <a:r>
              <a:rPr lang="en-US" sz="1400" b="1" dirty="0">
                <a:solidFill>
                  <a:schemeClr val="tx2"/>
                </a:solidFill>
              </a:rPr>
              <a:t>Sprint 2 – Verordnungsfall-Prüfung: </a:t>
            </a:r>
            <a:pPr indent="0" marL="0">
              <a:buNone/>
            </a:pPr>
            <a:r>
              <a:rPr lang="en-US" sz="1400" dirty="0">
                <a:solidFill>
                  <a:schemeClr val="tx1"/>
                </a:solidFill>
              </a:rPr>
              <a:t>Der Mengen-Prüfer bekommt die Summe aller Einheiten im Verordnungsfall (§ 7 HeilM-RL) als Fakt. Das deckt die Folgeverordnungen ab – 90 % der Fehler.</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Live-Demo: eine Verordnung in 30 Sekunden prüfen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bg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accent3"/>
                </a:solidFill>
              </a:rPr>
              <a:t>Derk</a:t>
            </a:r>
            <a:endParaRPr lang="en-US" sz="1500" dirty="0"/>
          </a:p>
        </p:txBody>
      </p:sp>
      <p:sp>
        <p:nvSpPr>
          <p:cNvPr id="6" name="Demo-Schritt"/>
          <p:cNvSpPr/>
          <p:nvPr/>
        </p:nvSpPr>
        <p:spPr>
          <a:xfrm>
            <a:off x="548640" y="1463040"/>
            <a:ext cx="2651760" cy="2377440"/>
          </a:xfrm>
          <a:prstGeom prst="roundRect">
            <a:avLst>
              <a:gd name="adj" fmla="val 3077"/>
            </a:avLst>
          </a:prstGeom>
          <a:solidFill>
            <a:schemeClr val="accent6"/>
          </a:solidFill>
          <a:ln/>
        </p:spPr>
      </p:sp>
      <p:sp>
        <p:nvSpPr>
          <p:cNvPr id="7" name="Symbolkreis"/>
          <p:cNvSpPr/>
          <p:nvPr/>
        </p:nvSpPr>
        <p:spPr>
          <a:xfrm>
            <a:off x="777240" y="1645920"/>
            <a:ext cx="594360" cy="594360"/>
          </a:xfrm>
          <a:prstGeom prst="ellipse">
            <a:avLst/>
          </a:prstGeom>
          <a:solidFill>
            <a:schemeClr val="accent3"/>
          </a:solidFill>
          <a:ln/>
        </p:spPr>
      </p:sp>
      <p:pic>
        <p:nvPicPr>
          <p:cNvPr id="8" name="Symbol" descr="preencoded.png">    </p:cNvPr>
          <p:cNvPicPr>
            <a:picLocks noChangeAspect="1"/>
          </p:cNvPicPr>
          <p:nvPr/>
        </p:nvPicPr>
        <p:blipFill>
          <a:blip r:embed="rId2"/>
          <a:stretch>
            <a:fillRect/>
          </a:stretch>
        </p:blipFill>
        <p:spPr>
          <a:xfrm>
            <a:off x="925830" y="1794510"/>
            <a:ext cx="297180" cy="297180"/>
          </a:xfrm>
          <a:prstGeom prst="rect">
            <a:avLst/>
          </a:prstGeom>
        </p:spPr>
      </p:pic>
      <p:sp>
        <p:nvSpPr>
          <p:cNvPr id="9" name="Text 5"/>
          <p:cNvSpPr txBox="1"/>
          <p:nvPr/>
        </p:nvSpPr>
        <p:spPr>
          <a:xfrm>
            <a:off x="777240"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1 · Formular</a:t>
            </a:r>
            <a:endParaRPr lang="en-US" sz="1700" dirty="0"/>
          </a:p>
        </p:txBody>
      </p:sp>
      <p:sp>
        <p:nvSpPr>
          <p:cNvPr id="10" name="Text 6"/>
          <p:cNvSpPr txBox="1"/>
          <p:nvPr/>
        </p:nvSpPr>
        <p:spPr>
          <a:xfrm>
            <a:off x="777240"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Muster 13 ausfüllen (synthetische Daten)</a:t>
            </a:r>
            <a:endParaRPr lang="en-US" sz="1400" dirty="0"/>
          </a:p>
        </p:txBody>
      </p:sp>
      <p:sp>
        <p:nvSpPr>
          <p:cNvPr id="11" name="Demo-Schritt"/>
          <p:cNvSpPr/>
          <p:nvPr/>
        </p:nvSpPr>
        <p:spPr>
          <a:xfrm>
            <a:off x="3355848" y="1463040"/>
            <a:ext cx="2651760" cy="2377440"/>
          </a:xfrm>
          <a:prstGeom prst="roundRect">
            <a:avLst>
              <a:gd name="adj" fmla="val 3077"/>
            </a:avLst>
          </a:prstGeom>
          <a:solidFill>
            <a:schemeClr val="accent6"/>
          </a:solidFill>
          <a:ln/>
        </p:spPr>
      </p:sp>
      <p:sp>
        <p:nvSpPr>
          <p:cNvPr id="12" name="Symbolkreis"/>
          <p:cNvSpPr/>
          <p:nvPr/>
        </p:nvSpPr>
        <p:spPr>
          <a:xfrm>
            <a:off x="3584448" y="1645920"/>
            <a:ext cx="594360" cy="594360"/>
          </a:xfrm>
          <a:prstGeom prst="ellipse">
            <a:avLst/>
          </a:prstGeom>
          <a:solidFill>
            <a:schemeClr val="accent3"/>
          </a:solidFill>
          <a:ln/>
        </p:spPr>
      </p:sp>
      <p:pic>
        <p:nvPicPr>
          <p:cNvPr id="13" name="Symbol" descr="preencoded.png">    </p:cNvPr>
          <p:cNvPicPr>
            <a:picLocks noChangeAspect="1"/>
          </p:cNvPicPr>
          <p:nvPr/>
        </p:nvPicPr>
        <p:blipFill>
          <a:blip r:embed="rId3"/>
          <a:stretch>
            <a:fillRect/>
          </a:stretch>
        </p:blipFill>
        <p:spPr>
          <a:xfrm>
            <a:off x="3733038" y="1794510"/>
            <a:ext cx="297180" cy="297180"/>
          </a:xfrm>
          <a:prstGeom prst="rect">
            <a:avLst/>
          </a:prstGeom>
        </p:spPr>
      </p:pic>
      <p:sp>
        <p:nvSpPr>
          <p:cNvPr id="14" name="Text 9"/>
          <p:cNvSpPr txBox="1"/>
          <p:nvPr/>
        </p:nvSpPr>
        <p:spPr>
          <a:xfrm>
            <a:off x="3584448"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2 · Prüfen</a:t>
            </a:r>
            <a:endParaRPr lang="en-US" sz="1700" dirty="0"/>
          </a:p>
        </p:txBody>
      </p:sp>
      <p:sp>
        <p:nvSpPr>
          <p:cNvPr id="15" name="Text 10"/>
          <p:cNvSpPr txBox="1"/>
          <p:nvPr/>
        </p:nvSpPr>
        <p:spPr>
          <a:xfrm>
            <a:off x="3584448"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vier Prüfer laufen parallel, ca. 25–30 s</a:t>
            </a:r>
            <a:endParaRPr lang="en-US" sz="1400" dirty="0"/>
          </a:p>
        </p:txBody>
      </p:sp>
      <p:sp>
        <p:nvSpPr>
          <p:cNvPr id="16" name="Demo-Schritt"/>
          <p:cNvSpPr/>
          <p:nvPr/>
        </p:nvSpPr>
        <p:spPr>
          <a:xfrm>
            <a:off x="6163056" y="1463040"/>
            <a:ext cx="2651760" cy="2377440"/>
          </a:xfrm>
          <a:prstGeom prst="roundRect">
            <a:avLst>
              <a:gd name="adj" fmla="val 3077"/>
            </a:avLst>
          </a:prstGeom>
          <a:solidFill>
            <a:schemeClr val="accent6"/>
          </a:solidFill>
          <a:ln/>
        </p:spPr>
      </p:sp>
      <p:sp>
        <p:nvSpPr>
          <p:cNvPr id="17" name="Symbolkreis"/>
          <p:cNvSpPr/>
          <p:nvPr/>
        </p:nvSpPr>
        <p:spPr>
          <a:xfrm>
            <a:off x="6391656" y="1645920"/>
            <a:ext cx="594360" cy="594360"/>
          </a:xfrm>
          <a:prstGeom prst="ellipse">
            <a:avLst/>
          </a:prstGeom>
          <a:solidFill>
            <a:schemeClr val="accent3"/>
          </a:solidFill>
          <a:ln/>
        </p:spPr>
      </p:sp>
      <p:pic>
        <p:nvPicPr>
          <p:cNvPr id="18" name="Symbol" descr="preencoded.png">    </p:cNvPr>
          <p:cNvPicPr>
            <a:picLocks noChangeAspect="1"/>
          </p:cNvPicPr>
          <p:nvPr/>
        </p:nvPicPr>
        <p:blipFill>
          <a:blip r:embed="rId4"/>
          <a:stretch>
            <a:fillRect/>
          </a:stretch>
        </p:blipFill>
        <p:spPr>
          <a:xfrm>
            <a:off x="6540246" y="1794510"/>
            <a:ext cx="297180" cy="297180"/>
          </a:xfrm>
          <a:prstGeom prst="rect">
            <a:avLst/>
          </a:prstGeom>
        </p:spPr>
      </p:pic>
      <p:sp>
        <p:nvSpPr>
          <p:cNvPr id="19" name="Text 13"/>
          <p:cNvSpPr txBox="1"/>
          <p:nvPr/>
        </p:nvSpPr>
        <p:spPr>
          <a:xfrm>
            <a:off x="6391656"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3 · Ergebnis</a:t>
            </a:r>
            <a:endParaRPr lang="en-US" sz="1700" dirty="0"/>
          </a:p>
        </p:txBody>
      </p:sp>
      <p:sp>
        <p:nvSpPr>
          <p:cNvPr id="20" name="Text 14"/>
          <p:cNvSpPr txBox="1"/>
          <p:nvPr/>
        </p:nvSpPr>
        <p:spPr>
          <a:xfrm>
            <a:off x="6391656"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Ampel, Korrekturhinweis, Fundstelle</a:t>
            </a:r>
            <a:endParaRPr lang="en-US" sz="1400" dirty="0"/>
          </a:p>
        </p:txBody>
      </p:sp>
      <p:sp>
        <p:nvSpPr>
          <p:cNvPr id="21" name="Demo-Schritt"/>
          <p:cNvSpPr/>
          <p:nvPr/>
        </p:nvSpPr>
        <p:spPr>
          <a:xfrm>
            <a:off x="8970264" y="1463040"/>
            <a:ext cx="2651760" cy="2377440"/>
          </a:xfrm>
          <a:prstGeom prst="roundRect">
            <a:avLst>
              <a:gd name="adj" fmla="val 3077"/>
            </a:avLst>
          </a:prstGeom>
          <a:solidFill>
            <a:schemeClr val="accent6"/>
          </a:solidFill>
          <a:ln/>
        </p:spPr>
      </p:sp>
      <p:sp>
        <p:nvSpPr>
          <p:cNvPr id="22" name="Symbolkreis"/>
          <p:cNvSpPr/>
          <p:nvPr/>
        </p:nvSpPr>
        <p:spPr>
          <a:xfrm>
            <a:off x="9198864" y="1645920"/>
            <a:ext cx="594360" cy="594360"/>
          </a:xfrm>
          <a:prstGeom prst="ellipse">
            <a:avLst/>
          </a:prstGeom>
          <a:solidFill>
            <a:schemeClr val="accent3"/>
          </a:solidFill>
          <a:ln/>
        </p:spPr>
      </p:sp>
      <p:pic>
        <p:nvPicPr>
          <p:cNvPr id="23" name="Symbol" descr="preencoded.png">    </p:cNvPr>
          <p:cNvPicPr>
            <a:picLocks noChangeAspect="1"/>
          </p:cNvPicPr>
          <p:nvPr/>
        </p:nvPicPr>
        <p:blipFill>
          <a:blip r:embed="rId5"/>
          <a:stretch>
            <a:fillRect/>
          </a:stretch>
        </p:blipFill>
        <p:spPr>
          <a:xfrm>
            <a:off x="9347454" y="1794510"/>
            <a:ext cx="297180" cy="297180"/>
          </a:xfrm>
          <a:prstGeom prst="rect">
            <a:avLst/>
          </a:prstGeom>
        </p:spPr>
      </p:pic>
      <p:sp>
        <p:nvSpPr>
          <p:cNvPr id="24" name="Text 17"/>
          <p:cNvSpPr txBox="1"/>
          <p:nvPr/>
        </p:nvSpPr>
        <p:spPr>
          <a:xfrm>
            <a:off x="9198864"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4 · Protokoll</a:t>
            </a:r>
            <a:endParaRPr lang="en-US" sz="1700" dirty="0"/>
          </a:p>
        </p:txBody>
      </p:sp>
      <p:sp>
        <p:nvSpPr>
          <p:cNvPr id="25" name="Text 18"/>
          <p:cNvSpPr txBox="1"/>
          <p:nvPr/>
        </p:nvSpPr>
        <p:spPr>
          <a:xfrm>
            <a:off x="9198864"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Prüfung und Befunde in Supabase</a:t>
            </a:r>
            <a:endParaRPr lang="en-US" sz="1400" dirty="0"/>
          </a:p>
        </p:txBody>
      </p:sp>
      <p:sp>
        <p:nvSpPr>
          <p:cNvPr id="26" name="Demo-Fälle"/>
          <p:cNvSpPr/>
          <p:nvPr/>
        </p:nvSpPr>
        <p:spPr>
          <a:xfrm>
            <a:off x="548640" y="4114800"/>
            <a:ext cx="11091672" cy="1737360"/>
          </a:xfrm>
          <a:prstGeom prst="roundRect">
            <a:avLst>
              <a:gd name="adj" fmla="val 4211"/>
            </a:avLst>
          </a:prstGeom>
          <a:solidFill>
            <a:schemeClr val="bg1"/>
          </a:solidFill>
          <a:ln/>
        </p:spPr>
      </p:sp>
      <p:sp>
        <p:nvSpPr>
          <p:cNvPr id="27" name="Text 20"/>
          <p:cNvSpPr txBox="1"/>
          <p:nvPr/>
        </p:nvSpPr>
        <p:spPr>
          <a:xfrm>
            <a:off x="822960" y="4224528"/>
            <a:ext cx="365760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Demo-Fälle</a:t>
            </a:r>
            <a:endParaRPr lang="en-US" sz="1600" dirty="0"/>
          </a:p>
        </p:txBody>
      </p:sp>
      <p:sp>
        <p:nvSpPr>
          <p:cNvPr id="28" name="Ampel"/>
          <p:cNvSpPr/>
          <p:nvPr/>
        </p:nvSpPr>
        <p:spPr>
          <a:xfrm>
            <a:off x="868680" y="4736592"/>
            <a:ext cx="219456" cy="219456"/>
          </a:xfrm>
          <a:prstGeom prst="ellipse">
            <a:avLst/>
          </a:prstGeom>
          <a:solidFill>
            <a:srgbClr val="2A9D8F"/>
          </a:solidFill>
          <a:ln/>
        </p:spPr>
      </p:sp>
      <p:sp>
        <p:nvSpPr>
          <p:cNvPr id="29" name="Text 22"/>
          <p:cNvSpPr txBox="1"/>
          <p:nvPr/>
        </p:nvSpPr>
        <p:spPr>
          <a:xfrm>
            <a:off x="1234440" y="4681728"/>
            <a:ext cx="10058400" cy="329184"/>
          </a:xfrm>
          <a:prstGeom prst="rect">
            <a:avLst/>
          </a:prstGeom>
          <a:noFill/>
          <a:ln/>
        </p:spPr>
        <p:txBody>
          <a:bodyPr wrap="square" lIns="0" tIns="0" rIns="0" bIns="0" rtlCol="0" anchor="ctr"/>
          <a:lstStyle/>
          <a:p>
            <a:pPr indent="0" marL="0">
              <a:buNone/>
            </a:pPr>
            <a:r>
              <a:rPr lang="en-US" sz="1400" dirty="0">
                <a:solidFill>
                  <a:schemeClr val="tx1"/>
                </a:solidFill>
              </a:rPr>
              <a:t>Grün: Gonarthrose, EX, 6× KG, fristgerecht</a:t>
            </a:r>
            <a:endParaRPr lang="en-US" sz="1400" dirty="0"/>
          </a:p>
        </p:txBody>
      </p:sp>
      <p:sp>
        <p:nvSpPr>
          <p:cNvPr id="30" name="Ampel"/>
          <p:cNvSpPr/>
          <p:nvPr/>
        </p:nvSpPr>
        <p:spPr>
          <a:xfrm>
            <a:off x="868680" y="5102352"/>
            <a:ext cx="219456" cy="219456"/>
          </a:xfrm>
          <a:prstGeom prst="ellipse">
            <a:avLst/>
          </a:prstGeom>
          <a:solidFill>
            <a:srgbClr val="E76F51"/>
          </a:solidFill>
          <a:ln/>
        </p:spPr>
      </p:sp>
      <p:sp>
        <p:nvSpPr>
          <p:cNvPr id="31" name="Text 24"/>
          <p:cNvSpPr txBox="1"/>
          <p:nvPr/>
        </p:nvSpPr>
        <p:spPr>
          <a:xfrm>
            <a:off x="1234440" y="5047488"/>
            <a:ext cx="10058400" cy="329184"/>
          </a:xfrm>
          <a:prstGeom prst="rect">
            <a:avLst/>
          </a:prstGeom>
          <a:noFill/>
          <a:ln/>
        </p:spPr>
        <p:txBody>
          <a:bodyPr wrap="square" lIns="0" tIns="0" rIns="0" bIns="0" rtlCol="0" anchor="ctr"/>
          <a:lstStyle/>
          <a:p>
            <a:pPr indent="0" marL="0">
              <a:buNone/>
            </a:pPr>
            <a:r>
              <a:rPr lang="en-US" sz="1400" dirty="0">
                <a:solidFill>
                  <a:schemeClr val="tx1"/>
                </a:solidFill>
              </a:rPr>
              <a:t>Rot: Schulter-Code mit Wirbelsäulen-Gruppe</a:t>
            </a:r>
            <a:endParaRPr lang="en-US" sz="1400" dirty="0"/>
          </a:p>
        </p:txBody>
      </p:sp>
      <p:sp>
        <p:nvSpPr>
          <p:cNvPr id="32" name="Ampel"/>
          <p:cNvSpPr/>
          <p:nvPr/>
        </p:nvSpPr>
        <p:spPr>
          <a:xfrm>
            <a:off x="868680" y="5468112"/>
            <a:ext cx="219456" cy="219456"/>
          </a:xfrm>
          <a:prstGeom prst="ellipse">
            <a:avLst/>
          </a:prstGeom>
          <a:solidFill>
            <a:srgbClr val="5C6B73"/>
          </a:solidFill>
          <a:ln/>
        </p:spPr>
      </p:sp>
      <p:sp>
        <p:nvSpPr>
          <p:cNvPr id="33" name="Text 26"/>
          <p:cNvSpPr txBox="1"/>
          <p:nvPr/>
        </p:nvSpPr>
        <p:spPr>
          <a:xfrm>
            <a:off x="1234440" y="5413248"/>
            <a:ext cx="10058400" cy="329184"/>
          </a:xfrm>
          <a:prstGeom prst="rect">
            <a:avLst/>
          </a:prstGeom>
          <a:noFill/>
          <a:ln/>
        </p:spPr>
        <p:txBody>
          <a:bodyPr wrap="square" lIns="0" tIns="0" rIns="0" bIns="0" rtlCol="0" anchor="ctr"/>
          <a:lstStyle/>
          <a:p>
            <a:pPr indent="0" marL="0">
              <a:buNone/>
            </a:pPr>
            <a:r>
              <a:rPr lang="en-US" sz="1400" dirty="0">
                <a:solidFill>
                  <a:schemeClr val="tx1"/>
                </a:solidFill>
              </a:rPr>
              <a:t>Rückfall: Screenshots je Ampelfarbe, falls die Verbindung ausfällt</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Prototyp: Stand 23.10.2026</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Versionen"/>
          <p:cNvSpPr/>
          <p:nvPr/>
        </p:nvSpPr>
        <p:spPr>
          <a:xfrm>
            <a:off x="548640" y="1325880"/>
            <a:ext cx="4206240" cy="4526280"/>
          </a:xfrm>
          <a:prstGeom prst="roundRect">
            <a:avLst>
              <a:gd name="adj" fmla="val 1739"/>
            </a:avLst>
          </a:prstGeom>
          <a:solidFill>
            <a:schemeClr val="bg2"/>
          </a:solidFill>
          <a:ln/>
        </p:spPr>
      </p:sp>
      <p:sp>
        <p:nvSpPr>
          <p:cNvPr id="7" name="Symbolkreis"/>
          <p:cNvSpPr/>
          <p:nvPr/>
        </p:nvSpPr>
        <p:spPr>
          <a:xfrm>
            <a:off x="822960" y="1508760"/>
            <a:ext cx="548640" cy="548640"/>
          </a:xfrm>
          <a:prstGeom prst="ellipse">
            <a:avLst/>
          </a:prstGeom>
          <a:solidFill>
            <a:schemeClr val="accent3"/>
          </a:solidFill>
          <a:ln/>
        </p:spPr>
      </p:sp>
      <p:pic>
        <p:nvPicPr>
          <p:cNvPr id="8"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9" name="Text 5"/>
          <p:cNvSpPr txBox="1"/>
          <p:nvPr/>
        </p:nvSpPr>
        <p:spPr>
          <a:xfrm>
            <a:off x="1508760" y="1508760"/>
            <a:ext cx="301752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Zwei Workflows</a:t>
            </a:r>
            <a:endParaRPr lang="en-US" sz="1800" dirty="0"/>
          </a:p>
        </p:txBody>
      </p:sp>
      <p:sp>
        <p:nvSpPr>
          <p:cNvPr id="10" name="Text 6"/>
          <p:cNvSpPr txBox="1"/>
          <p:nvPr/>
        </p:nvSpPr>
        <p:spPr>
          <a:xfrm>
            <a:off x="822960" y="2240280"/>
            <a:ext cx="3657600" cy="3474720"/>
          </a:xfrm>
          <a:prstGeom prst="rect">
            <a:avLst/>
          </a:prstGeom>
          <a:noFill/>
          <a:ln/>
        </p:spPr>
        <p:txBody>
          <a:bodyPr wrap="square" lIns="0" tIns="0" rIns="0" bIns="0" rtlCol="0" anchor="t"/>
          <a:lstStyle/>
          <a:p>
            <a:pPr indent="0" marL="0">
              <a:buNone/>
            </a:pPr>
            <a:r>
              <a:rPr lang="en-US" sz="1400" b="1" dirty="0">
                <a:solidFill>
                  <a:schemeClr val="tx2"/>
                </a:solidFill>
              </a:rPr>
              <a:t>Merge-Workflow (Hauptstand)</a:t>
            </a:r>
            <a:endParaRPr lang="en-US" sz="1400" dirty="0"/>
          </a:p>
          <a:p>
            <a:pPr indent="0" marL="0">
              <a:buNone/>
            </a:pPr>
            <a:r>
              <a:rPr lang="en-US" sz="1400" dirty="0">
                <a:solidFill>
                  <a:schemeClr val="tx1"/>
                </a:solidFill>
              </a:rPr>
              <a:t>Formular und Chat, Patientendaten ersetzen, vier Prüfer, Fakten aus dem Code</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Vier Prüfer v4 (Fallback)</a:t>
            </a:r>
            <a:endParaRPr lang="en-US" sz="1400" dirty="0"/>
          </a:p>
          <a:p>
            <a:pPr indent="0" marL="0">
              <a:buNone/>
            </a:pPr>
            <a:r>
              <a:rPr lang="en-US" sz="1400" dirty="0">
                <a:solidFill>
                  <a:schemeClr val="tx1"/>
                </a:solidFill>
              </a:rPr>
              <a:t>unverändert, lauffähig</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3"/>
                </a:solidFill>
              </a:rPr>
              <a:t>Noch nicht öffentlich: </a:t>
            </a:r>
            <a:pPr indent="0" marL="0">
              <a:buNone/>
            </a:pPr>
            <a:r>
              <a:rPr lang="en-US" sz="1400" dirty="0">
                <a:solidFill>
                  <a:schemeClr val="tx1"/>
                </a:solidFill>
              </a:rPr>
              <a:t>erst mit aktiver Anmeldung</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937760" y="1325880"/>
          <a:ext cx="6702552" cy="914400"/>
        </p:xfrm>
        <a:graphic>
          <a:graphicData uri="http://schemas.openxmlformats.org/drawingml/2006/table">
            <a:tbl>
              <a:tblPr/>
              <a:tblGrid>
                <a:gridCol w="868680"/>
                <a:gridCol w="2651760"/>
                <a:gridCol w="31821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9144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20.10.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Merge gebaut; Testfall 3 als Freitext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rot korrekt, aber Fehlalarm Mengen-Prüfer → Prompt geschärft → behoben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20.10.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Frequenz 4×/Woche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kein Hinweis mehr (HeilM-RL § 12 Abs. 1: Abweichung zulässig)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23.10.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Diagnose-Prüfer geschärft, Leitsymptomatik und Summe in den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20 Läufe: 13 einwandfrei; Fehlalarme behoben, 1 Abbruch (Schema)</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9144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23.10.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Hinweis besonderer Verordnungsbedarf</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noch unzuverlässig (4 von 4 Läufen verpasst) → KBV-Liste in den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Synthetische Testfälle · Details: docs/aenderungsprotokoll.md · Laufzeit 20–34 s je Prüfung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Erfolgsmessung: ≥ 98 % auf mindestens 50 neuen Fällen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Zielwert"/>
          <p:cNvSpPr/>
          <p:nvPr/>
        </p:nvSpPr>
        <p:spPr>
          <a:xfrm>
            <a:off x="548640" y="1325880"/>
            <a:ext cx="3566160" cy="4526280"/>
          </a:xfrm>
          <a:prstGeom prst="roundRect">
            <a:avLst>
              <a:gd name="adj" fmla="val 2051"/>
            </a:avLst>
          </a:prstGeom>
          <a:solidFill>
            <a:schemeClr val="tx2"/>
          </a:solidFill>
          <a:ln/>
        </p:spPr>
      </p:sp>
      <p:sp>
        <p:nvSpPr>
          <p:cNvPr id="9" name="Symbolkreis"/>
          <p:cNvSpPr/>
          <p:nvPr/>
        </p:nvSpPr>
        <p:spPr>
          <a:xfrm>
            <a:off x="822960" y="1508760"/>
            <a:ext cx="548640" cy="548640"/>
          </a:xfrm>
          <a:prstGeom prst="ellipse">
            <a:avLst/>
          </a:prstGeom>
          <a:solidFill>
            <a:schemeClr val="accent3"/>
          </a:solidFill>
          <a:ln/>
        </p:spPr>
      </p:sp>
      <p:pic>
        <p:nvPicPr>
          <p:cNvPr id="10"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11" name="Text 7"/>
          <p:cNvSpPr txBox="1"/>
          <p:nvPr/>
        </p:nvSpPr>
        <p:spPr>
          <a:xfrm>
            <a:off x="1508760" y="1508760"/>
            <a:ext cx="2377440" cy="5486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Zielwert</a:t>
            </a:r>
            <a:endParaRPr lang="en-US" sz="1800" dirty="0"/>
          </a:p>
        </p:txBody>
      </p:sp>
      <p:sp>
        <p:nvSpPr>
          <p:cNvPr id="12" name="Text 8"/>
          <p:cNvSpPr txBox="1"/>
          <p:nvPr/>
        </p:nvSpPr>
        <p:spPr>
          <a:xfrm>
            <a:off x="822960" y="2286000"/>
            <a:ext cx="3017520" cy="100584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 98 %</a:t>
            </a:r>
            <a:endParaRPr lang="en-US" sz="6000" dirty="0"/>
          </a:p>
        </p:txBody>
      </p:sp>
      <p:sp>
        <p:nvSpPr>
          <p:cNvPr id="13" name="Text 9"/>
          <p:cNvSpPr txBox="1"/>
          <p:nvPr/>
        </p:nvSpPr>
        <p:spPr>
          <a:xfrm>
            <a:off x="822960" y="3383280"/>
            <a:ext cx="3017520" cy="914400"/>
          </a:xfrm>
          <a:prstGeom prst="rect">
            <a:avLst/>
          </a:prstGeom>
          <a:noFill/>
          <a:ln/>
        </p:spPr>
        <p:txBody>
          <a:bodyPr wrap="square" lIns="0" tIns="0" rIns="0" bIns="0" rtlCol="0" anchor="t"/>
          <a:lstStyle/>
          <a:p>
            <a:pPr indent="0" marL="0">
              <a:buNone/>
            </a:pPr>
            <a:r>
              <a:rPr lang="en-US" sz="1400" dirty="0">
                <a:solidFill>
                  <a:schemeClr val="bg1"/>
                </a:solidFill>
              </a:rPr>
              <a:t>richtige Ampel, höchstens 1 Fehler bei 50 Fällen, jeder Fall 3 Läufe</a:t>
            </a:r>
            <a:endParaRPr lang="en-US" sz="1400" dirty="0"/>
          </a:p>
        </p:txBody>
      </p:sp>
      <p:sp>
        <p:nvSpPr>
          <p:cNvPr id="14" name="Text 10"/>
          <p:cNvSpPr txBox="1"/>
          <p:nvPr/>
        </p:nvSpPr>
        <p:spPr>
          <a:xfrm>
            <a:off x="822960" y="5029200"/>
            <a:ext cx="3017520" cy="640080"/>
          </a:xfrm>
          <a:prstGeom prst="rect">
            <a:avLst/>
          </a:prstGeom>
          <a:noFill/>
          <a:ln/>
        </p:spPr>
        <p:txBody>
          <a:bodyPr wrap="square" lIns="0" tIns="0" rIns="0" bIns="0" rtlCol="0" anchor="t"/>
          <a:lstStyle/>
          <a:p>
            <a:pPr indent="0" marL="0">
              <a:buNone/>
            </a:pPr>
            <a:r>
              <a:rPr lang="en-US" sz="1200" dirty="0">
                <a:solidFill>
                  <a:schemeClr val="bg2"/>
                </a:solidFill>
              </a:rPr>
              <a:t>Bedingt bereit: 95–98 % · nicht bereit: &lt; 95 %</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297680" y="1325880"/>
          <a:ext cx="7342632" cy="914400"/>
        </p:xfrm>
        <a:graphic>
          <a:graphicData uri="http://schemas.openxmlformats.org/drawingml/2006/table">
            <a:tbl>
              <a:tblPr/>
              <a:tblGrid>
                <a:gridCol w="2926080"/>
                <a:gridCol w="1645920"/>
                <a:gridCol w="277063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Kriterium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Übersehene rote Verordnungen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 übersehener Fehler kostet Geld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Kritische Fehlalarme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1</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Sonst ignoriert die Rezeption die Ampel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Verordnungsfall-Summe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100 % exakt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Wird im Code gerechnet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Fundstelle je Befund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Nachvollziehbarkeit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Stabilität über 3 Läufe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95 %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Sprachmodelle schwanken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Laufzeit / 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30 s / ≤ 5 Cent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Alltagstauglich, wirtschaftlich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16" name="Text 11"/>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Zielwert 98 % nach Rückmeldung der Instruktorin am 19.10.2026 (vorher 90 % auf 12 Fällen) · Referenzstandard: ausschließlich die Regelwerke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Testbatterie: 100 synthetische Fälle, sauber getrennt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Set E"/>
          <p:cNvSpPr/>
          <p:nvPr/>
        </p:nvSpPr>
        <p:spPr>
          <a:xfrm>
            <a:off x="548640" y="1325880"/>
            <a:ext cx="2560320" cy="2377440"/>
          </a:xfrm>
          <a:prstGeom prst="roundRect">
            <a:avLst>
              <a:gd name="adj" fmla="val 3077"/>
            </a:avLst>
          </a:prstGeom>
          <a:solidFill>
            <a:schemeClr val="tx2"/>
          </a:solidFill>
          <a:ln/>
        </p:spPr>
      </p:sp>
      <p:sp>
        <p:nvSpPr>
          <p:cNvPr id="9" name="Text 6"/>
          <p:cNvSpPr txBox="1"/>
          <p:nvPr/>
        </p:nvSpPr>
        <p:spPr>
          <a:xfrm>
            <a:off x="777240" y="1463040"/>
            <a:ext cx="2194560" cy="365760"/>
          </a:xfrm>
          <a:prstGeom prst="rect">
            <a:avLst/>
          </a:prstGeom>
          <a:noFill/>
          <a:ln/>
        </p:spPr>
        <p:txBody>
          <a:bodyPr wrap="square" lIns="0" tIns="0" rIns="0" bIns="0" rtlCol="0" anchor="t"/>
          <a:lstStyle/>
          <a:p>
            <a:pPr indent="0" marL="0">
              <a:buNone/>
            </a:pPr>
            <a:r>
              <a:rPr lang="en-US" sz="1500" b="1" dirty="0">
                <a:solidFill>
                  <a:schemeClr val="bg1"/>
                </a:solidFill>
              </a:rPr>
              <a:t>Evaluation (Holdout)</a:t>
            </a:r>
            <a:endParaRPr lang="en-US" sz="1500" dirty="0"/>
          </a:p>
        </p:txBody>
      </p:sp>
      <p:sp>
        <p:nvSpPr>
          <p:cNvPr id="10" name="Text 7"/>
          <p:cNvSpPr txBox="1"/>
          <p:nvPr/>
        </p:nvSpPr>
        <p:spPr>
          <a:xfrm>
            <a:off x="777240" y="1874520"/>
            <a:ext cx="2194560" cy="86868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65</a:t>
            </a:r>
            <a:endParaRPr lang="en-US" sz="5400" dirty="0"/>
          </a:p>
        </p:txBody>
      </p:sp>
      <p:sp>
        <p:nvSpPr>
          <p:cNvPr id="11" name="Text 8"/>
          <p:cNvSpPr txBox="1"/>
          <p:nvPr/>
        </p:nvSpPr>
        <p:spPr>
          <a:xfrm>
            <a:off x="777240" y="2834640"/>
            <a:ext cx="2194560" cy="731520"/>
          </a:xfrm>
          <a:prstGeom prst="rect">
            <a:avLst/>
          </a:prstGeom>
          <a:noFill/>
          <a:ln/>
        </p:spPr>
        <p:txBody>
          <a:bodyPr wrap="square" lIns="0" tIns="0" rIns="0" bIns="0" rtlCol="0" anchor="t"/>
          <a:lstStyle/>
          <a:p>
            <a:pPr indent="0" marL="0">
              <a:buNone/>
            </a:pPr>
            <a:r>
              <a:rPr lang="en-US" sz="1300" dirty="0">
                <a:solidFill>
                  <a:schemeClr val="bg1"/>
                </a:solidFill>
              </a:rPr>
              <a:t>nie zum Nachbessern verwendet</a:t>
            </a:r>
            <a:endParaRPr lang="en-US" sz="1300" dirty="0"/>
          </a:p>
        </p:txBody>
      </p:sp>
      <p:sp>
        <p:nvSpPr>
          <p:cNvPr id="12" name="Set D"/>
          <p:cNvSpPr/>
          <p:nvPr/>
        </p:nvSpPr>
        <p:spPr>
          <a:xfrm>
            <a:off x="3291840" y="1325880"/>
            <a:ext cx="2560320" cy="2377440"/>
          </a:xfrm>
          <a:prstGeom prst="roundRect">
            <a:avLst>
              <a:gd name="adj" fmla="val 3077"/>
            </a:avLst>
          </a:prstGeom>
          <a:solidFill>
            <a:schemeClr val="bg2"/>
          </a:solidFill>
          <a:ln/>
        </p:spPr>
      </p:sp>
      <p:sp>
        <p:nvSpPr>
          <p:cNvPr id="13" name="Text 10"/>
          <p:cNvSpPr txBox="1"/>
          <p:nvPr/>
        </p:nvSpPr>
        <p:spPr>
          <a:xfrm>
            <a:off x="3520440" y="1463040"/>
            <a:ext cx="2194560" cy="365760"/>
          </a:xfrm>
          <a:prstGeom prst="rect">
            <a:avLst/>
          </a:prstGeom>
          <a:noFill/>
          <a:ln/>
        </p:spPr>
        <p:txBody>
          <a:bodyPr wrap="square" lIns="0" tIns="0" rIns="0" bIns="0" rtlCol="0" anchor="t"/>
          <a:lstStyle/>
          <a:p>
            <a:pPr indent="0" marL="0">
              <a:buNone/>
            </a:pPr>
            <a:r>
              <a:rPr lang="en-US" sz="1500" b="1" dirty="0">
                <a:solidFill>
                  <a:schemeClr val="tx2"/>
                </a:solidFill>
              </a:rPr>
              <a:t>Entwicklung</a:t>
            </a:r>
            <a:endParaRPr lang="en-US" sz="1500" dirty="0"/>
          </a:p>
        </p:txBody>
      </p:sp>
      <p:sp>
        <p:nvSpPr>
          <p:cNvPr id="14" name="Text 11"/>
          <p:cNvSpPr txBox="1"/>
          <p:nvPr/>
        </p:nvSpPr>
        <p:spPr>
          <a:xfrm>
            <a:off x="3520440" y="1874520"/>
            <a:ext cx="2194560" cy="86868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35</a:t>
            </a:r>
            <a:endParaRPr lang="en-US" sz="5400" dirty="0"/>
          </a:p>
        </p:txBody>
      </p:sp>
      <p:sp>
        <p:nvSpPr>
          <p:cNvPr id="15" name="Text 12"/>
          <p:cNvSpPr txBox="1"/>
          <p:nvPr/>
        </p:nvSpPr>
        <p:spPr>
          <a:xfrm>
            <a:off x="3520440" y="2834640"/>
            <a:ext cx="2194560" cy="731520"/>
          </a:xfrm>
          <a:prstGeom prst="rect">
            <a:avLst/>
          </a:prstGeom>
          <a:noFill/>
          <a:ln/>
        </p:spPr>
        <p:txBody>
          <a:bodyPr wrap="square" lIns="0" tIns="0" rIns="0" bIns="0" rtlCol="0" anchor="t"/>
          <a:lstStyle/>
          <a:p>
            <a:pPr indent="0" marL="0">
              <a:buNone/>
            </a:pPr>
            <a:r>
              <a:rPr lang="en-US" sz="1300" dirty="0">
                <a:solidFill>
                  <a:schemeClr val="tx2"/>
                </a:solidFill>
              </a:rPr>
              <a:t>darf zum Nachbessern genutzt werden</a:t>
            </a:r>
            <a:endParaRPr lang="en-US" sz="1300" dirty="0"/>
          </a:p>
        </p:txBody>
      </p:sp>
      <p:sp>
        <p:nvSpPr>
          <p:cNvPr id="16" name="Verteilung"/>
          <p:cNvSpPr/>
          <p:nvPr/>
        </p:nvSpPr>
        <p:spPr>
          <a:xfrm>
            <a:off x="6035040" y="1325880"/>
            <a:ext cx="5605272" cy="2377440"/>
          </a:xfrm>
          <a:prstGeom prst="roundRect">
            <a:avLst>
              <a:gd name="adj" fmla="val 3077"/>
            </a:avLst>
          </a:prstGeom>
          <a:solidFill>
            <a:schemeClr val="bg2"/>
          </a:solidFill>
          <a:ln/>
        </p:spPr>
      </p:sp>
      <p:sp>
        <p:nvSpPr>
          <p:cNvPr id="17" name="Text 14"/>
          <p:cNvSpPr txBox="1"/>
          <p:nvPr/>
        </p:nvSpPr>
        <p:spPr>
          <a:xfrm>
            <a:off x="6309360" y="1463040"/>
            <a:ext cx="5029200" cy="365760"/>
          </a:xfrm>
          <a:prstGeom prst="rect">
            <a:avLst/>
          </a:prstGeom>
          <a:noFill/>
          <a:ln/>
        </p:spPr>
        <p:txBody>
          <a:bodyPr wrap="square" lIns="0" tIns="0" rIns="0" bIns="0" rtlCol="0" anchor="t"/>
          <a:lstStyle/>
          <a:p>
            <a:pPr indent="0" marL="0">
              <a:buNone/>
            </a:pPr>
            <a:r>
              <a:rPr lang="en-US" sz="1500" b="1" dirty="0">
                <a:solidFill>
                  <a:schemeClr val="tx2"/>
                </a:solidFill>
              </a:rPr>
              <a:t>Evaluationsset (65 Fälle)</a:t>
            </a:r>
            <a:endParaRPr lang="en-US" sz="1500" dirty="0"/>
          </a:p>
        </p:txBody>
      </p:sp>
      <p:sp>
        <p:nvSpPr>
          <p:cNvPr id="18" name="Ampel"/>
          <p:cNvSpPr/>
          <p:nvPr/>
        </p:nvSpPr>
        <p:spPr>
          <a:xfrm>
            <a:off x="6309360" y="2057400"/>
            <a:ext cx="310896" cy="310896"/>
          </a:xfrm>
          <a:prstGeom prst="ellipse">
            <a:avLst/>
          </a:prstGeom>
          <a:solidFill>
            <a:srgbClr val="2A9D8F"/>
          </a:solidFill>
          <a:ln/>
        </p:spPr>
      </p:sp>
      <p:sp>
        <p:nvSpPr>
          <p:cNvPr id="19" name="Text 16"/>
          <p:cNvSpPr txBox="1"/>
          <p:nvPr/>
        </p:nvSpPr>
        <p:spPr>
          <a:xfrm>
            <a:off x="672084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20</a:t>
            </a:r>
            <a:endParaRPr lang="en-US" sz="2600" dirty="0"/>
          </a:p>
        </p:txBody>
      </p:sp>
      <p:sp>
        <p:nvSpPr>
          <p:cNvPr id="20" name="Text 17"/>
          <p:cNvSpPr txBox="1"/>
          <p:nvPr/>
        </p:nvSpPr>
        <p:spPr>
          <a:xfrm>
            <a:off x="630936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grün</a:t>
            </a:r>
            <a:endParaRPr lang="en-US" sz="1200" dirty="0"/>
          </a:p>
          <a:p>
            <a:pPr indent="0" marL="0">
              <a:buNone/>
            </a:pPr>
            <a:r>
              <a:rPr lang="en-US" sz="1200" dirty="0">
                <a:solidFill>
                  <a:schemeClr val="accent5"/>
                </a:solidFill>
              </a:rPr>
              <a:t>Vorgabe ≥ 12</a:t>
            </a:r>
            <a:endParaRPr lang="en-US" sz="1200" dirty="0"/>
          </a:p>
        </p:txBody>
      </p:sp>
      <p:sp>
        <p:nvSpPr>
          <p:cNvPr id="21" name="Ampel"/>
          <p:cNvSpPr/>
          <p:nvPr/>
        </p:nvSpPr>
        <p:spPr>
          <a:xfrm>
            <a:off x="7635240" y="2057400"/>
            <a:ext cx="310896" cy="310896"/>
          </a:xfrm>
          <a:prstGeom prst="ellipse">
            <a:avLst/>
          </a:prstGeom>
          <a:solidFill>
            <a:srgbClr val="E9C46A"/>
          </a:solidFill>
          <a:ln/>
        </p:spPr>
      </p:sp>
      <p:sp>
        <p:nvSpPr>
          <p:cNvPr id="22" name="Text 19"/>
          <p:cNvSpPr txBox="1"/>
          <p:nvPr/>
        </p:nvSpPr>
        <p:spPr>
          <a:xfrm>
            <a:off x="804672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10</a:t>
            </a:r>
            <a:endParaRPr lang="en-US" sz="2600" dirty="0"/>
          </a:p>
        </p:txBody>
      </p:sp>
      <p:sp>
        <p:nvSpPr>
          <p:cNvPr id="23" name="Text 20"/>
          <p:cNvSpPr txBox="1"/>
          <p:nvPr/>
        </p:nvSpPr>
        <p:spPr>
          <a:xfrm>
            <a:off x="763524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gelb</a:t>
            </a:r>
            <a:endParaRPr lang="en-US" sz="1200" dirty="0"/>
          </a:p>
          <a:p>
            <a:pPr indent="0" marL="0">
              <a:buNone/>
            </a:pPr>
            <a:r>
              <a:rPr lang="en-US" sz="1200" dirty="0">
                <a:solidFill>
                  <a:schemeClr val="accent5"/>
                </a:solidFill>
              </a:rPr>
              <a:t>Vorgabe ≥ 8</a:t>
            </a:r>
            <a:endParaRPr lang="en-US" sz="1200" dirty="0"/>
          </a:p>
        </p:txBody>
      </p:sp>
      <p:sp>
        <p:nvSpPr>
          <p:cNvPr id="24" name="Ampel"/>
          <p:cNvSpPr/>
          <p:nvPr/>
        </p:nvSpPr>
        <p:spPr>
          <a:xfrm>
            <a:off x="8961120" y="2057400"/>
            <a:ext cx="310896" cy="310896"/>
          </a:xfrm>
          <a:prstGeom prst="ellipse">
            <a:avLst/>
          </a:prstGeom>
          <a:solidFill>
            <a:srgbClr val="E76F51"/>
          </a:solidFill>
          <a:ln/>
        </p:spPr>
      </p:sp>
      <p:sp>
        <p:nvSpPr>
          <p:cNvPr id="25" name="Text 22"/>
          <p:cNvSpPr txBox="1"/>
          <p:nvPr/>
        </p:nvSpPr>
        <p:spPr>
          <a:xfrm>
            <a:off x="937260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35</a:t>
            </a:r>
            <a:endParaRPr lang="en-US" sz="2600" dirty="0"/>
          </a:p>
        </p:txBody>
      </p:sp>
      <p:sp>
        <p:nvSpPr>
          <p:cNvPr id="26" name="Text 23"/>
          <p:cNvSpPr txBox="1"/>
          <p:nvPr/>
        </p:nvSpPr>
        <p:spPr>
          <a:xfrm>
            <a:off x="896112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rot</a:t>
            </a:r>
            <a:endParaRPr lang="en-US" sz="1200" dirty="0"/>
          </a:p>
          <a:p>
            <a:pPr indent="0" marL="0">
              <a:buNone/>
            </a:pPr>
            <a:r>
              <a:rPr lang="en-US" sz="1200" dirty="0">
                <a:solidFill>
                  <a:schemeClr val="accent5"/>
                </a:solidFill>
              </a:rPr>
              <a:t>Vorgabe ≥ 25</a:t>
            </a:r>
            <a:endParaRPr lang="en-US" sz="1200" dirty="0"/>
          </a:p>
        </p:txBody>
      </p:sp>
      <p:sp>
        <p:nvSpPr>
          <p:cNvPr id="27" name="Ampel"/>
          <p:cNvSpPr/>
          <p:nvPr/>
        </p:nvSpPr>
        <p:spPr>
          <a:xfrm>
            <a:off x="10287000" y="2057400"/>
            <a:ext cx="310896" cy="310896"/>
          </a:xfrm>
          <a:prstGeom prst="ellipse">
            <a:avLst/>
          </a:prstGeom>
          <a:solidFill>
            <a:srgbClr val="5C6B73"/>
          </a:solidFill>
          <a:ln/>
        </p:spPr>
      </p:sp>
      <p:sp>
        <p:nvSpPr>
          <p:cNvPr id="28" name="Text 25"/>
          <p:cNvSpPr txBox="1"/>
          <p:nvPr/>
        </p:nvSpPr>
        <p:spPr>
          <a:xfrm>
            <a:off x="1069848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8</a:t>
            </a:r>
            <a:endParaRPr lang="en-US" sz="2600" dirty="0"/>
          </a:p>
        </p:txBody>
      </p:sp>
      <p:sp>
        <p:nvSpPr>
          <p:cNvPr id="29" name="Text 26"/>
          <p:cNvSpPr txBox="1"/>
          <p:nvPr/>
        </p:nvSpPr>
        <p:spPr>
          <a:xfrm>
            <a:off x="1028700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Grenzfall</a:t>
            </a:r>
            <a:endParaRPr lang="en-US" sz="1200" dirty="0"/>
          </a:p>
          <a:p>
            <a:pPr indent="0" marL="0">
              <a:buNone/>
            </a:pPr>
            <a:r>
              <a:rPr lang="en-US" sz="1200" dirty="0">
                <a:solidFill>
                  <a:schemeClr val="accent5"/>
                </a:solidFill>
              </a:rPr>
              <a:t>Vorgabe ≥ 5</a:t>
            </a:r>
            <a:endParaRPr lang="en-US" sz="1200" dirty="0"/>
          </a:p>
        </p:txBody>
      </p:sp>
      <p:sp>
        <p:nvSpPr>
          <p:cNvPr id="30" name="Text 27"/>
          <p:cNvSpPr txBox="1"/>
          <p:nvPr/>
        </p:nvSpPr>
        <p:spPr>
          <a:xfrm>
            <a:off x="6309360" y="3246120"/>
            <a:ext cx="5120640" cy="365760"/>
          </a:xfrm>
          <a:prstGeom prst="rect">
            <a:avLst/>
          </a:prstGeom>
          <a:noFill/>
          <a:ln/>
        </p:spPr>
        <p:txBody>
          <a:bodyPr wrap="square" lIns="0" tIns="0" rIns="0" bIns="0" rtlCol="0" anchor="t"/>
          <a:lstStyle/>
          <a:p>
            <a:pPr indent="0" marL="0">
              <a:buNone/>
            </a:pPr>
            <a:r>
              <a:rPr lang="en-US" sz="1200" dirty="0">
                <a:solidFill>
                  <a:schemeClr val="tx1"/>
                </a:solidFill>
              </a:rPr>
              <a:t>Rote Fälle je Prüfer ≥ 5: Formal 10, Diagnose 10, Mengen 9, Fristen 10</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91672" cy="914400"/>
        </p:xfrm>
        <a:graphic>
          <a:graphicData uri="http://schemas.openxmlformats.org/drawingml/2006/table">
            <a:tbl>
              <a:tblPr/>
              <a:tblGrid>
                <a:gridCol w="6400800"/>
                <a:gridCol w="469087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Soll-Werte aus den Regelwerken abgeleitet, Vier-Augen-Prüfung im Team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Referenzstandard sind nur die Regelwerke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Keine ICD-Codes aus Testfällen in Prompts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Kein Lernen auf den 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Festes Prüfdatum 26.10.2026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Fristen bei jedem Lauf gleich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65 × 3 = 195 Prüfungen, ca. 1,5 h und 6–8 €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Stabilität statt Einzelergebnis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32" name="Text 28"/>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Bisher (v4, 10 Fälle): 10/10 Ampeln korrekt, kritische Fehlalarme 12 → 0 – zählt nicht als formale Evaluation · tests/testbatterie.md</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Einsatzplanung: vom Parallelbetrieb zum Regelbetrieb</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Phase"/>
          <p:cNvSpPr/>
          <p:nvPr/>
        </p:nvSpPr>
        <p:spPr>
          <a:xfrm>
            <a:off x="548640" y="1325880"/>
            <a:ext cx="2651760" cy="3657600"/>
          </a:xfrm>
          <a:prstGeom prst="roundRect">
            <a:avLst>
              <a:gd name="adj" fmla="val 2759"/>
            </a:avLst>
          </a:prstGeom>
          <a:solidFill>
            <a:schemeClr val="bg2"/>
          </a:solidFill>
          <a:ln/>
        </p:spPr>
      </p:sp>
      <p:sp>
        <p:nvSpPr>
          <p:cNvPr id="9" name="Text 6"/>
          <p:cNvSpPr txBox="1"/>
          <p:nvPr/>
        </p:nvSpPr>
        <p:spPr>
          <a:xfrm>
            <a:off x="777240"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0 · Vorbereitung</a:t>
            </a:r>
            <a:endParaRPr lang="en-US" sz="1700" dirty="0"/>
          </a:p>
        </p:txBody>
      </p:sp>
      <p:sp>
        <p:nvSpPr>
          <p:cNvPr id="10" name="Dauer"/>
          <p:cNvSpPr/>
          <p:nvPr/>
        </p:nvSpPr>
        <p:spPr>
          <a:xfrm>
            <a:off x="777240" y="1938528"/>
            <a:ext cx="1234440" cy="310896"/>
          </a:xfrm>
          <a:prstGeom prst="roundRect">
            <a:avLst>
              <a:gd name="adj" fmla="val 50000"/>
            </a:avLst>
          </a:prstGeom>
          <a:solidFill>
            <a:schemeClr val="accent3"/>
          </a:solidFill>
          <a:ln/>
        </p:spPr>
      </p:sp>
      <p:sp>
        <p:nvSpPr>
          <p:cNvPr id="11" name="Text 8"/>
          <p:cNvSpPr txBox="1"/>
          <p:nvPr/>
        </p:nvSpPr>
        <p:spPr>
          <a:xfrm>
            <a:off x="777240"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2 Wochen</a:t>
            </a:r>
            <a:endParaRPr lang="en-US" sz="1200" dirty="0"/>
          </a:p>
        </p:txBody>
      </p:sp>
      <p:sp>
        <p:nvSpPr>
          <p:cNvPr id="12" name="Text 9"/>
          <p:cNvSpPr txBox="1"/>
          <p:nvPr/>
        </p:nvSpPr>
        <p:spPr>
          <a:xfrm>
            <a:off x="777240"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Anmeldung aktiv</a:t>
            </a:r>
            <a:endParaRPr lang="en-US" sz="1400" dirty="0"/>
          </a:p>
          <a:p>
            <a:pPr marL="177800" indent="-177800">
              <a:spcAft>
                <a:spcPts val="500"/>
              </a:spcAft>
              <a:buSzPct val="100000"/>
              <a:buChar char="•"/>
            </a:pPr>
            <a:r>
              <a:rPr lang="en-US" sz="1400" dirty="0">
                <a:solidFill>
                  <a:schemeClr val="tx1"/>
                </a:solidFill>
              </a:rPr>
              <a:t>Auftragsverarbeitung, Verschwiegenheit</a:t>
            </a:r>
            <a:endParaRPr lang="en-US" sz="1400" dirty="0"/>
          </a:p>
          <a:p>
            <a:pPr marL="177800" indent="-177800">
              <a:spcAft>
                <a:spcPts val="500"/>
              </a:spcAft>
              <a:buSzPct val="100000"/>
              <a:buChar char="•"/>
            </a:pPr>
            <a:r>
              <a:rPr lang="en-US" sz="1400" dirty="0">
                <a:solidFill>
                  <a:schemeClr val="tx1"/>
                </a:solidFill>
              </a:rPr>
              <a:t>Einweisung (KI-Kompetenz, Art. 4)</a:t>
            </a:r>
            <a:endParaRPr lang="en-US" sz="1400" dirty="0"/>
          </a:p>
        </p:txBody>
      </p:sp>
      <p:sp>
        <p:nvSpPr>
          <p:cNvPr id="13" name="Text 10"/>
          <p:cNvSpPr txBox="1"/>
          <p:nvPr/>
        </p:nvSpPr>
        <p:spPr>
          <a:xfrm>
            <a:off x="777240"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14" name="Text 11"/>
          <p:cNvSpPr txBox="1"/>
          <p:nvPr/>
        </p:nvSpPr>
        <p:spPr>
          <a:xfrm>
            <a:off x="777240"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Datenschutz freigegeben</a:t>
            </a:r>
            <a:endParaRPr lang="en-US" sz="1300" dirty="0"/>
          </a:p>
        </p:txBody>
      </p:sp>
      <p:sp>
        <p:nvSpPr>
          <p:cNvPr id="15" name="Phase"/>
          <p:cNvSpPr/>
          <p:nvPr/>
        </p:nvSpPr>
        <p:spPr>
          <a:xfrm>
            <a:off x="3355848" y="1325880"/>
            <a:ext cx="2651760" cy="3657600"/>
          </a:xfrm>
          <a:prstGeom prst="roundRect">
            <a:avLst>
              <a:gd name="adj" fmla="val 2759"/>
            </a:avLst>
          </a:prstGeom>
          <a:solidFill>
            <a:schemeClr val="tx2"/>
          </a:solidFill>
          <a:ln/>
        </p:spPr>
      </p:sp>
      <p:sp>
        <p:nvSpPr>
          <p:cNvPr id="16" name="Text 13"/>
          <p:cNvSpPr txBox="1"/>
          <p:nvPr/>
        </p:nvSpPr>
        <p:spPr>
          <a:xfrm>
            <a:off x="3584448" y="1463040"/>
            <a:ext cx="2194560" cy="41148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1 · Parallelbetrieb</a:t>
            </a:r>
            <a:endParaRPr lang="en-US" sz="1700" dirty="0"/>
          </a:p>
        </p:txBody>
      </p:sp>
      <p:sp>
        <p:nvSpPr>
          <p:cNvPr id="17" name="Dauer"/>
          <p:cNvSpPr/>
          <p:nvPr/>
        </p:nvSpPr>
        <p:spPr>
          <a:xfrm>
            <a:off x="3584448" y="1938528"/>
            <a:ext cx="1234440" cy="310896"/>
          </a:xfrm>
          <a:prstGeom prst="roundRect">
            <a:avLst>
              <a:gd name="adj" fmla="val 50000"/>
            </a:avLst>
          </a:prstGeom>
          <a:solidFill>
            <a:schemeClr val="accent3"/>
          </a:solidFill>
          <a:ln/>
        </p:spPr>
      </p:sp>
      <p:sp>
        <p:nvSpPr>
          <p:cNvPr id="18" name="Text 15"/>
          <p:cNvSpPr txBox="1"/>
          <p:nvPr/>
        </p:nvSpPr>
        <p:spPr>
          <a:xfrm>
            <a:off x="3584448"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6 Wochen</a:t>
            </a:r>
            <a:endParaRPr lang="en-US" sz="1200" dirty="0"/>
          </a:p>
        </p:txBody>
      </p:sp>
      <p:sp>
        <p:nvSpPr>
          <p:cNvPr id="19" name="Text 16"/>
          <p:cNvSpPr txBox="1"/>
          <p:nvPr/>
        </p:nvSpPr>
        <p:spPr>
          <a:xfrm>
            <a:off x="3584448"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Rezeption prüft wie bisher</a:t>
            </a:r>
            <a:endParaRPr lang="en-US" sz="1400" dirty="0"/>
          </a:p>
          <a:p>
            <a:pPr marL="177800" indent="-177800">
              <a:spcAft>
                <a:spcPts val="500"/>
              </a:spcAft>
              <a:buSzPct val="100000"/>
              <a:buChar char="•"/>
            </a:pPr>
            <a:r>
              <a:rPr lang="en-US" sz="1400" dirty="0">
                <a:solidFill>
                  <a:schemeClr val="bg1"/>
                </a:solidFill>
              </a:rPr>
              <a:t>System läuft mit</a:t>
            </a:r>
            <a:endParaRPr lang="en-US" sz="1400" dirty="0"/>
          </a:p>
          <a:p>
            <a:pPr marL="177800" indent="-177800">
              <a:spcAft>
                <a:spcPts val="500"/>
              </a:spcAft>
              <a:buSzPct val="100000"/>
              <a:buChar char="•"/>
            </a:pPr>
            <a:r>
              <a:rPr lang="en-US" sz="1400" dirty="0">
                <a:solidFill>
                  <a:schemeClr val="bg1"/>
                </a:solidFill>
              </a:rPr>
              <a:t>Abweichungen werden protokolliert</a:t>
            </a:r>
            <a:endParaRPr lang="en-US" sz="1400" dirty="0"/>
          </a:p>
        </p:txBody>
      </p:sp>
      <p:sp>
        <p:nvSpPr>
          <p:cNvPr id="20" name="Text 17"/>
          <p:cNvSpPr txBox="1"/>
          <p:nvPr/>
        </p:nvSpPr>
        <p:spPr>
          <a:xfrm>
            <a:off x="3584448" y="4069080"/>
            <a:ext cx="2194560" cy="274320"/>
          </a:xfrm>
          <a:prstGeom prst="rect">
            <a:avLst/>
          </a:prstGeom>
          <a:noFill/>
          <a:ln/>
        </p:spPr>
        <p:txBody>
          <a:bodyPr wrap="square" lIns="0" tIns="0" rIns="0" bIns="0" rtlCol="0" anchor="t"/>
          <a:lstStyle/>
          <a:p>
            <a:pPr indent="0" marL="0">
              <a:buNone/>
            </a:pPr>
            <a:r>
              <a:rPr lang="en-US" sz="1100" dirty="0">
                <a:solidFill>
                  <a:schemeClr val="bg2"/>
                </a:solidFill>
              </a:rPr>
              <a:t>Weiter, wenn:</a:t>
            </a:r>
            <a:endParaRPr lang="en-US" sz="1100" dirty="0"/>
          </a:p>
        </p:txBody>
      </p:sp>
      <p:sp>
        <p:nvSpPr>
          <p:cNvPr id="21" name="Text 18"/>
          <p:cNvSpPr txBox="1"/>
          <p:nvPr/>
        </p:nvSpPr>
        <p:spPr>
          <a:xfrm>
            <a:off x="3584448" y="4315968"/>
            <a:ext cx="2194560" cy="594360"/>
          </a:xfrm>
          <a:prstGeom prst="rect">
            <a:avLst/>
          </a:prstGeom>
          <a:noFill/>
          <a:ln/>
        </p:spPr>
        <p:txBody>
          <a:bodyPr wrap="square" lIns="0" tIns="0" rIns="0" bIns="0" rtlCol="0" anchor="t"/>
          <a:lstStyle/>
          <a:p>
            <a:pPr indent="0" marL="0">
              <a:buNone/>
            </a:pPr>
            <a:r>
              <a:rPr lang="en-US" sz="1300" b="1" dirty="0">
                <a:solidFill>
                  <a:schemeClr val="accent2"/>
                </a:solidFill>
              </a:rPr>
              <a:t>≥ 98 % Übereinstimmung, 0 übersehene rote</a:t>
            </a:r>
            <a:endParaRPr lang="en-US" sz="1300" dirty="0"/>
          </a:p>
        </p:txBody>
      </p:sp>
      <p:sp>
        <p:nvSpPr>
          <p:cNvPr id="22" name="Phase"/>
          <p:cNvSpPr/>
          <p:nvPr/>
        </p:nvSpPr>
        <p:spPr>
          <a:xfrm>
            <a:off x="6163056" y="1325880"/>
            <a:ext cx="2651760" cy="3657600"/>
          </a:xfrm>
          <a:prstGeom prst="roundRect">
            <a:avLst>
              <a:gd name="adj" fmla="val 2759"/>
            </a:avLst>
          </a:prstGeom>
          <a:solidFill>
            <a:schemeClr val="bg2"/>
          </a:solidFill>
          <a:ln/>
        </p:spPr>
      </p:sp>
      <p:sp>
        <p:nvSpPr>
          <p:cNvPr id="23" name="Text 20"/>
          <p:cNvSpPr txBox="1"/>
          <p:nvPr/>
        </p:nvSpPr>
        <p:spPr>
          <a:xfrm>
            <a:off x="6391656"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2 · Unterstützt</a:t>
            </a:r>
            <a:endParaRPr lang="en-US" sz="1700" dirty="0"/>
          </a:p>
        </p:txBody>
      </p:sp>
      <p:sp>
        <p:nvSpPr>
          <p:cNvPr id="24" name="Dauer"/>
          <p:cNvSpPr/>
          <p:nvPr/>
        </p:nvSpPr>
        <p:spPr>
          <a:xfrm>
            <a:off x="6391656" y="1938528"/>
            <a:ext cx="1234440" cy="310896"/>
          </a:xfrm>
          <a:prstGeom prst="roundRect">
            <a:avLst>
              <a:gd name="adj" fmla="val 50000"/>
            </a:avLst>
          </a:prstGeom>
          <a:solidFill>
            <a:schemeClr val="accent3"/>
          </a:solidFill>
          <a:ln/>
        </p:spPr>
      </p:sp>
      <p:sp>
        <p:nvSpPr>
          <p:cNvPr id="25" name="Text 22"/>
          <p:cNvSpPr txBox="1"/>
          <p:nvPr/>
        </p:nvSpPr>
        <p:spPr>
          <a:xfrm>
            <a:off x="6391656"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bis Ende Q2</a:t>
            </a:r>
            <a:endParaRPr lang="en-US" sz="1200" dirty="0"/>
          </a:p>
        </p:txBody>
      </p:sp>
      <p:sp>
        <p:nvSpPr>
          <p:cNvPr id="26" name="Text 23"/>
          <p:cNvSpPr txBox="1"/>
          <p:nvPr/>
        </p:nvSpPr>
        <p:spPr>
          <a:xfrm>
            <a:off x="6391656"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System prüft zuerst</a:t>
            </a:r>
            <a:endParaRPr lang="en-US" sz="1400" dirty="0"/>
          </a:p>
          <a:p>
            <a:pPr marL="177800" indent="-177800">
              <a:spcAft>
                <a:spcPts val="500"/>
              </a:spcAft>
              <a:buSzPct val="100000"/>
              <a:buChar char="•"/>
            </a:pPr>
            <a:r>
              <a:rPr lang="en-US" sz="1400" dirty="0">
                <a:solidFill>
                  <a:schemeClr val="tx1"/>
                </a:solidFill>
              </a:rPr>
              <a:t>Mensch bestätigt die Ampel</a:t>
            </a:r>
            <a:endParaRPr lang="en-US" sz="1400" dirty="0"/>
          </a:p>
          <a:p>
            <a:pPr marL="177800" indent="-177800">
              <a:spcAft>
                <a:spcPts val="500"/>
              </a:spcAft>
              <a:buSzPct val="100000"/>
              <a:buChar char="•"/>
            </a:pPr>
            <a:r>
              <a:rPr lang="en-US" sz="1400" dirty="0">
                <a:solidFill>
                  <a:schemeClr val="tx1"/>
                </a:solidFill>
              </a:rPr>
              <a:t>Schlussprüfung bleibt</a:t>
            </a:r>
            <a:endParaRPr lang="en-US" sz="1400" dirty="0"/>
          </a:p>
        </p:txBody>
      </p:sp>
      <p:sp>
        <p:nvSpPr>
          <p:cNvPr id="27" name="Text 24"/>
          <p:cNvSpPr txBox="1"/>
          <p:nvPr/>
        </p:nvSpPr>
        <p:spPr>
          <a:xfrm>
            <a:off x="6391656"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28" name="Text 25"/>
          <p:cNvSpPr txBox="1"/>
          <p:nvPr/>
        </p:nvSpPr>
        <p:spPr>
          <a:xfrm>
            <a:off x="6391656"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−50 %</a:t>
            </a:r>
            <a:endParaRPr lang="en-US" sz="1300" dirty="0"/>
          </a:p>
        </p:txBody>
      </p:sp>
      <p:sp>
        <p:nvSpPr>
          <p:cNvPr id="29" name="Phase"/>
          <p:cNvSpPr/>
          <p:nvPr/>
        </p:nvSpPr>
        <p:spPr>
          <a:xfrm>
            <a:off x="8970264" y="1325880"/>
            <a:ext cx="2651760" cy="3657600"/>
          </a:xfrm>
          <a:prstGeom prst="roundRect">
            <a:avLst>
              <a:gd name="adj" fmla="val 2759"/>
            </a:avLst>
          </a:prstGeom>
          <a:solidFill>
            <a:schemeClr val="bg2"/>
          </a:solidFill>
          <a:ln/>
        </p:spPr>
      </p:sp>
      <p:sp>
        <p:nvSpPr>
          <p:cNvPr id="30" name="Text 27"/>
          <p:cNvSpPr txBox="1"/>
          <p:nvPr/>
        </p:nvSpPr>
        <p:spPr>
          <a:xfrm>
            <a:off x="9198864"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3 · Regelbetrieb</a:t>
            </a:r>
            <a:endParaRPr lang="en-US" sz="1700" dirty="0"/>
          </a:p>
        </p:txBody>
      </p:sp>
      <p:sp>
        <p:nvSpPr>
          <p:cNvPr id="31" name="Dauer"/>
          <p:cNvSpPr/>
          <p:nvPr/>
        </p:nvSpPr>
        <p:spPr>
          <a:xfrm>
            <a:off x="9198864" y="1938528"/>
            <a:ext cx="1234440" cy="310896"/>
          </a:xfrm>
          <a:prstGeom prst="roundRect">
            <a:avLst>
              <a:gd name="adj" fmla="val 50000"/>
            </a:avLst>
          </a:prstGeom>
          <a:solidFill>
            <a:schemeClr val="accent3"/>
          </a:solidFill>
          <a:ln/>
        </p:spPr>
      </p:sp>
      <p:sp>
        <p:nvSpPr>
          <p:cNvPr id="32" name="Text 29"/>
          <p:cNvSpPr txBox="1"/>
          <p:nvPr/>
        </p:nvSpPr>
        <p:spPr>
          <a:xfrm>
            <a:off x="9198864"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ab Q3</a:t>
            </a:r>
            <a:endParaRPr lang="en-US" sz="1200" dirty="0"/>
          </a:p>
        </p:txBody>
      </p:sp>
      <p:sp>
        <p:nvSpPr>
          <p:cNvPr id="33" name="Text 30"/>
          <p:cNvSpPr txBox="1"/>
          <p:nvPr/>
        </p:nvSpPr>
        <p:spPr>
          <a:xfrm>
            <a:off x="9198864"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Doppelabrechnungs-Prüfung</a:t>
            </a:r>
            <a:endParaRPr lang="en-US" sz="1400" dirty="0"/>
          </a:p>
          <a:p>
            <a:pPr marL="177800" indent="-177800">
              <a:spcAft>
                <a:spcPts val="500"/>
              </a:spcAft>
              <a:buSzPct val="100000"/>
              <a:buChar char="•"/>
            </a:pPr>
            <a:r>
              <a:rPr lang="en-US" sz="1400" dirty="0">
                <a:solidFill>
                  <a:schemeClr val="tx1"/>
                </a:solidFill>
              </a:rPr>
              <a:t>Foto-Upload der Verordnung</a:t>
            </a:r>
            <a:endParaRPr lang="en-US" sz="1400" dirty="0"/>
          </a:p>
          <a:p>
            <a:pPr marL="177800" indent="-177800">
              <a:spcAft>
                <a:spcPts val="500"/>
              </a:spcAft>
              <a:buSzPct val="100000"/>
              <a:buChar char="•"/>
            </a:pPr>
            <a:r>
              <a:rPr lang="en-US" sz="1400" dirty="0">
                <a:solidFill>
                  <a:schemeClr val="tx1"/>
                </a:solidFill>
              </a:rPr>
              <a:t>Monatlicher Qualitätsbericht</a:t>
            </a:r>
            <a:endParaRPr lang="en-US" sz="1400" dirty="0"/>
          </a:p>
        </p:txBody>
      </p:sp>
      <p:sp>
        <p:nvSpPr>
          <p:cNvPr id="34" name="Text 31"/>
          <p:cNvSpPr txBox="1"/>
          <p:nvPr/>
        </p:nvSpPr>
        <p:spPr>
          <a:xfrm>
            <a:off x="9198864"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35" name="Text 32"/>
          <p:cNvSpPr txBox="1"/>
          <p:nvPr/>
        </p:nvSpPr>
        <p:spPr>
          <a:xfrm>
            <a:off x="9198864"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−75 %</a:t>
            </a:r>
            <a:endParaRPr lang="en-US" sz="1300" dirty="0"/>
          </a:p>
        </p:txBody>
      </p:sp>
      <p:sp>
        <p:nvSpPr>
          <p:cNvPr id="36" name="Rahmen"/>
          <p:cNvSpPr/>
          <p:nvPr/>
        </p:nvSpPr>
        <p:spPr>
          <a:xfrm>
            <a:off x="548640" y="5166360"/>
            <a:ext cx="11091672" cy="731520"/>
          </a:xfrm>
          <a:prstGeom prst="roundRect">
            <a:avLst>
              <a:gd name="adj" fmla="val 10000"/>
            </a:avLst>
          </a:prstGeom>
          <a:solidFill>
            <a:schemeClr val="bg2"/>
          </a:solidFill>
          <a:ln/>
        </p:spPr>
      </p:sp>
      <p:sp>
        <p:nvSpPr>
          <p:cNvPr id="37" name="Symbolkreis"/>
          <p:cNvSpPr/>
          <p:nvPr/>
        </p:nvSpPr>
        <p:spPr>
          <a:xfrm>
            <a:off x="731520" y="5257800"/>
            <a:ext cx="548640" cy="548640"/>
          </a:xfrm>
          <a:prstGeom prst="ellipse">
            <a:avLst/>
          </a:prstGeom>
          <a:solidFill>
            <a:schemeClr val="accent3"/>
          </a:solidFill>
          <a:ln/>
        </p:spPr>
      </p:sp>
      <p:pic>
        <p:nvPicPr>
          <p:cNvPr id="38" name="Symbol" descr="preencoded.png">    </p:cNvPr>
          <p:cNvPicPr>
            <a:picLocks noChangeAspect="1"/>
          </p:cNvPicPr>
          <p:nvPr/>
        </p:nvPicPr>
        <p:blipFill>
          <a:blip r:embed="rId2"/>
          <a:stretch>
            <a:fillRect/>
          </a:stretch>
        </p:blipFill>
        <p:spPr>
          <a:xfrm>
            <a:off x="868680" y="5394960"/>
            <a:ext cx="274320" cy="274320"/>
          </a:xfrm>
          <a:prstGeom prst="rect">
            <a:avLst/>
          </a:prstGeom>
        </p:spPr>
      </p:pic>
      <p:sp>
        <p:nvSpPr>
          <p:cNvPr id="39" name="Text 35"/>
          <p:cNvSpPr txBox="1"/>
          <p:nvPr/>
        </p:nvSpPr>
        <p:spPr>
          <a:xfrm>
            <a:off x="1463040" y="5257800"/>
            <a:ext cx="9966960" cy="548640"/>
          </a:xfrm>
          <a:prstGeom prst="rect">
            <a:avLst/>
          </a:prstGeom>
          <a:noFill/>
          <a:ln/>
        </p:spPr>
        <p:txBody>
          <a:bodyPr wrap="square" lIns="0" tIns="0" rIns="0" bIns="0" rtlCol="0" anchor="ctr"/>
          <a:lstStyle/>
          <a:p>
            <a:pPr indent="0" marL="0">
              <a:buNone/>
            </a:pPr>
            <a:r>
              <a:rPr lang="en-US" sz="1400" dirty="0">
                <a:solidFill>
                  <a:schemeClr val="tx2"/>
                </a:solidFill>
              </a:rPr>
              <a:t>Verantwortlich in der Praxis: Inhaberin · Parallelbetrieb von der Praxis zugesagt (Field Study) · Rückfallebene: Prüfung wie heute, ohne System</a:t>
            </a:r>
            <a:endParaRPr lang="en-US" sz="1400" dirty="0"/>
          </a:p>
        </p:txBody>
      </p:sp>
      <p:sp>
        <p:nvSpPr>
          <p:cNvPr id="40" name="Text 3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Phasen entsprechen dem Einsparziel 50 % / 75 % · Dauer der Phasen noch mit der Praxis abzustimmen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Risiken und nächste Schritte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200400"/>
                <a:gridCol w="37490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Risiko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Gegenmaßnahme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 irrt, klingt aber plausibel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Regeln im Code, Fundstelle Pflicht, Mensch entscheidet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Tabellen aus PDF werden falsch gelesen (KBV-Liste)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KBV-Einträge für WS/EX als Tabelle im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Historie unvollständig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Einmaliger Import laufender Fälle; Fallprüfung nur als Hinweis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Regelwerk ändert sich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Wissensbasis neu laden (KBV-Liste jährlich), Stand anzeigen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Modellantwort passt nicht ins Schema</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Automatische Wiederholung („Retry on Fail“)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Akzeptanz an der Rezeption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Parallelbetrieb, Einweisung, wenige Fehlalarme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9" name="Nächste Schritte"/>
          <p:cNvSpPr/>
          <p:nvPr/>
        </p:nvSpPr>
        <p:spPr>
          <a:xfrm>
            <a:off x="7680960" y="1325880"/>
            <a:ext cx="3959352" cy="4572000"/>
          </a:xfrm>
          <a:prstGeom prst="roundRect">
            <a:avLst>
              <a:gd name="adj" fmla="val 1848"/>
            </a:avLst>
          </a:prstGeom>
          <a:solidFill>
            <a:schemeClr val="tx2"/>
          </a:solidFill>
          <a:ln/>
        </p:spPr>
      </p:sp>
      <p:sp>
        <p:nvSpPr>
          <p:cNvPr id="10" name="Text 6"/>
          <p:cNvSpPr txBox="1"/>
          <p:nvPr/>
        </p:nvSpPr>
        <p:spPr>
          <a:xfrm>
            <a:off x="7955280" y="1463040"/>
            <a:ext cx="347472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Nächste Schritte</a:t>
            </a:r>
            <a:endParaRPr lang="en-US" sz="1800" dirty="0"/>
          </a:p>
        </p:txBody>
      </p:sp>
      <p:sp>
        <p:nvSpPr>
          <p:cNvPr id="11" name="Text 7"/>
          <p:cNvSpPr txBox="1"/>
          <p:nvPr/>
        </p:nvSpPr>
        <p:spPr>
          <a:xfrm>
            <a:off x="7955280" y="205740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Sprint 2</a:t>
            </a:r>
            <a:endParaRPr lang="en-US" sz="1400" dirty="0"/>
          </a:p>
        </p:txBody>
      </p:sp>
      <p:sp>
        <p:nvSpPr>
          <p:cNvPr id="12" name="Text 8"/>
          <p:cNvSpPr txBox="1"/>
          <p:nvPr/>
        </p:nvSpPr>
        <p:spPr>
          <a:xfrm>
            <a:off x="9281160" y="2057400"/>
            <a:ext cx="2240280" cy="548640"/>
          </a:xfrm>
          <a:prstGeom prst="rect">
            <a:avLst/>
          </a:prstGeom>
          <a:noFill/>
          <a:ln/>
        </p:spPr>
        <p:txBody>
          <a:bodyPr wrap="square" lIns="0" tIns="0" rIns="0" bIns="0" rtlCol="0" anchor="ctr"/>
          <a:lstStyle/>
          <a:p>
            <a:pPr indent="0" marL="0">
              <a:buNone/>
            </a:pPr>
            <a:r>
              <a:rPr lang="en-US" sz="1400" dirty="0">
                <a:solidFill>
                  <a:schemeClr val="bg1"/>
                </a:solidFill>
              </a:rPr>
              <a:t>Verordnungsfall-Prüfung (v5)</a:t>
            </a:r>
            <a:endParaRPr lang="en-US" sz="1400" dirty="0"/>
          </a:p>
        </p:txBody>
      </p:sp>
      <p:sp>
        <p:nvSpPr>
          <p:cNvPr id="13" name="Text 9"/>
          <p:cNvSpPr txBox="1"/>
          <p:nvPr/>
        </p:nvSpPr>
        <p:spPr>
          <a:xfrm>
            <a:off x="7955280" y="278892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26.–30.10.</a:t>
            </a:r>
            <a:endParaRPr lang="en-US" sz="1400" dirty="0"/>
          </a:p>
        </p:txBody>
      </p:sp>
      <p:sp>
        <p:nvSpPr>
          <p:cNvPr id="14" name="Text 10"/>
          <p:cNvSpPr txBox="1"/>
          <p:nvPr/>
        </p:nvSpPr>
        <p:spPr>
          <a:xfrm>
            <a:off x="9281160" y="2788920"/>
            <a:ext cx="2240280" cy="548640"/>
          </a:xfrm>
          <a:prstGeom prst="rect">
            <a:avLst/>
          </a:prstGeom>
          <a:noFill/>
          <a:ln/>
        </p:spPr>
        <p:txBody>
          <a:bodyPr wrap="square" lIns="0" tIns="0" rIns="0" bIns="0" rtlCol="0" anchor="ctr"/>
          <a:lstStyle/>
          <a:p>
            <a:pPr indent="0" marL="0">
              <a:buNone/>
            </a:pPr>
            <a:r>
              <a:rPr lang="en-US" sz="1400" dirty="0">
                <a:solidFill>
                  <a:schemeClr val="bg1"/>
                </a:solidFill>
              </a:rPr>
              <a:t>Evaluation mit 65 Fällen × 3</a:t>
            </a:r>
            <a:endParaRPr lang="en-US" sz="1400" dirty="0"/>
          </a:p>
        </p:txBody>
      </p:sp>
      <p:sp>
        <p:nvSpPr>
          <p:cNvPr id="15" name="Text 11"/>
          <p:cNvSpPr txBox="1"/>
          <p:nvPr/>
        </p:nvSpPr>
        <p:spPr>
          <a:xfrm>
            <a:off x="7955280" y="352044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02.11.</a:t>
            </a:r>
            <a:endParaRPr lang="en-US" sz="1400" dirty="0"/>
          </a:p>
        </p:txBody>
      </p:sp>
      <p:sp>
        <p:nvSpPr>
          <p:cNvPr id="16" name="Text 12"/>
          <p:cNvSpPr txBox="1"/>
          <p:nvPr/>
        </p:nvSpPr>
        <p:spPr>
          <a:xfrm>
            <a:off x="9281160" y="3520440"/>
            <a:ext cx="2240280" cy="548640"/>
          </a:xfrm>
          <a:prstGeom prst="rect">
            <a:avLst/>
          </a:prstGeom>
          <a:noFill/>
          <a:ln/>
        </p:spPr>
        <p:txBody>
          <a:bodyPr wrap="square" lIns="0" tIns="0" rIns="0" bIns="0" rtlCol="0" anchor="ctr"/>
          <a:lstStyle/>
          <a:p>
            <a:pPr indent="0" marL="0">
              <a:buNone/>
            </a:pPr>
            <a:r>
              <a:rPr lang="en-US" sz="1400" dirty="0">
                <a:solidFill>
                  <a:schemeClr val="bg1"/>
                </a:solidFill>
              </a:rPr>
              <a:t>Generalprobe 3 × 15 min</a:t>
            </a:r>
            <a:endParaRPr lang="en-US" sz="1400" dirty="0"/>
          </a:p>
        </p:txBody>
      </p:sp>
      <p:sp>
        <p:nvSpPr>
          <p:cNvPr id="17" name="Text 13"/>
          <p:cNvSpPr txBox="1"/>
          <p:nvPr/>
        </p:nvSpPr>
        <p:spPr>
          <a:xfrm>
            <a:off x="7955280" y="425196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03.11.</a:t>
            </a:r>
            <a:endParaRPr lang="en-US" sz="1400" dirty="0"/>
          </a:p>
        </p:txBody>
      </p:sp>
      <p:sp>
        <p:nvSpPr>
          <p:cNvPr id="18" name="Text 14"/>
          <p:cNvSpPr txBox="1"/>
          <p:nvPr/>
        </p:nvSpPr>
        <p:spPr>
          <a:xfrm>
            <a:off x="9281160" y="4251960"/>
            <a:ext cx="2240280" cy="548640"/>
          </a:xfrm>
          <a:prstGeom prst="rect">
            <a:avLst/>
          </a:prstGeom>
          <a:noFill/>
          <a:ln/>
        </p:spPr>
        <p:txBody>
          <a:bodyPr wrap="square" lIns="0" tIns="0" rIns="0" bIns="0" rtlCol="0" anchor="ctr"/>
          <a:lstStyle/>
          <a:p>
            <a:pPr indent="0" marL="0">
              <a:buNone/>
            </a:pPr>
            <a:r>
              <a:rPr lang="en-US" sz="1400" dirty="0">
                <a:solidFill>
                  <a:schemeClr val="bg1"/>
                </a:solidFill>
              </a:rPr>
              <a:t>MSIT-Prüfung</a:t>
            </a:r>
            <a:endParaRPr lang="en-US" sz="1400" dirty="0"/>
          </a:p>
        </p:txBody>
      </p:sp>
      <p:sp>
        <p:nvSpPr>
          <p:cNvPr id="19" name="Text 15"/>
          <p:cNvSpPr txBox="1"/>
          <p:nvPr/>
        </p:nvSpPr>
        <p:spPr>
          <a:xfrm>
            <a:off x="7955280" y="498348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05.11.</a:t>
            </a:r>
            <a:endParaRPr lang="en-US" sz="1400" dirty="0"/>
          </a:p>
        </p:txBody>
      </p:sp>
      <p:sp>
        <p:nvSpPr>
          <p:cNvPr id="20" name="Text 16"/>
          <p:cNvSpPr txBox="1"/>
          <p:nvPr/>
        </p:nvSpPr>
        <p:spPr>
          <a:xfrm>
            <a:off x="9281160" y="4983480"/>
            <a:ext cx="2240280" cy="548640"/>
          </a:xfrm>
          <a:prstGeom prst="rect">
            <a:avLst/>
          </a:prstGeom>
          <a:noFill/>
          <a:ln/>
        </p:spPr>
        <p:txBody>
          <a:bodyPr wrap="square" lIns="0" tIns="0" rIns="0" bIns="0" rtlCol="0" anchor="ctr"/>
          <a:lstStyle/>
          <a:p>
            <a:pPr indent="0" marL="0">
              <a:buNone/>
            </a:pPr>
            <a:r>
              <a:rPr lang="en-US" sz="1400" dirty="0">
                <a:solidFill>
                  <a:schemeClr val="bg1"/>
                </a:solidFill>
              </a:rPr>
              <a:t>IHK-Prüfung</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Reflexion: Was wir gelernt haben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Lernpunkt"/>
          <p:cNvSpPr/>
          <p:nvPr/>
        </p:nvSpPr>
        <p:spPr>
          <a:xfrm>
            <a:off x="548640" y="1325880"/>
            <a:ext cx="3611880" cy="2103120"/>
          </a:xfrm>
          <a:prstGeom prst="roundRect">
            <a:avLst>
              <a:gd name="adj" fmla="val 3478"/>
            </a:avLst>
          </a:prstGeom>
          <a:solidFill>
            <a:schemeClr val="bg2"/>
          </a:solidFill>
          <a:ln/>
        </p:spPr>
      </p:sp>
      <p:sp>
        <p:nvSpPr>
          <p:cNvPr id="9" name="Symbolkreis"/>
          <p:cNvSpPr/>
          <p:nvPr/>
        </p:nvSpPr>
        <p:spPr>
          <a:xfrm>
            <a:off x="777240" y="1554480"/>
            <a:ext cx="548640" cy="548640"/>
          </a:xfrm>
          <a:prstGeom prst="ellipse">
            <a:avLst/>
          </a:prstGeom>
          <a:solidFill>
            <a:schemeClr val="accent1"/>
          </a:solidFill>
          <a:ln/>
        </p:spPr>
      </p:sp>
      <p:pic>
        <p:nvPicPr>
          <p:cNvPr id="10" name="Symbol" descr="preencoded.png">    </p:cNvPr>
          <p:cNvPicPr>
            <a:picLocks noChangeAspect="1"/>
          </p:cNvPicPr>
          <p:nvPr/>
        </p:nvPicPr>
        <p:blipFill>
          <a:blip r:embed="rId2"/>
          <a:stretch>
            <a:fillRect/>
          </a:stretch>
        </p:blipFill>
        <p:spPr>
          <a:xfrm>
            <a:off x="914400" y="1691640"/>
            <a:ext cx="274320" cy="274320"/>
          </a:xfrm>
          <a:prstGeom prst="rect">
            <a:avLst/>
          </a:prstGeom>
        </p:spPr>
      </p:pic>
      <p:sp>
        <p:nvSpPr>
          <p:cNvPr id="11" name="Text 7"/>
          <p:cNvSpPr txBox="1"/>
          <p:nvPr/>
        </p:nvSpPr>
        <p:spPr>
          <a:xfrm>
            <a:off x="146304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Fehler finden war leicht, Fehlalarme senken war die Arbeit</a:t>
            </a:r>
            <a:endParaRPr lang="en-US" sz="1500" dirty="0"/>
          </a:p>
        </p:txBody>
      </p:sp>
      <p:sp>
        <p:nvSpPr>
          <p:cNvPr id="12" name="Text 8"/>
          <p:cNvSpPr txBox="1"/>
          <p:nvPr/>
        </p:nvSpPr>
        <p:spPr>
          <a:xfrm>
            <a:off x="777240" y="2423160"/>
            <a:ext cx="3200400" cy="914400"/>
          </a:xfrm>
          <a:prstGeom prst="rect">
            <a:avLst/>
          </a:prstGeom>
          <a:noFill/>
          <a:ln/>
        </p:spPr>
        <p:txBody>
          <a:bodyPr wrap="square" lIns="0" tIns="0" rIns="0" bIns="0" rtlCol="0" anchor="t"/>
          <a:lstStyle/>
          <a:p>
            <a:pPr indent="0" marL="0">
              <a:buNone/>
            </a:pPr>
            <a:r>
              <a:rPr lang="en-US" sz="1300" dirty="0">
                <a:solidFill>
                  <a:schemeClr val="tx1"/>
                </a:solidFill>
              </a:rPr>
              <a:t>Baseline: alle 8 Fehler erkannt, aber 12 kritische Fehlalarme</a:t>
            </a:r>
            <a:endParaRPr lang="en-US" sz="1300" dirty="0"/>
          </a:p>
        </p:txBody>
      </p:sp>
      <p:sp>
        <p:nvSpPr>
          <p:cNvPr id="13" name="Lernpunkt"/>
          <p:cNvSpPr/>
          <p:nvPr/>
        </p:nvSpPr>
        <p:spPr>
          <a:xfrm>
            <a:off x="4343400" y="1325880"/>
            <a:ext cx="3611880" cy="2103120"/>
          </a:xfrm>
          <a:prstGeom prst="roundRect">
            <a:avLst>
              <a:gd name="adj" fmla="val 3478"/>
            </a:avLst>
          </a:prstGeom>
          <a:solidFill>
            <a:schemeClr val="bg2"/>
          </a:solidFill>
          <a:ln/>
        </p:spPr>
      </p:sp>
      <p:sp>
        <p:nvSpPr>
          <p:cNvPr id="14" name="Symbolkreis"/>
          <p:cNvSpPr/>
          <p:nvPr/>
        </p:nvSpPr>
        <p:spPr>
          <a:xfrm>
            <a:off x="4572000" y="1554480"/>
            <a:ext cx="548640" cy="548640"/>
          </a:xfrm>
          <a:prstGeom prst="ellipse">
            <a:avLst/>
          </a:prstGeom>
          <a:solidFill>
            <a:schemeClr val="accent1"/>
          </a:solidFill>
          <a:ln/>
        </p:spPr>
      </p:sp>
      <p:pic>
        <p:nvPicPr>
          <p:cNvPr id="15" name="Symbol" descr="preencoded.png">    </p:cNvPr>
          <p:cNvPicPr>
            <a:picLocks noChangeAspect="1"/>
          </p:cNvPicPr>
          <p:nvPr/>
        </p:nvPicPr>
        <p:blipFill>
          <a:blip r:embed="rId3"/>
          <a:stretch>
            <a:fillRect/>
          </a:stretch>
        </p:blipFill>
        <p:spPr>
          <a:xfrm>
            <a:off x="4709160" y="1691640"/>
            <a:ext cx="274320" cy="274320"/>
          </a:xfrm>
          <a:prstGeom prst="rect">
            <a:avLst/>
          </a:prstGeom>
        </p:spPr>
      </p:pic>
      <p:sp>
        <p:nvSpPr>
          <p:cNvPr id="16" name="Text 11"/>
          <p:cNvSpPr txBox="1"/>
          <p:nvPr/>
        </p:nvSpPr>
        <p:spPr>
          <a:xfrm>
            <a:off x="525780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Regeln gehören in den Code</a:t>
            </a:r>
            <a:endParaRPr lang="en-US" sz="1500" dirty="0"/>
          </a:p>
        </p:txBody>
      </p:sp>
      <p:sp>
        <p:nvSpPr>
          <p:cNvPr id="17" name="Text 12"/>
          <p:cNvSpPr txBox="1"/>
          <p:nvPr/>
        </p:nvSpPr>
        <p:spPr>
          <a:xfrm>
            <a:off x="4572000" y="2423160"/>
            <a:ext cx="3200400" cy="914400"/>
          </a:xfrm>
          <a:prstGeom prst="rect">
            <a:avLst/>
          </a:prstGeom>
          <a:noFill/>
          <a:ln/>
        </p:spPr>
        <p:txBody>
          <a:bodyPr wrap="square" lIns="0" tIns="0" rIns="0" bIns="0" rtlCol="0" anchor="t"/>
          <a:lstStyle/>
          <a:p>
            <a:pPr indent="0" marL="0">
              <a:buNone/>
            </a:pPr>
            <a:r>
              <a:rPr lang="en-US" sz="1300" dirty="0">
                <a:solidFill>
                  <a:schemeClr val="tx1"/>
                </a:solidFill>
              </a:rPr>
              <a:t>Bestätigt bis zuletzt: ICD-Zuordnung, Leitsymptomatik, KBV-Liste</a:t>
            </a:r>
            <a:endParaRPr lang="en-US" sz="1300" dirty="0"/>
          </a:p>
        </p:txBody>
      </p:sp>
      <p:sp>
        <p:nvSpPr>
          <p:cNvPr id="18" name="Lernpunkt"/>
          <p:cNvSpPr/>
          <p:nvPr/>
        </p:nvSpPr>
        <p:spPr>
          <a:xfrm>
            <a:off x="548640" y="3611880"/>
            <a:ext cx="3611880" cy="2103120"/>
          </a:xfrm>
          <a:prstGeom prst="roundRect">
            <a:avLst>
              <a:gd name="adj" fmla="val 3478"/>
            </a:avLst>
          </a:prstGeom>
          <a:solidFill>
            <a:schemeClr val="bg2"/>
          </a:solidFill>
          <a:ln/>
        </p:spPr>
      </p:sp>
      <p:sp>
        <p:nvSpPr>
          <p:cNvPr id="19" name="Symbolkreis"/>
          <p:cNvSpPr/>
          <p:nvPr/>
        </p:nvSpPr>
        <p:spPr>
          <a:xfrm>
            <a:off x="777240" y="3840480"/>
            <a:ext cx="548640" cy="548640"/>
          </a:xfrm>
          <a:prstGeom prst="ellipse">
            <a:avLst/>
          </a:prstGeom>
          <a:solidFill>
            <a:schemeClr val="accent1"/>
          </a:solidFill>
          <a:ln/>
        </p:spPr>
      </p:sp>
      <p:pic>
        <p:nvPicPr>
          <p:cNvPr id="20" name="Symbol" descr="preencoded.png">    </p:cNvPr>
          <p:cNvPicPr>
            <a:picLocks noChangeAspect="1"/>
          </p:cNvPicPr>
          <p:nvPr/>
        </p:nvPicPr>
        <p:blipFill>
          <a:blip r:embed="rId4"/>
          <a:stretch>
            <a:fillRect/>
          </a:stretch>
        </p:blipFill>
        <p:spPr>
          <a:xfrm>
            <a:off x="914400" y="3977640"/>
            <a:ext cx="274320" cy="274320"/>
          </a:xfrm>
          <a:prstGeom prst="rect">
            <a:avLst/>
          </a:prstGeom>
        </p:spPr>
      </p:pic>
      <p:sp>
        <p:nvSpPr>
          <p:cNvPr id="21" name="Text 15"/>
          <p:cNvSpPr txBox="1"/>
          <p:nvPr/>
        </p:nvSpPr>
        <p:spPr>
          <a:xfrm>
            <a:off x="146304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Die Field Study hat den Schwerpunkt verschoben</a:t>
            </a:r>
            <a:endParaRPr lang="en-US" sz="1500" dirty="0"/>
          </a:p>
        </p:txBody>
      </p:sp>
      <p:sp>
        <p:nvSpPr>
          <p:cNvPr id="22" name="Text 16"/>
          <p:cNvSpPr txBox="1"/>
          <p:nvPr/>
        </p:nvSpPr>
        <p:spPr>
          <a:xfrm>
            <a:off x="77724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90 % der Fehler bei Folgeverordnungen → Verordnungsfall-Prüfung zuerst</a:t>
            </a:r>
            <a:endParaRPr lang="en-US" sz="1300" dirty="0"/>
          </a:p>
        </p:txBody>
      </p:sp>
      <p:sp>
        <p:nvSpPr>
          <p:cNvPr id="23" name="Lernpunkt"/>
          <p:cNvSpPr/>
          <p:nvPr/>
        </p:nvSpPr>
        <p:spPr>
          <a:xfrm>
            <a:off x="4343400" y="3611880"/>
            <a:ext cx="3611880" cy="2103120"/>
          </a:xfrm>
          <a:prstGeom prst="roundRect">
            <a:avLst>
              <a:gd name="adj" fmla="val 3478"/>
            </a:avLst>
          </a:prstGeom>
          <a:solidFill>
            <a:schemeClr val="bg2"/>
          </a:solidFill>
          <a:ln/>
        </p:spPr>
      </p:sp>
      <p:sp>
        <p:nvSpPr>
          <p:cNvPr id="24" name="Symbolkreis"/>
          <p:cNvSpPr/>
          <p:nvPr/>
        </p:nvSpPr>
        <p:spPr>
          <a:xfrm>
            <a:off x="4572000" y="3840480"/>
            <a:ext cx="548640" cy="548640"/>
          </a:xfrm>
          <a:prstGeom prst="ellipse">
            <a:avLst/>
          </a:prstGeom>
          <a:solidFill>
            <a:schemeClr val="accent1"/>
          </a:solidFill>
          <a:ln/>
        </p:spPr>
      </p:sp>
      <p:pic>
        <p:nvPicPr>
          <p:cNvPr id="25" name="Symbol" descr="preencoded.png">    </p:cNvPr>
          <p:cNvPicPr>
            <a:picLocks noChangeAspect="1"/>
          </p:cNvPicPr>
          <p:nvPr/>
        </p:nvPicPr>
        <p:blipFill>
          <a:blip r:embed="rId5"/>
          <a:stretch>
            <a:fillRect/>
          </a:stretch>
        </p:blipFill>
        <p:spPr>
          <a:xfrm>
            <a:off x="4709160" y="3977640"/>
            <a:ext cx="274320" cy="274320"/>
          </a:xfrm>
          <a:prstGeom prst="rect">
            <a:avLst/>
          </a:prstGeom>
        </p:spPr>
      </p:pic>
      <p:sp>
        <p:nvSpPr>
          <p:cNvPr id="26" name="Text 19"/>
          <p:cNvSpPr txBox="1"/>
          <p:nvPr/>
        </p:nvSpPr>
        <p:spPr>
          <a:xfrm>
            <a:off x="525780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Zusammenführen braucht Kompatibilität</a:t>
            </a:r>
            <a:endParaRPr lang="en-US" sz="1500" dirty="0"/>
          </a:p>
        </p:txBody>
      </p:sp>
      <p:sp>
        <p:nvSpPr>
          <p:cNvPr id="27" name="Text 20"/>
          <p:cNvSpPr txBox="1"/>
          <p:nvPr/>
        </p:nvSpPr>
        <p:spPr>
          <a:xfrm>
            <a:off x="457200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Embedding-Modell und Wissensbasis gehören zusammen; Fallback behalten</a:t>
            </a:r>
            <a:endParaRPr lang="en-US" sz="1300" dirty="0"/>
          </a:p>
        </p:txBody>
      </p:sp>
      <p:sp>
        <p:nvSpPr>
          <p:cNvPr id="28" name="Vorgehen"/>
          <p:cNvSpPr/>
          <p:nvPr/>
        </p:nvSpPr>
        <p:spPr>
          <a:xfrm>
            <a:off x="8138160" y="1325880"/>
            <a:ext cx="3502152" cy="4389120"/>
          </a:xfrm>
          <a:prstGeom prst="roundRect">
            <a:avLst>
              <a:gd name="adj" fmla="val 2089"/>
            </a:avLst>
          </a:prstGeom>
          <a:solidFill>
            <a:schemeClr val="tx2"/>
          </a:solidFill>
          <a:ln/>
        </p:spPr>
      </p:sp>
      <p:sp>
        <p:nvSpPr>
          <p:cNvPr id="29" name="Symbolkreis"/>
          <p:cNvSpPr/>
          <p:nvPr/>
        </p:nvSpPr>
        <p:spPr>
          <a:xfrm>
            <a:off x="8366760" y="1508760"/>
            <a:ext cx="548640" cy="548640"/>
          </a:xfrm>
          <a:prstGeom prst="ellipse">
            <a:avLst/>
          </a:prstGeom>
          <a:solidFill>
            <a:schemeClr val="accent2"/>
          </a:solidFill>
          <a:ln/>
        </p:spPr>
      </p:sp>
      <p:pic>
        <p:nvPicPr>
          <p:cNvPr id="30" name="Symbol" descr="preencoded.png">    </p:cNvPr>
          <p:cNvPicPr>
            <a:picLocks noChangeAspect="1"/>
          </p:cNvPicPr>
          <p:nvPr/>
        </p:nvPicPr>
        <p:blipFill>
          <a:blip r:embed="rId6"/>
          <a:stretch>
            <a:fillRect/>
          </a:stretch>
        </p:blipFill>
        <p:spPr>
          <a:xfrm>
            <a:off x="8503920" y="1645920"/>
            <a:ext cx="274320" cy="274320"/>
          </a:xfrm>
          <a:prstGeom prst="rect">
            <a:avLst/>
          </a:prstGeom>
        </p:spPr>
      </p:pic>
      <p:sp>
        <p:nvSpPr>
          <p:cNvPr id="31" name="Text 23"/>
          <p:cNvSpPr txBox="1"/>
          <p:nvPr/>
        </p:nvSpPr>
        <p:spPr>
          <a:xfrm>
            <a:off x="9052560" y="1508760"/>
            <a:ext cx="2468880" cy="54864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Für künftige Projekte</a:t>
            </a:r>
            <a:endParaRPr lang="en-US" sz="1600" dirty="0"/>
          </a:p>
        </p:txBody>
      </p:sp>
      <p:sp>
        <p:nvSpPr>
          <p:cNvPr id="32" name="Text 24"/>
          <p:cNvSpPr txBox="1"/>
          <p:nvPr/>
        </p:nvSpPr>
        <p:spPr>
          <a:xfrm>
            <a:off x="8366760" y="2240280"/>
            <a:ext cx="3108960" cy="3383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Erst Field Study, dann bauen</a:t>
            </a:r>
            <a:endParaRPr lang="en-US" sz="1400" dirty="0"/>
          </a:p>
          <a:p>
            <a:pPr marL="177800" indent="-177800">
              <a:spcAft>
                <a:spcPts val="500"/>
              </a:spcAft>
              <a:buSzPct val="100000"/>
              <a:buChar char="•"/>
            </a:pPr>
            <a:r>
              <a:rPr lang="en-US" sz="1300" dirty="0">
                <a:solidFill>
                  <a:schemeClr val="bg1"/>
                </a:solidFill>
              </a:rPr>
              <a:t>Früh messen; Testfälle vor dem Tuning trennen</a:t>
            </a:r>
            <a:endParaRPr lang="en-US" sz="1400" dirty="0"/>
          </a:p>
          <a:p>
            <a:pPr marL="177800" indent="-177800">
              <a:spcAft>
                <a:spcPts val="500"/>
              </a:spcAft>
              <a:buSzPct val="100000"/>
              <a:buChar char="•"/>
            </a:pPr>
            <a:r>
              <a:rPr lang="en-US" sz="1300" dirty="0">
                <a:solidFill>
                  <a:schemeClr val="bg1"/>
                </a:solidFill>
              </a:rPr>
              <a:t>Rechtliche Einordnung an der Zweckbestimmung festmachen – ändert sie sich, neu prüfen</a:t>
            </a:r>
            <a:endParaRPr lang="en-US" sz="1400" dirty="0"/>
          </a:p>
          <a:p>
            <a:pPr marL="177800" indent="-177800">
              <a:spcAft>
                <a:spcPts val="500"/>
              </a:spcAft>
              <a:buSzPct val="100000"/>
              <a:buChar char="•"/>
            </a:pPr>
            <a:r>
              <a:rPr lang="en-US" sz="1300" dirty="0">
                <a:solidFill>
                  <a:schemeClr val="bg1"/>
                </a:solidFill>
              </a:rPr>
              <a:t>Tool-Auswahl regelmäßig überprüfen: E-Verordnung macht Texterkennung zur Übergangslösung</a:t>
            </a:r>
            <a:endParaRPr lang="en-US" sz="1400" dirty="0"/>
          </a:p>
        </p:txBody>
      </p:sp>
      <p:sp>
        <p:nvSpPr>
          <p:cNvPr id="33" name="Text 2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Umfang von Kapitel 6 (Reflexion, roter Faden, Fazit) noch mit dem Tutor zu klären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Fazit: Fehler vor der Behandlung finden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bg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6" name="Kennzahl Fazit"/>
          <p:cNvSpPr/>
          <p:nvPr/>
        </p:nvSpPr>
        <p:spPr>
          <a:xfrm>
            <a:off x="548640" y="1371600"/>
            <a:ext cx="3566160" cy="2514600"/>
          </a:xfrm>
          <a:prstGeom prst="roundRect">
            <a:avLst>
              <a:gd name="adj" fmla="val 2909"/>
            </a:avLst>
          </a:prstGeom>
          <a:solidFill>
            <a:schemeClr val="accent6"/>
          </a:solidFill>
          <a:ln/>
        </p:spPr>
      </p:sp>
      <p:sp>
        <p:nvSpPr>
          <p:cNvPr id="7" name="Text 4"/>
          <p:cNvSpPr txBox="1"/>
          <p:nvPr/>
        </p:nvSpPr>
        <p:spPr>
          <a:xfrm>
            <a:off x="82296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 98 %</a:t>
            </a:r>
            <a:endParaRPr lang="en-US" sz="4400" dirty="0"/>
          </a:p>
        </p:txBody>
      </p:sp>
      <p:sp>
        <p:nvSpPr>
          <p:cNvPr id="8" name="Text 5"/>
          <p:cNvSpPr txBox="1"/>
          <p:nvPr/>
        </p:nvSpPr>
        <p:spPr>
          <a:xfrm>
            <a:off x="82296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Zielquote des Systems</a:t>
            </a:r>
            <a:endParaRPr lang="en-US" sz="1600" dirty="0"/>
          </a:p>
        </p:txBody>
      </p:sp>
      <p:sp>
        <p:nvSpPr>
          <p:cNvPr id="9" name="Text 6"/>
          <p:cNvSpPr txBox="1"/>
          <p:nvPr/>
        </p:nvSpPr>
        <p:spPr>
          <a:xfrm>
            <a:off x="82296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gegen höchstens ca. 85 % bei menschlicher Doppelkontrolle</a:t>
            </a:r>
            <a:endParaRPr lang="en-US" sz="1300" dirty="0"/>
          </a:p>
        </p:txBody>
      </p:sp>
      <p:sp>
        <p:nvSpPr>
          <p:cNvPr id="10" name="Kennzahl Fazit"/>
          <p:cNvSpPr/>
          <p:nvPr/>
        </p:nvSpPr>
        <p:spPr>
          <a:xfrm>
            <a:off x="4297680" y="1371600"/>
            <a:ext cx="3566160" cy="2514600"/>
          </a:xfrm>
          <a:prstGeom prst="roundRect">
            <a:avLst>
              <a:gd name="adj" fmla="val 2909"/>
            </a:avLst>
          </a:prstGeom>
          <a:solidFill>
            <a:schemeClr val="accent6"/>
          </a:solidFill>
          <a:ln/>
        </p:spPr>
      </p:sp>
      <p:sp>
        <p:nvSpPr>
          <p:cNvPr id="11" name="Text 8"/>
          <p:cNvSpPr txBox="1"/>
          <p:nvPr/>
        </p:nvSpPr>
        <p:spPr>
          <a:xfrm>
            <a:off x="457200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vorher</a:t>
            </a:r>
            <a:endParaRPr lang="en-US" sz="4400" dirty="0"/>
          </a:p>
        </p:txBody>
      </p:sp>
      <p:sp>
        <p:nvSpPr>
          <p:cNvPr id="12" name="Text 9"/>
          <p:cNvSpPr txBox="1"/>
          <p:nvPr/>
        </p:nvSpPr>
        <p:spPr>
          <a:xfrm>
            <a:off x="457200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statt nachher</a:t>
            </a:r>
            <a:endParaRPr lang="en-US" sz="1600" dirty="0"/>
          </a:p>
        </p:txBody>
      </p:sp>
      <p:sp>
        <p:nvSpPr>
          <p:cNvPr id="13" name="Text 10"/>
          <p:cNvSpPr txBox="1"/>
          <p:nvPr/>
        </p:nvSpPr>
        <p:spPr>
          <a:xfrm>
            <a:off x="457200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Fehler fallen vor der Behandlung auf, nicht erst bei der Abrechnung</a:t>
            </a:r>
            <a:endParaRPr lang="en-US" sz="1300" dirty="0"/>
          </a:p>
        </p:txBody>
      </p:sp>
      <p:sp>
        <p:nvSpPr>
          <p:cNvPr id="14" name="Kennzahl Fazit"/>
          <p:cNvSpPr/>
          <p:nvPr/>
        </p:nvSpPr>
        <p:spPr>
          <a:xfrm>
            <a:off x="8046720" y="1371600"/>
            <a:ext cx="3566160" cy="2514600"/>
          </a:xfrm>
          <a:prstGeom prst="roundRect">
            <a:avLst>
              <a:gd name="adj" fmla="val 2909"/>
            </a:avLst>
          </a:prstGeom>
          <a:solidFill>
            <a:schemeClr val="accent6"/>
          </a:solidFill>
          <a:ln/>
        </p:spPr>
      </p:sp>
      <p:sp>
        <p:nvSpPr>
          <p:cNvPr id="15" name="Text 12"/>
          <p:cNvSpPr txBox="1"/>
          <p:nvPr/>
        </p:nvSpPr>
        <p:spPr>
          <a:xfrm>
            <a:off x="832104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 4.300 €</a:t>
            </a:r>
            <a:endParaRPr lang="en-US" sz="4400" dirty="0"/>
          </a:p>
        </p:txBody>
      </p:sp>
      <p:sp>
        <p:nvSpPr>
          <p:cNvPr id="16" name="Text 13"/>
          <p:cNvSpPr txBox="1"/>
          <p:nvPr/>
        </p:nvSpPr>
        <p:spPr>
          <a:xfrm>
            <a:off x="832104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pro Jahr ab Jahr 2</a:t>
            </a:r>
            <a:endParaRPr lang="en-US" sz="1600" dirty="0"/>
          </a:p>
        </p:txBody>
      </p:sp>
      <p:sp>
        <p:nvSpPr>
          <p:cNvPr id="17" name="Text 14"/>
          <p:cNvSpPr txBox="1"/>
          <p:nvPr/>
        </p:nvSpPr>
        <p:spPr>
          <a:xfrm>
            <a:off x="832104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etwa ½ Minijob an Prüfzeit frei für Patienten und Telefon</a:t>
            </a:r>
            <a:endParaRPr lang="en-US" sz="1300" dirty="0"/>
          </a:p>
        </p:txBody>
      </p:sp>
      <p:sp>
        <p:nvSpPr>
          <p:cNvPr id="18" name="Empfehlung"/>
          <p:cNvSpPr/>
          <p:nvPr/>
        </p:nvSpPr>
        <p:spPr>
          <a:xfrm>
            <a:off x="548640" y="4114800"/>
            <a:ext cx="11091672" cy="1737360"/>
          </a:xfrm>
          <a:prstGeom prst="roundRect">
            <a:avLst>
              <a:gd name="adj" fmla="val 4211"/>
            </a:avLst>
          </a:prstGeom>
          <a:solidFill>
            <a:schemeClr val="bg1"/>
          </a:solidFill>
          <a:ln/>
        </p:spPr>
      </p:sp>
      <p:sp>
        <p:nvSpPr>
          <p:cNvPr id="19" name="Symbolkreis"/>
          <p:cNvSpPr/>
          <p:nvPr/>
        </p:nvSpPr>
        <p:spPr>
          <a:xfrm>
            <a:off x="822960" y="4343400"/>
            <a:ext cx="640080" cy="640080"/>
          </a:xfrm>
          <a:prstGeom prst="ellipse">
            <a:avLst/>
          </a:prstGeom>
          <a:solidFill>
            <a:schemeClr val="accent1"/>
          </a:solidFill>
          <a:ln/>
        </p:spPr>
      </p:sp>
      <p:pic>
        <p:nvPicPr>
          <p:cNvPr id="20" name="Symbol" descr="preencoded.png">    </p:cNvPr>
          <p:cNvPicPr>
            <a:picLocks noChangeAspect="1"/>
          </p:cNvPicPr>
          <p:nvPr/>
        </p:nvPicPr>
        <p:blipFill>
          <a:blip r:embed="rId2"/>
          <a:stretch>
            <a:fillRect/>
          </a:stretch>
        </p:blipFill>
        <p:spPr>
          <a:xfrm>
            <a:off x="982980" y="4503420"/>
            <a:ext cx="320040" cy="320040"/>
          </a:xfrm>
          <a:prstGeom prst="rect">
            <a:avLst/>
          </a:prstGeom>
        </p:spPr>
      </p:pic>
      <p:sp>
        <p:nvSpPr>
          <p:cNvPr id="21" name="Text 17"/>
          <p:cNvSpPr txBox="1"/>
          <p:nvPr/>
        </p:nvSpPr>
        <p:spPr>
          <a:xfrm>
            <a:off x="1645920" y="4315968"/>
            <a:ext cx="54864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Unsere Empfehlung</a:t>
            </a:r>
            <a:endParaRPr lang="en-US" sz="1800" dirty="0"/>
          </a:p>
        </p:txBody>
      </p:sp>
      <p:sp>
        <p:nvSpPr>
          <p:cNvPr id="22" name="Text 18"/>
          <p:cNvSpPr txBox="1"/>
          <p:nvPr/>
        </p:nvSpPr>
        <p:spPr>
          <a:xfrm>
            <a:off x="1645920" y="4754880"/>
            <a:ext cx="9692640" cy="1005840"/>
          </a:xfrm>
          <a:prstGeom prst="rect">
            <a:avLst/>
          </a:prstGeom>
          <a:noFill/>
          <a:ln/>
        </p:spPr>
        <p:txBody>
          <a:bodyPr wrap="square" lIns="0" tIns="0" rIns="0" bIns="0" rtlCol="0" anchor="t"/>
          <a:lstStyle/>
          <a:p>
            <a:pPr indent="0" marL="0">
              <a:buNone/>
            </a:pPr>
            <a:r>
              <a:rPr lang="en-US" sz="1500" dirty="0">
                <a:solidFill>
                  <a:schemeClr val="tx1"/>
                </a:solidFill>
              </a:rPr>
              <a:t>Pilot im Parallelbetrieb starten: sechs Wochen mitlaufen lassen, messen, dann entscheiden. Kein Hochrisiko-KI-System, Datenschutz durch Technik eingebaut – die Rezeption behält die Entscheidung und gewinnt Zeit für die Patienten.</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Anhang: Rechtsquellen und Stand</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291840"/>
                <a:gridCol w="4846320"/>
                <a:gridCol w="295351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Quelle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Relevante Stellen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Stand / Hinweis</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6400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KI-Verordnung (EU) 2024/1689</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 Nr. 1, 3, 4 · Art. 4 · Art. 5 · Art. 6 Abs. 1–3 · Anhang I, III · Art. 26 · Art. 50 · Art. 53 · Art. 95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seit 02.02.2025; Art. 50 seit 02.08.2026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VO (EU) 2026/1744 (KI-Omnibus)</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als Förderpflicht; Hochrisiko Anhang III ab 02.12.2027, Anhang I ab 02.08.2028</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ABl. 24.07.2026, in Kraft seit 27.07.2026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Medizinprodukte-VO (EU) 2017/745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 Nr. 1 (Medizinprodukt)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Leitlinie MDCG 2019-11 Rev. 1 zur Software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DSGVO (EU) 2016/679</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Nr. 15 · Art. 5 · Art. 9 Abs. 1–3 · Art. 22 · Art. 25 · Art. 28 · Art. 32 · Art. 35 · Art. 44 ff. · EG 26, 91</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BDSG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 22 Abs. 1 Nr. 1 lit. 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StGB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 203 Abs. 1 Nr. 1, Abs. 3, Abs. 4</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Fassung seit 2017 (Mitwirkung Dritter)</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Heilmittel-Richtlinie, Heilmittelkatalog (G-BA); Diagnoseliste (KBV)</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HeilM-RL § 7, § 12, § 13, § 15, § 16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KBV-Diagnoseliste Stand 01.01.2026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Keine Rechtsberatung · Einordnung durch das Team auf Basis der Normtexte und Sekundärquellen (IHK, Kanzleien), Stand 23.10.2026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Verordnungs-Check">
  <a:themeElements>
    <a:clrScheme name="Verordnungs-Check">
      <a:dk1>
        <a:srgbClr val="1B2B30"/>
      </a:dk1>
      <a:lt1>
        <a:srgbClr val="FFFFFF"/>
      </a:lt1>
      <a:dk2>
        <a:srgbClr val="12343B"/>
      </a:dk2>
      <a:lt2>
        <a:srgbClr val="EEF4F3"/>
      </a:lt2>
      <a:accent1>
        <a:srgbClr val="2A9D8F"/>
      </a:accent1>
      <a:accent2>
        <a:srgbClr val="E9C46A"/>
      </a:accent2>
      <a:accent3>
        <a:srgbClr val="E76F51"/>
      </a:accent3>
      <a:accent4>
        <a:srgbClr val="8AB17D"/>
      </a:accent4>
      <a:accent5>
        <a:srgbClr val="5C6B73"/>
      </a:accent5>
      <a:accent6>
        <a:srgbClr val="264653"/>
      </a:accent6>
      <a:hlink>
        <a:srgbClr val="2A9D8F"/>
      </a:hlink>
      <a:folHlink>
        <a:srgbClr val="5C6B73"/>
      </a:folHlink>
    </a:clrScheme>
    <a:fontScheme name="Verordnungs-Ch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Verordnungs-Check – IHK-Präsentation 3 × 15 Minuten</dc:title>
  <dc:subject>PptxGenJS Presentation</dc:subject>
  <dc:creator>Thomas Kullmann, Valentin Klamka, Derk Ermler</dc:creator>
  <cp:lastModifiedBy>Thomas Kullmann, Valentin Klamka, Derk Ermler</cp:lastModifiedBy>
  <cp:revision>1</cp:revision>
  <dcterms:created xsi:type="dcterms:W3CDTF">2026-10-23T07:56:00Z</dcterms:created>
  <dcterms:modified xsi:type="dcterms:W3CDTF">2026-10-23T07:56:00Z</dcterms:modified>
</cp:coreProperties>
</file>