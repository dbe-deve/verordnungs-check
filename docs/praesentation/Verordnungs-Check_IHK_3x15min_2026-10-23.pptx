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10 Punkte).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10 Punkte).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10 Punkte).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Der Ablauf in fünf Schritten. Die dunklen Kästen sind Code: Fakten berechnen und Ampel bilden. Die hellen nutzen das Sprachmodell.
Der Leitsatz ist kein Dogma, sondern Ergebnis unserer Tests – das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Die übrigen Entscheidungen jeweils mit Alternative.
Hervorheben: Patientendaten ersetzen wir, bevor das Modell sie sieht – das ist auch der Übergang zur Governance.
Und: Der Mensch entscheidet. Das ist nicht nur fachlich richtig, sondern auch für die rechtliche Einordnung wichtig.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rechtliche Rahmenbedingungen).
Verordnungen sind Gesundheitsdaten nach Art. 9 DSGVO.
Im Prototyp verarbeiten wir nur synthetische Daten – damit fallen keine personenbezogenen Daten an.
Für den Echtbetrieb ist die Rechtsgrundlage Art. 9 Abs. 2 lit. h mit § 22 BDSG – die gleiche Grundlage, auf der die Praxis heute schon Verordnungen verarbeitet.
Zusätzlich zum Datenschutz gilt das Berufsgeheimnis nach § 203 StGB: Unsere Dienstleister sind mitwirkende Personen und müssen zur Verschwiegenheit verpflichtet werden.
Offen vor Echtbetrieb: Datenschutz-Folgenabschätzung, OpenAI mit EU-Datenresidenz oder Data Privacy Framework.
Übergabe an Derk: Wie gut funktioniert das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Merge-Workflow über das Formular. Ablauf: Formular ausfüllen, absenden, Ergebnis zeigen, kurz das Protokoll in Supabase.
Zwei Fälle: ein grüner und ein roter. Beim roten den Korrekturhinweis und die Fundstelle vorlesen.
Vorher: Workflow nur mit aktiver Anmeldung freischalten, Testlauf am Morgen. Screenshots als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Merge-Workflow, v4 bleibt Fallback.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 Punkte).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Ergebnisse der formalen Evaluation folgen in Sprint 3 (26.–30.10.).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Teil von 20 Punkten).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15 Punkte).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Zielquote mindestens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Arbeitsstand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Arbeitsstand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Arbeitsstand 23.10.2026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sp>
      <p:sp>
        <p:nvSpPr>
          <p:cNvPr id="7" name="Kopf Thomas"/>
          <p:cNvSpPr/>
          <p:nvPr/>
        </p:nvSpPr>
        <p:spPr>
          <a:xfrm>
            <a:off x="548640" y="1325880"/>
            <a:ext cx="3566160" cy="868680"/>
          </a:xfrm>
          <a:prstGeom prst="roundRect">
            <a:avLst>
              <a:gd name="adj" fmla="val 8421"/>
            </a:avLst>
          </a:prstGeom>
          <a:solidFill>
            <a:schemeClr val="tx2"/>
          </a:solidFill>
          <a:ln/>
        </p:spPr>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IHK-Punkte: Ist/Soll 10 · Einsatzfelder 10 · Roter Faden 15</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sp>
      <p:sp>
        <p:nvSpPr>
          <p:cNvPr id="15" name="Kopf Valentin"/>
          <p:cNvSpPr/>
          <p:nvPr/>
        </p:nvSpPr>
        <p:spPr>
          <a:xfrm>
            <a:off x="4297680" y="1325880"/>
            <a:ext cx="3566160" cy="868680"/>
          </a:xfrm>
          <a:prstGeom prst="roundRect">
            <a:avLst>
              <a:gd name="adj" fmla="val 8421"/>
            </a:avLst>
          </a:prstGeom>
          <a:solidFill>
            <a:schemeClr val="accent1"/>
          </a:solidFill>
          <a:ln/>
        </p:spPr>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IHK-Punkte: Tool-Vergleich 10 · Tool-Auswahl 10</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sp>
      <p:sp>
        <p:nvSpPr>
          <p:cNvPr id="23" name="Kopf Derk"/>
          <p:cNvSpPr/>
          <p:nvPr/>
        </p:nvSpPr>
        <p:spPr>
          <a:xfrm>
            <a:off x="8046720" y="1325880"/>
            <a:ext cx="3566160" cy="868680"/>
          </a:xfrm>
          <a:prstGeom prst="roundRect">
            <a:avLst>
              <a:gd name="adj" fmla="val 8421"/>
            </a:avLst>
          </a:prstGeom>
          <a:solidFill>
            <a:schemeClr val="accent3"/>
          </a:solidFill>
          <a:ln/>
        </p:spPr>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IHK-Punkte: Einsatzplanung 10 · Erfolgsmessung 10</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45 min · Orthografie und Schreibstil (25 Punkte) verantworten wir gemeinsam im Vier-Augen-Prinzip</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sp>
      <p:sp>
        <p:nvSpPr>
          <p:cNvPr id="7" name="Symbolkreis"/>
          <p:cNvSpPr/>
          <p:nvPr/>
        </p:nvSpPr>
        <p:spPr>
          <a:xfrm>
            <a:off x="731520" y="1527048"/>
            <a:ext cx="530352" cy="530352"/>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sp>
      <p:sp>
        <p:nvSpPr>
          <p:cNvPr id="12" name="Symbolkreis"/>
          <p:cNvSpPr/>
          <p:nvPr/>
        </p:nvSpPr>
        <p:spPr>
          <a:xfrm>
            <a:off x="4206240" y="1527048"/>
            <a:ext cx="530352" cy="530352"/>
          </a:xfrm>
          <a:prstGeom prst="ellipse">
            <a:avLst/>
          </a:prstGeom>
          <a:solidFill>
            <a:schemeClr val="accent1"/>
          </a:solidFill>
          <a:ln/>
        </p:spPr>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sp>
      <p:sp>
        <p:nvSpPr>
          <p:cNvPr id="17" name="Symbolkreis"/>
          <p:cNvSpPr/>
          <p:nvPr/>
        </p:nvSpPr>
        <p:spPr>
          <a:xfrm>
            <a:off x="731520" y="3008376"/>
            <a:ext cx="530352" cy="530352"/>
          </a:xfrm>
          <a:prstGeom prst="ellipse">
            <a:avLst/>
          </a:prstGeom>
          <a:solidFill>
            <a:schemeClr val="accent1"/>
          </a:solidFill>
          <a:ln/>
        </p:spPr>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3–6 %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sp>
      <p:sp>
        <p:nvSpPr>
          <p:cNvPr id="22" name="Symbolkreis"/>
          <p:cNvSpPr/>
          <p:nvPr/>
        </p:nvSpPr>
        <p:spPr>
          <a:xfrm>
            <a:off x="4206240" y="3008376"/>
            <a:ext cx="530352" cy="530352"/>
          </a:xfrm>
          <a:prstGeom prst="ellipse">
            <a:avLst/>
          </a:prstGeom>
          <a:solidFill>
            <a:schemeClr val="accent1"/>
          </a:solidFill>
          <a:ln/>
        </p:spPr>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sp>
      <p:sp>
        <p:nvSpPr>
          <p:cNvPr id="13" name="Symbolkreis"/>
          <p:cNvSpPr/>
          <p:nvPr/>
        </p:nvSpPr>
        <p:spPr>
          <a:xfrm>
            <a:off x="7955280" y="1508760"/>
            <a:ext cx="530352" cy="530352"/>
          </a:xfrm>
          <a:prstGeom prst="ellipse">
            <a:avLst/>
          </a:prstGeom>
          <a:solidFill>
            <a:schemeClr val="accent2"/>
          </a:solidFill>
          <a:ln/>
        </p:spPr>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sp>
      <p:sp>
        <p:nvSpPr>
          <p:cNvPr id="7" name="Symbolkreis"/>
          <p:cNvSpPr/>
          <p:nvPr/>
        </p:nvSpPr>
        <p:spPr>
          <a:xfrm>
            <a:off x="1225296" y="1481328"/>
            <a:ext cx="658368" cy="658368"/>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sp>
      <p:sp>
        <p:nvSpPr>
          <p:cNvPr id="13" name="Prozessschritt"/>
          <p:cNvSpPr/>
          <p:nvPr/>
        </p:nvSpPr>
        <p:spPr>
          <a:xfrm>
            <a:off x="2811780" y="1325880"/>
            <a:ext cx="2011680" cy="2011680"/>
          </a:xfrm>
          <a:prstGeom prst="roundRect">
            <a:avLst>
              <a:gd name="adj" fmla="val 3636"/>
            </a:avLst>
          </a:prstGeom>
          <a:solidFill>
            <a:schemeClr val="bg2"/>
          </a:solidFill>
          <a:ln/>
        </p:spPr>
      </p:sp>
      <p:sp>
        <p:nvSpPr>
          <p:cNvPr id="14" name="Symbolkreis"/>
          <p:cNvSpPr/>
          <p:nvPr/>
        </p:nvSpPr>
        <p:spPr>
          <a:xfrm>
            <a:off x="3488436" y="1481328"/>
            <a:ext cx="658368" cy="658368"/>
          </a:xfrm>
          <a:prstGeom prst="ellipse">
            <a:avLst/>
          </a:prstGeom>
          <a:solidFill>
            <a:schemeClr val="accent5"/>
          </a:solidFill>
          <a:ln/>
        </p:spPr>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sp>
      <p:sp>
        <p:nvSpPr>
          <p:cNvPr id="19" name="Prozessschritt"/>
          <p:cNvSpPr/>
          <p:nvPr/>
        </p:nvSpPr>
        <p:spPr>
          <a:xfrm>
            <a:off x="5074920" y="1325880"/>
            <a:ext cx="2011680" cy="2011680"/>
          </a:xfrm>
          <a:prstGeom prst="roundRect">
            <a:avLst>
              <a:gd name="adj" fmla="val 3636"/>
            </a:avLst>
          </a:prstGeom>
          <a:solidFill>
            <a:schemeClr val="bg2"/>
          </a:solidFill>
          <a:ln/>
        </p:spPr>
      </p:sp>
      <p:sp>
        <p:nvSpPr>
          <p:cNvPr id="20" name="Symbolkreis"/>
          <p:cNvSpPr/>
          <p:nvPr/>
        </p:nvSpPr>
        <p:spPr>
          <a:xfrm>
            <a:off x="5751576" y="1481328"/>
            <a:ext cx="658368" cy="658368"/>
          </a:xfrm>
          <a:prstGeom prst="ellipse">
            <a:avLst/>
          </a:prstGeom>
          <a:solidFill>
            <a:schemeClr val="accent1"/>
          </a:solidFill>
          <a:ln/>
        </p:spPr>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sp>
      <p:sp>
        <p:nvSpPr>
          <p:cNvPr id="26" name="Prozessschritt"/>
          <p:cNvSpPr/>
          <p:nvPr/>
        </p:nvSpPr>
        <p:spPr>
          <a:xfrm>
            <a:off x="7338060" y="1325880"/>
            <a:ext cx="2011680" cy="2011680"/>
          </a:xfrm>
          <a:prstGeom prst="roundRect">
            <a:avLst>
              <a:gd name="adj" fmla="val 3636"/>
            </a:avLst>
          </a:prstGeom>
          <a:solidFill>
            <a:schemeClr val="bg2"/>
          </a:solidFill>
          <a:ln/>
        </p:spPr>
      </p:sp>
      <p:sp>
        <p:nvSpPr>
          <p:cNvPr id="27" name="Symbolkreis"/>
          <p:cNvSpPr/>
          <p:nvPr/>
        </p:nvSpPr>
        <p:spPr>
          <a:xfrm>
            <a:off x="8014716" y="1481328"/>
            <a:ext cx="658368" cy="658368"/>
          </a:xfrm>
          <a:prstGeom prst="ellipse">
            <a:avLst/>
          </a:prstGeom>
          <a:solidFill>
            <a:schemeClr val="accent5"/>
          </a:solidFill>
          <a:ln/>
        </p:spPr>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3–6 %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sp>
      <p:sp>
        <p:nvSpPr>
          <p:cNvPr id="33" name="Prozessschritt"/>
          <p:cNvSpPr/>
          <p:nvPr/>
        </p:nvSpPr>
        <p:spPr>
          <a:xfrm>
            <a:off x="9601200" y="1325880"/>
            <a:ext cx="2011680" cy="2011680"/>
          </a:xfrm>
          <a:prstGeom prst="roundRect">
            <a:avLst>
              <a:gd name="adj" fmla="val 3636"/>
            </a:avLst>
          </a:prstGeom>
          <a:solidFill>
            <a:schemeClr val="bg2"/>
          </a:solidFill>
          <a:ln/>
        </p:spPr>
      </p:sp>
      <p:sp>
        <p:nvSpPr>
          <p:cNvPr id="34" name="Symbolkreis"/>
          <p:cNvSpPr/>
          <p:nvPr/>
        </p:nvSpPr>
        <p:spPr>
          <a:xfrm>
            <a:off x="10277856" y="1481328"/>
            <a:ext cx="658368" cy="658368"/>
          </a:xfrm>
          <a:prstGeom prst="ellipse">
            <a:avLst/>
          </a:prstGeom>
          <a:solidFill>
            <a:schemeClr val="accent5"/>
          </a:solidFill>
          <a:ln/>
        </p:spPr>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Matrix"/>
          <p:cNvSpPr/>
          <p:nvPr/>
        </p:nvSpPr>
        <p:spPr>
          <a:xfrm>
            <a:off x="1965960" y="1325880"/>
            <a:ext cx="5074920" cy="3611880"/>
          </a:xfrm>
          <a:prstGeom prst="roundRect">
            <a:avLst>
              <a:gd name="adj" fmla="val 2025"/>
            </a:avLst>
          </a:prstGeom>
          <a:solidFill>
            <a:schemeClr val="bg2"/>
          </a:solidFill>
          <a:ln/>
        </p:spPr>
      </p:sp>
      <p:sp>
        <p:nvSpPr>
          <p:cNvPr id="9" name="Hilfslinie"/>
          <p:cNvSpPr/>
          <p:nvPr/>
        </p:nvSpPr>
        <p:spPr>
          <a:xfrm>
            <a:off x="4503420" y="1463040"/>
            <a:ext cx="0" cy="3337560"/>
          </a:xfrm>
          <a:prstGeom prst="line">
            <a:avLst/>
          </a:prstGeom>
          <a:noFill/>
          <a:ln w="12700">
            <a:solidFill>
              <a:srgbClr val="C9D6D3"/>
            </a:solidFill>
            <a:prstDash val="dash"/>
          </a:ln>
        </p:spPr>
      </p:sp>
      <p:sp>
        <p:nvSpPr>
          <p:cNvPr id="10" name="Hilfslinie"/>
          <p:cNvSpPr/>
          <p:nvPr/>
        </p:nvSpPr>
        <p:spPr>
          <a:xfrm>
            <a:off x="2103120" y="3131820"/>
            <a:ext cx="4800600" cy="0"/>
          </a:xfrm>
          <a:prstGeom prst="line">
            <a:avLst/>
          </a:prstGeom>
          <a:noFill/>
          <a:ln w="12700">
            <a:solidFill>
              <a:srgbClr val="C9D6D3"/>
            </a:solidFill>
            <a:prstDash val="dash"/>
          </a:ln>
        </p:spPr>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sp>
      <p:sp>
        <p:nvSpPr>
          <p:cNvPr id="36" name="Symbolkreis"/>
          <p:cNvSpPr/>
          <p:nvPr/>
        </p:nvSpPr>
        <p:spPr>
          <a:xfrm>
            <a:off x="7589520" y="1508760"/>
            <a:ext cx="548640" cy="548640"/>
          </a:xfrm>
          <a:prstGeom prst="ellipse">
            <a:avLst/>
          </a:prstGeom>
          <a:solidFill>
            <a:schemeClr val="accent2"/>
          </a:solidFill>
          <a:ln/>
        </p:spPr>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10"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sp>
      <p:sp>
        <p:nvSpPr>
          <p:cNvPr id="7" name="Symbolkreis"/>
          <p:cNvSpPr/>
          <p:nvPr/>
        </p:nvSpPr>
        <p:spPr>
          <a:xfrm>
            <a:off x="731520" y="1463040"/>
            <a:ext cx="502920" cy="502920"/>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sp>
      <p:sp>
        <p:nvSpPr>
          <p:cNvPr id="12" name="Schritt"/>
          <p:cNvSpPr/>
          <p:nvPr/>
        </p:nvSpPr>
        <p:spPr>
          <a:xfrm>
            <a:off x="2811780" y="1325880"/>
            <a:ext cx="2011680" cy="1600200"/>
          </a:xfrm>
          <a:prstGeom prst="roundRect">
            <a:avLst>
              <a:gd name="adj" fmla="val 4571"/>
            </a:avLst>
          </a:prstGeom>
          <a:solidFill>
            <a:schemeClr val="bg2"/>
          </a:solidFill>
          <a:ln/>
        </p:spPr>
      </p:sp>
      <p:sp>
        <p:nvSpPr>
          <p:cNvPr id="13" name="Symbolkreis"/>
          <p:cNvSpPr/>
          <p:nvPr/>
        </p:nvSpPr>
        <p:spPr>
          <a:xfrm>
            <a:off x="2994660" y="1463040"/>
            <a:ext cx="502920" cy="502920"/>
          </a:xfrm>
          <a:prstGeom prst="ellipse">
            <a:avLst/>
          </a:prstGeom>
          <a:solidFill>
            <a:schemeClr val="accent1"/>
          </a:solidFill>
          <a:ln/>
        </p:spPr>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sp>
      <p:sp>
        <p:nvSpPr>
          <p:cNvPr id="18" name="Schritt"/>
          <p:cNvSpPr/>
          <p:nvPr/>
        </p:nvSpPr>
        <p:spPr>
          <a:xfrm>
            <a:off x="5074920" y="1325880"/>
            <a:ext cx="2011680" cy="1600200"/>
          </a:xfrm>
          <a:prstGeom prst="roundRect">
            <a:avLst>
              <a:gd name="adj" fmla="val 4571"/>
            </a:avLst>
          </a:prstGeom>
          <a:solidFill>
            <a:schemeClr val="bg2"/>
          </a:solidFill>
          <a:ln/>
        </p:spPr>
      </p:sp>
      <p:sp>
        <p:nvSpPr>
          <p:cNvPr id="19" name="Symbolkreis"/>
          <p:cNvSpPr/>
          <p:nvPr/>
        </p:nvSpPr>
        <p:spPr>
          <a:xfrm>
            <a:off x="5257800" y="1463040"/>
            <a:ext cx="502920" cy="502920"/>
          </a:xfrm>
          <a:prstGeom prst="ellipse">
            <a:avLst/>
          </a:prstGeom>
          <a:solidFill>
            <a:schemeClr val="accent1"/>
          </a:solidFill>
          <a:ln/>
        </p:spPr>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sp>
      <p:sp>
        <p:nvSpPr>
          <p:cNvPr id="24" name="Schritt"/>
          <p:cNvSpPr/>
          <p:nvPr/>
        </p:nvSpPr>
        <p:spPr>
          <a:xfrm>
            <a:off x="7338060" y="1325880"/>
            <a:ext cx="2011680" cy="1600200"/>
          </a:xfrm>
          <a:prstGeom prst="roundRect">
            <a:avLst>
              <a:gd name="adj" fmla="val 4571"/>
            </a:avLst>
          </a:prstGeom>
          <a:solidFill>
            <a:schemeClr val="bg2"/>
          </a:solidFill>
          <a:ln/>
        </p:spPr>
      </p:sp>
      <p:sp>
        <p:nvSpPr>
          <p:cNvPr id="25" name="Symbolkreis"/>
          <p:cNvSpPr/>
          <p:nvPr/>
        </p:nvSpPr>
        <p:spPr>
          <a:xfrm>
            <a:off x="7520940" y="1463040"/>
            <a:ext cx="502920" cy="502920"/>
          </a:xfrm>
          <a:prstGeom prst="ellipse">
            <a:avLst/>
          </a:prstGeom>
          <a:solidFill>
            <a:schemeClr val="accent1"/>
          </a:solidFill>
          <a:ln/>
        </p:spPr>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sp>
      <p:sp>
        <p:nvSpPr>
          <p:cNvPr id="30" name="Schritt"/>
          <p:cNvSpPr/>
          <p:nvPr/>
        </p:nvSpPr>
        <p:spPr>
          <a:xfrm>
            <a:off x="9601200" y="1325880"/>
            <a:ext cx="2011680" cy="1600200"/>
          </a:xfrm>
          <a:prstGeom prst="roundRect">
            <a:avLst>
              <a:gd name="adj" fmla="val 4571"/>
            </a:avLst>
          </a:prstGeom>
          <a:solidFill>
            <a:schemeClr val="bg2"/>
          </a:solidFill>
          <a:ln/>
        </p:spPr>
      </p:sp>
      <p:sp>
        <p:nvSpPr>
          <p:cNvPr id="31" name="Symbolkreis"/>
          <p:cNvSpPr/>
          <p:nvPr/>
        </p:nvSpPr>
        <p:spPr>
          <a:xfrm>
            <a:off x="9784080" y="1463040"/>
            <a:ext cx="502920" cy="502920"/>
          </a:xfrm>
          <a:prstGeom prst="ellipse">
            <a:avLst/>
          </a:prstGeom>
          <a:solidFill>
            <a:schemeClr val="accent1"/>
          </a:solidFill>
          <a:ln/>
        </p:spPr>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3–4 Cent und ca. 25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sp>
      <p:sp>
        <p:nvSpPr>
          <p:cNvPr id="8" name="Symbolkreis"/>
          <p:cNvSpPr/>
          <p:nvPr/>
        </p:nvSpPr>
        <p:spPr>
          <a:xfrm>
            <a:off x="8823960" y="1508760"/>
            <a:ext cx="548640" cy="548640"/>
          </a:xfrm>
          <a:prstGeom prst="ellipse">
            <a:avLst/>
          </a:prstGeom>
          <a:solidFill>
            <a:schemeClr val="accent2"/>
          </a:solidFill>
          <a:ln/>
        </p:spPr>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ca. 77.000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sp>
      <p:sp>
        <p:nvSpPr>
          <p:cNvPr id="8" name="Symbolkreis"/>
          <p:cNvSpPr/>
          <p:nvPr/>
        </p:nvSpPr>
        <p:spPr>
          <a:xfrm>
            <a:off x="8823960" y="1508760"/>
            <a:ext cx="548640" cy="548640"/>
          </a:xfrm>
          <a:prstGeom prst="ellipse">
            <a:avLst/>
          </a:prstGeom>
          <a:solidFill>
            <a:schemeClr val="accent1"/>
          </a:solidFill>
          <a:ln/>
        </p:spPr>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1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TCO-Entwurf vom 19.10.2026 · offen: Gewichtung der Kriterien, Preisquellen mit Abrufdatum</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2057400"/>
          </a:xfrm>
          <a:prstGeom prst="roundRect">
            <a:avLst>
              <a:gd name="adj" fmla="val 3636"/>
            </a:avLst>
          </a:prstGeom>
          <a:solidFill>
            <a:schemeClr val="bg2"/>
          </a:solidFill>
          <a:ln/>
        </p:spPr>
      </p:sp>
      <p:sp>
        <p:nvSpPr>
          <p:cNvPr id="7" name="Symbolkreis"/>
          <p:cNvSpPr/>
          <p:nvPr/>
        </p:nvSpPr>
        <p:spPr>
          <a:xfrm>
            <a:off x="731520" y="1463040"/>
            <a:ext cx="548640" cy="548640"/>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240280"/>
            <a:ext cx="237744" cy="146304"/>
          </a:xfrm>
          <a:prstGeom prst="triangle">
            <a:avLst/>
          </a:prstGeom>
          <a:solidFill>
            <a:schemeClr val="accent5"/>
          </a:solidFill>
          <a:ln/>
        </p:spPr>
      </p:sp>
      <p:sp>
        <p:nvSpPr>
          <p:cNvPr id="12" name="Schritt Erfassen"/>
          <p:cNvSpPr/>
          <p:nvPr/>
        </p:nvSpPr>
        <p:spPr>
          <a:xfrm>
            <a:off x="2811780" y="1325880"/>
            <a:ext cx="2011680" cy="2057400"/>
          </a:xfrm>
          <a:prstGeom prst="roundRect">
            <a:avLst>
              <a:gd name="adj" fmla="val 3636"/>
            </a:avLst>
          </a:prstGeom>
          <a:solidFill>
            <a:schemeClr val="bg2"/>
          </a:solidFill>
          <a:ln/>
        </p:spPr>
      </p:sp>
      <p:sp>
        <p:nvSpPr>
          <p:cNvPr id="13" name="Symbolkreis"/>
          <p:cNvSpPr/>
          <p:nvPr/>
        </p:nvSpPr>
        <p:spPr>
          <a:xfrm>
            <a:off x="2994660" y="1463040"/>
            <a:ext cx="548640" cy="548640"/>
          </a:xfrm>
          <a:prstGeom prst="ellipse">
            <a:avLst/>
          </a:prstGeom>
          <a:solidFill>
            <a:schemeClr val="accent1"/>
          </a:solidFill>
          <a:ln/>
        </p:spPr>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Schema, Patientendaten entfernen</a:t>
            </a:r>
            <a:endParaRPr lang="en-US" sz="1300" dirty="0"/>
          </a:p>
        </p:txBody>
      </p:sp>
      <p:sp>
        <p:nvSpPr>
          <p:cNvPr id="17" name="Pfeil"/>
          <p:cNvSpPr/>
          <p:nvPr/>
        </p:nvSpPr>
        <p:spPr>
          <a:xfrm rot="5400000">
            <a:off x="4832604" y="2240280"/>
            <a:ext cx="237744" cy="146304"/>
          </a:xfrm>
          <a:prstGeom prst="triangle">
            <a:avLst/>
          </a:prstGeom>
          <a:solidFill>
            <a:schemeClr val="accent5"/>
          </a:solidFill>
          <a:ln/>
        </p:spPr>
      </p:sp>
      <p:sp>
        <p:nvSpPr>
          <p:cNvPr id="18" name="Schritt Fakten"/>
          <p:cNvSpPr/>
          <p:nvPr/>
        </p:nvSpPr>
        <p:spPr>
          <a:xfrm>
            <a:off x="5074920" y="1325880"/>
            <a:ext cx="2011680" cy="2057400"/>
          </a:xfrm>
          <a:prstGeom prst="roundRect">
            <a:avLst>
              <a:gd name="adj" fmla="val 3636"/>
            </a:avLst>
          </a:prstGeom>
          <a:solidFill>
            <a:schemeClr val="tx2"/>
          </a:solidFill>
          <a:ln/>
        </p:spPr>
      </p:sp>
      <p:sp>
        <p:nvSpPr>
          <p:cNvPr id="19" name="Symbolkreis"/>
          <p:cNvSpPr/>
          <p:nvPr/>
        </p:nvSpPr>
        <p:spPr>
          <a:xfrm>
            <a:off x="5257800" y="1463040"/>
            <a:ext cx="548640" cy="548640"/>
          </a:xfrm>
          <a:prstGeom prst="ellipse">
            <a:avLst/>
          </a:prstGeom>
          <a:solidFill>
            <a:schemeClr val="accent2"/>
          </a:solidFill>
          <a:ln/>
        </p:spPr>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240280"/>
            <a:ext cx="237744" cy="146304"/>
          </a:xfrm>
          <a:prstGeom prst="triangle">
            <a:avLst/>
          </a:prstGeom>
          <a:solidFill>
            <a:schemeClr val="accent5"/>
          </a:solidFill>
          <a:ln/>
        </p:spPr>
      </p:sp>
      <p:sp>
        <p:nvSpPr>
          <p:cNvPr id="24" name="Schritt 4 Prüfer"/>
          <p:cNvSpPr/>
          <p:nvPr/>
        </p:nvSpPr>
        <p:spPr>
          <a:xfrm>
            <a:off x="7338060" y="1325880"/>
            <a:ext cx="2011680" cy="2057400"/>
          </a:xfrm>
          <a:prstGeom prst="roundRect">
            <a:avLst>
              <a:gd name="adj" fmla="val 3636"/>
            </a:avLst>
          </a:prstGeom>
          <a:solidFill>
            <a:schemeClr val="bg2"/>
          </a:solidFill>
          <a:ln/>
        </p:spPr>
      </p:sp>
      <p:sp>
        <p:nvSpPr>
          <p:cNvPr id="25" name="Symbolkreis"/>
          <p:cNvSpPr/>
          <p:nvPr/>
        </p:nvSpPr>
        <p:spPr>
          <a:xfrm>
            <a:off x="7520940" y="1463040"/>
            <a:ext cx="548640" cy="548640"/>
          </a:xfrm>
          <a:prstGeom prst="ellipse">
            <a:avLst/>
          </a:prstGeom>
          <a:solidFill>
            <a:schemeClr val="accent1"/>
          </a:solidFill>
          <a:ln/>
        </p:spPr>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240280"/>
            <a:ext cx="237744" cy="146304"/>
          </a:xfrm>
          <a:prstGeom prst="triangle">
            <a:avLst/>
          </a:prstGeom>
          <a:solidFill>
            <a:schemeClr val="accent5"/>
          </a:solidFill>
          <a:ln/>
        </p:spPr>
      </p:sp>
      <p:sp>
        <p:nvSpPr>
          <p:cNvPr id="30" name="Schritt Ampel"/>
          <p:cNvSpPr/>
          <p:nvPr/>
        </p:nvSpPr>
        <p:spPr>
          <a:xfrm>
            <a:off x="9601200" y="1325880"/>
            <a:ext cx="2011680" cy="2057400"/>
          </a:xfrm>
          <a:prstGeom prst="roundRect">
            <a:avLst>
              <a:gd name="adj" fmla="val 3636"/>
            </a:avLst>
          </a:prstGeom>
          <a:solidFill>
            <a:schemeClr val="tx2"/>
          </a:solidFill>
          <a:ln/>
        </p:spPr>
      </p:sp>
      <p:sp>
        <p:nvSpPr>
          <p:cNvPr id="31" name="Symbolkreis"/>
          <p:cNvSpPr/>
          <p:nvPr/>
        </p:nvSpPr>
        <p:spPr>
          <a:xfrm>
            <a:off x="9784080" y="1463040"/>
            <a:ext cx="548640" cy="548640"/>
          </a:xfrm>
          <a:prstGeom prst="ellipse">
            <a:avLst/>
          </a:prstGeom>
          <a:solidFill>
            <a:schemeClr val="accent2"/>
          </a:solidFill>
          <a:ln/>
        </p:spPr>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456432"/>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3840480"/>
            <a:ext cx="5394960" cy="2057400"/>
          </a:xfrm>
          <a:prstGeom prst="roundRect">
            <a:avLst>
              <a:gd name="adj" fmla="val 3556"/>
            </a:avLst>
          </a:prstGeom>
          <a:solidFill>
            <a:schemeClr val="bg2"/>
          </a:solidFill>
          <a:ln/>
        </p:spPr>
      </p:sp>
      <p:sp>
        <p:nvSpPr>
          <p:cNvPr id="37" name="Symbolkreis"/>
          <p:cNvSpPr/>
          <p:nvPr/>
        </p:nvSpPr>
        <p:spPr>
          <a:xfrm>
            <a:off x="777240" y="3977640"/>
            <a:ext cx="502920" cy="502920"/>
          </a:xfrm>
          <a:prstGeom prst="ellipse">
            <a:avLst/>
          </a:prstGeom>
          <a:solidFill>
            <a:schemeClr val="accent1"/>
          </a:solidFill>
          <a:ln/>
        </p:spPr>
      </p:sp>
      <p:pic>
        <p:nvPicPr>
          <p:cNvPr id="38" name="Symbol" descr="preencoded.png">    </p:cNvPr>
          <p:cNvPicPr>
            <a:picLocks noChangeAspect="1"/>
          </p:cNvPicPr>
          <p:nvPr/>
        </p:nvPicPr>
        <p:blipFill>
          <a:blip r:embed="rId7"/>
          <a:stretch>
            <a:fillRect/>
          </a:stretch>
        </p:blipFill>
        <p:spPr>
          <a:xfrm>
            <a:off x="902970" y="4103370"/>
            <a:ext cx="251460" cy="251460"/>
          </a:xfrm>
          <a:prstGeom prst="rect">
            <a:avLst/>
          </a:prstGeom>
        </p:spPr>
      </p:pic>
      <p:sp>
        <p:nvSpPr>
          <p:cNvPr id="39" name="Text 30"/>
          <p:cNvSpPr txBox="1"/>
          <p:nvPr/>
        </p:nvSpPr>
        <p:spPr>
          <a:xfrm>
            <a:off x="1417320" y="39776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4572000"/>
            <a:ext cx="4937760" cy="12801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n8n Cloud: Workflow, Formular, Chat</a:t>
            </a:r>
            <a:endParaRPr lang="en-US" sz="1400" dirty="0"/>
          </a:p>
          <a:p>
            <a:pPr marL="177800" indent="-177800">
              <a:spcAft>
                <a:spcPts val="500"/>
              </a:spcAft>
              <a:buSzPct val="100000"/>
              <a:buChar char="•"/>
            </a:pPr>
            <a:r>
              <a:rPr lang="en-US" sz="1300" dirty="0">
                <a:solidFill>
                  <a:schemeClr val="tx1"/>
                </a:solidFill>
              </a:rPr>
              <a:t>OpenAI gpt-4.1-mini, text-embedding-3-small</a:t>
            </a:r>
            <a:endParaRPr lang="en-US" sz="1400" dirty="0"/>
          </a:p>
          <a:p>
            <a:pPr marL="177800" indent="-177800">
              <a:spcAft>
                <a:spcPts val="500"/>
              </a:spcAft>
              <a:buSzPct val="100000"/>
              <a:buChar char="•"/>
            </a:pPr>
            <a:r>
              <a:rPr lang="en-US" sz="1300" dirty="0">
                <a:solidFill>
                  <a:schemeClr val="tx1"/>
                </a:solidFill>
              </a:rPr>
              <a:t>Supabase (Frankfurt): Wissensbasis, Protokoll</a:t>
            </a:r>
            <a:endParaRPr lang="en-US" sz="1400" dirty="0"/>
          </a:p>
          <a:p>
            <a:pPr marL="177800" indent="-177800">
              <a:spcAft>
                <a:spcPts val="500"/>
              </a:spcAft>
              <a:buSzPct val="100000"/>
              <a:buChar char="•"/>
            </a:pPr>
            <a:r>
              <a:rPr lang="en-US" sz="1300" dirty="0">
                <a:solidFill>
                  <a:schemeClr val="tx1"/>
                </a:solidFill>
              </a:rPr>
              <a:t>GitHub: Exporte, Tests, Doku</a:t>
            </a:r>
            <a:endParaRPr lang="en-US" sz="1400" dirty="0"/>
          </a:p>
        </p:txBody>
      </p:sp>
      <p:sp>
        <p:nvSpPr>
          <p:cNvPr id="41" name="Leitsatz"/>
          <p:cNvSpPr/>
          <p:nvPr/>
        </p:nvSpPr>
        <p:spPr>
          <a:xfrm>
            <a:off x="6126480" y="3840480"/>
            <a:ext cx="5513832" cy="2057400"/>
          </a:xfrm>
          <a:prstGeom prst="roundRect">
            <a:avLst>
              <a:gd name="adj" fmla="val 3556"/>
            </a:avLst>
          </a:prstGeom>
          <a:solidFill>
            <a:schemeClr val="tx2"/>
          </a:solidFill>
          <a:ln/>
        </p:spPr>
      </p:sp>
      <p:sp>
        <p:nvSpPr>
          <p:cNvPr id="42" name="Symbolkreis"/>
          <p:cNvSpPr/>
          <p:nvPr/>
        </p:nvSpPr>
        <p:spPr>
          <a:xfrm>
            <a:off x="6355080" y="3977640"/>
            <a:ext cx="502920" cy="502920"/>
          </a:xfrm>
          <a:prstGeom prst="ellipse">
            <a:avLst/>
          </a:prstGeom>
          <a:solidFill>
            <a:schemeClr val="accent2"/>
          </a:solidFill>
          <a:ln/>
        </p:spPr>
      </p:sp>
      <p:pic>
        <p:nvPicPr>
          <p:cNvPr id="43" name="Symbol" descr="preencoded.png">    </p:cNvPr>
          <p:cNvPicPr>
            <a:picLocks noChangeAspect="1"/>
          </p:cNvPicPr>
          <p:nvPr/>
        </p:nvPicPr>
        <p:blipFill>
          <a:blip r:embed="rId8"/>
          <a:stretch>
            <a:fillRect/>
          </a:stretch>
        </p:blipFill>
        <p:spPr>
          <a:xfrm>
            <a:off x="6480810" y="4103370"/>
            <a:ext cx="251460" cy="251460"/>
          </a:xfrm>
          <a:prstGeom prst="rect">
            <a:avLst/>
          </a:prstGeom>
        </p:spPr>
      </p:pic>
      <p:sp>
        <p:nvSpPr>
          <p:cNvPr id="44" name="Text 34"/>
          <p:cNvSpPr txBox="1"/>
          <p:nvPr/>
        </p:nvSpPr>
        <p:spPr>
          <a:xfrm>
            <a:off x="6995160" y="397764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4572000"/>
            <a:ext cx="5074920" cy="123444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a:t>
            </a:r>
            <a:pPr indent="0" marL="0">
              <a:buNone/>
            </a:pPr>
            <a:r>
              <a:rPr lang="en-US" sz="1500" dirty="0">
                <a:solidFill>
                  <a:schemeClr val="bg1"/>
                </a:solidFill>
              </a:rPr>
              <a:t>kritische Fehlalarme von 12 (v1) auf 0 (v4); Code-Regeln mit 34 automatischen Tests (v4 und Merge) abgesichert</a:t>
            </a: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Original bleibt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sp>
      <p:sp>
        <p:nvSpPr>
          <p:cNvPr id="7" name="Nummer"/>
          <p:cNvSpPr/>
          <p:nvPr/>
        </p:nvSpPr>
        <p:spPr>
          <a:xfrm>
            <a:off x="731520" y="1499616"/>
            <a:ext cx="512064" cy="512064"/>
          </a:xfrm>
          <a:prstGeom prst="ellipse">
            <a:avLst/>
          </a:prstGeom>
          <a:solidFill>
            <a:schemeClr val="accent1"/>
          </a:solidFill>
          <a:ln/>
        </p:spPr>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sp>
      <p:sp>
        <p:nvSpPr>
          <p:cNvPr id="15" name="Nummer"/>
          <p:cNvSpPr/>
          <p:nvPr/>
        </p:nvSpPr>
        <p:spPr>
          <a:xfrm>
            <a:off x="731520" y="2523744"/>
            <a:ext cx="512064" cy="512064"/>
          </a:xfrm>
          <a:prstGeom prst="ellipse">
            <a:avLst/>
          </a:prstGeom>
          <a:solidFill>
            <a:schemeClr val="accent1"/>
          </a:solidFill>
          <a:ln/>
        </p:spPr>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sp>
      <p:sp>
        <p:nvSpPr>
          <p:cNvPr id="23" name="Nummer"/>
          <p:cNvSpPr/>
          <p:nvPr/>
        </p:nvSpPr>
        <p:spPr>
          <a:xfrm>
            <a:off x="731520" y="3547872"/>
            <a:ext cx="512064" cy="512064"/>
          </a:xfrm>
          <a:prstGeom prst="ellipse">
            <a:avLst/>
          </a:prstGeom>
          <a:solidFill>
            <a:schemeClr val="accent1"/>
          </a:solidFill>
          <a:ln/>
        </p:spPr>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sp>
      <p:sp>
        <p:nvSpPr>
          <p:cNvPr id="31" name="Nummer"/>
          <p:cNvSpPr/>
          <p:nvPr/>
        </p:nvSpPr>
        <p:spPr>
          <a:xfrm>
            <a:off x="731520" y="4572000"/>
            <a:ext cx="512064" cy="512064"/>
          </a:xfrm>
          <a:prstGeom prst="ellipse">
            <a:avLst/>
          </a:prstGeom>
          <a:solidFill>
            <a:schemeClr val="accent1"/>
          </a:solidFill>
          <a:ln/>
        </p:spPr>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sp>
      <p:sp>
        <p:nvSpPr>
          <p:cNvPr id="7" name="Symbolkreis"/>
          <p:cNvSpPr/>
          <p:nvPr/>
        </p:nvSpPr>
        <p:spPr>
          <a:xfrm>
            <a:off x="777240" y="1481328"/>
            <a:ext cx="548640" cy="54864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sp>
      <p:sp>
        <p:nvSpPr>
          <p:cNvPr id="12" name="Prüf-Agent"/>
          <p:cNvSpPr/>
          <p:nvPr/>
        </p:nvSpPr>
        <p:spPr>
          <a:xfrm>
            <a:off x="4297680" y="1325880"/>
            <a:ext cx="3566160" cy="2103120"/>
          </a:xfrm>
          <a:prstGeom prst="roundRect">
            <a:avLst>
              <a:gd name="adj" fmla="val 3478"/>
            </a:avLst>
          </a:prstGeom>
          <a:solidFill>
            <a:schemeClr val="tx2"/>
          </a:solidFill>
          <a:ln/>
        </p:spPr>
      </p:sp>
      <p:sp>
        <p:nvSpPr>
          <p:cNvPr id="13" name="Symbolkreis"/>
          <p:cNvSpPr/>
          <p:nvPr/>
        </p:nvSpPr>
        <p:spPr>
          <a:xfrm>
            <a:off x="4526280" y="1481328"/>
            <a:ext cx="548640" cy="548640"/>
          </a:xfrm>
          <a:prstGeom prst="ellipse">
            <a:avLst/>
          </a:prstGeom>
          <a:solidFill>
            <a:schemeClr val="accent2"/>
          </a:solidFill>
          <a:ln/>
        </p:spPr>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sp>
      <p:sp>
        <p:nvSpPr>
          <p:cNvPr id="18" name="Ausgabe"/>
          <p:cNvSpPr/>
          <p:nvPr/>
        </p:nvSpPr>
        <p:spPr>
          <a:xfrm>
            <a:off x="8046720" y="1325880"/>
            <a:ext cx="3566160" cy="2103120"/>
          </a:xfrm>
          <a:prstGeom prst="roundRect">
            <a:avLst>
              <a:gd name="adj" fmla="val 3478"/>
            </a:avLst>
          </a:prstGeom>
          <a:solidFill>
            <a:schemeClr val="bg2"/>
          </a:solidFill>
          <a:ln/>
        </p:spPr>
      </p:sp>
      <p:sp>
        <p:nvSpPr>
          <p:cNvPr id="19" name="Symbolkreis"/>
          <p:cNvSpPr/>
          <p:nvPr/>
        </p:nvSpPr>
        <p:spPr>
          <a:xfrm>
            <a:off x="8275320" y="1481328"/>
            <a:ext cx="548640" cy="548640"/>
          </a:xfrm>
          <a:prstGeom prst="ellipse">
            <a:avLst/>
          </a:prstGeom>
          <a:solidFill>
            <a:schemeClr val="accent3"/>
          </a:solidFill>
          <a:ln/>
        </p:spPr>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sp>
      <p:sp>
        <p:nvSpPr>
          <p:cNvPr id="24" name="Symbolkreis"/>
          <p:cNvSpPr/>
          <p:nvPr/>
        </p:nvSpPr>
        <p:spPr>
          <a:xfrm>
            <a:off x="777240" y="3749040"/>
            <a:ext cx="502920" cy="502920"/>
          </a:xfrm>
          <a:prstGeom prst="ellipse">
            <a:avLst/>
          </a:prstGeom>
          <a:solidFill>
            <a:schemeClr val="accent3"/>
          </a:solidFill>
          <a:ln/>
        </p:spPr>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sp>
      <p:sp>
        <p:nvSpPr>
          <p:cNvPr id="7" name="Symbolkreis"/>
          <p:cNvSpPr/>
          <p:nvPr/>
        </p:nvSpPr>
        <p:spPr>
          <a:xfrm>
            <a:off x="777240" y="1645920"/>
            <a:ext cx="594360" cy="59436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sp>
      <p:sp>
        <p:nvSpPr>
          <p:cNvPr id="12" name="Symbolkreis"/>
          <p:cNvSpPr/>
          <p:nvPr/>
        </p:nvSpPr>
        <p:spPr>
          <a:xfrm>
            <a:off x="3584448" y="1645920"/>
            <a:ext cx="594360" cy="594360"/>
          </a:xfrm>
          <a:prstGeom prst="ellipse">
            <a:avLst/>
          </a:prstGeom>
          <a:solidFill>
            <a:schemeClr val="accent3"/>
          </a:solidFill>
          <a:ln/>
        </p:spPr>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parallel, ca. 25–30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sp>
      <p:sp>
        <p:nvSpPr>
          <p:cNvPr id="17" name="Symbolkreis"/>
          <p:cNvSpPr/>
          <p:nvPr/>
        </p:nvSpPr>
        <p:spPr>
          <a:xfrm>
            <a:off x="6391656" y="1645920"/>
            <a:ext cx="594360" cy="594360"/>
          </a:xfrm>
          <a:prstGeom prst="ellipse">
            <a:avLst/>
          </a:prstGeom>
          <a:solidFill>
            <a:schemeClr val="accent3"/>
          </a:solidFill>
          <a:ln/>
        </p:spPr>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sp>
      <p:sp>
        <p:nvSpPr>
          <p:cNvPr id="22" name="Symbolkreis"/>
          <p:cNvSpPr/>
          <p:nvPr/>
        </p:nvSpPr>
        <p:spPr>
          <a:xfrm>
            <a:off x="9198864" y="1645920"/>
            <a:ext cx="594360" cy="594360"/>
          </a:xfrm>
          <a:prstGeom prst="ellipse">
            <a:avLst/>
          </a:prstGeom>
          <a:solidFill>
            <a:schemeClr val="accent3"/>
          </a:solidFill>
          <a:ln/>
        </p:spPr>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Rückfall: Screenshots je Ampelfarbe, falls die Verbindung ausfällt</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23.10.2026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sp>
      <p:sp>
        <p:nvSpPr>
          <p:cNvPr id="7" name="Symbolkreis"/>
          <p:cNvSpPr/>
          <p:nvPr/>
        </p:nvSpPr>
        <p:spPr>
          <a:xfrm>
            <a:off x="822960" y="1508760"/>
            <a:ext cx="548640" cy="54864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Merge-Workflow (Hauptstand)</a:t>
            </a:r>
            <a:endParaRPr lang="en-US" sz="1400" dirty="0"/>
          </a:p>
          <a:p>
            <a:pPr indent="0" marL="0">
              <a:buNone/>
            </a:pPr>
            <a:r>
              <a:rPr lang="en-US" sz="1400" dirty="0">
                <a:solidFill>
                  <a:schemeClr val="tx1"/>
                </a:solidFill>
              </a:rPr>
              <a:t>Formular und Chat, Patientendaten ersetzen, vier Prüfer, Fakten aus dem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Vier Prüfer v4 (Fallback)</a:t>
            </a:r>
            <a:endParaRPr lang="en-US" sz="1400" dirty="0"/>
          </a:p>
          <a:p>
            <a:pPr indent="0" marL="0">
              <a:buNone/>
            </a:pPr>
            <a:r>
              <a:rPr lang="en-US" sz="1400" dirty="0">
                <a:solidFill>
                  <a:schemeClr val="tx1"/>
                </a:solidFill>
              </a:rPr>
              <a:t>unverändert, lauffähig</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Noch nicht öffentlich: </a:t>
            </a:r>
            <a:pPr indent="0" marL="0">
              <a:buNone/>
            </a:pPr>
            <a:r>
              <a:rPr lang="en-US" sz="1400" dirty="0">
                <a:solidFill>
                  <a:schemeClr val="tx1"/>
                </a:solidFill>
              </a:rPr>
              <a:t>erst mit aktiver Anmeldung</a:t>
            </a: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Hinweis mehr (HeilM-RL § 12 Abs. 1: Abweichung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23.10.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Diagnose-Prüfer geschärft, Leitsymptomatik und Summe in den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 Läufe: 13 einwandfrei; Fehlalarme behoben, 1 Abbruch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23.10.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Hinweis besonderer Verordnungsbedarf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noch unzuverlässig (4 von 4 Läufen verpasst) → KBV-Liste in den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Details: docs/aenderungsprotokoll.md · Laufzeit 20–34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 98 % auf mindestens 50 neuen Fällen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Zielwert"/>
          <p:cNvSpPr/>
          <p:nvPr/>
        </p:nvSpPr>
        <p:spPr>
          <a:xfrm>
            <a:off x="548640" y="1325880"/>
            <a:ext cx="3566160" cy="4526280"/>
          </a:xfrm>
          <a:prstGeom prst="roundRect">
            <a:avLst>
              <a:gd name="adj" fmla="val 2051"/>
            </a:avLst>
          </a:prstGeom>
          <a:solidFill>
            <a:schemeClr val="tx2"/>
          </a:solidFill>
          <a:ln/>
        </p:spPr>
      </p:sp>
      <p:sp>
        <p:nvSpPr>
          <p:cNvPr id="9" name="Symbolkreis"/>
          <p:cNvSpPr/>
          <p:nvPr/>
        </p:nvSpPr>
        <p:spPr>
          <a:xfrm>
            <a:off x="822960" y="1508760"/>
            <a:ext cx="548640" cy="548640"/>
          </a:xfrm>
          <a:prstGeom prst="ellipse">
            <a:avLst/>
          </a:prstGeom>
          <a:solidFill>
            <a:schemeClr val="accent3"/>
          </a:solidFill>
          <a:ln/>
        </p:spPr>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Zielwert</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 98 %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höchstens 1 Fehler bei 50 Fällen, jeder Fall 3 Läufe</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übersehener Fehler kostet Geld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ignoriert die Rezeption die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Wird im Code gerechnet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Nachvollziehbarkeit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Sprachmodelle schwanken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Alltagstauglich, wirtschaftlich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Set E"/>
          <p:cNvSpPr/>
          <p:nvPr/>
        </p:nvSpPr>
        <p:spPr>
          <a:xfrm>
            <a:off x="548640" y="1325880"/>
            <a:ext cx="2560320" cy="2377440"/>
          </a:xfrm>
          <a:prstGeom prst="roundRect">
            <a:avLst>
              <a:gd name="adj" fmla="val 3077"/>
            </a:avLst>
          </a:prstGeom>
          <a:solidFill>
            <a:schemeClr val="tx2"/>
          </a:solidFill>
          <a:ln/>
        </p:spPr>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65 × 3 = 195 Prüfungen, ca. 1,5 h und 6–8 €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Bisher (v4, 10 Fälle): 10/10 Ampeln korrekt, kritische Fehlalarme 12 → 0 – zählt nicht als formale Evaluation · tests/testbatterie.md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Phase"/>
          <p:cNvSpPr/>
          <p:nvPr/>
        </p:nvSpPr>
        <p:spPr>
          <a:xfrm>
            <a:off x="548640" y="1325880"/>
            <a:ext cx="2651760" cy="3657600"/>
          </a:xfrm>
          <a:prstGeom prst="roundRect">
            <a:avLst>
              <a:gd name="adj" fmla="val 2759"/>
            </a:avLst>
          </a:prstGeom>
          <a:solidFill>
            <a:schemeClr val="bg2"/>
          </a:solidFill>
          <a:ln/>
        </p:spPr>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sp>
      <p:sp>
        <p:nvSpPr>
          <p:cNvPr id="37" name="Symbolkreis"/>
          <p:cNvSpPr/>
          <p:nvPr/>
        </p:nvSpPr>
        <p:spPr>
          <a:xfrm>
            <a:off x="731520" y="5257800"/>
            <a:ext cx="548640" cy="548640"/>
          </a:xfrm>
          <a:prstGeom prst="ellipse">
            <a:avLst/>
          </a:prstGeom>
          <a:solidFill>
            <a:schemeClr val="accent3"/>
          </a:solidFill>
          <a:ln/>
        </p:spPr>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26.–30.10.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mit 65 Fällen × 3</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15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Lernpunkt"/>
          <p:cNvSpPr/>
          <p:nvPr/>
        </p:nvSpPr>
        <p:spPr>
          <a:xfrm>
            <a:off x="548640" y="1325880"/>
            <a:ext cx="3611880" cy="2103120"/>
          </a:xfrm>
          <a:prstGeom prst="roundRect">
            <a:avLst>
              <a:gd name="adj" fmla="val 3478"/>
            </a:avLst>
          </a:prstGeom>
          <a:solidFill>
            <a:schemeClr val="bg2"/>
          </a:solidFill>
          <a:ln/>
        </p:spPr>
      </p:sp>
      <p:sp>
        <p:nvSpPr>
          <p:cNvPr id="9" name="Symbolkreis"/>
          <p:cNvSpPr/>
          <p:nvPr/>
        </p:nvSpPr>
        <p:spPr>
          <a:xfrm>
            <a:off x="777240" y="1554480"/>
            <a:ext cx="548640" cy="548640"/>
          </a:xfrm>
          <a:prstGeom prst="ellipse">
            <a:avLst/>
          </a:prstGeom>
          <a:solidFill>
            <a:schemeClr val="accent1"/>
          </a:solidFill>
          <a:ln/>
        </p:spPr>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sp>
      <p:sp>
        <p:nvSpPr>
          <p:cNvPr id="14" name="Symbolkreis"/>
          <p:cNvSpPr/>
          <p:nvPr/>
        </p:nvSpPr>
        <p:spPr>
          <a:xfrm>
            <a:off x="4572000" y="1554480"/>
            <a:ext cx="548640" cy="548640"/>
          </a:xfrm>
          <a:prstGeom prst="ellipse">
            <a:avLst/>
          </a:prstGeom>
          <a:solidFill>
            <a:schemeClr val="accent1"/>
          </a:solidFill>
          <a:ln/>
        </p:spPr>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bis zuletzt: ICD-Zuordnung, Leitsymptomatik, KBV-Liste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sp>
      <p:sp>
        <p:nvSpPr>
          <p:cNvPr id="19" name="Symbolkreis"/>
          <p:cNvSpPr/>
          <p:nvPr/>
        </p:nvSpPr>
        <p:spPr>
          <a:xfrm>
            <a:off x="777240" y="3840480"/>
            <a:ext cx="548640" cy="548640"/>
          </a:xfrm>
          <a:prstGeom prst="ellipse">
            <a:avLst/>
          </a:prstGeom>
          <a:solidFill>
            <a:schemeClr val="accent1"/>
          </a:solidFill>
          <a:ln/>
        </p:spPr>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sp>
      <p:sp>
        <p:nvSpPr>
          <p:cNvPr id="24" name="Symbolkreis"/>
          <p:cNvSpPr/>
          <p:nvPr/>
        </p:nvSpPr>
        <p:spPr>
          <a:xfrm>
            <a:off x="4572000" y="3840480"/>
            <a:ext cx="548640" cy="548640"/>
          </a:xfrm>
          <a:prstGeom prst="ellipse">
            <a:avLst/>
          </a:prstGeom>
          <a:solidFill>
            <a:schemeClr val="accent1"/>
          </a:solidFill>
          <a:ln/>
        </p:spPr>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sp>
      <p:sp>
        <p:nvSpPr>
          <p:cNvPr id="29" name="Symbolkreis"/>
          <p:cNvSpPr/>
          <p:nvPr/>
        </p:nvSpPr>
        <p:spPr>
          <a:xfrm>
            <a:off x="8366760" y="1508760"/>
            <a:ext cx="548640" cy="548640"/>
          </a:xfrm>
          <a:prstGeom prst="ellipse">
            <a:avLst/>
          </a:prstGeom>
          <a:solidFill>
            <a:schemeClr val="accent2"/>
          </a:solidFill>
          <a:ln/>
        </p:spPr>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98 %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Zielquote des Systems</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sp>
      <p:sp>
        <p:nvSpPr>
          <p:cNvPr id="19" name="Symbolkreis"/>
          <p:cNvSpPr/>
          <p:nvPr/>
        </p:nvSpPr>
        <p:spPr>
          <a:xfrm>
            <a:off x="822960" y="4343400"/>
            <a:ext cx="640080" cy="640080"/>
          </a:xfrm>
          <a:prstGeom prst="ellipse">
            <a:avLst/>
          </a:prstGeom>
          <a:solidFill>
            <a:schemeClr val="accent1"/>
          </a:solidFill>
          <a:ln/>
        </p:spPr>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