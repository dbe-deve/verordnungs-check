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d3df6df5-8c00-b9fa-f826-22510430538b}">
          <p14:sldIdLst>
            <p14:sldId id="256"/>
            <p14:sldId id="257"/>
          </p14:sldIdLst>
        </p14:section>
        <p14:section name="Thomas: Ist/Soll und Einsatzfelder" id="{e9ed9643-9a75-32b7-c754-96939f83ec3b}">
          <p14:sldIdLst>
            <p14:sldId id="258"/>
            <p14:sldId id="259"/>
            <p14:sldId id="260"/>
          </p14:sldIdLst>
        </p14:section>
        <p14:section name="Valentin: Tools und Architektur" id="{c28a8c47-6f04-cab3-b9d0-439ec03cc0f6}">
          <p14:sldIdLst>
            <p14:sldId id="261"/>
            <p14:sldId id="262"/>
            <p14:sldId id="263"/>
          </p14:sldIdLst>
        </p14:section>
        <p14:section name="Derk: Prototyp, Messung, Einsatz" id="{539b5440-0cce-9bb9-8f2c-d440d7a9884f}">
          <p14:sldIdLst>
            <p14:sldId id="264"/>
            <p14:sldId id="265"/>
            <p14:sldId id="266"/>
          </p14:sldIdLst>
        </p14:section>
        <p14:section name="Thomas: Schluss" id="{f903afa4-6696-a8e3-f7eb-24d6e2b6410f}">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43B"/>
                </a:solidFill>
                <a:latin typeface="+mn-lt"/>
              </a:defRPr>
            </a:pPr>
            <a:r>
              <a:rPr sz="1400" b="0" i="0" u="none" strike="noStrike">
                <a:solidFill>
                  <a:srgbClr val="12343B"/>
                </a:solidFill>
                <a:latin typeface="+mn-lt"/>
              </a:rPr>
              <a:t>Eingesparte Arbeitgeberkosten je Quartal in €</a:t>
            </a:r>
          </a:p>
        </c:rich>
      </c:tx>
      <c:layout/>
      <c:overlay val="0"/>
    </c:title>
    <c:autoTitleDeleted val="0"/>
    <c:plotArea>
      <c:layout/>
      <c:barChart>
        <c:barDir val="col"/>
        <c:grouping val="stacked"/>
        <c:varyColors val="0"/>
        <c:ser>
          <c:idx val="0"/>
          <c:order val="0"/>
          <c:tx>
            <c:strRef>
              <c:f>Sheet1!$B$1</c:f>
              <c:strCache>
                <c:ptCount val="1"/>
                <c:pt idx="0">
                  <c:v>Jahr 1 (Anlauf)</c:v>
                </c:pt>
              </c:strCache>
            </c:strRef>
          </c:tx>
          <c:spPr>
            <a:solidFill>
              <a:srgbClr val="2A9D8F"/>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Q1</c:v>
                  </c:pt>
                  <c:pt idx="1">
                    <c:v>Q2</c:v>
                  </c:pt>
                  <c:pt idx="2">
                    <c:v>Q3</c:v>
                  </c:pt>
                  <c:pt idx="3">
                    <c:v>Q4</c:v>
                  </c:pt>
                  <c:pt idx="4">
                    <c:v>Q5</c:v>
                  </c:pt>
                  <c:pt idx="5">
                    <c:v>Q6</c:v>
                  </c:pt>
                  <c:pt idx="6">
                    <c:v>Q7</c:v>
                  </c:pt>
                  <c:pt idx="7">
                    <c:v>Q8</c:v>
                  </c:pt>
                </c:lvl>
              </c:multiLvlStrCache>
            </c:multiLvlStrRef>
          </c:cat>
          <c:val>
            <c:numRef>
              <c:f>Sheet1!$B$2:$B$9</c:f>
              <c:numCache>
                <c:formatCode>General</c:formatCode>
                <c:ptCount val="8"/>
                <c:pt idx="0">
                  <c:v>361</c:v>
                </c:pt>
                <c:pt idx="1">
                  <c:v>722</c:v>
                </c:pt>
                <c:pt idx="2">
                  <c:v>903</c:v>
                </c:pt>
                <c:pt idx="3">
                  <c:v>1084</c:v>
                </c:pt>
                <c:pt idx="4">
                  <c:v>0</c:v>
                </c:pt>
                <c:pt idx="5">
                  <c:v>0</c:v>
                </c:pt>
                <c:pt idx="6">
                  <c:v>0</c:v>
                </c:pt>
                <c:pt idx="7">
                  <c:v>0</c:v>
                </c:pt>
              </c:numCache>
            </c:numRef>
          </c:val>
        </c:ser>
        <c:ser>
          <c:idx val="1"/>
          <c:order val="1"/>
          <c:tx>
            <c:strRef>
              <c:f>Sheet1!$C$1</c:f>
              <c:strCache>
                <c:ptCount val="1"/>
                <c:pt idx="0">
                  <c:v>ab Jahr 2</c:v>
                </c:pt>
              </c:strCache>
            </c:strRef>
          </c:tx>
          <c:spPr>
            <a:solidFill>
              <a:srgbClr val="12343B"/>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Sheet1!$A$2:$A$9</c:f>
              <c:multiLvlStrCache>
                <c:ptCount val="8"/>
                <c:lvl>
                  <c:pt idx="0">
                    <c:v>Q1</c:v>
                  </c:pt>
                  <c:pt idx="1">
                    <c:v>Q2</c:v>
                  </c:pt>
                  <c:pt idx="2">
                    <c:v>Q3</c:v>
                  </c:pt>
                  <c:pt idx="3">
                    <c:v>Q4</c:v>
                  </c:pt>
                  <c:pt idx="4">
                    <c:v>Q5</c:v>
                  </c:pt>
                  <c:pt idx="5">
                    <c:v>Q6</c:v>
                  </c:pt>
                  <c:pt idx="6">
                    <c:v>Q7</c:v>
                  </c:pt>
                  <c:pt idx="7">
                    <c:v>Q8</c:v>
                  </c:pt>
                </c:lvl>
              </c:multiLvlStrCache>
            </c:multiLvlStrRef>
          </c:cat>
          <c:val>
            <c:numRef>
              <c:f>Sheet1!$C$2:$C$9</c:f>
              <c:numCache>
                <c:formatCode>General</c:formatCode>
                <c:ptCount val="8"/>
                <c:pt idx="0">
                  <c:v>0</c:v>
                </c:pt>
                <c:pt idx="1">
                  <c:v>0</c:v>
                </c:pt>
                <c:pt idx="2">
                  <c:v>0</c:v>
                </c:pt>
                <c:pt idx="3">
                  <c:v>0</c:v>
                </c:pt>
                <c:pt idx="4">
                  <c:v>1084</c:v>
                </c:pt>
                <c:pt idx="5">
                  <c:v>1084</c:v>
                </c:pt>
                <c:pt idx="6">
                  <c:v>1084</c:v>
                </c:pt>
                <c:pt idx="7">
                  <c:v>1084</c:v>
                </c:pt>
              </c:numCache>
            </c:numRef>
          </c:val>
        </c:ser>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3"/>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DDE6E4"/>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C6B7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30 Sekunden.
Begrüßung, Team vorstellen, Thema in einem Satz: Wir prüfen ärztliche Heilmittelverordnungen mit KI, bevor die Behandlung beginnt, damit die Rezeption weniger Zeit mit Admin verbringt.
Hinweis: Die Praxis ist anonymisiert, alle Testdaten sind synthetisch.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30 Sekunden.
Zeigen, wer was präsentiert. Die Reihenfolge folgt den IHK-Kriterien: erst Ist/Soll und Einsatzfelder, dann Tool-Vergleich und Tool-Auswahl, dann Einsatzplanung und Erfolgsmessung, zum Schluss Reflexion.
Der rote Faden: weniger Admin, mehr Zeit für Patienten.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2 min (IHK: Ist/Soll, 10 Punkte).
Das Unternehmen: Physiotherapiepraxis, ca. 10 Mitarbeitende, zwei Standorte, Abrechnung über einen externen Dienstleister (3–6 % vom Umsatz).
Ablauf heute: Die Rezeption prüft jede Verordnung bei der Annahme (im Schnitt 6 min) und noch einmal vor der Abrechnung (ca. 2 min). Bei ca. 40 neuen Kassenverordnungen pro Woche sind das ca. 5,3 Stunden pro Woche.
Kernaussage: 90 % der Fehler entstehen bei Doppel- und Folgeverordnungen. Die Praxissoftware zeigt nicht, wie viele Einheiten ein Patient beim selben Arzt schon hatte. Menschliche Doppelkontrollen sind höchstens ca. 85 % wirksam.
Absetzungen: nur ca. 10 Fälle bzw. ca. 500 € pro Jahr. Der Hebel ist also die Prüfzeit, nicht die Absetzung.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Einsatzfelder im Unternehmen, 10 Punkte).
Wir sind die Bereiche Rezeption, Therapie und Verwaltung durchgegangen und haben jedes Einsatzfeld nach Nutzen und Machbarkeit eingeordnet.
Rechts oben steht der Verordnungs-Check: hoher Nutzen, hohe Machbarkeit. Terminvergabe hat ebenfalls hohen Nutzen, braucht aber eine Schnittstelle zur Praxissoftware.
Begründung für den Pilot: größtes Problem, öffentliche Regeln, keine Schnittstelle, geringes Risiko, messbar.
Offen: je Einsatzfeld zwei, drei Sätze, was die KI genau tun würde; Rückfrage bei der Praxis.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1,5 min (IHK: Ist/Soll, Ziele und Erfolgsindikatoren).
Soll: Die KI prüft vor Behandlungsbeginn, zeigt eine Ampel mit Fundstelle im Regelwerk, die Rezeption entscheidet.
Ziel: 50 % weniger Prüfzeit nach zwei Quartalen, 75 % nach vier Quartalen.
Bewertung mit 20,97 € pro Stunde (Mindestlohn 2026 + 15 %, plus Minijob-Abgaben): im ersten Jahr ca. 3.070 €, ab dem zweiten Jahr ca. 4.300 € pro Jahr, also etwa ein halber Minijob.
Wichtig: keine Doppelzählung. Die freien Stunden sind der halbe Minijob, nicht zusätzlich. 'Vermeiden statt ersetzen'.
Übergabe an Valentin: Welche Werkzeuge kommen dafür infrage?
Offen: Quellen für Mindestlohn 2026 und Minijob-Abgaben im Text angeben.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2 min (IHK: Tool-Vergleich, 10 Punkte).
Vorgehen: Anforderungen aus dem Ist/Soll ableiten (Gesundheitsdaten nach DSGVO Art. 9, Rezeption ohne IT-Kenntnisse, Antwort in Sekunden, Belege aus den Regelwerken, geringe laufende Kosten), dann die fünf IHK-Kriterien.
Ehrlich bleiben: n8n ist durch das MSIT-Capstone vorgegeben. Echte Entscheidungen gab es bei Sprachmodell, Wissensbasis und Eingabekanal.
Ergebnis TCO: Die KI kostet nur 70–142 € pro Jahr. Die Gesamtkosten je Eingabekanal liegen bei 823–2.054 € pro Jahr, weil die Eingabezeit der Rezeption dominiert.
Offen bis zur Prüfung: Kriterienkatalog mit Gewichtung (1–5 Punkte), Preisquellen mit Abrufdatum.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2 min (IHK: Tool-Auswahl, Teil von 20 Punkten).
Ablauf: Die Rezeption gibt die Verordnung per Chat oder Formular ein. Das Sprachmodell überführt sie in ein festes Schema, personenbezogene Daten werden entfernt. Der Code berechnet Fakten wie Fristen und Formate. Vier Prüfer mit eigenem Mandat prüfen gegen die Regelwerke, der Code bildet daraus die Ampel.
Leitsatz: Regeln rechnet der Code. Das war unsere wichtigste Lehre: Das Modell hat ICD-Codes plausibel, aber falsch zugeordnet.
Entscheidung beim Zusammenführen der Workflows: Das Embedding-Modell muss zur Wissensbasis passen, das ist zwingend. Das Chat-Modell haben wir vereinheitlicht, damit die Ergebnisse vergleichbar bleiben. Das ist eine bewusste Entscheidung, keine technische Notwendigkeit.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VALENTIN · ca. 1 min (IHK: Tool-Auswahl und Einsatzplanung, datenschutzkonforme Konfiguration).
EU AI Act: vorläufige Einordnung kein Hochrisiko-System, weil das System nur Formalien prüft. Transparenz- und Kompetenzpflichten erfüllen wir durch Hinweis und Einweisung.
DSGVO: Verordnungen sind Gesundheitsdaten. Im Prototyp nur synthetische Daten, im Echtbetrieb Pseudonym, Auftragsverarbeitung, EU-Hosting, Löschkonzept.
Aufsicht: Der Mensch entscheidet, jeder Befund ist belegt und protokolliert.
Übergabe an Derk: Wie gut funktioniert das heute?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Einsatzplanung, Prototyp als Anwendungsbeispiel).
Wir haben jetzt zwei Workflows: den neuen Merge-Workflow mit Valentins Formular und den vier Prüfern, und v4 als Fallback.
Tests vom 20.10.: Zwei Fälle grün, ein Fall korrekt rot. Dabei hat der Mengen-Prüfer einen Fehlalarm gemeldet: Er hat mit der Diagnose argumentiert, obwohl das nicht sein Mandat ist. Das schärfen wir im Prompt.
Nächster Baustein: Verordnungsfall-Prüfung, weil 90 % der Fehler bei Folgeverordnungen entstehen.
Hinweis für die echte Prüfung: Hier ggf. Live-Demo oder Screenshot des Formulars einbauen.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2 min (IHK: Erfolgsmessung, 10 Punkte).
Zielwert: mindestens 98 % richtige Ampeln auf mindestens 50 neuen Fällen, jeder Fall dreimal. Das heißt höchstens ein Fehler.
Harte Bedingungen: kein übersehener roter Fall, höchstens ein kritischer Fehlalarm, Fundstelle bei jedem Befund, unter 30 Sekunden und unter 5 Cent je Prüfung.
Bisher: v4 hat 10 von 10 Ampeln richtig gesetzt, mit 0 kritischen Fehlalarmen. Am Anfang hatten wir 12. Das zählt aber nicht als formale Evaluation, weil wir auf diesen Fällen getunt haben.
Die formale Evaluation läuft in Sprint 3 vom 26. bis 30.10. Im Pilot messen wir zusätzlich Prüfzeit, Trefferquote gegen die Rezeption und Akzeptanz.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DERK · ca. 1,5 min (IHK: Einsatzplanung, Teil von 20 Punkten).
Vier Phasen: Vorbereitung mit Datenschutz und Einweisung, dann sechs Wochen Parallelbetrieb, in dem die Rezeption wie bisher prüft und das System mitläuft. Erst wenn die Übereinstimmung mindestens 98 % beträgt und kein roter Fall übersehen wurde, prüft das System zuerst und der Mensch bestätigt.
Die Phasen hängen direkt am Einsparziel aus dem Business Case: −50 % und −75 % Prüfzeit.
Rückfallebene: Die Praxis kann jederzeit wie heute prüfen.
Übergabe an Thomas für den Schluss.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 min (IHK: Reflexion, roter Faden).
Vier Lernpunkte: Fehler zu erkennen war von Anfang an leicht, die eigentliche Arbeit war, die Fehlalarme zu senken. Regeln gehören in den Code. Die Field Study hat unseren Schwerpunkt verschoben. Und beim Zusammenführen der Workflows haben wir gelernt, dass Embedding-Modell und Wissensbasis zusammengehören.
Für künftige Projekte: erst die Field Study, dann bauen; früh messen; die Tool-Auswahl ist nicht statisch, die E-Verordnung ändert den Eingabekanal.
Auch die Teamarbeit erwähnen: Wechsel von vier auf drei Personen mit klarer Streichliste.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THOMAS · ca. 1 min (Fazit, roter Faden).
Zurück zum Anfang: Weniger Admin, mehr Zeit für Patienten.
Drei Zahlen: Zielquote mindestens 98 % gegen höchstens ca. 85 % bei menschlicher Doppelkontrolle; Fehler vor der Behandlung statt bei der Abrechnung; ab dem zweiten Jahr ca. 4.300 € pro Jahr an Prüfzeit.
Empfehlung: Pilot im Parallelbetrieb, sechs Wochen, dann entscheiden.
Dank und Übergang zu Fragen.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dunke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8686800" cy="10972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r>
              <a:rPr lang="en-US" sz="4400" b="1" dirty="0">
                <a:solidFill>
                  <a:schemeClr val="bg1"/>
                </a:solidFill>
                <a:latin typeface="Cambria" pitchFamily="34" charset="0"/>
                <a:ea typeface="Cambria" pitchFamily="34" charset="-122"/>
                <a:cs typeface="Cambria" pitchFamily="34" charset="-120"/>
              </a:rPr>
              <a:t>Titel</a:t>
            </a:r>
            <a:endParaRPr lang="en-US" sz="4400" dirty="0"/>
          </a:p>
        </p:txBody>
      </p:sp>
      <p:sp>
        <p:nvSpPr>
          <p:cNvPr id="3" name="Text 0"/>
          <p:cNvSpPr/>
          <p:nvPr>
            <p:ph idx="101" type="body" hasCustomPrompt="1"/>
          </p:nvPr>
        </p:nvSpPr>
        <p:spPr>
          <a:xfrm>
            <a:off x="731520" y="3337560"/>
            <a:ext cx="8686800" cy="1280160"/>
          </a:xfrm>
          <a:prstGeom prst="rect">
            <a:avLst/>
          </a:prstGeom>
          <a:noFill/>
          <a:ln/>
        </p:spPr>
        <p:txBody>
          <a:bodyPr wrap="square" rtlCol="0"/>
          <a:lstStyle>
            <a:lvl1pPr indent="0" marL="0">
              <a:buNone/>
              <a:defRPr lang="en-US" sz="2000" dirty="0">
                <a:solidFill>
                  <a:schemeClr val="accent2"/>
                </a:solidFill>
                <a:latin typeface="Calibri" pitchFamily="34" charset="0"/>
                <a:ea typeface="Calibri" pitchFamily="34" charset="-122"/>
                <a:cs typeface="Calibri" pitchFamily="34" charset="-120"/>
              </a:defRPr>
            </a:lvl1pPr>
          </a:lstStyle>
          <a:p>
            <a:pPr indent="0" marL="0">
              <a:buNone/>
            </a:pPr>
            <a:r>
              <a:rPr lang="en-US" sz="2000" dirty="0">
                <a:solidFill>
                  <a:schemeClr val="accent2"/>
                </a:solidFill>
                <a:latin typeface="Calibri" pitchFamily="34" charset="0"/>
                <a:ea typeface="Calibri" pitchFamily="34" charset="-122"/>
                <a:cs typeface="Calibri" pitchFamily="34" charset="-120"/>
              </a:rPr>
              <a:t>Untertitel</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r>
              <a:rPr lang="en-US" sz="2800" b="1" dirty="0">
                <a:solidFill>
                  <a:schemeClr val="tx2"/>
                </a:solidFill>
                <a:latin typeface="Cambria" pitchFamily="34" charset="0"/>
                <a:ea typeface="Cambria" pitchFamily="34" charset="-122"/>
                <a:cs typeface="Cambria" pitchFamily="34" charset="-120"/>
              </a:rPr>
              <a:t>Titel</a:t>
            </a:r>
            <a:endParaRPr lang="en-US" sz="28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Verordnungs-Check · IHK-Präsentation · Teststand 20.10.2026</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alt dunke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r>
              <a:rPr lang="en-US" sz="2800" b="1" dirty="0">
                <a:solidFill>
                  <a:schemeClr val="bg1"/>
                </a:solidFill>
                <a:latin typeface="Cambria" pitchFamily="34" charset="0"/>
                <a:ea typeface="Cambria" pitchFamily="34" charset="-122"/>
                <a:cs typeface="Cambria" pitchFamily="34" charset="-120"/>
              </a:rPr>
              <a:t>Titel</a:t>
            </a:r>
            <a:endParaRPr lang="en-US" sz="28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bg2"/>
                </a:solidFill>
                <a:latin typeface="Calibri" pitchFamily="34" charset="0"/>
                <a:ea typeface="Calibri" pitchFamily="34" charset="-122"/>
                <a:cs typeface="Calibri" pitchFamily="34" charset="-120"/>
              </a:rPr>
              <a:t>Verordnungs-Check · IHK-Präsentation · Teststand 20.10.2026</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5-1.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3.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8686800" cy="109728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Der Verordnungs-Check</a:t>
            </a:r>
            <a:endParaRPr lang="en-US" sz="4400" dirty="0"/>
          </a:p>
        </p:txBody>
      </p:sp>
      <p:sp>
        <p:nvSpPr>
          <p:cNvPr id="3" name="Text 0"/>
          <p:cNvSpPr/>
          <p:nvPr>
            <p:ph idx="101" type="body" hasCustomPrompt="1"/>
          </p:nvPr>
        </p:nvSpPr>
        <p:spPr>
          <a:xfrm>
            <a:off x="731520" y="3337560"/>
            <a:ext cx="8686800" cy="1280160"/>
          </a:xfrm>
          <a:prstGeom prst="rect">
            <a:avLst/>
          </a:prstGeom>
          <a:noFill/>
          <a:ln/>
        </p:spPr>
        <p:txBody>
          <a:bodyPr wrap="square" lIns="0" tIns="0" rIns="0" bIns="0" rtlCol="0" anchor="t"/>
          <a:lstStyle/>
          <a:p>
            <a:pPr indent="0" marL="0">
              <a:buNone/>
            </a:pPr>
            <a:r>
              <a:rPr lang="en-US" sz="2000" dirty="0">
                <a:solidFill>
                  <a:schemeClr val="accent2"/>
                </a:solidFill>
                <a:latin typeface="Calibri" pitchFamily="34" charset="0"/>
                <a:ea typeface="Calibri" pitchFamily="34" charset="-122"/>
                <a:cs typeface="Calibri" pitchFamily="34" charset="-120"/>
              </a:rPr>
              <a:t>Weniger Admin, mehr Zeit für Patienten</a:t>
            </a:r>
            <a:endParaRPr lang="en-US" sz="2000" dirty="0"/>
          </a:p>
          <a:p>
            <a:pPr indent="0" marL="0">
              <a:buNone/>
            </a:pPr>
            <a:r>
              <a:rPr lang="en-US" sz="2000" dirty="0">
                <a:solidFill>
                  <a:schemeClr val="accent2"/>
                </a:solidFill>
                <a:latin typeface="Calibri" pitchFamily="34" charset="0"/>
                <a:ea typeface="Calibri" pitchFamily="34" charset="-122"/>
                <a:cs typeface="Calibri" pitchFamily="34" charset="-120"/>
              </a:rPr>
              <a:t>IHK-Präsentation · Testdeck, Arbeitsstand 20.10.2026</a:t>
            </a:r>
            <a:endParaRPr lang="en-US" sz="2000" dirty="0"/>
          </a:p>
        </p:txBody>
      </p:sp>
      <p:sp>
        <p:nvSpPr>
          <p:cNvPr id="4" name="Rolleninhaber"/>
          <p:cNvSpPr/>
          <p:nvPr/>
        </p:nvSpPr>
        <p:spPr>
          <a:xfrm>
            <a:off x="10195560" y="457200"/>
            <a:ext cx="1463040" cy="438912"/>
          </a:xfrm>
          <a:prstGeom prst="roundRect">
            <a:avLst>
              <a:gd name="adj" fmla="val 50000"/>
            </a:avLst>
          </a:prstGeom>
          <a:solidFill>
            <a:schemeClr val="bg1"/>
          </a:solidFill>
          <a:ln/>
        </p:spPr>
      </p:sp>
      <p:pic>
        <p:nvPicPr>
          <p:cNvPr id="5"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6"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tx2"/>
                </a:solidFill>
              </a:rPr>
              <a:t>Thomas</a:t>
            </a:r>
            <a:endParaRPr lang="en-US" sz="1500" dirty="0"/>
          </a:p>
        </p:txBody>
      </p:sp>
      <p:sp>
        <p:nvSpPr>
          <p:cNvPr id="7" name="Text 4"/>
          <p:cNvSpPr txBox="1"/>
          <p:nvPr/>
        </p:nvSpPr>
        <p:spPr>
          <a:xfrm>
            <a:off x="731520" y="4846320"/>
            <a:ext cx="8229600" cy="365760"/>
          </a:xfrm>
          <a:prstGeom prst="rect">
            <a:avLst/>
          </a:prstGeom>
          <a:noFill/>
          <a:ln/>
        </p:spPr>
        <p:txBody>
          <a:bodyPr wrap="square" lIns="0" tIns="0" rIns="0" bIns="0" rtlCol="0" anchor="t"/>
          <a:lstStyle/>
          <a:p>
            <a:pPr indent="0" marL="0">
              <a:buNone/>
            </a:pPr>
            <a:r>
              <a:rPr lang="en-US" sz="1600" dirty="0">
                <a:solidFill>
                  <a:schemeClr val="bg1"/>
                </a:solidFill>
              </a:rPr>
              <a:t>Thomas Kullmann · Valentin Klamka · Derk Ermler</a:t>
            </a:r>
            <a:endParaRPr lang="en-US" sz="1600" dirty="0"/>
          </a:p>
        </p:txBody>
      </p:sp>
      <p:sp>
        <p:nvSpPr>
          <p:cNvPr id="8" name="Text 5"/>
          <p:cNvSpPr txBox="1"/>
          <p:nvPr/>
        </p:nvSpPr>
        <p:spPr>
          <a:xfrm>
            <a:off x="731520" y="5257800"/>
            <a:ext cx="9144000" cy="365760"/>
          </a:xfrm>
          <a:prstGeom prst="rect">
            <a:avLst/>
          </a:prstGeom>
          <a:noFill/>
          <a:ln/>
        </p:spPr>
        <p:txBody>
          <a:bodyPr wrap="square" lIns="0" tIns="0" rIns="0" bIns="0" rtlCol="0" anchor="t"/>
          <a:lstStyle/>
          <a:p>
            <a:pPr indent="0" marL="0">
              <a:buNone/>
            </a:pPr>
            <a:r>
              <a:rPr lang="en-US" sz="1300" dirty="0">
                <a:solidFill>
                  <a:schemeClr val="bg2"/>
                </a:solidFill>
              </a:rPr>
              <a:t>KI-gestützte Prüfung von Heilmittelverordnungen (Physiotherapie, GKV, Muster 13) · Praxis anonymisiert, nur synthetische Testdaten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Ablauf: drei Rollen, ein roter Faden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Block Thomas"/>
          <p:cNvSpPr/>
          <p:nvPr/>
        </p:nvSpPr>
        <p:spPr>
          <a:xfrm>
            <a:off x="548640" y="1325880"/>
            <a:ext cx="2606040" cy="4160520"/>
          </a:xfrm>
          <a:prstGeom prst="roundRect">
            <a:avLst>
              <a:gd name="adj" fmla="val 2807"/>
            </a:avLst>
          </a:prstGeom>
          <a:solidFill>
            <a:schemeClr val="bg2"/>
          </a:solidFill>
          <a:ln/>
        </p:spPr>
      </p:sp>
      <p:sp>
        <p:nvSpPr>
          <p:cNvPr id="7" name="Kopf Thomas"/>
          <p:cNvSpPr/>
          <p:nvPr/>
        </p:nvSpPr>
        <p:spPr>
          <a:xfrm>
            <a:off x="548640" y="1325880"/>
            <a:ext cx="2606040" cy="868680"/>
          </a:xfrm>
          <a:prstGeom prst="roundRect">
            <a:avLst>
              <a:gd name="adj" fmla="val 8421"/>
            </a:avLst>
          </a:prstGeom>
          <a:solidFill>
            <a:schemeClr val="tx2"/>
          </a:solidFill>
          <a:ln/>
        </p:spPr>
      </p:sp>
      <p:sp>
        <p:nvSpPr>
          <p:cNvPr id="8" name="Text 5"/>
          <p:cNvSpPr txBox="1"/>
          <p:nvPr/>
        </p:nvSpPr>
        <p:spPr>
          <a:xfrm>
            <a:off x="731520" y="1435608"/>
            <a:ext cx="2240280" cy="36576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Thomas</a:t>
            </a:r>
            <a:endParaRPr lang="en-US" sz="1800" dirty="0"/>
          </a:p>
        </p:txBody>
      </p:sp>
      <p:sp>
        <p:nvSpPr>
          <p:cNvPr id="9" name="Text 6"/>
          <p:cNvSpPr txBox="1"/>
          <p:nvPr/>
        </p:nvSpPr>
        <p:spPr>
          <a:xfrm>
            <a:off x="731520" y="1801368"/>
            <a:ext cx="2240280" cy="292608"/>
          </a:xfrm>
          <a:prstGeom prst="rect">
            <a:avLst/>
          </a:prstGeom>
          <a:noFill/>
          <a:ln/>
        </p:spPr>
        <p:txBody>
          <a:bodyPr wrap="square" lIns="0" tIns="0" rIns="0" bIns="0" rtlCol="0" anchor="t"/>
          <a:lstStyle/>
          <a:p>
            <a:pPr indent="0" marL="0">
              <a:buNone/>
            </a:pPr>
            <a:r>
              <a:rPr lang="en-US" sz="1300" dirty="0">
                <a:solidFill>
                  <a:schemeClr val="bg1"/>
                </a:solidFill>
              </a:rPr>
              <a:t>ca. 5 min</a:t>
            </a:r>
            <a:endParaRPr lang="en-US" sz="1300" dirty="0"/>
          </a:p>
        </p:txBody>
      </p:sp>
      <p:sp>
        <p:nvSpPr>
          <p:cNvPr id="10" name="Text 7"/>
          <p:cNvSpPr txBox="1"/>
          <p:nvPr/>
        </p:nvSpPr>
        <p:spPr>
          <a:xfrm>
            <a:off x="731520" y="2331720"/>
            <a:ext cx="2240280" cy="502920"/>
          </a:xfrm>
          <a:prstGeom prst="rect">
            <a:avLst/>
          </a:prstGeom>
          <a:noFill/>
          <a:ln/>
        </p:spPr>
        <p:txBody>
          <a:bodyPr wrap="square" lIns="0" tIns="0" rIns="0" bIns="0" rtlCol="0" anchor="t"/>
          <a:lstStyle/>
          <a:p>
            <a:pPr indent="0" marL="0">
              <a:buNone/>
            </a:pPr>
            <a:r>
              <a:rPr lang="en-US" sz="1200" i="1" dirty="0">
                <a:solidFill>
                  <a:schemeClr val="accent5"/>
                </a:solidFill>
              </a:rPr>
              <a:t>Koordination, Ist/Soll &amp; Business Case</a:t>
            </a:r>
            <a:endParaRPr lang="en-US" sz="1200" dirty="0"/>
          </a:p>
        </p:txBody>
      </p:sp>
      <p:sp>
        <p:nvSpPr>
          <p:cNvPr id="11" name="Text 8"/>
          <p:cNvSpPr txBox="1"/>
          <p:nvPr/>
        </p:nvSpPr>
        <p:spPr>
          <a:xfrm>
            <a:off x="731520" y="2880360"/>
            <a:ext cx="2286000" cy="17373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Ist-Situation (Field Study)</a:t>
            </a:r>
            <a:endParaRPr lang="en-US" sz="1400" dirty="0"/>
          </a:p>
          <a:p>
            <a:pPr marL="177800" indent="-177800">
              <a:spcAft>
                <a:spcPts val="500"/>
              </a:spcAft>
              <a:buSzPct val="100000"/>
              <a:buChar char="•"/>
            </a:pPr>
            <a:r>
              <a:rPr lang="en-US" sz="1400" dirty="0">
                <a:solidFill>
                  <a:schemeClr val="tx1"/>
                </a:solidFill>
              </a:rPr>
              <a:t>Einsatzfelder im Unternehmen</a:t>
            </a:r>
            <a:endParaRPr lang="en-US" sz="1400" dirty="0"/>
          </a:p>
          <a:p>
            <a:pPr marL="177800" indent="-177800">
              <a:spcAft>
                <a:spcPts val="500"/>
              </a:spcAft>
              <a:buSzPct val="100000"/>
              <a:buChar char="•"/>
            </a:pPr>
            <a:r>
              <a:rPr lang="en-US" sz="1400" dirty="0">
                <a:solidFill>
                  <a:schemeClr val="tx1"/>
                </a:solidFill>
              </a:rPr>
              <a:t>Soll und Business Case</a:t>
            </a:r>
            <a:endParaRPr lang="en-US" sz="1400" dirty="0"/>
          </a:p>
        </p:txBody>
      </p:sp>
      <p:sp>
        <p:nvSpPr>
          <p:cNvPr id="12" name="Text 9"/>
          <p:cNvSpPr txBox="1"/>
          <p:nvPr/>
        </p:nvSpPr>
        <p:spPr>
          <a:xfrm>
            <a:off x="731520" y="4754880"/>
            <a:ext cx="2240280" cy="548640"/>
          </a:xfrm>
          <a:prstGeom prst="rect">
            <a:avLst/>
          </a:prstGeom>
          <a:noFill/>
          <a:ln/>
        </p:spPr>
        <p:txBody>
          <a:bodyPr wrap="square" lIns="0" tIns="0" rIns="0" bIns="0" rtlCol="0" anchor="t"/>
          <a:lstStyle/>
          <a:p>
            <a:pPr indent="0" marL="0">
              <a:buNone/>
            </a:pPr>
            <a:r>
              <a:rPr lang="en-US" sz="1100" b="1" dirty="0">
                <a:solidFill>
                  <a:schemeClr val="tx2"/>
                </a:solidFill>
              </a:rPr>
              <a:t>IHK-Punkte: Ist/Soll 10 · Einsatzfelder 10</a:t>
            </a:r>
            <a:endParaRPr lang="en-US" sz="1100" dirty="0"/>
          </a:p>
        </p:txBody>
      </p:sp>
      <p:pic>
        <p:nvPicPr>
          <p:cNvPr id="13" name="Personen-Symbol" descr="preencoded.png">    </p:cNvPr>
          <p:cNvPicPr>
            <a:picLocks noChangeAspect="1"/>
          </p:cNvPicPr>
          <p:nvPr/>
        </p:nvPicPr>
        <p:blipFill>
          <a:blip r:embed="rId2"/>
          <a:stretch>
            <a:fillRect/>
          </a:stretch>
        </p:blipFill>
        <p:spPr>
          <a:xfrm>
            <a:off x="2606040" y="1581912"/>
            <a:ext cx="320040" cy="320040"/>
          </a:xfrm>
          <a:prstGeom prst="rect">
            <a:avLst/>
          </a:prstGeom>
        </p:spPr>
      </p:pic>
      <p:sp>
        <p:nvSpPr>
          <p:cNvPr id="14" name="Block Valentin"/>
          <p:cNvSpPr/>
          <p:nvPr/>
        </p:nvSpPr>
        <p:spPr>
          <a:xfrm>
            <a:off x="3337560" y="1325880"/>
            <a:ext cx="2606040" cy="4160520"/>
          </a:xfrm>
          <a:prstGeom prst="roundRect">
            <a:avLst>
              <a:gd name="adj" fmla="val 2807"/>
            </a:avLst>
          </a:prstGeom>
          <a:solidFill>
            <a:schemeClr val="bg2"/>
          </a:solidFill>
          <a:ln/>
        </p:spPr>
      </p:sp>
      <p:sp>
        <p:nvSpPr>
          <p:cNvPr id="15" name="Kopf Valentin"/>
          <p:cNvSpPr/>
          <p:nvPr/>
        </p:nvSpPr>
        <p:spPr>
          <a:xfrm>
            <a:off x="3337560" y="1325880"/>
            <a:ext cx="2606040" cy="868680"/>
          </a:xfrm>
          <a:prstGeom prst="roundRect">
            <a:avLst>
              <a:gd name="adj" fmla="val 8421"/>
            </a:avLst>
          </a:prstGeom>
          <a:solidFill>
            <a:schemeClr val="accent1"/>
          </a:solidFill>
          <a:ln/>
        </p:spPr>
      </p:sp>
      <p:sp>
        <p:nvSpPr>
          <p:cNvPr id="16" name="Text 12"/>
          <p:cNvSpPr txBox="1"/>
          <p:nvPr/>
        </p:nvSpPr>
        <p:spPr>
          <a:xfrm>
            <a:off x="3520440" y="1435608"/>
            <a:ext cx="2240280" cy="36576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Valentin</a:t>
            </a:r>
            <a:endParaRPr lang="en-US" sz="1800" dirty="0"/>
          </a:p>
        </p:txBody>
      </p:sp>
      <p:sp>
        <p:nvSpPr>
          <p:cNvPr id="17" name="Text 13"/>
          <p:cNvSpPr txBox="1"/>
          <p:nvPr/>
        </p:nvSpPr>
        <p:spPr>
          <a:xfrm>
            <a:off x="3520440" y="1801368"/>
            <a:ext cx="2240280" cy="292608"/>
          </a:xfrm>
          <a:prstGeom prst="rect">
            <a:avLst/>
          </a:prstGeom>
          <a:noFill/>
          <a:ln/>
        </p:spPr>
        <p:txBody>
          <a:bodyPr wrap="square" lIns="0" tIns="0" rIns="0" bIns="0" rtlCol="0" anchor="t"/>
          <a:lstStyle/>
          <a:p>
            <a:pPr indent="0" marL="0">
              <a:buNone/>
            </a:pPr>
            <a:r>
              <a:rPr lang="en-US" sz="1300" dirty="0">
                <a:solidFill>
                  <a:schemeClr val="bg1"/>
                </a:solidFill>
              </a:rPr>
              <a:t>ca. 5 min</a:t>
            </a:r>
            <a:endParaRPr lang="en-US" sz="1300" dirty="0"/>
          </a:p>
        </p:txBody>
      </p:sp>
      <p:sp>
        <p:nvSpPr>
          <p:cNvPr id="18" name="Text 14"/>
          <p:cNvSpPr txBox="1"/>
          <p:nvPr/>
        </p:nvSpPr>
        <p:spPr>
          <a:xfrm>
            <a:off x="3520440" y="2331720"/>
            <a:ext cx="2240280" cy="502920"/>
          </a:xfrm>
          <a:prstGeom prst="rect">
            <a:avLst/>
          </a:prstGeom>
          <a:noFill/>
          <a:ln/>
        </p:spPr>
        <p:txBody>
          <a:bodyPr wrap="square" lIns="0" tIns="0" rIns="0" bIns="0" rtlCol="0" anchor="t"/>
          <a:lstStyle/>
          <a:p>
            <a:pPr indent="0" marL="0">
              <a:buNone/>
            </a:pPr>
            <a:r>
              <a:rPr lang="en-US" sz="1200" i="1" dirty="0">
                <a:solidFill>
                  <a:schemeClr val="accent5"/>
                </a:solidFill>
              </a:rPr>
              <a:t>Tools, Architektur &amp; Governance</a:t>
            </a:r>
            <a:endParaRPr lang="en-US" sz="1200" dirty="0"/>
          </a:p>
        </p:txBody>
      </p:sp>
      <p:sp>
        <p:nvSpPr>
          <p:cNvPr id="19" name="Text 15"/>
          <p:cNvSpPr txBox="1"/>
          <p:nvPr/>
        </p:nvSpPr>
        <p:spPr>
          <a:xfrm>
            <a:off x="3520440" y="2880360"/>
            <a:ext cx="2286000" cy="17373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Tool-Vergleich</a:t>
            </a:r>
            <a:endParaRPr lang="en-US" sz="1400" dirty="0"/>
          </a:p>
          <a:p>
            <a:pPr marL="177800" indent="-177800">
              <a:spcAft>
                <a:spcPts val="500"/>
              </a:spcAft>
              <a:buSzPct val="100000"/>
              <a:buChar char="•"/>
            </a:pPr>
            <a:r>
              <a:rPr lang="en-US" sz="1400" dirty="0">
                <a:solidFill>
                  <a:schemeClr val="tx1"/>
                </a:solidFill>
              </a:rPr>
              <a:t>Tool-Auswahl und Architektur</a:t>
            </a:r>
            <a:endParaRPr lang="en-US" sz="1400" dirty="0"/>
          </a:p>
          <a:p>
            <a:pPr marL="177800" indent="-177800">
              <a:spcAft>
                <a:spcPts val="500"/>
              </a:spcAft>
              <a:buSzPct val="100000"/>
              <a:buChar char="•"/>
            </a:pPr>
            <a:r>
              <a:rPr lang="en-US" sz="1400" dirty="0">
                <a:solidFill>
                  <a:schemeClr val="tx1"/>
                </a:solidFill>
              </a:rPr>
              <a:t>Governance: EU AI Act, DSGVO</a:t>
            </a:r>
            <a:endParaRPr lang="en-US" sz="1400" dirty="0"/>
          </a:p>
        </p:txBody>
      </p:sp>
      <p:sp>
        <p:nvSpPr>
          <p:cNvPr id="20" name="Text 16"/>
          <p:cNvSpPr txBox="1"/>
          <p:nvPr/>
        </p:nvSpPr>
        <p:spPr>
          <a:xfrm>
            <a:off x="3520440" y="4754880"/>
            <a:ext cx="2240280" cy="548640"/>
          </a:xfrm>
          <a:prstGeom prst="rect">
            <a:avLst/>
          </a:prstGeom>
          <a:noFill/>
          <a:ln/>
        </p:spPr>
        <p:txBody>
          <a:bodyPr wrap="square" lIns="0" tIns="0" rIns="0" bIns="0" rtlCol="0" anchor="t"/>
          <a:lstStyle/>
          <a:p>
            <a:pPr indent="0" marL="0">
              <a:buNone/>
            </a:pPr>
            <a:r>
              <a:rPr lang="en-US" sz="1100" b="1" dirty="0">
                <a:solidFill>
                  <a:schemeClr val="accent1"/>
                </a:solidFill>
              </a:rPr>
              <a:t>IHK-Punkte: Tool-Vergleich 10 · Tool-Auswahl 10</a:t>
            </a:r>
            <a:endParaRPr lang="en-US" sz="1100" dirty="0"/>
          </a:p>
        </p:txBody>
      </p:sp>
      <p:pic>
        <p:nvPicPr>
          <p:cNvPr id="21" name="Personen-Symbol" descr="preencoded.png">    </p:cNvPr>
          <p:cNvPicPr>
            <a:picLocks noChangeAspect="1"/>
          </p:cNvPicPr>
          <p:nvPr/>
        </p:nvPicPr>
        <p:blipFill>
          <a:blip r:embed="rId3"/>
          <a:stretch>
            <a:fillRect/>
          </a:stretch>
        </p:blipFill>
        <p:spPr>
          <a:xfrm>
            <a:off x="5394960" y="1581912"/>
            <a:ext cx="320040" cy="320040"/>
          </a:xfrm>
          <a:prstGeom prst="rect">
            <a:avLst/>
          </a:prstGeom>
        </p:spPr>
      </p:pic>
      <p:sp>
        <p:nvSpPr>
          <p:cNvPr id="22" name="Block Derk"/>
          <p:cNvSpPr/>
          <p:nvPr/>
        </p:nvSpPr>
        <p:spPr>
          <a:xfrm>
            <a:off x="6126480" y="1325880"/>
            <a:ext cx="2606040" cy="4160520"/>
          </a:xfrm>
          <a:prstGeom prst="roundRect">
            <a:avLst>
              <a:gd name="adj" fmla="val 2807"/>
            </a:avLst>
          </a:prstGeom>
          <a:solidFill>
            <a:schemeClr val="bg2"/>
          </a:solidFill>
          <a:ln/>
        </p:spPr>
      </p:sp>
      <p:sp>
        <p:nvSpPr>
          <p:cNvPr id="23" name="Kopf Derk"/>
          <p:cNvSpPr/>
          <p:nvPr/>
        </p:nvSpPr>
        <p:spPr>
          <a:xfrm>
            <a:off x="6126480" y="1325880"/>
            <a:ext cx="2606040" cy="868680"/>
          </a:xfrm>
          <a:prstGeom prst="roundRect">
            <a:avLst>
              <a:gd name="adj" fmla="val 8421"/>
            </a:avLst>
          </a:prstGeom>
          <a:solidFill>
            <a:schemeClr val="accent3"/>
          </a:solidFill>
          <a:ln/>
        </p:spPr>
      </p:sp>
      <p:sp>
        <p:nvSpPr>
          <p:cNvPr id="24" name="Text 19"/>
          <p:cNvSpPr txBox="1"/>
          <p:nvPr/>
        </p:nvSpPr>
        <p:spPr>
          <a:xfrm>
            <a:off x="6309360" y="1435608"/>
            <a:ext cx="2240280" cy="36576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Derk</a:t>
            </a:r>
            <a:endParaRPr lang="en-US" sz="1800" dirty="0"/>
          </a:p>
        </p:txBody>
      </p:sp>
      <p:sp>
        <p:nvSpPr>
          <p:cNvPr id="25" name="Text 20"/>
          <p:cNvSpPr txBox="1"/>
          <p:nvPr/>
        </p:nvSpPr>
        <p:spPr>
          <a:xfrm>
            <a:off x="6309360" y="1801368"/>
            <a:ext cx="2240280" cy="292608"/>
          </a:xfrm>
          <a:prstGeom prst="rect">
            <a:avLst/>
          </a:prstGeom>
          <a:noFill/>
          <a:ln/>
        </p:spPr>
        <p:txBody>
          <a:bodyPr wrap="square" lIns="0" tIns="0" rIns="0" bIns="0" rtlCol="0" anchor="t"/>
          <a:lstStyle/>
          <a:p>
            <a:pPr indent="0" marL="0">
              <a:buNone/>
            </a:pPr>
            <a:r>
              <a:rPr lang="en-US" sz="1300" dirty="0">
                <a:solidFill>
                  <a:schemeClr val="bg1"/>
                </a:solidFill>
              </a:rPr>
              <a:t>ca. 5 min</a:t>
            </a:r>
            <a:endParaRPr lang="en-US" sz="1300" dirty="0"/>
          </a:p>
        </p:txBody>
      </p:sp>
      <p:sp>
        <p:nvSpPr>
          <p:cNvPr id="26" name="Text 21"/>
          <p:cNvSpPr txBox="1"/>
          <p:nvPr/>
        </p:nvSpPr>
        <p:spPr>
          <a:xfrm>
            <a:off x="6309360" y="2331720"/>
            <a:ext cx="2240280" cy="502920"/>
          </a:xfrm>
          <a:prstGeom prst="rect">
            <a:avLst/>
          </a:prstGeom>
          <a:noFill/>
          <a:ln/>
        </p:spPr>
        <p:txBody>
          <a:bodyPr wrap="square" lIns="0" tIns="0" rIns="0" bIns="0" rtlCol="0" anchor="t"/>
          <a:lstStyle/>
          <a:p>
            <a:pPr indent="0" marL="0">
              <a:buNone/>
            </a:pPr>
            <a:r>
              <a:rPr lang="en-US" sz="1200" i="1" dirty="0">
                <a:solidFill>
                  <a:schemeClr val="accent5"/>
                </a:solidFill>
              </a:rPr>
              <a:t>Build, Demo &amp; Evaluation</a:t>
            </a:r>
            <a:endParaRPr lang="en-US" sz="1200" dirty="0"/>
          </a:p>
        </p:txBody>
      </p:sp>
      <p:sp>
        <p:nvSpPr>
          <p:cNvPr id="27" name="Text 22"/>
          <p:cNvSpPr txBox="1"/>
          <p:nvPr/>
        </p:nvSpPr>
        <p:spPr>
          <a:xfrm>
            <a:off x="6309360" y="2880360"/>
            <a:ext cx="2286000" cy="17373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Prototyp: Stand und Tests</a:t>
            </a:r>
            <a:endParaRPr lang="en-US" sz="1400" dirty="0"/>
          </a:p>
          <a:p>
            <a:pPr marL="177800" indent="-177800">
              <a:spcAft>
                <a:spcPts val="500"/>
              </a:spcAft>
              <a:buSzPct val="100000"/>
              <a:buChar char="•"/>
            </a:pPr>
            <a:r>
              <a:rPr lang="en-US" sz="1400" dirty="0">
                <a:solidFill>
                  <a:schemeClr val="tx1"/>
                </a:solidFill>
              </a:rPr>
              <a:t>Erfolgsmessung</a:t>
            </a:r>
            <a:endParaRPr lang="en-US" sz="1400" dirty="0"/>
          </a:p>
          <a:p>
            <a:pPr marL="177800" indent="-177800">
              <a:spcAft>
                <a:spcPts val="500"/>
              </a:spcAft>
              <a:buSzPct val="100000"/>
              <a:buChar char="•"/>
            </a:pPr>
            <a:r>
              <a:rPr lang="en-US" sz="1400" dirty="0">
                <a:solidFill>
                  <a:schemeClr val="tx1"/>
                </a:solidFill>
              </a:rPr>
              <a:t>Einsatzplanung und Pilot</a:t>
            </a:r>
            <a:endParaRPr lang="en-US" sz="1400" dirty="0"/>
          </a:p>
        </p:txBody>
      </p:sp>
      <p:sp>
        <p:nvSpPr>
          <p:cNvPr id="28" name="Text 23"/>
          <p:cNvSpPr txBox="1"/>
          <p:nvPr/>
        </p:nvSpPr>
        <p:spPr>
          <a:xfrm>
            <a:off x="6309360" y="4754880"/>
            <a:ext cx="2240280" cy="548640"/>
          </a:xfrm>
          <a:prstGeom prst="rect">
            <a:avLst/>
          </a:prstGeom>
          <a:noFill/>
          <a:ln/>
        </p:spPr>
        <p:txBody>
          <a:bodyPr wrap="square" lIns="0" tIns="0" rIns="0" bIns="0" rtlCol="0" anchor="t"/>
          <a:lstStyle/>
          <a:p>
            <a:pPr indent="0" marL="0">
              <a:buNone/>
            </a:pPr>
            <a:r>
              <a:rPr lang="en-US" sz="1100" b="1" dirty="0">
                <a:solidFill>
                  <a:schemeClr val="accent3"/>
                </a:solidFill>
              </a:rPr>
              <a:t>IHK-Punkte: Einsatzplanung 10 · Erfolgsmessung 10</a:t>
            </a:r>
            <a:endParaRPr lang="en-US" sz="1100" dirty="0"/>
          </a:p>
        </p:txBody>
      </p:sp>
      <p:pic>
        <p:nvPicPr>
          <p:cNvPr id="29" name="Personen-Symbol" descr="preencoded.png">    </p:cNvPr>
          <p:cNvPicPr>
            <a:picLocks noChangeAspect="1"/>
          </p:cNvPicPr>
          <p:nvPr/>
        </p:nvPicPr>
        <p:blipFill>
          <a:blip r:embed="rId4"/>
          <a:stretch>
            <a:fillRect/>
          </a:stretch>
        </p:blipFill>
        <p:spPr>
          <a:xfrm>
            <a:off x="8183880" y="1581912"/>
            <a:ext cx="320040" cy="320040"/>
          </a:xfrm>
          <a:prstGeom prst="rect">
            <a:avLst/>
          </a:prstGeom>
        </p:spPr>
      </p:pic>
      <p:sp>
        <p:nvSpPr>
          <p:cNvPr id="30" name="Block Thomas"/>
          <p:cNvSpPr/>
          <p:nvPr/>
        </p:nvSpPr>
        <p:spPr>
          <a:xfrm>
            <a:off x="8915400" y="1325880"/>
            <a:ext cx="2606040" cy="4160520"/>
          </a:xfrm>
          <a:prstGeom prst="roundRect">
            <a:avLst>
              <a:gd name="adj" fmla="val 2807"/>
            </a:avLst>
          </a:prstGeom>
          <a:solidFill>
            <a:schemeClr val="bg2"/>
          </a:solidFill>
          <a:ln/>
        </p:spPr>
      </p:sp>
      <p:sp>
        <p:nvSpPr>
          <p:cNvPr id="31" name="Kopf Thomas"/>
          <p:cNvSpPr/>
          <p:nvPr/>
        </p:nvSpPr>
        <p:spPr>
          <a:xfrm>
            <a:off x="8915400" y="1325880"/>
            <a:ext cx="2606040" cy="868680"/>
          </a:xfrm>
          <a:prstGeom prst="roundRect">
            <a:avLst>
              <a:gd name="adj" fmla="val 8421"/>
            </a:avLst>
          </a:prstGeom>
          <a:solidFill>
            <a:schemeClr val="tx2"/>
          </a:solidFill>
          <a:ln/>
        </p:spPr>
      </p:sp>
      <p:sp>
        <p:nvSpPr>
          <p:cNvPr id="32" name="Text 26"/>
          <p:cNvSpPr txBox="1"/>
          <p:nvPr/>
        </p:nvSpPr>
        <p:spPr>
          <a:xfrm>
            <a:off x="9098280" y="1435608"/>
            <a:ext cx="2240280" cy="36576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Thomas · Schluss</a:t>
            </a:r>
            <a:endParaRPr lang="en-US" sz="1800" dirty="0"/>
          </a:p>
        </p:txBody>
      </p:sp>
      <p:sp>
        <p:nvSpPr>
          <p:cNvPr id="33" name="Text 27"/>
          <p:cNvSpPr txBox="1"/>
          <p:nvPr/>
        </p:nvSpPr>
        <p:spPr>
          <a:xfrm>
            <a:off x="9098280" y="1801368"/>
            <a:ext cx="2240280" cy="292608"/>
          </a:xfrm>
          <a:prstGeom prst="rect">
            <a:avLst/>
          </a:prstGeom>
          <a:noFill/>
          <a:ln/>
        </p:spPr>
        <p:txBody>
          <a:bodyPr wrap="square" lIns="0" tIns="0" rIns="0" bIns="0" rtlCol="0" anchor="t"/>
          <a:lstStyle/>
          <a:p>
            <a:pPr indent="0" marL="0">
              <a:buNone/>
            </a:pPr>
            <a:r>
              <a:rPr lang="en-US" sz="1300" dirty="0">
                <a:solidFill>
                  <a:schemeClr val="bg1"/>
                </a:solidFill>
              </a:rPr>
              <a:t>ca. 2 min</a:t>
            </a:r>
            <a:endParaRPr lang="en-US" sz="1300" dirty="0"/>
          </a:p>
        </p:txBody>
      </p:sp>
      <p:sp>
        <p:nvSpPr>
          <p:cNvPr id="34" name="Text 28"/>
          <p:cNvSpPr txBox="1"/>
          <p:nvPr/>
        </p:nvSpPr>
        <p:spPr>
          <a:xfrm>
            <a:off x="9098280" y="2331720"/>
            <a:ext cx="2240280" cy="502920"/>
          </a:xfrm>
          <a:prstGeom prst="rect">
            <a:avLst/>
          </a:prstGeom>
          <a:noFill/>
          <a:ln/>
        </p:spPr>
        <p:txBody>
          <a:bodyPr wrap="square" lIns="0" tIns="0" rIns="0" bIns="0" rtlCol="0" anchor="t"/>
          <a:lstStyle/>
          <a:p>
            <a:pPr indent="0" marL="0">
              <a:buNone/>
            </a:pPr>
            <a:r>
              <a:rPr lang="en-US" sz="1200" i="1" dirty="0">
                <a:solidFill>
                  <a:schemeClr val="accent5"/>
                </a:solidFill>
              </a:rPr>
              <a:t>Schluss</a:t>
            </a:r>
            <a:endParaRPr lang="en-US" sz="1200" dirty="0"/>
          </a:p>
        </p:txBody>
      </p:sp>
      <p:sp>
        <p:nvSpPr>
          <p:cNvPr id="35" name="Text 29"/>
          <p:cNvSpPr txBox="1"/>
          <p:nvPr/>
        </p:nvSpPr>
        <p:spPr>
          <a:xfrm>
            <a:off x="9098280" y="2880360"/>
            <a:ext cx="2286000" cy="17373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Reflexion und Lernpunkte</a:t>
            </a:r>
            <a:endParaRPr lang="en-US" sz="1400" dirty="0"/>
          </a:p>
          <a:p>
            <a:pPr marL="177800" indent="-177800">
              <a:spcAft>
                <a:spcPts val="500"/>
              </a:spcAft>
              <a:buSzPct val="100000"/>
              <a:buChar char="•"/>
            </a:pPr>
            <a:r>
              <a:rPr lang="en-US" sz="1400" dirty="0">
                <a:solidFill>
                  <a:schemeClr val="tx1"/>
                </a:solidFill>
              </a:rPr>
              <a:t>Fazit und Empfehlung</a:t>
            </a:r>
            <a:endParaRPr lang="en-US" sz="1400" dirty="0"/>
          </a:p>
        </p:txBody>
      </p:sp>
      <p:sp>
        <p:nvSpPr>
          <p:cNvPr id="36" name="Text 30"/>
          <p:cNvSpPr txBox="1"/>
          <p:nvPr/>
        </p:nvSpPr>
        <p:spPr>
          <a:xfrm>
            <a:off x="9098280" y="4754880"/>
            <a:ext cx="2240280" cy="548640"/>
          </a:xfrm>
          <a:prstGeom prst="rect">
            <a:avLst/>
          </a:prstGeom>
          <a:noFill/>
          <a:ln/>
        </p:spPr>
        <p:txBody>
          <a:bodyPr wrap="square" lIns="0" tIns="0" rIns="0" bIns="0" rtlCol="0" anchor="t"/>
          <a:lstStyle/>
          <a:p>
            <a:pPr indent="0" marL="0">
              <a:buNone/>
            </a:pPr>
            <a:r>
              <a:rPr lang="en-US" sz="1100" b="1" dirty="0">
                <a:solidFill>
                  <a:schemeClr val="tx2"/>
                </a:solidFill>
              </a:rPr>
              <a:t>IHK-Punkte: Roter Faden 15</a:t>
            </a:r>
            <a:endParaRPr lang="en-US" sz="1100" dirty="0"/>
          </a:p>
        </p:txBody>
      </p:sp>
      <p:sp>
        <p:nvSpPr>
          <p:cNvPr id="37" name="Text 31"/>
          <p:cNvSpPr txBox="1"/>
          <p:nvPr/>
        </p:nvSpPr>
        <p:spPr>
          <a:xfrm>
            <a:off x="548640" y="5669280"/>
            <a:ext cx="11064240" cy="320040"/>
          </a:xfrm>
          <a:prstGeom prst="rect">
            <a:avLst/>
          </a:prstGeom>
          <a:noFill/>
          <a:ln/>
        </p:spPr>
        <p:txBody>
          <a:bodyPr wrap="square" lIns="0" tIns="0" rIns="0" bIns="0" rtlCol="0" anchor="t"/>
          <a:lstStyle/>
          <a:p>
            <a:pPr indent="0" marL="0">
              <a:buNone/>
            </a:pPr>
            <a:r>
              <a:rPr lang="en-US" sz="1300" b="1" dirty="0">
                <a:solidFill>
                  <a:schemeClr val="tx2"/>
                </a:solidFill>
              </a:rPr>
              <a:t>Gesamt ca. 17 min · Orthografie und Schreibstil (25 Punkte) verantworten wir gemeinsam im Vier-Augen-Prinzip</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Ist-Situation: So prüft die Praxis heute</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Prozessschritt"/>
          <p:cNvSpPr/>
          <p:nvPr/>
        </p:nvSpPr>
        <p:spPr>
          <a:xfrm>
            <a:off x="548640" y="1325880"/>
            <a:ext cx="2011680" cy="2011680"/>
          </a:xfrm>
          <a:prstGeom prst="roundRect">
            <a:avLst>
              <a:gd name="adj" fmla="val 3636"/>
            </a:avLst>
          </a:prstGeom>
          <a:solidFill>
            <a:schemeClr val="bg2"/>
          </a:solidFill>
          <a:ln/>
        </p:spPr>
      </p:sp>
      <p:sp>
        <p:nvSpPr>
          <p:cNvPr id="7" name="Symbolkreis"/>
          <p:cNvSpPr/>
          <p:nvPr/>
        </p:nvSpPr>
        <p:spPr>
          <a:xfrm>
            <a:off x="1225296" y="1481328"/>
            <a:ext cx="658368" cy="658368"/>
          </a:xfrm>
          <a:prstGeom prst="ellipse">
            <a:avLst/>
          </a:prstGeom>
          <a:solidFill>
            <a:schemeClr val="accent1"/>
          </a:solidFill>
          <a:ln/>
        </p:spPr>
      </p:sp>
      <p:pic>
        <p:nvPicPr>
          <p:cNvPr id="8" name="Symbol" descr="preencoded.png">    </p:cNvPr>
          <p:cNvPicPr>
            <a:picLocks noChangeAspect="1"/>
          </p:cNvPicPr>
          <p:nvPr/>
        </p:nvPicPr>
        <p:blipFill>
          <a:blip r:embed="rId2"/>
          <a:stretch>
            <a:fillRect/>
          </a:stretch>
        </p:blipFill>
        <p:spPr>
          <a:xfrm>
            <a:off x="1389888" y="1645920"/>
            <a:ext cx="329184" cy="329184"/>
          </a:xfrm>
          <a:prstGeom prst="rect">
            <a:avLst/>
          </a:prstGeom>
        </p:spPr>
      </p:pic>
      <p:sp>
        <p:nvSpPr>
          <p:cNvPr id="9" name="Text 5"/>
          <p:cNvSpPr txBox="1"/>
          <p:nvPr/>
        </p:nvSpPr>
        <p:spPr>
          <a:xfrm>
            <a:off x="64008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Annahme</a:t>
            </a:r>
            <a:endParaRPr lang="en-US" sz="1500" dirty="0"/>
          </a:p>
        </p:txBody>
      </p:sp>
      <p:sp>
        <p:nvSpPr>
          <p:cNvPr id="10" name="Text 6"/>
          <p:cNvSpPr txBox="1"/>
          <p:nvPr/>
        </p:nvSpPr>
        <p:spPr>
          <a:xfrm>
            <a:off x="64008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Rezeption prüft die Verordnung</a:t>
            </a:r>
            <a:endParaRPr lang="en-US" sz="1200" dirty="0"/>
          </a:p>
        </p:txBody>
      </p:sp>
      <p:sp>
        <p:nvSpPr>
          <p:cNvPr id="11" name="Text 7"/>
          <p:cNvSpPr txBox="1"/>
          <p:nvPr/>
        </p:nvSpPr>
        <p:spPr>
          <a:xfrm>
            <a:off x="64008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Ø 6 min</a:t>
            </a:r>
            <a:endParaRPr lang="en-US" sz="1300" dirty="0"/>
          </a:p>
        </p:txBody>
      </p:sp>
      <p:sp>
        <p:nvSpPr>
          <p:cNvPr id="12" name="Pfeil"/>
          <p:cNvSpPr/>
          <p:nvPr/>
        </p:nvSpPr>
        <p:spPr>
          <a:xfrm rot="5400000">
            <a:off x="2569464" y="2258568"/>
            <a:ext cx="237744" cy="146304"/>
          </a:xfrm>
          <a:prstGeom prst="triangle">
            <a:avLst/>
          </a:prstGeom>
          <a:solidFill>
            <a:schemeClr val="accent5"/>
          </a:solidFill>
          <a:ln/>
        </p:spPr>
      </p:sp>
      <p:sp>
        <p:nvSpPr>
          <p:cNvPr id="13" name="Prozessschritt"/>
          <p:cNvSpPr/>
          <p:nvPr/>
        </p:nvSpPr>
        <p:spPr>
          <a:xfrm>
            <a:off x="2811780" y="1325880"/>
            <a:ext cx="2011680" cy="2011680"/>
          </a:xfrm>
          <a:prstGeom prst="roundRect">
            <a:avLst>
              <a:gd name="adj" fmla="val 3636"/>
            </a:avLst>
          </a:prstGeom>
          <a:solidFill>
            <a:schemeClr val="bg2"/>
          </a:solidFill>
          <a:ln/>
        </p:spPr>
      </p:sp>
      <p:sp>
        <p:nvSpPr>
          <p:cNvPr id="14" name="Symbolkreis"/>
          <p:cNvSpPr/>
          <p:nvPr/>
        </p:nvSpPr>
        <p:spPr>
          <a:xfrm>
            <a:off x="3488436" y="1481328"/>
            <a:ext cx="658368" cy="658368"/>
          </a:xfrm>
          <a:prstGeom prst="ellipse">
            <a:avLst/>
          </a:prstGeom>
          <a:solidFill>
            <a:schemeClr val="accent5"/>
          </a:solidFill>
          <a:ln/>
        </p:spPr>
      </p:sp>
      <p:pic>
        <p:nvPicPr>
          <p:cNvPr id="15" name="Symbol" descr="preencoded.png">    </p:cNvPr>
          <p:cNvPicPr>
            <a:picLocks noChangeAspect="1"/>
          </p:cNvPicPr>
          <p:nvPr/>
        </p:nvPicPr>
        <p:blipFill>
          <a:blip r:embed="rId3"/>
          <a:stretch>
            <a:fillRect/>
          </a:stretch>
        </p:blipFill>
        <p:spPr>
          <a:xfrm>
            <a:off x="3653028" y="1645920"/>
            <a:ext cx="329184" cy="329184"/>
          </a:xfrm>
          <a:prstGeom prst="rect">
            <a:avLst/>
          </a:prstGeom>
        </p:spPr>
      </p:pic>
      <p:sp>
        <p:nvSpPr>
          <p:cNvPr id="16" name="Text 11"/>
          <p:cNvSpPr txBox="1"/>
          <p:nvPr/>
        </p:nvSpPr>
        <p:spPr>
          <a:xfrm>
            <a:off x="290322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Behandlung</a:t>
            </a:r>
            <a:endParaRPr lang="en-US" sz="1500" dirty="0"/>
          </a:p>
        </p:txBody>
      </p:sp>
      <p:sp>
        <p:nvSpPr>
          <p:cNvPr id="17" name="Text 12"/>
          <p:cNvSpPr txBox="1"/>
          <p:nvPr/>
        </p:nvSpPr>
        <p:spPr>
          <a:xfrm>
            <a:off x="290322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Leistung wird erbracht</a:t>
            </a:r>
            <a:endParaRPr lang="en-US" sz="1200" dirty="0"/>
          </a:p>
        </p:txBody>
      </p:sp>
      <p:sp>
        <p:nvSpPr>
          <p:cNvPr id="18" name="Pfeil"/>
          <p:cNvSpPr/>
          <p:nvPr/>
        </p:nvSpPr>
        <p:spPr>
          <a:xfrm rot="5400000">
            <a:off x="4832604" y="2258568"/>
            <a:ext cx="237744" cy="146304"/>
          </a:xfrm>
          <a:prstGeom prst="triangle">
            <a:avLst/>
          </a:prstGeom>
          <a:solidFill>
            <a:schemeClr val="accent5"/>
          </a:solidFill>
          <a:ln/>
        </p:spPr>
      </p:sp>
      <p:sp>
        <p:nvSpPr>
          <p:cNvPr id="19" name="Prozessschritt"/>
          <p:cNvSpPr/>
          <p:nvPr/>
        </p:nvSpPr>
        <p:spPr>
          <a:xfrm>
            <a:off x="5074920" y="1325880"/>
            <a:ext cx="2011680" cy="2011680"/>
          </a:xfrm>
          <a:prstGeom prst="roundRect">
            <a:avLst>
              <a:gd name="adj" fmla="val 3636"/>
            </a:avLst>
          </a:prstGeom>
          <a:solidFill>
            <a:schemeClr val="bg2"/>
          </a:solidFill>
          <a:ln/>
        </p:spPr>
      </p:sp>
      <p:sp>
        <p:nvSpPr>
          <p:cNvPr id="20" name="Symbolkreis"/>
          <p:cNvSpPr/>
          <p:nvPr/>
        </p:nvSpPr>
        <p:spPr>
          <a:xfrm>
            <a:off x="5751576" y="1481328"/>
            <a:ext cx="658368" cy="658368"/>
          </a:xfrm>
          <a:prstGeom prst="ellipse">
            <a:avLst/>
          </a:prstGeom>
          <a:solidFill>
            <a:schemeClr val="accent1"/>
          </a:solidFill>
          <a:ln/>
        </p:spPr>
      </p:sp>
      <p:pic>
        <p:nvPicPr>
          <p:cNvPr id="21" name="Symbol" descr="preencoded.png">    </p:cNvPr>
          <p:cNvPicPr>
            <a:picLocks noChangeAspect="1"/>
          </p:cNvPicPr>
          <p:nvPr/>
        </p:nvPicPr>
        <p:blipFill>
          <a:blip r:embed="rId4"/>
          <a:stretch>
            <a:fillRect/>
          </a:stretch>
        </p:blipFill>
        <p:spPr>
          <a:xfrm>
            <a:off x="5916168" y="1645920"/>
            <a:ext cx="329184" cy="329184"/>
          </a:xfrm>
          <a:prstGeom prst="rect">
            <a:avLst/>
          </a:prstGeom>
        </p:spPr>
      </p:pic>
      <p:sp>
        <p:nvSpPr>
          <p:cNvPr id="22" name="Text 16"/>
          <p:cNvSpPr txBox="1"/>
          <p:nvPr/>
        </p:nvSpPr>
        <p:spPr>
          <a:xfrm>
            <a:off x="516636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Schlussprüfung</a:t>
            </a:r>
            <a:endParaRPr lang="en-US" sz="1500" dirty="0"/>
          </a:p>
        </p:txBody>
      </p:sp>
      <p:sp>
        <p:nvSpPr>
          <p:cNvPr id="23" name="Text 17"/>
          <p:cNvSpPr txBox="1"/>
          <p:nvPr/>
        </p:nvSpPr>
        <p:spPr>
          <a:xfrm>
            <a:off x="516636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vor der Abrechnung</a:t>
            </a:r>
            <a:endParaRPr lang="en-US" sz="1200" dirty="0"/>
          </a:p>
        </p:txBody>
      </p:sp>
      <p:sp>
        <p:nvSpPr>
          <p:cNvPr id="24" name="Text 18"/>
          <p:cNvSpPr txBox="1"/>
          <p:nvPr/>
        </p:nvSpPr>
        <p:spPr>
          <a:xfrm>
            <a:off x="516636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ca. 2 min</a:t>
            </a:r>
            <a:endParaRPr lang="en-US" sz="1300" dirty="0"/>
          </a:p>
        </p:txBody>
      </p:sp>
      <p:sp>
        <p:nvSpPr>
          <p:cNvPr id="25" name="Pfeil"/>
          <p:cNvSpPr/>
          <p:nvPr/>
        </p:nvSpPr>
        <p:spPr>
          <a:xfrm rot="5400000">
            <a:off x="7095744" y="2258568"/>
            <a:ext cx="237744" cy="146304"/>
          </a:xfrm>
          <a:prstGeom prst="triangle">
            <a:avLst/>
          </a:prstGeom>
          <a:solidFill>
            <a:schemeClr val="accent5"/>
          </a:solidFill>
          <a:ln/>
        </p:spPr>
      </p:sp>
      <p:sp>
        <p:nvSpPr>
          <p:cNvPr id="26" name="Prozessschritt"/>
          <p:cNvSpPr/>
          <p:nvPr/>
        </p:nvSpPr>
        <p:spPr>
          <a:xfrm>
            <a:off x="7338060" y="1325880"/>
            <a:ext cx="2011680" cy="2011680"/>
          </a:xfrm>
          <a:prstGeom prst="roundRect">
            <a:avLst>
              <a:gd name="adj" fmla="val 3636"/>
            </a:avLst>
          </a:prstGeom>
          <a:solidFill>
            <a:schemeClr val="bg2"/>
          </a:solidFill>
          <a:ln/>
        </p:spPr>
      </p:sp>
      <p:sp>
        <p:nvSpPr>
          <p:cNvPr id="27" name="Symbolkreis"/>
          <p:cNvSpPr/>
          <p:nvPr/>
        </p:nvSpPr>
        <p:spPr>
          <a:xfrm>
            <a:off x="8014716" y="1481328"/>
            <a:ext cx="658368" cy="658368"/>
          </a:xfrm>
          <a:prstGeom prst="ellipse">
            <a:avLst/>
          </a:prstGeom>
          <a:solidFill>
            <a:schemeClr val="accent5"/>
          </a:solidFill>
          <a:ln/>
        </p:spPr>
      </p:sp>
      <p:pic>
        <p:nvPicPr>
          <p:cNvPr id="28" name="Symbol" descr="preencoded.png">    </p:cNvPr>
          <p:cNvPicPr>
            <a:picLocks noChangeAspect="1"/>
          </p:cNvPicPr>
          <p:nvPr/>
        </p:nvPicPr>
        <p:blipFill>
          <a:blip r:embed="rId5"/>
          <a:stretch>
            <a:fillRect/>
          </a:stretch>
        </p:blipFill>
        <p:spPr>
          <a:xfrm>
            <a:off x="8179308" y="1645920"/>
            <a:ext cx="329184" cy="329184"/>
          </a:xfrm>
          <a:prstGeom prst="rect">
            <a:avLst/>
          </a:prstGeom>
        </p:spPr>
      </p:pic>
      <p:sp>
        <p:nvSpPr>
          <p:cNvPr id="29" name="Text 22"/>
          <p:cNvSpPr txBox="1"/>
          <p:nvPr/>
        </p:nvSpPr>
        <p:spPr>
          <a:xfrm>
            <a:off x="742950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Dienstleister</a:t>
            </a:r>
            <a:endParaRPr lang="en-US" sz="1500" dirty="0"/>
          </a:p>
        </p:txBody>
      </p:sp>
      <p:sp>
        <p:nvSpPr>
          <p:cNvPr id="30" name="Text 23"/>
          <p:cNvSpPr txBox="1"/>
          <p:nvPr/>
        </p:nvSpPr>
        <p:spPr>
          <a:xfrm>
            <a:off x="742950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rechnet ab</a:t>
            </a:r>
            <a:endParaRPr lang="en-US" sz="1200" dirty="0"/>
          </a:p>
        </p:txBody>
      </p:sp>
      <p:sp>
        <p:nvSpPr>
          <p:cNvPr id="31" name="Text 24"/>
          <p:cNvSpPr txBox="1"/>
          <p:nvPr/>
        </p:nvSpPr>
        <p:spPr>
          <a:xfrm>
            <a:off x="742950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3–6 % vom Umsatz</a:t>
            </a:r>
            <a:endParaRPr lang="en-US" sz="1300" dirty="0"/>
          </a:p>
        </p:txBody>
      </p:sp>
      <p:sp>
        <p:nvSpPr>
          <p:cNvPr id="32" name="Pfeil"/>
          <p:cNvSpPr/>
          <p:nvPr/>
        </p:nvSpPr>
        <p:spPr>
          <a:xfrm rot="5400000">
            <a:off x="9358884" y="2258568"/>
            <a:ext cx="237744" cy="146304"/>
          </a:xfrm>
          <a:prstGeom prst="triangle">
            <a:avLst/>
          </a:prstGeom>
          <a:solidFill>
            <a:schemeClr val="accent5"/>
          </a:solidFill>
          <a:ln/>
        </p:spPr>
      </p:sp>
      <p:sp>
        <p:nvSpPr>
          <p:cNvPr id="33" name="Prozessschritt"/>
          <p:cNvSpPr/>
          <p:nvPr/>
        </p:nvSpPr>
        <p:spPr>
          <a:xfrm>
            <a:off x="9601200" y="1325880"/>
            <a:ext cx="2011680" cy="2011680"/>
          </a:xfrm>
          <a:prstGeom prst="roundRect">
            <a:avLst>
              <a:gd name="adj" fmla="val 3636"/>
            </a:avLst>
          </a:prstGeom>
          <a:solidFill>
            <a:schemeClr val="bg2"/>
          </a:solidFill>
          <a:ln/>
        </p:spPr>
      </p:sp>
      <p:sp>
        <p:nvSpPr>
          <p:cNvPr id="34" name="Symbolkreis"/>
          <p:cNvSpPr/>
          <p:nvPr/>
        </p:nvSpPr>
        <p:spPr>
          <a:xfrm>
            <a:off x="10277856" y="1481328"/>
            <a:ext cx="658368" cy="658368"/>
          </a:xfrm>
          <a:prstGeom prst="ellipse">
            <a:avLst/>
          </a:prstGeom>
          <a:solidFill>
            <a:schemeClr val="accent5"/>
          </a:solidFill>
          <a:ln/>
        </p:spPr>
      </p:sp>
      <p:pic>
        <p:nvPicPr>
          <p:cNvPr id="35" name="Symbol" descr="preencoded.png">    </p:cNvPr>
          <p:cNvPicPr>
            <a:picLocks noChangeAspect="1"/>
          </p:cNvPicPr>
          <p:nvPr/>
        </p:nvPicPr>
        <p:blipFill>
          <a:blip r:embed="rId6"/>
          <a:stretch>
            <a:fillRect/>
          </a:stretch>
        </p:blipFill>
        <p:spPr>
          <a:xfrm>
            <a:off x="10442448" y="1645920"/>
            <a:ext cx="329184" cy="329184"/>
          </a:xfrm>
          <a:prstGeom prst="rect">
            <a:avLst/>
          </a:prstGeom>
        </p:spPr>
      </p:pic>
      <p:sp>
        <p:nvSpPr>
          <p:cNvPr id="36" name="Text 28"/>
          <p:cNvSpPr txBox="1"/>
          <p:nvPr/>
        </p:nvSpPr>
        <p:spPr>
          <a:xfrm>
            <a:off x="9692640" y="2240280"/>
            <a:ext cx="1828800" cy="320040"/>
          </a:xfrm>
          <a:prstGeom prst="rect">
            <a:avLst/>
          </a:prstGeom>
          <a:noFill/>
          <a:ln/>
        </p:spPr>
        <p:txBody>
          <a:bodyPr wrap="square" lIns="0" tIns="0" rIns="0" bIns="0" rtlCol="0" anchor="t"/>
          <a:lstStyle/>
          <a:p>
            <a:pPr algn="ctr" indent="0" marL="0">
              <a:buNone/>
            </a:pPr>
            <a:r>
              <a:rPr lang="en-US" sz="1500" b="1" dirty="0">
                <a:solidFill>
                  <a:schemeClr val="tx2"/>
                </a:solidFill>
              </a:rPr>
              <a:t>Krankenkasse</a:t>
            </a:r>
            <a:endParaRPr lang="en-US" sz="1500" dirty="0"/>
          </a:p>
        </p:txBody>
      </p:sp>
      <p:sp>
        <p:nvSpPr>
          <p:cNvPr id="37" name="Text 29"/>
          <p:cNvSpPr txBox="1"/>
          <p:nvPr/>
        </p:nvSpPr>
        <p:spPr>
          <a:xfrm>
            <a:off x="9692640" y="2560320"/>
            <a:ext cx="1828800" cy="365760"/>
          </a:xfrm>
          <a:prstGeom prst="rect">
            <a:avLst/>
          </a:prstGeom>
          <a:noFill/>
          <a:ln/>
        </p:spPr>
        <p:txBody>
          <a:bodyPr wrap="square" lIns="0" tIns="0" rIns="0" bIns="0" rtlCol="0" anchor="t"/>
          <a:lstStyle/>
          <a:p>
            <a:pPr algn="ctr" indent="0" marL="0">
              <a:buNone/>
            </a:pPr>
            <a:r>
              <a:rPr lang="en-US" sz="1200" dirty="0">
                <a:solidFill>
                  <a:schemeClr val="accent5"/>
                </a:solidFill>
              </a:rPr>
              <a:t>kürzt bei Fehlern</a:t>
            </a:r>
            <a:endParaRPr lang="en-US" sz="1200" dirty="0"/>
          </a:p>
        </p:txBody>
      </p:sp>
      <p:sp>
        <p:nvSpPr>
          <p:cNvPr id="38" name="Text 30"/>
          <p:cNvSpPr txBox="1"/>
          <p:nvPr/>
        </p:nvSpPr>
        <p:spPr>
          <a:xfrm>
            <a:off x="9692640" y="2926080"/>
            <a:ext cx="1828800" cy="320040"/>
          </a:xfrm>
          <a:prstGeom prst="rect">
            <a:avLst/>
          </a:prstGeom>
          <a:noFill/>
          <a:ln/>
        </p:spPr>
        <p:txBody>
          <a:bodyPr wrap="square" lIns="0" tIns="0" rIns="0" bIns="0" rtlCol="0" anchor="t"/>
          <a:lstStyle/>
          <a:p>
            <a:pPr algn="ctr" indent="0" marL="0">
              <a:buNone/>
            </a:pPr>
            <a:r>
              <a:rPr lang="en-US" sz="1300" b="1" dirty="0">
                <a:solidFill>
                  <a:schemeClr val="accent1"/>
                </a:solidFill>
              </a:rPr>
              <a:t>ca. 10 Fälle/Jahr</a:t>
            </a:r>
            <a:endParaRPr lang="en-US" sz="1300" dirty="0"/>
          </a:p>
        </p:txBody>
      </p:sp>
      <p:sp>
        <p:nvSpPr>
          <p:cNvPr id="39" name="Kennzahl"/>
          <p:cNvSpPr/>
          <p:nvPr/>
        </p:nvSpPr>
        <p:spPr>
          <a:xfrm>
            <a:off x="548640" y="3657600"/>
            <a:ext cx="3566160" cy="2194560"/>
          </a:xfrm>
          <a:prstGeom prst="roundRect">
            <a:avLst>
              <a:gd name="adj" fmla="val 3333"/>
            </a:avLst>
          </a:prstGeom>
          <a:solidFill>
            <a:schemeClr val="tx2"/>
          </a:solidFill>
          <a:ln/>
        </p:spPr>
      </p:sp>
      <p:sp>
        <p:nvSpPr>
          <p:cNvPr id="40" name="Text 32"/>
          <p:cNvSpPr txBox="1"/>
          <p:nvPr/>
        </p:nvSpPr>
        <p:spPr>
          <a:xfrm>
            <a:off x="822960" y="3840480"/>
            <a:ext cx="301752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90 %</a:t>
            </a:r>
            <a:endParaRPr lang="en-US" sz="4800" dirty="0"/>
          </a:p>
        </p:txBody>
      </p:sp>
      <p:sp>
        <p:nvSpPr>
          <p:cNvPr id="41" name="Text 33"/>
          <p:cNvSpPr txBox="1"/>
          <p:nvPr/>
        </p:nvSpPr>
        <p:spPr>
          <a:xfrm>
            <a:off x="822960" y="4800600"/>
            <a:ext cx="3017520" cy="822960"/>
          </a:xfrm>
          <a:prstGeom prst="rect">
            <a:avLst/>
          </a:prstGeom>
          <a:noFill/>
          <a:ln/>
        </p:spPr>
        <p:txBody>
          <a:bodyPr wrap="square" lIns="0" tIns="0" rIns="0" bIns="0" rtlCol="0" anchor="t"/>
          <a:lstStyle/>
          <a:p>
            <a:pPr indent="0" marL="0">
              <a:buNone/>
            </a:pPr>
            <a:r>
              <a:rPr lang="en-US" sz="1500" dirty="0">
                <a:solidFill>
                  <a:schemeClr val="bg1"/>
                </a:solidFill>
              </a:rPr>
              <a:t>der Fehler entstehen bei Doppel- und Folgeverordnungen</a:t>
            </a:r>
            <a:endParaRPr lang="en-US" sz="1500" dirty="0"/>
          </a:p>
        </p:txBody>
      </p:sp>
      <p:sp>
        <p:nvSpPr>
          <p:cNvPr id="42" name="Kennzahl"/>
          <p:cNvSpPr/>
          <p:nvPr/>
        </p:nvSpPr>
        <p:spPr>
          <a:xfrm>
            <a:off x="4297680" y="3657600"/>
            <a:ext cx="3566160" cy="2194560"/>
          </a:xfrm>
          <a:prstGeom prst="roundRect">
            <a:avLst>
              <a:gd name="adj" fmla="val 3333"/>
            </a:avLst>
          </a:prstGeom>
          <a:solidFill>
            <a:schemeClr val="tx2"/>
          </a:solidFill>
          <a:ln/>
        </p:spPr>
      </p:sp>
      <p:sp>
        <p:nvSpPr>
          <p:cNvPr id="43" name="Text 35"/>
          <p:cNvSpPr txBox="1"/>
          <p:nvPr/>
        </p:nvSpPr>
        <p:spPr>
          <a:xfrm>
            <a:off x="4572000" y="3840480"/>
            <a:ext cx="301752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 85 %</a:t>
            </a:r>
            <a:endParaRPr lang="en-US" sz="4800" dirty="0"/>
          </a:p>
        </p:txBody>
      </p:sp>
      <p:sp>
        <p:nvSpPr>
          <p:cNvPr id="44" name="Text 36"/>
          <p:cNvSpPr txBox="1"/>
          <p:nvPr/>
        </p:nvSpPr>
        <p:spPr>
          <a:xfrm>
            <a:off x="4572000" y="4800600"/>
            <a:ext cx="3017520" cy="822960"/>
          </a:xfrm>
          <a:prstGeom prst="rect">
            <a:avLst/>
          </a:prstGeom>
          <a:noFill/>
          <a:ln/>
        </p:spPr>
        <p:txBody>
          <a:bodyPr wrap="square" lIns="0" tIns="0" rIns="0" bIns="0" rtlCol="0" anchor="t"/>
          <a:lstStyle/>
          <a:p>
            <a:pPr indent="0" marL="0">
              <a:buNone/>
            </a:pPr>
            <a:r>
              <a:rPr lang="en-US" sz="1500" dirty="0">
                <a:solidFill>
                  <a:schemeClr val="bg1"/>
                </a:solidFill>
              </a:rPr>
              <a:t>Wirksamkeit menschlicher Doppelkontrollen</a:t>
            </a:r>
            <a:endParaRPr lang="en-US" sz="1500" dirty="0"/>
          </a:p>
        </p:txBody>
      </p:sp>
      <p:sp>
        <p:nvSpPr>
          <p:cNvPr id="45" name="Kennzahl"/>
          <p:cNvSpPr/>
          <p:nvPr/>
        </p:nvSpPr>
        <p:spPr>
          <a:xfrm>
            <a:off x="8046720" y="3657600"/>
            <a:ext cx="3566160" cy="2194560"/>
          </a:xfrm>
          <a:prstGeom prst="roundRect">
            <a:avLst>
              <a:gd name="adj" fmla="val 3333"/>
            </a:avLst>
          </a:prstGeom>
          <a:solidFill>
            <a:schemeClr val="tx2"/>
          </a:solidFill>
          <a:ln/>
        </p:spPr>
      </p:sp>
      <p:sp>
        <p:nvSpPr>
          <p:cNvPr id="46" name="Text 38"/>
          <p:cNvSpPr txBox="1"/>
          <p:nvPr/>
        </p:nvSpPr>
        <p:spPr>
          <a:xfrm>
            <a:off x="8321040" y="3840480"/>
            <a:ext cx="3017520" cy="914400"/>
          </a:xfrm>
          <a:prstGeom prst="rect">
            <a:avLst/>
          </a:prstGeom>
          <a:noFill/>
          <a:ln/>
        </p:spPr>
        <p:txBody>
          <a:bodyPr wrap="square" lIns="0" tIns="0" rIns="0" bIns="0" rtlCol="0" anchor="t"/>
          <a:lstStyle/>
          <a:p>
            <a:pPr indent="0" marL="0">
              <a:buNone/>
            </a:pPr>
            <a:r>
              <a:rPr lang="en-US" sz="4800" b="1" dirty="0">
                <a:solidFill>
                  <a:schemeClr val="accent2"/>
                </a:solidFill>
                <a:latin typeface="Cambria" pitchFamily="34" charset="0"/>
                <a:ea typeface="Cambria" pitchFamily="34" charset="-122"/>
                <a:cs typeface="Cambria" pitchFamily="34" charset="-120"/>
              </a:rPr>
              <a:t>5,3 h</a:t>
            </a:r>
            <a:endParaRPr lang="en-US" sz="4800" dirty="0"/>
          </a:p>
        </p:txBody>
      </p:sp>
      <p:sp>
        <p:nvSpPr>
          <p:cNvPr id="47" name="Text 39"/>
          <p:cNvSpPr txBox="1"/>
          <p:nvPr/>
        </p:nvSpPr>
        <p:spPr>
          <a:xfrm>
            <a:off x="8321040" y="4800600"/>
            <a:ext cx="3017520" cy="822960"/>
          </a:xfrm>
          <a:prstGeom prst="rect">
            <a:avLst/>
          </a:prstGeom>
          <a:noFill/>
          <a:ln/>
        </p:spPr>
        <p:txBody>
          <a:bodyPr wrap="square" lIns="0" tIns="0" rIns="0" bIns="0" rtlCol="0" anchor="t"/>
          <a:lstStyle/>
          <a:p>
            <a:pPr indent="0" marL="0">
              <a:buNone/>
            </a:pPr>
            <a:r>
              <a:rPr lang="en-US" sz="1500" dirty="0">
                <a:solidFill>
                  <a:schemeClr val="bg1"/>
                </a:solidFill>
              </a:rPr>
              <a:t>Prüfzeit pro Woche: 40 Verordnungen × 8 min</a:t>
            </a:r>
            <a:endParaRPr lang="en-US" sz="1500" dirty="0"/>
          </a:p>
        </p:txBody>
      </p:sp>
      <p:sp>
        <p:nvSpPr>
          <p:cNvPr id="48" name="Text 40"/>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000" i="1" dirty="0">
                <a:solidFill>
                  <a:schemeClr val="accent5"/>
                </a:solidFill>
              </a:rPr>
              <a:t>Quelle: Field Study, Ist-Interview mit der Mitinhaberin (anonym) am 16.10.2026 · Die Praxissoftware zeigt nicht, wie viele Einheiten ein Patient beim selben Arzt schon hatte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Einsatzfelder: erst die Landkarte, dann der Pilot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sp>
        <p:nvSpPr>
          <p:cNvPr id="8" name="Matrix"/>
          <p:cNvSpPr/>
          <p:nvPr/>
        </p:nvSpPr>
        <p:spPr>
          <a:xfrm>
            <a:off x="548640" y="1325880"/>
            <a:ext cx="6492240" cy="4297680"/>
          </a:xfrm>
          <a:prstGeom prst="roundRect">
            <a:avLst>
              <a:gd name="adj" fmla="val 1702"/>
            </a:avLst>
          </a:prstGeom>
          <a:solidFill>
            <a:schemeClr val="bg2"/>
          </a:solidFill>
          <a:ln/>
        </p:spPr>
      </p:sp>
      <p:sp>
        <p:nvSpPr>
          <p:cNvPr id="9" name="Hilfslinie"/>
          <p:cNvSpPr/>
          <p:nvPr/>
        </p:nvSpPr>
        <p:spPr>
          <a:xfrm>
            <a:off x="3794760" y="1463040"/>
            <a:ext cx="0" cy="4023360"/>
          </a:xfrm>
          <a:prstGeom prst="line">
            <a:avLst/>
          </a:prstGeom>
          <a:noFill/>
          <a:ln w="12700">
            <a:solidFill>
              <a:srgbClr val="C9D6D3"/>
            </a:solidFill>
            <a:prstDash val="dash"/>
          </a:ln>
        </p:spPr>
      </p:sp>
      <p:sp>
        <p:nvSpPr>
          <p:cNvPr id="10" name="Hilfslinie"/>
          <p:cNvSpPr/>
          <p:nvPr/>
        </p:nvSpPr>
        <p:spPr>
          <a:xfrm>
            <a:off x="685800" y="3474720"/>
            <a:ext cx="6217920" cy="0"/>
          </a:xfrm>
          <a:prstGeom prst="line">
            <a:avLst/>
          </a:prstGeom>
          <a:noFill/>
          <a:ln w="12700">
            <a:solidFill>
              <a:srgbClr val="C9D6D3"/>
            </a:solidFill>
            <a:prstDash val="dash"/>
          </a:ln>
        </p:spPr>
      </p:sp>
      <p:sp>
        <p:nvSpPr>
          <p:cNvPr id="11" name="Text 8"/>
          <p:cNvSpPr txBox="1"/>
          <p:nvPr/>
        </p:nvSpPr>
        <p:spPr>
          <a:xfrm>
            <a:off x="685800" y="1417320"/>
            <a:ext cx="2377440" cy="274320"/>
          </a:xfrm>
          <a:prstGeom prst="rect">
            <a:avLst/>
          </a:prstGeom>
          <a:noFill/>
          <a:ln/>
        </p:spPr>
        <p:txBody>
          <a:bodyPr wrap="square" lIns="0" tIns="0" rIns="0" bIns="0" rtlCol="0" anchor="t"/>
          <a:lstStyle/>
          <a:p>
            <a:pPr indent="0" marL="0">
              <a:buNone/>
            </a:pPr>
            <a:r>
              <a:rPr lang="en-US" sz="1200" dirty="0">
                <a:solidFill>
                  <a:schemeClr val="accent5"/>
                </a:solidFill>
              </a:rPr>
              <a:t>↑ Nutzen für die Praxis</a:t>
            </a:r>
            <a:endParaRPr lang="en-US" sz="1200" dirty="0"/>
          </a:p>
        </p:txBody>
      </p:sp>
      <p:sp>
        <p:nvSpPr>
          <p:cNvPr id="12" name="Text 9"/>
          <p:cNvSpPr txBox="1"/>
          <p:nvPr/>
        </p:nvSpPr>
        <p:spPr>
          <a:xfrm>
            <a:off x="548640" y="5696712"/>
            <a:ext cx="6492240" cy="274320"/>
          </a:xfrm>
          <a:prstGeom prst="rect">
            <a:avLst/>
          </a:prstGeom>
          <a:noFill/>
          <a:ln/>
        </p:spPr>
        <p:txBody>
          <a:bodyPr wrap="square" lIns="0" tIns="0" rIns="0" bIns="0" rtlCol="0" anchor="t"/>
          <a:lstStyle/>
          <a:p>
            <a:pPr algn="ctr" indent="0" marL="0">
              <a:buNone/>
            </a:pPr>
            <a:r>
              <a:rPr lang="en-US" sz="1200" dirty="0">
                <a:solidFill>
                  <a:schemeClr val="accent5"/>
                </a:solidFill>
              </a:rPr>
              <a:t>Machbarkeit (Daten, Schnittstellen, Risiko) →</a:t>
            </a:r>
            <a:endParaRPr lang="en-US" sz="1200" dirty="0"/>
          </a:p>
        </p:txBody>
      </p:sp>
      <p:sp>
        <p:nvSpPr>
          <p:cNvPr id="13" name="Einsatzfeld Verordnungs-Check"/>
          <p:cNvSpPr/>
          <p:nvPr/>
        </p:nvSpPr>
        <p:spPr>
          <a:xfrm>
            <a:off x="6483096" y="1499616"/>
            <a:ext cx="384048" cy="384048"/>
          </a:xfrm>
          <a:prstGeom prst="ellipse">
            <a:avLst/>
          </a:prstGeom>
          <a:solidFill>
            <a:schemeClr val="accent3"/>
          </a:solidFill>
          <a:ln/>
        </p:spPr>
      </p:sp>
      <p:sp>
        <p:nvSpPr>
          <p:cNvPr id="14" name="Text 11"/>
          <p:cNvSpPr txBox="1"/>
          <p:nvPr/>
        </p:nvSpPr>
        <p:spPr>
          <a:xfrm>
            <a:off x="4105656" y="1527048"/>
            <a:ext cx="2286000" cy="329184"/>
          </a:xfrm>
          <a:prstGeom prst="rect">
            <a:avLst/>
          </a:prstGeom>
          <a:noFill/>
          <a:ln/>
        </p:spPr>
        <p:txBody>
          <a:bodyPr wrap="square" lIns="0" tIns="0" rIns="0" bIns="0" rtlCol="0" anchor="ctr"/>
          <a:lstStyle/>
          <a:p>
            <a:pPr algn="r" indent="0" marL="0">
              <a:buNone/>
            </a:pPr>
            <a:r>
              <a:rPr lang="en-US" sz="1400" b="1" dirty="0">
                <a:solidFill>
                  <a:schemeClr val="accent3"/>
                </a:solidFill>
              </a:rPr>
              <a:t>Verordnungs-Check</a:t>
            </a:r>
            <a:endParaRPr lang="en-US" sz="1400" dirty="0"/>
          </a:p>
        </p:txBody>
      </p:sp>
      <p:sp>
        <p:nvSpPr>
          <p:cNvPr id="15" name="Einsatzfeld Terminvergabe &amp; Telefon"/>
          <p:cNvSpPr/>
          <p:nvPr/>
        </p:nvSpPr>
        <p:spPr>
          <a:xfrm>
            <a:off x="3666744" y="1563624"/>
            <a:ext cx="256032" cy="256032"/>
          </a:xfrm>
          <a:prstGeom prst="ellipse">
            <a:avLst/>
          </a:prstGeom>
          <a:solidFill>
            <a:schemeClr val="accent1"/>
          </a:solidFill>
          <a:ln/>
        </p:spPr>
      </p:sp>
      <p:sp>
        <p:nvSpPr>
          <p:cNvPr id="16" name="Text 13"/>
          <p:cNvSpPr txBox="1"/>
          <p:nvPr/>
        </p:nvSpPr>
        <p:spPr>
          <a:xfrm>
            <a:off x="1289304" y="1527048"/>
            <a:ext cx="2286000" cy="329184"/>
          </a:xfrm>
          <a:prstGeom prst="rect">
            <a:avLst/>
          </a:prstGeom>
          <a:noFill/>
          <a:ln/>
        </p:spPr>
        <p:txBody>
          <a:bodyPr wrap="square" lIns="0" tIns="0" rIns="0" bIns="0" rtlCol="0" anchor="ctr"/>
          <a:lstStyle/>
          <a:p>
            <a:pPr algn="r" indent="0" marL="0">
              <a:buNone/>
            </a:pPr>
            <a:r>
              <a:rPr lang="en-US" sz="1200" dirty="0">
                <a:solidFill>
                  <a:schemeClr val="tx1"/>
                </a:solidFill>
              </a:rPr>
              <a:t>Terminvergabe &amp; Telefon</a:t>
            </a:r>
            <a:endParaRPr lang="en-US" sz="1200" dirty="0"/>
          </a:p>
        </p:txBody>
      </p:sp>
      <p:sp>
        <p:nvSpPr>
          <p:cNvPr id="17" name="Einsatzfeld Erinnerungen an Patienten"/>
          <p:cNvSpPr/>
          <p:nvPr/>
        </p:nvSpPr>
        <p:spPr>
          <a:xfrm>
            <a:off x="6547104" y="3346704"/>
            <a:ext cx="256032" cy="256032"/>
          </a:xfrm>
          <a:prstGeom prst="ellipse">
            <a:avLst/>
          </a:prstGeom>
          <a:solidFill>
            <a:schemeClr val="accent1"/>
          </a:solidFill>
          <a:ln/>
        </p:spPr>
      </p:sp>
      <p:sp>
        <p:nvSpPr>
          <p:cNvPr id="18" name="Text 15"/>
          <p:cNvSpPr txBox="1"/>
          <p:nvPr/>
        </p:nvSpPr>
        <p:spPr>
          <a:xfrm>
            <a:off x="4169664" y="3310128"/>
            <a:ext cx="2286000" cy="329184"/>
          </a:xfrm>
          <a:prstGeom prst="rect">
            <a:avLst/>
          </a:prstGeom>
          <a:noFill/>
          <a:ln/>
        </p:spPr>
        <p:txBody>
          <a:bodyPr wrap="square" lIns="0" tIns="0" rIns="0" bIns="0" rtlCol="0" anchor="ctr"/>
          <a:lstStyle/>
          <a:p>
            <a:pPr algn="r" indent="0" marL="0">
              <a:buNone/>
            </a:pPr>
            <a:r>
              <a:rPr lang="en-US" sz="1200" dirty="0">
                <a:solidFill>
                  <a:schemeClr val="tx1"/>
                </a:solidFill>
              </a:rPr>
              <a:t>Erinnerungen an Patienten</a:t>
            </a:r>
            <a:endParaRPr lang="en-US" sz="1200" dirty="0"/>
          </a:p>
        </p:txBody>
      </p:sp>
      <p:sp>
        <p:nvSpPr>
          <p:cNvPr id="19" name="Einsatzfeld Abrechnungs-Vorbereitung"/>
          <p:cNvSpPr/>
          <p:nvPr/>
        </p:nvSpPr>
        <p:spPr>
          <a:xfrm>
            <a:off x="786384" y="3346704"/>
            <a:ext cx="256032" cy="256032"/>
          </a:xfrm>
          <a:prstGeom prst="ellipse">
            <a:avLst/>
          </a:prstGeom>
          <a:solidFill>
            <a:schemeClr val="accent1"/>
          </a:solidFill>
          <a:ln/>
        </p:spPr>
      </p:sp>
      <p:sp>
        <p:nvSpPr>
          <p:cNvPr id="20" name="Text 17"/>
          <p:cNvSpPr txBox="1"/>
          <p:nvPr/>
        </p:nvSpPr>
        <p:spPr>
          <a:xfrm>
            <a:off x="1115568" y="3310128"/>
            <a:ext cx="2286000" cy="329184"/>
          </a:xfrm>
          <a:prstGeom prst="rect">
            <a:avLst/>
          </a:prstGeom>
          <a:noFill/>
          <a:ln/>
        </p:spPr>
        <p:txBody>
          <a:bodyPr wrap="square" lIns="0" tIns="0" rIns="0" bIns="0" rtlCol="0" anchor="ctr"/>
          <a:lstStyle/>
          <a:p>
            <a:pPr algn="l" indent="0" marL="0">
              <a:buNone/>
            </a:pPr>
            <a:r>
              <a:rPr lang="en-US" sz="1200" dirty="0">
                <a:solidFill>
                  <a:schemeClr val="tx1"/>
                </a:solidFill>
              </a:rPr>
              <a:t>Abrechnungs-Vorbereitung</a:t>
            </a:r>
            <a:endParaRPr lang="en-US" sz="1200" dirty="0"/>
          </a:p>
        </p:txBody>
      </p:sp>
      <p:sp>
        <p:nvSpPr>
          <p:cNvPr id="21" name="Einsatzfeld Therapieberichte an Ärzte"/>
          <p:cNvSpPr/>
          <p:nvPr/>
        </p:nvSpPr>
        <p:spPr>
          <a:xfrm>
            <a:off x="3666744" y="4238244"/>
            <a:ext cx="256032" cy="256032"/>
          </a:xfrm>
          <a:prstGeom prst="ellipse">
            <a:avLst/>
          </a:prstGeom>
          <a:solidFill>
            <a:schemeClr val="accent1"/>
          </a:solidFill>
          <a:ln/>
        </p:spPr>
      </p:sp>
      <p:sp>
        <p:nvSpPr>
          <p:cNvPr id="22" name="Text 19"/>
          <p:cNvSpPr txBox="1"/>
          <p:nvPr/>
        </p:nvSpPr>
        <p:spPr>
          <a:xfrm>
            <a:off x="3995928" y="4201668"/>
            <a:ext cx="2286000" cy="329184"/>
          </a:xfrm>
          <a:prstGeom prst="rect">
            <a:avLst/>
          </a:prstGeom>
          <a:noFill/>
          <a:ln/>
        </p:spPr>
        <p:txBody>
          <a:bodyPr wrap="square" lIns="0" tIns="0" rIns="0" bIns="0" rtlCol="0" anchor="ctr"/>
          <a:lstStyle/>
          <a:p>
            <a:pPr algn="l" indent="0" marL="0">
              <a:buNone/>
            </a:pPr>
            <a:r>
              <a:rPr lang="en-US" sz="1200" dirty="0">
                <a:solidFill>
                  <a:schemeClr val="tx1"/>
                </a:solidFill>
              </a:rPr>
              <a:t>Therapieberichte an Ärzte</a:t>
            </a:r>
            <a:endParaRPr lang="en-US" sz="1200" dirty="0"/>
          </a:p>
        </p:txBody>
      </p:sp>
      <p:sp>
        <p:nvSpPr>
          <p:cNvPr id="23" name="Einsatzfeld Dienst- &amp; Raumplanung"/>
          <p:cNvSpPr/>
          <p:nvPr/>
        </p:nvSpPr>
        <p:spPr>
          <a:xfrm>
            <a:off x="3666744" y="5129784"/>
            <a:ext cx="256032" cy="256032"/>
          </a:xfrm>
          <a:prstGeom prst="ellipse">
            <a:avLst/>
          </a:prstGeom>
          <a:solidFill>
            <a:schemeClr val="accent1"/>
          </a:solidFill>
          <a:ln/>
        </p:spPr>
      </p:sp>
      <p:sp>
        <p:nvSpPr>
          <p:cNvPr id="24" name="Text 21"/>
          <p:cNvSpPr txBox="1"/>
          <p:nvPr/>
        </p:nvSpPr>
        <p:spPr>
          <a:xfrm>
            <a:off x="3995928" y="5093208"/>
            <a:ext cx="2286000" cy="329184"/>
          </a:xfrm>
          <a:prstGeom prst="rect">
            <a:avLst/>
          </a:prstGeom>
          <a:noFill/>
          <a:ln/>
        </p:spPr>
        <p:txBody>
          <a:bodyPr wrap="square" lIns="0" tIns="0" rIns="0" bIns="0" rtlCol="0" anchor="ctr"/>
          <a:lstStyle/>
          <a:p>
            <a:pPr algn="l" indent="0" marL="0">
              <a:buNone/>
            </a:pPr>
            <a:r>
              <a:rPr lang="en-US" sz="1200" dirty="0">
                <a:solidFill>
                  <a:schemeClr val="tx1"/>
                </a:solidFill>
              </a:rPr>
              <a:t>Dienst- &amp; Raumplanung</a:t>
            </a:r>
            <a:endParaRPr lang="en-US" sz="1200" dirty="0"/>
          </a:p>
        </p:txBody>
      </p:sp>
      <p:sp>
        <p:nvSpPr>
          <p:cNvPr id="25" name="Begründung Pilot"/>
          <p:cNvSpPr/>
          <p:nvPr/>
        </p:nvSpPr>
        <p:spPr>
          <a:xfrm>
            <a:off x="7315200" y="1325880"/>
            <a:ext cx="4325112" cy="4297680"/>
          </a:xfrm>
          <a:prstGeom prst="roundRect">
            <a:avLst>
              <a:gd name="adj" fmla="val 1702"/>
            </a:avLst>
          </a:prstGeom>
          <a:solidFill>
            <a:schemeClr val="tx2"/>
          </a:solidFill>
          <a:ln/>
        </p:spPr>
      </p:sp>
      <p:sp>
        <p:nvSpPr>
          <p:cNvPr id="26" name="Symbolkreis"/>
          <p:cNvSpPr/>
          <p:nvPr/>
        </p:nvSpPr>
        <p:spPr>
          <a:xfrm>
            <a:off x="7589520" y="1508760"/>
            <a:ext cx="548640" cy="548640"/>
          </a:xfrm>
          <a:prstGeom prst="ellipse">
            <a:avLst/>
          </a:prstGeom>
          <a:solidFill>
            <a:schemeClr val="accent2"/>
          </a:solidFill>
          <a:ln/>
        </p:spPr>
      </p:sp>
      <p:pic>
        <p:nvPicPr>
          <p:cNvPr id="27" name="Symbol" descr="preencoded.png">    </p:cNvPr>
          <p:cNvPicPr>
            <a:picLocks noChangeAspect="1"/>
          </p:cNvPicPr>
          <p:nvPr/>
        </p:nvPicPr>
        <p:blipFill>
          <a:blip r:embed="rId2"/>
          <a:stretch>
            <a:fillRect/>
          </a:stretch>
        </p:blipFill>
        <p:spPr>
          <a:xfrm>
            <a:off x="7726680" y="1645920"/>
            <a:ext cx="274320" cy="274320"/>
          </a:xfrm>
          <a:prstGeom prst="rect">
            <a:avLst/>
          </a:prstGeom>
        </p:spPr>
      </p:pic>
      <p:sp>
        <p:nvSpPr>
          <p:cNvPr id="28" name="Text 24"/>
          <p:cNvSpPr txBox="1"/>
          <p:nvPr/>
        </p:nvSpPr>
        <p:spPr>
          <a:xfrm>
            <a:off x="8275320" y="1600200"/>
            <a:ext cx="3200400" cy="41148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Warum dieser Pilot</a:t>
            </a:r>
            <a:endParaRPr lang="en-US" sz="1800" dirty="0"/>
          </a:p>
        </p:txBody>
      </p:sp>
      <p:sp>
        <p:nvSpPr>
          <p:cNvPr id="29" name="Text 25"/>
          <p:cNvSpPr txBox="1"/>
          <p:nvPr/>
        </p:nvSpPr>
        <p:spPr>
          <a:xfrm>
            <a:off x="7589520" y="2286000"/>
            <a:ext cx="3794760" cy="31089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Trifft das größte Problem: 90 % der Fehler</a:t>
            </a:r>
            <a:endParaRPr lang="en-US" sz="1400" dirty="0"/>
          </a:p>
          <a:p>
            <a:pPr marL="177800" indent="-177800">
              <a:spcAft>
                <a:spcPts val="500"/>
              </a:spcAft>
              <a:buSzPct val="100000"/>
              <a:buChar char="•"/>
            </a:pPr>
            <a:r>
              <a:rPr lang="en-US" sz="1400" dirty="0">
                <a:solidFill>
                  <a:schemeClr val="bg1"/>
                </a:solidFill>
              </a:rPr>
              <a:t>Regeln sind öffentlich und belegbar (G-BA, KBV)</a:t>
            </a:r>
            <a:endParaRPr lang="en-US" sz="1400" dirty="0"/>
          </a:p>
          <a:p>
            <a:pPr marL="177800" indent="-177800">
              <a:spcAft>
                <a:spcPts val="500"/>
              </a:spcAft>
              <a:buSzPct val="100000"/>
              <a:buChar char="•"/>
            </a:pPr>
            <a:r>
              <a:rPr lang="en-US" sz="1400" dirty="0">
                <a:solidFill>
                  <a:schemeClr val="bg1"/>
                </a:solidFill>
              </a:rPr>
              <a:t>Keine Schnittstelle nötig: Eingabe per Chat oder Formular</a:t>
            </a:r>
            <a:endParaRPr lang="en-US" sz="1400" dirty="0"/>
          </a:p>
          <a:p>
            <a:pPr marL="177800" indent="-177800">
              <a:spcAft>
                <a:spcPts val="500"/>
              </a:spcAft>
              <a:buSzPct val="100000"/>
              <a:buChar char="•"/>
            </a:pPr>
            <a:r>
              <a:rPr lang="en-US" sz="1400" dirty="0">
                <a:solidFill>
                  <a:schemeClr val="bg1"/>
                </a:solidFill>
              </a:rPr>
              <a:t>Geringes Risiko: Die Rezeption entscheidet</a:t>
            </a:r>
            <a:endParaRPr lang="en-US" sz="1400" dirty="0"/>
          </a:p>
          <a:p>
            <a:pPr marL="177800" indent="-177800">
              <a:spcAft>
                <a:spcPts val="500"/>
              </a:spcAft>
              <a:buSzPct val="100000"/>
              <a:buChar char="•"/>
            </a:pPr>
            <a:r>
              <a:rPr lang="en-US" sz="1400" dirty="0">
                <a:solidFill>
                  <a:schemeClr val="bg1"/>
                </a:solidFill>
              </a:rPr>
              <a:t>Messbar: Zeit, Trefferquote, Nacharbeit</a:t>
            </a:r>
            <a:endParaRPr lang="en-US" sz="1400" dirty="0"/>
          </a:p>
        </p:txBody>
      </p:sp>
      <p:sp>
        <p:nvSpPr>
          <p:cNvPr id="30" name="Text 26"/>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000" i="1" dirty="0">
                <a:solidFill>
                  <a:schemeClr val="accent5"/>
                </a:solidFill>
              </a:rPr>
              <a:t>Einschätzung des Teams, keine Messung · im Pilot nur für den Verordnungs-Check überprüft</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Soll: Prüfung vor der Behandlung, 75 % weniger Prüfzeit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graphicFrame>
        <p:nvGraphicFramePr>
          <p:cNvPr id="6" name="Chart 0" descr=""/>
          <p:cNvGraphicFramePr/>
          <p:nvPr/>
        </p:nvGraphicFramePr>
        <p:xfrm>
          <a:off x="548640" y="1280160"/>
          <a:ext cx="6949440" cy="4480560"/>
        </p:xfrm>
        <a:graphic xmlns:a="http://schemas.openxmlformats.org/drawingml/2006/main">
          <a:graphicData uri="http://schemas.openxmlformats.org/drawingml/2006/chart">
            <c:chart xmlns:c="http://schemas.openxmlformats.org/drawingml/2006/chart" r:id="rId2"/>
          </a:graphicData>
        </a:graphic>
      </p:graphicFrame>
      <p:sp>
        <p:nvSpPr>
          <p:cNvPr id="7" name="Kennzahl Jahr 1"/>
          <p:cNvSpPr/>
          <p:nvPr/>
        </p:nvSpPr>
        <p:spPr>
          <a:xfrm>
            <a:off x="7818120" y="1325880"/>
            <a:ext cx="3822192" cy="1371600"/>
          </a:xfrm>
          <a:prstGeom prst="roundRect">
            <a:avLst>
              <a:gd name="adj" fmla="val 5333"/>
            </a:avLst>
          </a:prstGeom>
          <a:solidFill>
            <a:schemeClr val="bg2"/>
          </a:solidFill>
          <a:ln/>
        </p:spPr>
      </p:sp>
      <p:sp>
        <p:nvSpPr>
          <p:cNvPr id="8" name="Text 4"/>
          <p:cNvSpPr txBox="1"/>
          <p:nvPr/>
        </p:nvSpPr>
        <p:spPr>
          <a:xfrm>
            <a:off x="8092440" y="1444752"/>
            <a:ext cx="1828800" cy="274320"/>
          </a:xfrm>
          <a:prstGeom prst="rect">
            <a:avLst/>
          </a:prstGeom>
          <a:noFill/>
          <a:ln/>
        </p:spPr>
        <p:txBody>
          <a:bodyPr wrap="square" lIns="0" tIns="0" rIns="0" bIns="0" rtlCol="0" anchor="t"/>
          <a:lstStyle/>
          <a:p>
            <a:pPr indent="0" marL="0">
              <a:buNone/>
            </a:pPr>
            <a:r>
              <a:rPr lang="en-US" sz="1300" dirty="0">
                <a:solidFill>
                  <a:schemeClr val="accent5"/>
                </a:solidFill>
              </a:rPr>
              <a:t>Jahr 1</a:t>
            </a:r>
            <a:endParaRPr lang="en-US" sz="1300" dirty="0"/>
          </a:p>
        </p:txBody>
      </p:sp>
      <p:sp>
        <p:nvSpPr>
          <p:cNvPr id="9" name="Text 5"/>
          <p:cNvSpPr txBox="1"/>
          <p:nvPr/>
        </p:nvSpPr>
        <p:spPr>
          <a:xfrm>
            <a:off x="8092440" y="1737360"/>
            <a:ext cx="3273552" cy="59436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 3.070 €</a:t>
            </a:r>
            <a:endParaRPr lang="en-US" sz="3200" dirty="0"/>
          </a:p>
        </p:txBody>
      </p:sp>
      <p:sp>
        <p:nvSpPr>
          <p:cNvPr id="10" name="Text 6"/>
          <p:cNvSpPr txBox="1"/>
          <p:nvPr/>
        </p:nvSpPr>
        <p:spPr>
          <a:xfrm>
            <a:off x="8092440" y="2304288"/>
            <a:ext cx="3273552" cy="274320"/>
          </a:xfrm>
          <a:prstGeom prst="rect">
            <a:avLst/>
          </a:prstGeom>
          <a:noFill/>
          <a:ln/>
        </p:spPr>
        <p:txBody>
          <a:bodyPr wrap="square" lIns="0" tIns="0" rIns="0" bIns="0" rtlCol="0" anchor="t"/>
          <a:lstStyle/>
          <a:p>
            <a:pPr indent="0" marL="0">
              <a:buNone/>
            </a:pPr>
            <a:r>
              <a:rPr lang="en-US" sz="1200" dirty="0">
                <a:solidFill>
                  <a:schemeClr val="accent5"/>
                </a:solidFill>
              </a:rPr>
              <a:t>146 h frei · Anlauf 25 → 75 %</a:t>
            </a:r>
            <a:endParaRPr lang="en-US" sz="1200" dirty="0"/>
          </a:p>
        </p:txBody>
      </p:sp>
      <p:sp>
        <p:nvSpPr>
          <p:cNvPr id="11" name="Kennzahl ab Jahr 2"/>
          <p:cNvSpPr/>
          <p:nvPr/>
        </p:nvSpPr>
        <p:spPr>
          <a:xfrm>
            <a:off x="7818120" y="2834640"/>
            <a:ext cx="3822192" cy="1371600"/>
          </a:xfrm>
          <a:prstGeom prst="roundRect">
            <a:avLst>
              <a:gd name="adj" fmla="val 5333"/>
            </a:avLst>
          </a:prstGeom>
          <a:solidFill>
            <a:schemeClr val="tx2"/>
          </a:solidFill>
          <a:ln/>
        </p:spPr>
      </p:sp>
      <p:sp>
        <p:nvSpPr>
          <p:cNvPr id="12" name="Text 8"/>
          <p:cNvSpPr txBox="1"/>
          <p:nvPr/>
        </p:nvSpPr>
        <p:spPr>
          <a:xfrm>
            <a:off x="8092440" y="2953512"/>
            <a:ext cx="1828800" cy="274320"/>
          </a:xfrm>
          <a:prstGeom prst="rect">
            <a:avLst/>
          </a:prstGeom>
          <a:noFill/>
          <a:ln/>
        </p:spPr>
        <p:txBody>
          <a:bodyPr wrap="square" lIns="0" tIns="0" rIns="0" bIns="0" rtlCol="0" anchor="t"/>
          <a:lstStyle/>
          <a:p>
            <a:pPr indent="0" marL="0">
              <a:buNone/>
            </a:pPr>
            <a:r>
              <a:rPr lang="en-US" sz="1300" dirty="0">
                <a:solidFill>
                  <a:schemeClr val="bg2"/>
                </a:solidFill>
              </a:rPr>
              <a:t>ab Jahr 2</a:t>
            </a:r>
            <a:endParaRPr lang="en-US" sz="1300" dirty="0"/>
          </a:p>
        </p:txBody>
      </p:sp>
      <p:sp>
        <p:nvSpPr>
          <p:cNvPr id="13" name="Text 9"/>
          <p:cNvSpPr txBox="1"/>
          <p:nvPr/>
        </p:nvSpPr>
        <p:spPr>
          <a:xfrm>
            <a:off x="8092440" y="3246120"/>
            <a:ext cx="3273552" cy="594360"/>
          </a:xfrm>
          <a:prstGeom prst="rect">
            <a:avLst/>
          </a:prstGeom>
          <a:noFill/>
          <a:ln/>
        </p:spPr>
        <p:txBody>
          <a:bodyPr wrap="square" lIns="0" tIns="0" rIns="0" bIns="0" rtlCol="0" anchor="t"/>
          <a:lstStyle/>
          <a:p>
            <a:pPr indent="0" marL="0">
              <a:buNone/>
            </a:pPr>
            <a:r>
              <a:rPr lang="en-US" sz="3200" b="1" dirty="0">
                <a:solidFill>
                  <a:schemeClr val="accent2"/>
                </a:solidFill>
                <a:latin typeface="Cambria" pitchFamily="34" charset="0"/>
                <a:ea typeface="Cambria" pitchFamily="34" charset="-122"/>
                <a:cs typeface="Cambria" pitchFamily="34" charset="-120"/>
              </a:rPr>
              <a:t>≈ 4.300 € / Jahr</a:t>
            </a:r>
            <a:endParaRPr lang="en-US" sz="3200" dirty="0"/>
          </a:p>
        </p:txBody>
      </p:sp>
      <p:sp>
        <p:nvSpPr>
          <p:cNvPr id="14" name="Text 10"/>
          <p:cNvSpPr txBox="1"/>
          <p:nvPr/>
        </p:nvSpPr>
        <p:spPr>
          <a:xfrm>
            <a:off x="8092440" y="3813048"/>
            <a:ext cx="3273552" cy="274320"/>
          </a:xfrm>
          <a:prstGeom prst="rect">
            <a:avLst/>
          </a:prstGeom>
          <a:noFill/>
          <a:ln/>
        </p:spPr>
        <p:txBody>
          <a:bodyPr wrap="square" lIns="0" tIns="0" rIns="0" bIns="0" rtlCol="0" anchor="t"/>
          <a:lstStyle/>
          <a:p>
            <a:pPr indent="0" marL="0">
              <a:buNone/>
            </a:pPr>
            <a:r>
              <a:rPr lang="en-US" sz="1200" dirty="0">
                <a:solidFill>
                  <a:schemeClr val="bg2"/>
                </a:solidFill>
              </a:rPr>
              <a:t>207 h frei · etwa ½ Minijob</a:t>
            </a:r>
            <a:endParaRPr lang="en-US" sz="1200" dirty="0"/>
          </a:p>
        </p:txBody>
      </p:sp>
      <p:sp>
        <p:nvSpPr>
          <p:cNvPr id="15" name="Hebel"/>
          <p:cNvSpPr/>
          <p:nvPr/>
        </p:nvSpPr>
        <p:spPr>
          <a:xfrm>
            <a:off x="7818120" y="4343400"/>
            <a:ext cx="3822192" cy="1417320"/>
          </a:xfrm>
          <a:prstGeom prst="roundRect">
            <a:avLst>
              <a:gd name="adj" fmla="val 5161"/>
            </a:avLst>
          </a:prstGeom>
          <a:solidFill>
            <a:schemeClr val="bg2"/>
          </a:solidFill>
          <a:ln/>
        </p:spPr>
      </p:sp>
      <p:sp>
        <p:nvSpPr>
          <p:cNvPr id="16" name="Text 12"/>
          <p:cNvSpPr txBox="1"/>
          <p:nvPr/>
        </p:nvSpPr>
        <p:spPr>
          <a:xfrm>
            <a:off x="8092440" y="4480560"/>
            <a:ext cx="3273552" cy="1188720"/>
          </a:xfrm>
          <a:prstGeom prst="rect">
            <a:avLst/>
          </a:prstGeom>
          <a:noFill/>
          <a:ln/>
        </p:spPr>
        <p:txBody>
          <a:bodyPr wrap="square" lIns="0" tIns="0" rIns="0" bIns="0" rtlCol="0" anchor="t"/>
          <a:lstStyle/>
          <a:p>
            <a:pPr indent="0" marL="0">
              <a:buNone/>
            </a:pPr>
            <a:r>
              <a:rPr lang="en-US" sz="1300" b="1" dirty="0">
                <a:solidFill>
                  <a:schemeClr val="tx2"/>
                </a:solidFill>
              </a:rPr>
              <a:t>Der Hebel ist die Prüfzeit, </a:t>
            </a:r>
            <a:pPr indent="0" marL="0">
              <a:buNone/>
            </a:pPr>
            <a:r>
              <a:rPr lang="en-US" sz="1300" dirty="0">
                <a:solidFill>
                  <a:schemeClr val="tx1"/>
                </a:solidFill>
              </a:rPr>
              <a:t>nicht die Absetzungen (nur ca. 500 € pro Jahr). Ziel: einen zusätzlichen Minijob bei Wachstum vermeiden, keine Stelle ersetzen.</a:t>
            </a:r>
            <a:endParaRPr lang="en-US" sz="1300" dirty="0"/>
          </a:p>
        </p:txBody>
      </p:sp>
      <p:sp>
        <p:nvSpPr>
          <p:cNvPr id="17" name="Text 13"/>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000" i="1" dirty="0">
                <a:solidFill>
                  <a:schemeClr val="accent5"/>
                </a:solidFill>
              </a:rPr>
              <a:t>Annahmen: 5,3 h/Woche × 13 Wochen je Quartal · Mindestlohn 2026 + 15 % = 15,99 €/h, mit Minijob-Abgaben ≈ 20,97 €/h · Betriebskosten noch gegenzurechnen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Tool-Vergleich: Kriterien, Kandidaten, Ergebnis</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sp>
        <p:nvSpPr>
          <p:cNvPr id="8" name="Text 5"/>
          <p:cNvSpPr txBox="1"/>
          <p:nvPr/>
        </p:nvSpPr>
        <p:spPr>
          <a:xfrm>
            <a:off x="548640" y="1261872"/>
            <a:ext cx="1828800" cy="365760"/>
          </a:xfrm>
          <a:prstGeom prst="rect">
            <a:avLst/>
          </a:prstGeom>
          <a:noFill/>
          <a:ln/>
        </p:spPr>
        <p:txBody>
          <a:bodyPr wrap="square" lIns="0" tIns="0" rIns="0" bIns="0" rtlCol="0" anchor="ctr"/>
          <a:lstStyle/>
          <a:p>
            <a:pPr indent="0" marL="0">
              <a:buNone/>
            </a:pPr>
            <a:r>
              <a:rPr lang="en-US" sz="1300" b="1" dirty="0">
                <a:solidFill>
                  <a:schemeClr val="tx2"/>
                </a:solidFill>
              </a:rPr>
              <a:t>Kriterien laut IHK:</a:t>
            </a:r>
            <a:endParaRPr lang="en-US" sz="1300" dirty="0"/>
          </a:p>
        </p:txBody>
      </p:sp>
      <p:sp>
        <p:nvSpPr>
          <p:cNvPr id="9" name="Kriterium"/>
          <p:cNvSpPr/>
          <p:nvPr/>
        </p:nvSpPr>
        <p:spPr>
          <a:xfrm>
            <a:off x="2377440" y="1280160"/>
            <a:ext cx="1508760" cy="329184"/>
          </a:xfrm>
          <a:prstGeom prst="roundRect">
            <a:avLst>
              <a:gd name="adj" fmla="val 50000"/>
            </a:avLst>
          </a:prstGeom>
          <a:solidFill>
            <a:schemeClr val="bg2"/>
          </a:solidFill>
          <a:ln w="12700">
            <a:solidFill>
              <a:schemeClr val="accent1"/>
            </a:solidFill>
            <a:prstDash val="solid"/>
          </a:ln>
        </p:spPr>
      </p:sp>
      <p:sp>
        <p:nvSpPr>
          <p:cNvPr id="10" name="Text 7"/>
          <p:cNvSpPr txBox="1"/>
          <p:nvPr/>
        </p:nvSpPr>
        <p:spPr>
          <a:xfrm>
            <a:off x="2377440" y="1280160"/>
            <a:ext cx="1508760" cy="329184"/>
          </a:xfrm>
          <a:prstGeom prst="rect">
            <a:avLst/>
          </a:prstGeom>
          <a:noFill/>
          <a:ln/>
        </p:spPr>
        <p:txBody>
          <a:bodyPr wrap="square" lIns="0" tIns="0" rIns="0" bIns="0" rtlCol="0" anchor="ctr"/>
          <a:lstStyle/>
          <a:p>
            <a:pPr algn="ctr" indent="0" marL="0">
              <a:buNone/>
            </a:pPr>
            <a:r>
              <a:rPr lang="en-US" sz="1200" b="1" dirty="0">
                <a:solidFill>
                  <a:schemeClr val="accent1"/>
                </a:solidFill>
              </a:rPr>
              <a:t>Funktionalität</a:t>
            </a:r>
            <a:endParaRPr lang="en-US" sz="1200" dirty="0"/>
          </a:p>
        </p:txBody>
      </p:sp>
      <p:sp>
        <p:nvSpPr>
          <p:cNvPr id="11" name="Kriterium"/>
          <p:cNvSpPr/>
          <p:nvPr/>
        </p:nvSpPr>
        <p:spPr>
          <a:xfrm>
            <a:off x="4023360" y="1280160"/>
            <a:ext cx="1248156" cy="329184"/>
          </a:xfrm>
          <a:prstGeom prst="roundRect">
            <a:avLst>
              <a:gd name="adj" fmla="val 50000"/>
            </a:avLst>
          </a:prstGeom>
          <a:solidFill>
            <a:schemeClr val="bg2"/>
          </a:solidFill>
          <a:ln w="12700">
            <a:solidFill>
              <a:schemeClr val="accent1"/>
            </a:solidFill>
            <a:prstDash val="solid"/>
          </a:ln>
        </p:spPr>
      </p:sp>
      <p:sp>
        <p:nvSpPr>
          <p:cNvPr id="12" name="Text 9"/>
          <p:cNvSpPr txBox="1"/>
          <p:nvPr/>
        </p:nvSpPr>
        <p:spPr>
          <a:xfrm>
            <a:off x="4023360" y="1280160"/>
            <a:ext cx="1248156" cy="329184"/>
          </a:xfrm>
          <a:prstGeom prst="rect">
            <a:avLst/>
          </a:prstGeom>
          <a:noFill/>
          <a:ln/>
        </p:spPr>
        <p:txBody>
          <a:bodyPr wrap="square" lIns="0" tIns="0" rIns="0" bIns="0" rtlCol="0" anchor="ctr"/>
          <a:lstStyle/>
          <a:p>
            <a:pPr algn="ctr" indent="0" marL="0">
              <a:buNone/>
            </a:pPr>
            <a:r>
              <a:rPr lang="en-US" sz="1200" b="1" dirty="0">
                <a:solidFill>
                  <a:schemeClr val="accent1"/>
                </a:solidFill>
              </a:rPr>
              <a:t>Datenschutz</a:t>
            </a:r>
            <a:endParaRPr lang="en-US" sz="1200" dirty="0"/>
          </a:p>
        </p:txBody>
      </p:sp>
      <p:sp>
        <p:nvSpPr>
          <p:cNvPr id="13" name="Kriterium"/>
          <p:cNvSpPr/>
          <p:nvPr/>
        </p:nvSpPr>
        <p:spPr>
          <a:xfrm>
            <a:off x="5408676" y="1280160"/>
            <a:ext cx="2203704" cy="329184"/>
          </a:xfrm>
          <a:prstGeom prst="roundRect">
            <a:avLst>
              <a:gd name="adj" fmla="val 50000"/>
            </a:avLst>
          </a:prstGeom>
          <a:solidFill>
            <a:schemeClr val="bg2"/>
          </a:solidFill>
          <a:ln w="12700">
            <a:solidFill>
              <a:schemeClr val="accent1"/>
            </a:solidFill>
            <a:prstDash val="solid"/>
          </a:ln>
        </p:spPr>
      </p:sp>
      <p:sp>
        <p:nvSpPr>
          <p:cNvPr id="14" name="Text 11"/>
          <p:cNvSpPr txBox="1"/>
          <p:nvPr/>
        </p:nvSpPr>
        <p:spPr>
          <a:xfrm>
            <a:off x="5408676" y="1280160"/>
            <a:ext cx="2203704" cy="329184"/>
          </a:xfrm>
          <a:prstGeom prst="rect">
            <a:avLst/>
          </a:prstGeom>
          <a:noFill/>
          <a:ln/>
        </p:spPr>
        <p:txBody>
          <a:bodyPr wrap="square" lIns="0" tIns="0" rIns="0" bIns="0" rtlCol="0" anchor="ctr"/>
          <a:lstStyle/>
          <a:p>
            <a:pPr algn="ctr" indent="0" marL="0">
              <a:buNone/>
            </a:pPr>
            <a:r>
              <a:rPr lang="en-US" sz="1200" b="1" dirty="0">
                <a:solidFill>
                  <a:schemeClr val="accent1"/>
                </a:solidFill>
              </a:rPr>
              <a:t>Benutzerfreundlichkeit</a:t>
            </a:r>
            <a:endParaRPr lang="en-US" sz="1200" dirty="0"/>
          </a:p>
        </p:txBody>
      </p:sp>
      <p:sp>
        <p:nvSpPr>
          <p:cNvPr id="15" name="Kriterium"/>
          <p:cNvSpPr/>
          <p:nvPr/>
        </p:nvSpPr>
        <p:spPr>
          <a:xfrm>
            <a:off x="7749540" y="1280160"/>
            <a:ext cx="2116836" cy="329184"/>
          </a:xfrm>
          <a:prstGeom prst="roundRect">
            <a:avLst>
              <a:gd name="adj" fmla="val 50000"/>
            </a:avLst>
          </a:prstGeom>
          <a:solidFill>
            <a:schemeClr val="bg2"/>
          </a:solidFill>
          <a:ln w="12700">
            <a:solidFill>
              <a:schemeClr val="accent1"/>
            </a:solidFill>
            <a:prstDash val="solid"/>
          </a:ln>
        </p:spPr>
      </p:sp>
      <p:sp>
        <p:nvSpPr>
          <p:cNvPr id="16" name="Text 13"/>
          <p:cNvSpPr txBox="1"/>
          <p:nvPr/>
        </p:nvSpPr>
        <p:spPr>
          <a:xfrm>
            <a:off x="7749540" y="1280160"/>
            <a:ext cx="2116836" cy="329184"/>
          </a:xfrm>
          <a:prstGeom prst="rect">
            <a:avLst/>
          </a:prstGeom>
          <a:noFill/>
          <a:ln/>
        </p:spPr>
        <p:txBody>
          <a:bodyPr wrap="square" lIns="0" tIns="0" rIns="0" bIns="0" rtlCol="0" anchor="ctr"/>
          <a:lstStyle/>
          <a:p>
            <a:pPr algn="ctr" indent="0" marL="0">
              <a:buNone/>
            </a:pPr>
            <a:r>
              <a:rPr lang="en-US" sz="1200" b="1" dirty="0">
                <a:solidFill>
                  <a:schemeClr val="accent1"/>
                </a:solidFill>
              </a:rPr>
              <a:t>Integrationsfähigkeit</a:t>
            </a:r>
            <a:endParaRPr lang="en-US" sz="1200" dirty="0"/>
          </a:p>
        </p:txBody>
      </p:sp>
      <p:sp>
        <p:nvSpPr>
          <p:cNvPr id="17" name="Kriterium"/>
          <p:cNvSpPr/>
          <p:nvPr/>
        </p:nvSpPr>
        <p:spPr>
          <a:xfrm>
            <a:off x="10003536" y="1280160"/>
            <a:ext cx="813816" cy="329184"/>
          </a:xfrm>
          <a:prstGeom prst="roundRect">
            <a:avLst>
              <a:gd name="adj" fmla="val 50000"/>
            </a:avLst>
          </a:prstGeom>
          <a:solidFill>
            <a:schemeClr val="bg2"/>
          </a:solidFill>
          <a:ln w="12700">
            <a:solidFill>
              <a:schemeClr val="accent1"/>
            </a:solidFill>
            <a:prstDash val="solid"/>
          </a:ln>
        </p:spPr>
      </p:sp>
      <p:sp>
        <p:nvSpPr>
          <p:cNvPr id="18" name="Text 15"/>
          <p:cNvSpPr txBox="1"/>
          <p:nvPr/>
        </p:nvSpPr>
        <p:spPr>
          <a:xfrm>
            <a:off x="10003536" y="1280160"/>
            <a:ext cx="813816" cy="329184"/>
          </a:xfrm>
          <a:prstGeom prst="rect">
            <a:avLst/>
          </a:prstGeom>
          <a:noFill/>
          <a:ln/>
        </p:spPr>
        <p:txBody>
          <a:bodyPr wrap="square" lIns="0" tIns="0" rIns="0" bIns="0" rtlCol="0" anchor="ctr"/>
          <a:lstStyle/>
          <a:p>
            <a:pPr algn="ctr" indent="0" marL="0">
              <a:buNone/>
            </a:pPr>
            <a:r>
              <a:rPr lang="en-US" sz="1200" b="1" dirty="0">
                <a:solidFill>
                  <a:schemeClr val="accent1"/>
                </a:solidFill>
              </a:rPr>
              <a:t>Kosten</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7315200" cy="914400"/>
        </p:xfrm>
        <a:graphic>
          <a:graphicData uri="http://schemas.openxmlformats.org/drawingml/2006/table">
            <a:tbl>
              <a:tblPr/>
              <a:tblGrid>
                <a:gridCol w="1737360"/>
                <a:gridCol w="3291840"/>
                <a:gridCol w="228600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Baustein</a:t>
                      </a:r>
                      <a:endParaRPr lang="en-US" sz="1400" dirty="0">
                        <a:latin typeface="Calibri" charset="0"/>
                        <a:ea typeface="Calibri" charset="0"/>
                        <a:cs typeface="Calibri" charset="0"/>
                      </a:endParaRPr>
                    </a:p>
                  </a:txBody>
                  <a:tcPr marL="73152" marR="73152" marT="73152" marB="73152"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Kandidaten</a:t>
                      </a:r>
                      <a:endParaRPr lang="en-US" sz="1400" dirty="0">
                        <a:latin typeface="Calibri" charset="0"/>
                        <a:ea typeface="Calibri" charset="0"/>
                        <a:cs typeface="Calibri" charset="0"/>
                      </a:endParaRPr>
                    </a:p>
                  </a:txBody>
                  <a:tcPr marL="73152" marR="73152" marT="73152" marB="73152"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Gewählt</a:t>
                      </a:r>
                      <a:endParaRPr lang="en-US" sz="1400" dirty="0">
                        <a:latin typeface="Calibri" charset="0"/>
                        <a:ea typeface="Calibri" charset="0"/>
                        <a:cs typeface="Calibri" charset="0"/>
                      </a:endParaRPr>
                    </a:p>
                  </a:txBody>
                  <a:tcPr marL="73152" marR="73152" marT="73152" marB="73152"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2A9D8F"/>
                    </a:solidFill>
                  </a:tcPr>
                </a:tc>
              </a:tr>
              <a:tr h="777240">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Orchestrierung</a:t>
                      </a:r>
                      <a:endParaRPr lang="en-US" sz="1400" dirty="0">
                        <a:latin typeface="Calibri" charset="0"/>
                        <a:ea typeface="Calibri" charset="0"/>
                        <a:cs typeface="Calibri" charset="0"/>
                      </a:endParaRPr>
                    </a:p>
                  </a:txBody>
                  <a:tcPr marL="73152" marR="73152" marT="73152" marB="73152"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n8n, Make, Copilot Studio, eigener Code</a:t>
                      </a:r>
                      <a:endParaRPr lang="en-US" sz="1400" dirty="0">
                        <a:latin typeface="Calibri" charset="0"/>
                        <a:ea typeface="Calibri" charset="0"/>
                        <a:cs typeface="Calibri" charset="0"/>
                      </a:endParaRPr>
                    </a:p>
                  </a:txBody>
                  <a:tcPr marL="73152" marR="73152" marT="73152" marB="73152"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n8n (MSIT-Vorgabe, trotzdem bewertet)</a:t>
                      </a:r>
                      <a:endParaRPr lang="en-US" sz="1400" dirty="0">
                        <a:latin typeface="Calibri" charset="0"/>
                        <a:ea typeface="Calibri" charset="0"/>
                        <a:cs typeface="Calibri" charset="0"/>
                      </a:endParaRPr>
                    </a:p>
                  </a:txBody>
                  <a:tcPr marL="73152" marR="73152" marT="73152" marB="73152"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Sprachmodell</a:t>
                      </a:r>
                      <a:endParaRPr lang="en-US" sz="1400" dirty="0">
                        <a:latin typeface="Calibri" charset="0"/>
                        <a:ea typeface="Calibri" charset="0"/>
                        <a:cs typeface="Calibri" charset="0"/>
                      </a:endParaRPr>
                    </a:p>
                  </a:txBody>
                  <a:tcPr marL="73152" marR="73152" marT="73152" marB="73152"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gpt-4.1-mini, größere Modelle, Modelle mit EU-Hosting</a:t>
                      </a:r>
                      <a:endParaRPr lang="en-US" sz="1400" dirty="0">
                        <a:latin typeface="Calibri" charset="0"/>
                        <a:ea typeface="Calibri" charset="0"/>
                        <a:cs typeface="Calibri" charset="0"/>
                      </a:endParaRPr>
                    </a:p>
                  </a:txBody>
                  <a:tcPr marL="73152" marR="73152" marT="73152" marB="73152"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gpt-4.1-mini</a:t>
                      </a:r>
                      <a:endParaRPr lang="en-US" sz="1400" dirty="0">
                        <a:latin typeface="Calibri" charset="0"/>
                        <a:ea typeface="Calibri" charset="0"/>
                        <a:cs typeface="Calibri" charset="0"/>
                      </a:endParaRPr>
                    </a:p>
                  </a:txBody>
                  <a:tcPr marL="73152" marR="73152" marT="73152" marB="73152"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777240">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Wissensbasis (RAG)</a:t>
                      </a:r>
                      <a:endParaRPr lang="en-US" sz="1400" dirty="0">
                        <a:latin typeface="Calibri" charset="0"/>
                        <a:ea typeface="Calibri" charset="0"/>
                        <a:cs typeface="Calibri" charset="0"/>
                      </a:endParaRPr>
                    </a:p>
                  </a:txBody>
                  <a:tcPr marL="73152" marR="73152" marT="73152" marB="73152"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Supabase pgvector, eigenständige Vektordatenbank</a:t>
                      </a:r>
                      <a:endParaRPr lang="en-US" sz="1400" dirty="0">
                        <a:latin typeface="Calibri" charset="0"/>
                        <a:ea typeface="Calibri" charset="0"/>
                        <a:cs typeface="Calibri" charset="0"/>
                      </a:endParaRPr>
                    </a:p>
                  </a:txBody>
                  <a:tcPr marL="73152" marR="73152" marT="73152" marB="73152"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Supabase pgvector (EU-Region)</a:t>
                      </a:r>
                      <a:endParaRPr lang="en-US" sz="1400" dirty="0">
                        <a:latin typeface="Calibri" charset="0"/>
                        <a:ea typeface="Calibri" charset="0"/>
                        <a:cs typeface="Calibri" charset="0"/>
                      </a:endParaRPr>
                    </a:p>
                  </a:txBody>
                  <a:tcPr marL="73152" marR="73152" marT="73152" marB="73152"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r h="1005840">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Eingabekanal</a:t>
                      </a:r>
                      <a:endParaRPr lang="en-US" sz="1400" dirty="0">
                        <a:latin typeface="Calibri" charset="0"/>
                        <a:ea typeface="Calibri" charset="0"/>
                        <a:cs typeface="Calibri" charset="0"/>
                      </a:endParaRPr>
                    </a:p>
                  </a:txBody>
                  <a:tcPr marL="73152" marR="73152" marT="73152" marB="73152"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Chat-Text, Webformular, Foto + Vision-KI, Scan + OCR, E-Mail, Praxissoftware, E-Verordnung</a:t>
                      </a:r>
                      <a:endParaRPr lang="en-US" sz="1400" dirty="0">
                        <a:latin typeface="Calibri" charset="0"/>
                        <a:ea typeface="Calibri" charset="0"/>
                        <a:cs typeface="Calibri" charset="0"/>
                      </a:endParaRPr>
                    </a:p>
                  </a:txBody>
                  <a:tcPr marL="73152" marR="73152" marT="73152" marB="73152"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c>
                  <a:txBody>
                    <a:bodyPr/>
                    <a:lstStyle/>
                    <a:p>
                      <a:pPr indent="0" marL="0">
                        <a:buNone/>
                      </a:pPr>
                      <a:r>
                        <a:rPr lang="en-US" sz="1400" dirty="0">
                          <a:solidFill>
                            <a:srgbClr val="1B2B30"/>
                          </a:solidFill>
                          <a:latin typeface="Calibri" pitchFamily="34" charset="0"/>
                          <a:ea typeface="Calibri" pitchFamily="34" charset="-122"/>
                          <a:cs typeface="Calibri" pitchFamily="34" charset="-120"/>
                        </a:rPr>
                        <a:t>Chat und Formular heute, Foto als Brücke</a:t>
                      </a:r>
                      <a:endParaRPr lang="en-US" sz="1400" dirty="0">
                        <a:latin typeface="Calibri" charset="0"/>
                        <a:ea typeface="Calibri" charset="0"/>
                        <a:cs typeface="Calibri" charset="0"/>
                      </a:endParaRPr>
                    </a:p>
                  </a:txBody>
                  <a:tcPr marL="73152" marR="73152" marT="73152" marB="73152"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FFFFFF"/>
                    </a:solidFill>
                  </a:tcPr>
                </a:tc>
              </a:tr>
            </a:tbl>
          </a:graphicData>
        </a:graphic>
      </p:graphicFrame>
      <p:sp>
        <p:nvSpPr>
          <p:cNvPr id="20" name="TCO"/>
          <p:cNvSpPr/>
          <p:nvPr/>
        </p:nvSpPr>
        <p:spPr>
          <a:xfrm>
            <a:off x="8138160" y="1828800"/>
            <a:ext cx="3502152" cy="4023360"/>
          </a:xfrm>
          <a:prstGeom prst="roundRect">
            <a:avLst>
              <a:gd name="adj" fmla="val 2089"/>
            </a:avLst>
          </a:prstGeom>
          <a:solidFill>
            <a:schemeClr val="tx2"/>
          </a:solidFill>
          <a:ln/>
        </p:spPr>
      </p:sp>
      <p:sp>
        <p:nvSpPr>
          <p:cNvPr id="21" name="Text 17"/>
          <p:cNvSpPr txBox="1"/>
          <p:nvPr/>
        </p:nvSpPr>
        <p:spPr>
          <a:xfrm>
            <a:off x="8412480" y="1965960"/>
            <a:ext cx="2953512" cy="36576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Ergebnis TCO-Vergleich</a:t>
            </a:r>
            <a:endParaRPr lang="en-US" sz="1600" dirty="0"/>
          </a:p>
        </p:txBody>
      </p:sp>
      <p:sp>
        <p:nvSpPr>
          <p:cNvPr id="22" name="Text 18"/>
          <p:cNvSpPr txBox="1"/>
          <p:nvPr/>
        </p:nvSpPr>
        <p:spPr>
          <a:xfrm>
            <a:off x="8412480" y="2468880"/>
            <a:ext cx="2953512" cy="274320"/>
          </a:xfrm>
          <a:prstGeom prst="rect">
            <a:avLst/>
          </a:prstGeom>
          <a:noFill/>
          <a:ln/>
        </p:spPr>
        <p:txBody>
          <a:bodyPr wrap="square" lIns="0" tIns="0" rIns="0" bIns="0" rtlCol="0" anchor="t"/>
          <a:lstStyle/>
          <a:p>
            <a:pPr indent="0" marL="0">
              <a:buNone/>
            </a:pPr>
            <a:r>
              <a:rPr lang="en-US" sz="1200" dirty="0">
                <a:solidFill>
                  <a:schemeClr val="bg2"/>
                </a:solidFill>
              </a:rPr>
              <a:t>KI-Kosten</a:t>
            </a:r>
            <a:endParaRPr lang="en-US" sz="1200" dirty="0"/>
          </a:p>
        </p:txBody>
      </p:sp>
      <p:sp>
        <p:nvSpPr>
          <p:cNvPr id="23" name="Text 19"/>
          <p:cNvSpPr txBox="1"/>
          <p:nvPr/>
        </p:nvSpPr>
        <p:spPr>
          <a:xfrm>
            <a:off x="8412480" y="2724912"/>
            <a:ext cx="2953512" cy="50292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70–142 € / Jahr</a:t>
            </a:r>
            <a:endParaRPr lang="en-US" sz="2600" dirty="0"/>
          </a:p>
        </p:txBody>
      </p:sp>
      <p:sp>
        <p:nvSpPr>
          <p:cNvPr id="24" name="Text 20"/>
          <p:cNvSpPr txBox="1"/>
          <p:nvPr/>
        </p:nvSpPr>
        <p:spPr>
          <a:xfrm>
            <a:off x="8412480" y="3337560"/>
            <a:ext cx="2953512" cy="274320"/>
          </a:xfrm>
          <a:prstGeom prst="rect">
            <a:avLst/>
          </a:prstGeom>
          <a:noFill/>
          <a:ln/>
        </p:spPr>
        <p:txBody>
          <a:bodyPr wrap="square" lIns="0" tIns="0" rIns="0" bIns="0" rtlCol="0" anchor="t"/>
          <a:lstStyle/>
          <a:p>
            <a:pPr indent="0" marL="0">
              <a:buNone/>
            </a:pPr>
            <a:r>
              <a:rPr lang="en-US" sz="1200" dirty="0">
                <a:solidFill>
                  <a:schemeClr val="bg2"/>
                </a:solidFill>
              </a:rPr>
              <a:t>Gesamtkosten je Eingabekanal</a:t>
            </a:r>
            <a:endParaRPr lang="en-US" sz="1200" dirty="0"/>
          </a:p>
        </p:txBody>
      </p:sp>
      <p:sp>
        <p:nvSpPr>
          <p:cNvPr id="25" name="Text 21"/>
          <p:cNvSpPr txBox="1"/>
          <p:nvPr/>
        </p:nvSpPr>
        <p:spPr>
          <a:xfrm>
            <a:off x="8412480" y="3593592"/>
            <a:ext cx="2953512" cy="502920"/>
          </a:xfrm>
          <a:prstGeom prst="rect">
            <a:avLst/>
          </a:prstGeom>
          <a:noFill/>
          <a:ln/>
        </p:spPr>
        <p:txBody>
          <a:bodyPr wrap="square" lIns="0" tIns="0" rIns="0" bIns="0" rtlCol="0" anchor="t"/>
          <a:lstStyle/>
          <a:p>
            <a:pPr indent="0" marL="0">
              <a:buNone/>
            </a:pPr>
            <a:r>
              <a:rPr lang="en-US" sz="2600" b="1" dirty="0">
                <a:solidFill>
                  <a:schemeClr val="accent2"/>
                </a:solidFill>
                <a:latin typeface="Cambria" pitchFamily="34" charset="0"/>
                <a:ea typeface="Cambria" pitchFamily="34" charset="-122"/>
                <a:cs typeface="Cambria" pitchFamily="34" charset="-120"/>
              </a:rPr>
              <a:t>823–2.054 € / Jahr</a:t>
            </a:r>
            <a:endParaRPr lang="en-US" sz="2600" dirty="0"/>
          </a:p>
        </p:txBody>
      </p:sp>
      <p:sp>
        <p:nvSpPr>
          <p:cNvPr id="26" name="Text 22"/>
          <p:cNvSpPr txBox="1"/>
          <p:nvPr/>
        </p:nvSpPr>
        <p:spPr>
          <a:xfrm>
            <a:off x="8412480" y="4297680"/>
            <a:ext cx="2953512" cy="914400"/>
          </a:xfrm>
          <a:prstGeom prst="rect">
            <a:avLst/>
          </a:prstGeom>
          <a:noFill/>
          <a:ln/>
        </p:spPr>
        <p:txBody>
          <a:bodyPr wrap="square" lIns="0" tIns="0" rIns="0" bIns="0" rtlCol="0" anchor="t"/>
          <a:lstStyle/>
          <a:p>
            <a:pPr indent="0" marL="0">
              <a:buNone/>
            </a:pPr>
            <a:r>
              <a:rPr lang="en-US" sz="1400" b="1" dirty="0">
                <a:solidFill>
                  <a:schemeClr val="bg1"/>
                </a:solidFill>
              </a:rPr>
              <a:t>Die Eingabezeit der Rezeption bestimmt die Kosten, nicht die KI.</a:t>
            </a:r>
            <a:endParaRPr lang="en-US" sz="1400" dirty="0"/>
          </a:p>
        </p:txBody>
      </p:sp>
      <p:sp>
        <p:nvSpPr>
          <p:cNvPr id="27" name="Text 23"/>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000" i="1" dirty="0">
                <a:solidFill>
                  <a:schemeClr val="accent5"/>
                </a:solidFill>
              </a:rPr>
              <a:t>Praxistest: Prototyp v1–v4 · ca. 3–4 Cent je Prüfung (Schätzung aus Token, noch keine gemessene Abrechnung) · offen: Gewichtung der Kriterien, Preisquellen mit Abrufdatum</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Tool-Auswahl und Architektur: Regeln rechnet der Code</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Schritt Eingang"/>
          <p:cNvSpPr/>
          <p:nvPr/>
        </p:nvSpPr>
        <p:spPr>
          <a:xfrm>
            <a:off x="548640" y="1325880"/>
            <a:ext cx="2011680" cy="1874520"/>
          </a:xfrm>
          <a:prstGeom prst="roundRect">
            <a:avLst>
              <a:gd name="adj" fmla="val 3902"/>
            </a:avLst>
          </a:prstGeom>
          <a:solidFill>
            <a:schemeClr val="bg2"/>
          </a:solidFill>
          <a:ln/>
        </p:spPr>
      </p:sp>
      <p:sp>
        <p:nvSpPr>
          <p:cNvPr id="7" name="Symbolkreis"/>
          <p:cNvSpPr/>
          <p:nvPr/>
        </p:nvSpPr>
        <p:spPr>
          <a:xfrm>
            <a:off x="731520" y="1463040"/>
            <a:ext cx="548640" cy="548640"/>
          </a:xfrm>
          <a:prstGeom prst="ellipse">
            <a:avLst/>
          </a:prstGeom>
          <a:solidFill>
            <a:schemeClr val="accent1"/>
          </a:solidFill>
          <a:ln/>
        </p:spPr>
      </p:sp>
      <p:pic>
        <p:nvPicPr>
          <p:cNvPr id="8" name="Symbol" descr="preencoded.png">    </p:cNvPr>
          <p:cNvPicPr>
            <a:picLocks noChangeAspect="1"/>
          </p:cNvPicPr>
          <p:nvPr/>
        </p:nvPicPr>
        <p:blipFill>
          <a:blip r:embed="rId2"/>
          <a:stretch>
            <a:fillRect/>
          </a:stretch>
        </p:blipFill>
        <p:spPr>
          <a:xfrm>
            <a:off x="868680" y="1600200"/>
            <a:ext cx="274320" cy="274320"/>
          </a:xfrm>
          <a:prstGeom prst="rect">
            <a:avLst/>
          </a:prstGeom>
        </p:spPr>
      </p:pic>
      <p:sp>
        <p:nvSpPr>
          <p:cNvPr id="9" name="Text 5"/>
          <p:cNvSpPr txBox="1"/>
          <p:nvPr/>
        </p:nvSpPr>
        <p:spPr>
          <a:xfrm>
            <a:off x="1371600" y="1463040"/>
            <a:ext cx="1097280" cy="548640"/>
          </a:xfrm>
          <a:prstGeom prst="rect">
            <a:avLst/>
          </a:prstGeom>
          <a:noFill/>
          <a:ln/>
        </p:spPr>
        <p:txBody>
          <a:bodyPr wrap="square" lIns="0" tIns="0" rIns="0" bIns="0" rtlCol="0" anchor="ctr"/>
          <a:lstStyle/>
          <a:p>
            <a:pPr indent="0" marL="0">
              <a:buNone/>
            </a:pPr>
            <a:r>
              <a:rPr lang="en-US" sz="1600" b="1" dirty="0">
                <a:solidFill>
                  <a:schemeClr val="tx2"/>
                </a:solidFill>
              </a:rPr>
              <a:t>Eingang</a:t>
            </a:r>
            <a:endParaRPr lang="en-US" sz="1600" dirty="0"/>
          </a:p>
        </p:txBody>
      </p:sp>
      <p:sp>
        <p:nvSpPr>
          <p:cNvPr id="10" name="Text 6"/>
          <p:cNvSpPr txBox="1"/>
          <p:nvPr/>
        </p:nvSpPr>
        <p:spPr>
          <a:xfrm>
            <a:off x="731520" y="2148840"/>
            <a:ext cx="1645920" cy="914400"/>
          </a:xfrm>
          <a:prstGeom prst="rect">
            <a:avLst/>
          </a:prstGeom>
          <a:noFill/>
          <a:ln/>
        </p:spPr>
        <p:txBody>
          <a:bodyPr wrap="square" lIns="0" tIns="0" rIns="0" bIns="0" rtlCol="0" anchor="t"/>
          <a:lstStyle/>
          <a:p>
            <a:pPr indent="0" marL="0">
              <a:buNone/>
            </a:pPr>
            <a:r>
              <a:rPr lang="en-US" sz="1300" dirty="0">
                <a:solidFill>
                  <a:schemeClr val="tx1"/>
                </a:solidFill>
              </a:rPr>
              <a:t>Chat oder Formular (Muster 13)</a:t>
            </a:r>
            <a:endParaRPr lang="en-US" sz="1300" dirty="0"/>
          </a:p>
        </p:txBody>
      </p:sp>
      <p:sp>
        <p:nvSpPr>
          <p:cNvPr id="11" name="Pfeil"/>
          <p:cNvSpPr/>
          <p:nvPr/>
        </p:nvSpPr>
        <p:spPr>
          <a:xfrm rot="5400000">
            <a:off x="2569464" y="2194560"/>
            <a:ext cx="237744" cy="146304"/>
          </a:xfrm>
          <a:prstGeom prst="triangle">
            <a:avLst/>
          </a:prstGeom>
          <a:solidFill>
            <a:schemeClr val="accent5"/>
          </a:solidFill>
          <a:ln/>
        </p:spPr>
      </p:sp>
      <p:sp>
        <p:nvSpPr>
          <p:cNvPr id="12" name="Schritt Erfassen"/>
          <p:cNvSpPr/>
          <p:nvPr/>
        </p:nvSpPr>
        <p:spPr>
          <a:xfrm>
            <a:off x="2811780" y="1325880"/>
            <a:ext cx="2011680" cy="1874520"/>
          </a:xfrm>
          <a:prstGeom prst="roundRect">
            <a:avLst>
              <a:gd name="adj" fmla="val 3902"/>
            </a:avLst>
          </a:prstGeom>
          <a:solidFill>
            <a:schemeClr val="bg2"/>
          </a:solidFill>
          <a:ln/>
        </p:spPr>
      </p:sp>
      <p:sp>
        <p:nvSpPr>
          <p:cNvPr id="13" name="Symbolkreis"/>
          <p:cNvSpPr/>
          <p:nvPr/>
        </p:nvSpPr>
        <p:spPr>
          <a:xfrm>
            <a:off x="2994660" y="1463040"/>
            <a:ext cx="548640" cy="548640"/>
          </a:xfrm>
          <a:prstGeom prst="ellipse">
            <a:avLst/>
          </a:prstGeom>
          <a:solidFill>
            <a:schemeClr val="accent1"/>
          </a:solidFill>
          <a:ln/>
        </p:spPr>
      </p:sp>
      <p:pic>
        <p:nvPicPr>
          <p:cNvPr id="14" name="Symbol" descr="preencoded.png">    </p:cNvPr>
          <p:cNvPicPr>
            <a:picLocks noChangeAspect="1"/>
          </p:cNvPicPr>
          <p:nvPr/>
        </p:nvPicPr>
        <p:blipFill>
          <a:blip r:embed="rId3"/>
          <a:stretch>
            <a:fillRect/>
          </a:stretch>
        </p:blipFill>
        <p:spPr>
          <a:xfrm>
            <a:off x="3131820" y="1600200"/>
            <a:ext cx="274320" cy="274320"/>
          </a:xfrm>
          <a:prstGeom prst="rect">
            <a:avLst/>
          </a:prstGeom>
        </p:spPr>
      </p:pic>
      <p:sp>
        <p:nvSpPr>
          <p:cNvPr id="15" name="Text 10"/>
          <p:cNvSpPr txBox="1"/>
          <p:nvPr/>
        </p:nvSpPr>
        <p:spPr>
          <a:xfrm>
            <a:off x="3634740" y="1463040"/>
            <a:ext cx="1097280" cy="548640"/>
          </a:xfrm>
          <a:prstGeom prst="rect">
            <a:avLst/>
          </a:prstGeom>
          <a:noFill/>
          <a:ln/>
        </p:spPr>
        <p:txBody>
          <a:bodyPr wrap="square" lIns="0" tIns="0" rIns="0" bIns="0" rtlCol="0" anchor="ctr"/>
          <a:lstStyle/>
          <a:p>
            <a:pPr indent="0" marL="0">
              <a:buNone/>
            </a:pPr>
            <a:r>
              <a:rPr lang="en-US" sz="1600" b="1" dirty="0">
                <a:solidFill>
                  <a:schemeClr val="tx2"/>
                </a:solidFill>
              </a:rPr>
              <a:t>Erfassen</a:t>
            </a:r>
            <a:endParaRPr lang="en-US" sz="1600" dirty="0"/>
          </a:p>
        </p:txBody>
      </p:sp>
      <p:sp>
        <p:nvSpPr>
          <p:cNvPr id="16" name="Text 11"/>
          <p:cNvSpPr txBox="1"/>
          <p:nvPr/>
        </p:nvSpPr>
        <p:spPr>
          <a:xfrm>
            <a:off x="2994660" y="2148840"/>
            <a:ext cx="1645920" cy="914400"/>
          </a:xfrm>
          <a:prstGeom prst="rect">
            <a:avLst/>
          </a:prstGeom>
          <a:noFill/>
          <a:ln/>
        </p:spPr>
        <p:txBody>
          <a:bodyPr wrap="square" lIns="0" tIns="0" rIns="0" bIns="0" rtlCol="0" anchor="t"/>
          <a:lstStyle/>
          <a:p>
            <a:pPr indent="0" marL="0">
              <a:buNone/>
            </a:pPr>
            <a:r>
              <a:rPr lang="en-US" sz="1300" dirty="0">
                <a:solidFill>
                  <a:schemeClr val="tx1"/>
                </a:solidFill>
              </a:rPr>
              <a:t>LLM füllt festes Schema, PII entfernt</a:t>
            </a:r>
            <a:endParaRPr lang="en-US" sz="1300" dirty="0"/>
          </a:p>
        </p:txBody>
      </p:sp>
      <p:sp>
        <p:nvSpPr>
          <p:cNvPr id="17" name="Pfeil"/>
          <p:cNvSpPr/>
          <p:nvPr/>
        </p:nvSpPr>
        <p:spPr>
          <a:xfrm rot="5400000">
            <a:off x="4832604" y="2194560"/>
            <a:ext cx="237744" cy="146304"/>
          </a:xfrm>
          <a:prstGeom prst="triangle">
            <a:avLst/>
          </a:prstGeom>
          <a:solidFill>
            <a:schemeClr val="accent5"/>
          </a:solidFill>
          <a:ln/>
        </p:spPr>
      </p:sp>
      <p:sp>
        <p:nvSpPr>
          <p:cNvPr id="18" name="Schritt Fakten"/>
          <p:cNvSpPr/>
          <p:nvPr/>
        </p:nvSpPr>
        <p:spPr>
          <a:xfrm>
            <a:off x="5074920" y="1325880"/>
            <a:ext cx="2011680" cy="1874520"/>
          </a:xfrm>
          <a:prstGeom prst="roundRect">
            <a:avLst>
              <a:gd name="adj" fmla="val 3902"/>
            </a:avLst>
          </a:prstGeom>
          <a:solidFill>
            <a:schemeClr val="tx2"/>
          </a:solidFill>
          <a:ln/>
        </p:spPr>
      </p:sp>
      <p:sp>
        <p:nvSpPr>
          <p:cNvPr id="19" name="Symbolkreis"/>
          <p:cNvSpPr/>
          <p:nvPr/>
        </p:nvSpPr>
        <p:spPr>
          <a:xfrm>
            <a:off x="5257800" y="1463040"/>
            <a:ext cx="548640" cy="548640"/>
          </a:xfrm>
          <a:prstGeom prst="ellipse">
            <a:avLst/>
          </a:prstGeom>
          <a:solidFill>
            <a:schemeClr val="accent2"/>
          </a:solidFill>
          <a:ln/>
        </p:spPr>
      </p:sp>
      <p:pic>
        <p:nvPicPr>
          <p:cNvPr id="20" name="Symbol" descr="preencoded.png">    </p:cNvPr>
          <p:cNvPicPr>
            <a:picLocks noChangeAspect="1"/>
          </p:cNvPicPr>
          <p:nvPr/>
        </p:nvPicPr>
        <p:blipFill>
          <a:blip r:embed="rId4"/>
          <a:stretch>
            <a:fillRect/>
          </a:stretch>
        </p:blipFill>
        <p:spPr>
          <a:xfrm>
            <a:off x="5394960" y="1600200"/>
            <a:ext cx="274320" cy="274320"/>
          </a:xfrm>
          <a:prstGeom prst="rect">
            <a:avLst/>
          </a:prstGeom>
        </p:spPr>
      </p:pic>
      <p:sp>
        <p:nvSpPr>
          <p:cNvPr id="21" name="Text 15"/>
          <p:cNvSpPr txBox="1"/>
          <p:nvPr/>
        </p:nvSpPr>
        <p:spPr>
          <a:xfrm>
            <a:off x="5897880" y="1463040"/>
            <a:ext cx="1097280" cy="548640"/>
          </a:xfrm>
          <a:prstGeom prst="rect">
            <a:avLst/>
          </a:prstGeom>
          <a:noFill/>
          <a:ln/>
        </p:spPr>
        <p:txBody>
          <a:bodyPr wrap="square" lIns="0" tIns="0" rIns="0" bIns="0" rtlCol="0" anchor="ctr"/>
          <a:lstStyle/>
          <a:p>
            <a:pPr indent="0" marL="0">
              <a:buNone/>
            </a:pPr>
            <a:r>
              <a:rPr lang="en-US" sz="1600" b="1" dirty="0">
                <a:solidFill>
                  <a:schemeClr val="bg1"/>
                </a:solidFill>
              </a:rPr>
              <a:t>Fakten</a:t>
            </a:r>
            <a:endParaRPr lang="en-US" sz="1600" dirty="0"/>
          </a:p>
        </p:txBody>
      </p:sp>
      <p:sp>
        <p:nvSpPr>
          <p:cNvPr id="22" name="Text 16"/>
          <p:cNvSpPr txBox="1"/>
          <p:nvPr/>
        </p:nvSpPr>
        <p:spPr>
          <a:xfrm>
            <a:off x="5257800" y="2148840"/>
            <a:ext cx="1645920" cy="914400"/>
          </a:xfrm>
          <a:prstGeom prst="rect">
            <a:avLst/>
          </a:prstGeom>
          <a:noFill/>
          <a:ln/>
        </p:spPr>
        <p:txBody>
          <a:bodyPr wrap="square" lIns="0" tIns="0" rIns="0" bIns="0" rtlCol="0" anchor="t"/>
          <a:lstStyle/>
          <a:p>
            <a:pPr indent="0" marL="0">
              <a:buNone/>
            </a:pPr>
            <a:r>
              <a:rPr lang="en-US" sz="1300" dirty="0">
                <a:solidFill>
                  <a:schemeClr val="bg1"/>
                </a:solidFill>
              </a:rPr>
              <a:t>Code: Fristen, Formate, ICD → Diagnosegruppe</a:t>
            </a:r>
            <a:endParaRPr lang="en-US" sz="1300" dirty="0"/>
          </a:p>
        </p:txBody>
      </p:sp>
      <p:sp>
        <p:nvSpPr>
          <p:cNvPr id="23" name="Pfeil"/>
          <p:cNvSpPr/>
          <p:nvPr/>
        </p:nvSpPr>
        <p:spPr>
          <a:xfrm rot="5400000">
            <a:off x="7095744" y="2194560"/>
            <a:ext cx="237744" cy="146304"/>
          </a:xfrm>
          <a:prstGeom prst="triangle">
            <a:avLst/>
          </a:prstGeom>
          <a:solidFill>
            <a:schemeClr val="accent5"/>
          </a:solidFill>
          <a:ln/>
        </p:spPr>
      </p:sp>
      <p:sp>
        <p:nvSpPr>
          <p:cNvPr id="24" name="Schritt 4 Prüfer"/>
          <p:cNvSpPr/>
          <p:nvPr/>
        </p:nvSpPr>
        <p:spPr>
          <a:xfrm>
            <a:off x="7338060" y="1325880"/>
            <a:ext cx="2011680" cy="1874520"/>
          </a:xfrm>
          <a:prstGeom prst="roundRect">
            <a:avLst>
              <a:gd name="adj" fmla="val 3902"/>
            </a:avLst>
          </a:prstGeom>
          <a:solidFill>
            <a:schemeClr val="bg2"/>
          </a:solidFill>
          <a:ln/>
        </p:spPr>
      </p:sp>
      <p:sp>
        <p:nvSpPr>
          <p:cNvPr id="25" name="Symbolkreis"/>
          <p:cNvSpPr/>
          <p:nvPr/>
        </p:nvSpPr>
        <p:spPr>
          <a:xfrm>
            <a:off x="7520940" y="1463040"/>
            <a:ext cx="548640" cy="548640"/>
          </a:xfrm>
          <a:prstGeom prst="ellipse">
            <a:avLst/>
          </a:prstGeom>
          <a:solidFill>
            <a:schemeClr val="accent1"/>
          </a:solidFill>
          <a:ln/>
        </p:spPr>
      </p:sp>
      <p:pic>
        <p:nvPicPr>
          <p:cNvPr id="26" name="Symbol" descr="preencoded.png">    </p:cNvPr>
          <p:cNvPicPr>
            <a:picLocks noChangeAspect="1"/>
          </p:cNvPicPr>
          <p:nvPr/>
        </p:nvPicPr>
        <p:blipFill>
          <a:blip r:embed="rId5"/>
          <a:stretch>
            <a:fillRect/>
          </a:stretch>
        </p:blipFill>
        <p:spPr>
          <a:xfrm>
            <a:off x="7658100" y="1600200"/>
            <a:ext cx="274320" cy="274320"/>
          </a:xfrm>
          <a:prstGeom prst="rect">
            <a:avLst/>
          </a:prstGeom>
        </p:spPr>
      </p:pic>
      <p:sp>
        <p:nvSpPr>
          <p:cNvPr id="27" name="Text 20"/>
          <p:cNvSpPr txBox="1"/>
          <p:nvPr/>
        </p:nvSpPr>
        <p:spPr>
          <a:xfrm>
            <a:off x="8161020" y="1463040"/>
            <a:ext cx="1097280" cy="548640"/>
          </a:xfrm>
          <a:prstGeom prst="rect">
            <a:avLst/>
          </a:prstGeom>
          <a:noFill/>
          <a:ln/>
        </p:spPr>
        <p:txBody>
          <a:bodyPr wrap="square" lIns="0" tIns="0" rIns="0" bIns="0" rtlCol="0" anchor="ctr"/>
          <a:lstStyle/>
          <a:p>
            <a:pPr indent="0" marL="0">
              <a:buNone/>
            </a:pPr>
            <a:r>
              <a:rPr lang="en-US" sz="1600" b="1" dirty="0">
                <a:solidFill>
                  <a:schemeClr val="tx2"/>
                </a:solidFill>
              </a:rPr>
              <a:t>4 Prüfer</a:t>
            </a:r>
            <a:endParaRPr lang="en-US" sz="1600" dirty="0"/>
          </a:p>
        </p:txBody>
      </p:sp>
      <p:sp>
        <p:nvSpPr>
          <p:cNvPr id="28" name="Text 21"/>
          <p:cNvSpPr txBox="1"/>
          <p:nvPr/>
        </p:nvSpPr>
        <p:spPr>
          <a:xfrm>
            <a:off x="7520940" y="2148840"/>
            <a:ext cx="1645920" cy="914400"/>
          </a:xfrm>
          <a:prstGeom prst="rect">
            <a:avLst/>
          </a:prstGeom>
          <a:noFill/>
          <a:ln/>
        </p:spPr>
        <p:txBody>
          <a:bodyPr wrap="square" lIns="0" tIns="0" rIns="0" bIns="0" rtlCol="0" anchor="t"/>
          <a:lstStyle/>
          <a:p>
            <a:pPr indent="0" marL="0">
              <a:buNone/>
            </a:pPr>
            <a:r>
              <a:rPr lang="en-US" sz="1300" dirty="0">
                <a:solidFill>
                  <a:schemeClr val="tx1"/>
                </a:solidFill>
              </a:rPr>
              <a:t>Formal · Diagnose · Mengen · Fristen</a:t>
            </a:r>
            <a:endParaRPr lang="en-US" sz="1300" dirty="0"/>
          </a:p>
        </p:txBody>
      </p:sp>
      <p:sp>
        <p:nvSpPr>
          <p:cNvPr id="29" name="Pfeil"/>
          <p:cNvSpPr/>
          <p:nvPr/>
        </p:nvSpPr>
        <p:spPr>
          <a:xfrm rot="5400000">
            <a:off x="9358884" y="2194560"/>
            <a:ext cx="237744" cy="146304"/>
          </a:xfrm>
          <a:prstGeom prst="triangle">
            <a:avLst/>
          </a:prstGeom>
          <a:solidFill>
            <a:schemeClr val="accent5"/>
          </a:solidFill>
          <a:ln/>
        </p:spPr>
      </p:sp>
      <p:sp>
        <p:nvSpPr>
          <p:cNvPr id="30" name="Schritt Ampel"/>
          <p:cNvSpPr/>
          <p:nvPr/>
        </p:nvSpPr>
        <p:spPr>
          <a:xfrm>
            <a:off x="9601200" y="1325880"/>
            <a:ext cx="2011680" cy="1874520"/>
          </a:xfrm>
          <a:prstGeom prst="roundRect">
            <a:avLst>
              <a:gd name="adj" fmla="val 3902"/>
            </a:avLst>
          </a:prstGeom>
          <a:solidFill>
            <a:schemeClr val="tx2"/>
          </a:solidFill>
          <a:ln/>
        </p:spPr>
      </p:sp>
      <p:sp>
        <p:nvSpPr>
          <p:cNvPr id="31" name="Symbolkreis"/>
          <p:cNvSpPr/>
          <p:nvPr/>
        </p:nvSpPr>
        <p:spPr>
          <a:xfrm>
            <a:off x="9784080" y="1463040"/>
            <a:ext cx="548640" cy="548640"/>
          </a:xfrm>
          <a:prstGeom prst="ellipse">
            <a:avLst/>
          </a:prstGeom>
          <a:solidFill>
            <a:schemeClr val="accent2"/>
          </a:solidFill>
          <a:ln/>
        </p:spPr>
      </p:sp>
      <p:pic>
        <p:nvPicPr>
          <p:cNvPr id="32" name="Symbol" descr="preencoded.png">    </p:cNvPr>
          <p:cNvPicPr>
            <a:picLocks noChangeAspect="1"/>
          </p:cNvPicPr>
          <p:nvPr/>
        </p:nvPicPr>
        <p:blipFill>
          <a:blip r:embed="rId6"/>
          <a:stretch>
            <a:fillRect/>
          </a:stretch>
        </p:blipFill>
        <p:spPr>
          <a:xfrm>
            <a:off x="9921240" y="1600200"/>
            <a:ext cx="274320" cy="274320"/>
          </a:xfrm>
          <a:prstGeom prst="rect">
            <a:avLst/>
          </a:prstGeom>
        </p:spPr>
      </p:pic>
      <p:sp>
        <p:nvSpPr>
          <p:cNvPr id="33" name="Text 25"/>
          <p:cNvSpPr txBox="1"/>
          <p:nvPr/>
        </p:nvSpPr>
        <p:spPr>
          <a:xfrm>
            <a:off x="10424160" y="1463040"/>
            <a:ext cx="1097280" cy="548640"/>
          </a:xfrm>
          <a:prstGeom prst="rect">
            <a:avLst/>
          </a:prstGeom>
          <a:noFill/>
          <a:ln/>
        </p:spPr>
        <p:txBody>
          <a:bodyPr wrap="square" lIns="0" tIns="0" rIns="0" bIns="0" rtlCol="0" anchor="ctr"/>
          <a:lstStyle/>
          <a:p>
            <a:pPr indent="0" marL="0">
              <a:buNone/>
            </a:pPr>
            <a:r>
              <a:rPr lang="en-US" sz="1600" b="1" dirty="0">
                <a:solidFill>
                  <a:schemeClr val="bg1"/>
                </a:solidFill>
              </a:rPr>
              <a:t>Ampel</a:t>
            </a:r>
            <a:endParaRPr lang="en-US" sz="1600" dirty="0"/>
          </a:p>
        </p:txBody>
      </p:sp>
      <p:sp>
        <p:nvSpPr>
          <p:cNvPr id="34" name="Text 26"/>
          <p:cNvSpPr txBox="1"/>
          <p:nvPr/>
        </p:nvSpPr>
        <p:spPr>
          <a:xfrm>
            <a:off x="9784080" y="2148840"/>
            <a:ext cx="1645920" cy="914400"/>
          </a:xfrm>
          <a:prstGeom prst="rect">
            <a:avLst/>
          </a:prstGeom>
          <a:noFill/>
          <a:ln/>
        </p:spPr>
        <p:txBody>
          <a:bodyPr wrap="square" lIns="0" tIns="0" rIns="0" bIns="0" rtlCol="0" anchor="t"/>
          <a:lstStyle/>
          <a:p>
            <a:pPr indent="0" marL="0">
              <a:buNone/>
            </a:pPr>
            <a:r>
              <a:rPr lang="en-US" sz="1300" dirty="0">
                <a:solidFill>
                  <a:schemeClr val="bg1"/>
                </a:solidFill>
              </a:rPr>
              <a:t>Code: grün / gelb / rot mit Fundstelle</a:t>
            </a:r>
            <a:endParaRPr lang="en-US" sz="1300" dirty="0"/>
          </a:p>
        </p:txBody>
      </p:sp>
      <p:sp>
        <p:nvSpPr>
          <p:cNvPr id="35" name="Text 27"/>
          <p:cNvSpPr txBox="1"/>
          <p:nvPr/>
        </p:nvSpPr>
        <p:spPr>
          <a:xfrm>
            <a:off x="548640" y="3273552"/>
            <a:ext cx="7315200" cy="274320"/>
          </a:xfrm>
          <a:prstGeom prst="rect">
            <a:avLst/>
          </a:prstGeom>
          <a:noFill/>
          <a:ln/>
        </p:spPr>
        <p:txBody>
          <a:bodyPr wrap="square" lIns="0" tIns="0" rIns="0" bIns="0" rtlCol="0" anchor="t"/>
          <a:lstStyle/>
          <a:p>
            <a:pPr indent="0" marL="0">
              <a:buNone/>
            </a:pPr>
            <a:r>
              <a:rPr lang="en-US" sz="1100" i="1" dirty="0">
                <a:solidFill>
                  <a:schemeClr val="accent5"/>
                </a:solidFill>
              </a:rPr>
              <a:t>Dunkel = deterministischer Code, hell = Sprachmodell</a:t>
            </a:r>
            <a:endParaRPr lang="en-US" sz="1100" dirty="0"/>
          </a:p>
        </p:txBody>
      </p:sp>
      <p:sp>
        <p:nvSpPr>
          <p:cNvPr id="36" name="Stack"/>
          <p:cNvSpPr/>
          <p:nvPr/>
        </p:nvSpPr>
        <p:spPr>
          <a:xfrm>
            <a:off x="548640" y="3657600"/>
            <a:ext cx="3749040" cy="2240280"/>
          </a:xfrm>
          <a:prstGeom prst="roundRect">
            <a:avLst>
              <a:gd name="adj" fmla="val 3265"/>
            </a:avLst>
          </a:prstGeom>
          <a:solidFill>
            <a:schemeClr val="bg2"/>
          </a:solidFill>
          <a:ln/>
        </p:spPr>
      </p:sp>
      <p:sp>
        <p:nvSpPr>
          <p:cNvPr id="37" name="Symbolkreis"/>
          <p:cNvSpPr/>
          <p:nvPr/>
        </p:nvSpPr>
        <p:spPr>
          <a:xfrm>
            <a:off x="777240" y="3794760"/>
            <a:ext cx="502920" cy="502920"/>
          </a:xfrm>
          <a:prstGeom prst="ellipse">
            <a:avLst/>
          </a:prstGeom>
          <a:solidFill>
            <a:schemeClr val="accent1"/>
          </a:solidFill>
          <a:ln/>
        </p:spPr>
      </p:sp>
      <p:pic>
        <p:nvPicPr>
          <p:cNvPr id="38" name="Symbol" descr="preencoded.png">    </p:cNvPr>
          <p:cNvPicPr>
            <a:picLocks noChangeAspect="1"/>
          </p:cNvPicPr>
          <p:nvPr/>
        </p:nvPicPr>
        <p:blipFill>
          <a:blip r:embed="rId7"/>
          <a:stretch>
            <a:fillRect/>
          </a:stretch>
        </p:blipFill>
        <p:spPr>
          <a:xfrm>
            <a:off x="902970" y="3920490"/>
            <a:ext cx="251460" cy="251460"/>
          </a:xfrm>
          <a:prstGeom prst="rect">
            <a:avLst/>
          </a:prstGeom>
        </p:spPr>
      </p:pic>
      <p:sp>
        <p:nvSpPr>
          <p:cNvPr id="39" name="Text 30"/>
          <p:cNvSpPr txBox="1"/>
          <p:nvPr/>
        </p:nvSpPr>
        <p:spPr>
          <a:xfrm>
            <a:off x="1417320" y="3794760"/>
            <a:ext cx="2560320" cy="502920"/>
          </a:xfrm>
          <a:prstGeom prst="rect">
            <a:avLst/>
          </a:prstGeom>
          <a:noFill/>
          <a:ln/>
        </p:spPr>
        <p:txBody>
          <a:bodyPr wrap="square" lIns="0" tIns="0" rIns="0" bIns="0" rtlCol="0" anchor="ctr"/>
          <a:lstStyle/>
          <a:p>
            <a:pPr indent="0" marL="0">
              <a:buNone/>
            </a:pPr>
            <a:r>
              <a:rPr lang="en-US" sz="1600" b="1" dirty="0">
                <a:solidFill>
                  <a:schemeClr val="tx2"/>
                </a:solidFill>
              </a:rPr>
              <a:t>Stack</a:t>
            </a:r>
            <a:endParaRPr lang="en-US" sz="1600" dirty="0"/>
          </a:p>
        </p:txBody>
      </p:sp>
      <p:sp>
        <p:nvSpPr>
          <p:cNvPr id="40" name="Text 31"/>
          <p:cNvSpPr txBox="1"/>
          <p:nvPr/>
        </p:nvSpPr>
        <p:spPr>
          <a:xfrm>
            <a:off x="777240" y="4389120"/>
            <a:ext cx="3337560" cy="146304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n8n Cloud: Workflow, Chat, Formular</a:t>
            </a:r>
            <a:endParaRPr lang="en-US" sz="1400" dirty="0"/>
          </a:p>
          <a:p>
            <a:pPr marL="177800" indent="-177800">
              <a:spcAft>
                <a:spcPts val="500"/>
              </a:spcAft>
              <a:buSzPct val="100000"/>
              <a:buChar char="•"/>
            </a:pPr>
            <a:r>
              <a:rPr lang="en-US" sz="1300" dirty="0">
                <a:solidFill>
                  <a:schemeClr val="tx1"/>
                </a:solidFill>
              </a:rPr>
              <a:t>OpenAI gpt-4.1-mini, Temperatur 0,1</a:t>
            </a:r>
            <a:endParaRPr lang="en-US" sz="1400" dirty="0"/>
          </a:p>
          <a:p>
            <a:pPr marL="177800" indent="-177800">
              <a:spcAft>
                <a:spcPts val="500"/>
              </a:spcAft>
              <a:buSzPct val="100000"/>
              <a:buChar char="•"/>
            </a:pPr>
            <a:r>
              <a:rPr lang="en-US" sz="1300" dirty="0">
                <a:solidFill>
                  <a:schemeClr val="tx1"/>
                </a:solidFill>
              </a:rPr>
              <a:t>Supabase pgvector (EU): ca. 380 Abschnitte aus HeilM-RL, Heilmittelkatalog, KBV-Diagnoseliste</a:t>
            </a:r>
            <a:endParaRPr lang="en-US" sz="1400" dirty="0"/>
          </a:p>
          <a:p>
            <a:pPr marL="177800" indent="-177800">
              <a:spcAft>
                <a:spcPts val="500"/>
              </a:spcAft>
              <a:buSzPct val="100000"/>
              <a:buChar char="•"/>
            </a:pPr>
            <a:r>
              <a:rPr lang="en-US" sz="1300" dirty="0">
                <a:solidFill>
                  <a:schemeClr val="tx1"/>
                </a:solidFill>
              </a:rPr>
              <a:t>GitHub: Exporte, Tests, Doku</a:t>
            </a:r>
            <a:endParaRPr lang="en-US" sz="1400" dirty="0"/>
          </a:p>
        </p:txBody>
      </p:sp>
      <p:sp>
        <p:nvSpPr>
          <p:cNvPr id="41" name="Modellentscheidung"/>
          <p:cNvSpPr/>
          <p:nvPr/>
        </p:nvSpPr>
        <p:spPr>
          <a:xfrm>
            <a:off x="4480560" y="3657600"/>
            <a:ext cx="7132320" cy="2240280"/>
          </a:xfrm>
          <a:prstGeom prst="roundRect">
            <a:avLst>
              <a:gd name="adj" fmla="val 3265"/>
            </a:avLst>
          </a:prstGeom>
          <a:solidFill>
            <a:schemeClr val="tx2"/>
          </a:solidFill>
          <a:ln/>
        </p:spPr>
      </p:sp>
      <p:sp>
        <p:nvSpPr>
          <p:cNvPr id="42" name="Symbolkreis"/>
          <p:cNvSpPr/>
          <p:nvPr/>
        </p:nvSpPr>
        <p:spPr>
          <a:xfrm>
            <a:off x="4709160" y="3794760"/>
            <a:ext cx="502920" cy="502920"/>
          </a:xfrm>
          <a:prstGeom prst="ellipse">
            <a:avLst/>
          </a:prstGeom>
          <a:solidFill>
            <a:schemeClr val="accent2"/>
          </a:solidFill>
          <a:ln/>
        </p:spPr>
      </p:sp>
      <p:pic>
        <p:nvPicPr>
          <p:cNvPr id="43" name="Symbol" descr="preencoded.png">    </p:cNvPr>
          <p:cNvPicPr>
            <a:picLocks noChangeAspect="1"/>
          </p:cNvPicPr>
          <p:nvPr/>
        </p:nvPicPr>
        <p:blipFill>
          <a:blip r:embed="rId8"/>
          <a:stretch>
            <a:fillRect/>
          </a:stretch>
        </p:blipFill>
        <p:spPr>
          <a:xfrm>
            <a:off x="4834890" y="3920490"/>
            <a:ext cx="251460" cy="251460"/>
          </a:xfrm>
          <a:prstGeom prst="rect">
            <a:avLst/>
          </a:prstGeom>
        </p:spPr>
      </p:pic>
      <p:sp>
        <p:nvSpPr>
          <p:cNvPr id="44" name="Text 34"/>
          <p:cNvSpPr txBox="1"/>
          <p:nvPr/>
        </p:nvSpPr>
        <p:spPr>
          <a:xfrm>
            <a:off x="5349240" y="3794760"/>
            <a:ext cx="6035040" cy="502920"/>
          </a:xfrm>
          <a:prstGeom prst="rect">
            <a:avLst/>
          </a:prstGeom>
          <a:noFill/>
          <a:ln/>
        </p:spPr>
        <p:txBody>
          <a:bodyPr wrap="square" lIns="0" tIns="0" rIns="0" bIns="0" rtlCol="0" anchor="ctr"/>
          <a:lstStyle/>
          <a:p>
            <a:pPr indent="0" marL="0">
              <a:buNone/>
            </a:pPr>
            <a:r>
              <a:rPr lang="en-US" sz="1600" b="1" dirty="0">
                <a:solidFill>
                  <a:schemeClr val="bg1"/>
                </a:solidFill>
              </a:rPr>
              <a:t>Entscheidung beim Zusammenführen der Workflows</a:t>
            </a:r>
            <a:endParaRPr lang="en-US" sz="1600" dirty="0"/>
          </a:p>
        </p:txBody>
      </p:sp>
      <p:sp>
        <p:nvSpPr>
          <p:cNvPr id="45" name="Text 35"/>
          <p:cNvSpPr txBox="1"/>
          <p:nvPr/>
        </p:nvSpPr>
        <p:spPr>
          <a:xfrm>
            <a:off x="4754880" y="4434840"/>
            <a:ext cx="6583680" cy="1371600"/>
          </a:xfrm>
          <a:prstGeom prst="rect">
            <a:avLst/>
          </a:prstGeom>
          <a:noFill/>
          <a:ln/>
        </p:spPr>
        <p:txBody>
          <a:bodyPr wrap="square" lIns="0" tIns="0" rIns="0" bIns="0" rtlCol="0" anchor="t"/>
          <a:lstStyle/>
          <a:p>
            <a:pPr indent="0" marL="0">
              <a:spcAft>
                <a:spcPts val="600"/>
              </a:spcAft>
              <a:buNone/>
            </a:pPr>
            <a:r>
              <a:rPr lang="en-US" sz="1300" b="1" dirty="0">
                <a:solidFill>
                  <a:schemeClr val="accent2"/>
                </a:solidFill>
              </a:rPr>
              <a:t>Embedding-Modell: zwingend </a:t>
            </a:r>
            <a:pPr indent="0" marL="0">
              <a:spcAft>
                <a:spcPts val="600"/>
              </a:spcAft>
              <a:buNone/>
            </a:pPr>
            <a:r>
              <a:rPr lang="en-US" sz="1300" dirty="0">
                <a:solidFill>
                  <a:schemeClr val="bg1"/>
                </a:solidFill>
              </a:rPr>
              <a:t>text-embedding-3-small, weil es zur geladenen Wissensbasis passen muss. Vektoren eines anderen Modells wären nicht vergleichbar.</a:t>
            </a:r>
            <a:endParaRPr lang="en-US" sz="1300" dirty="0"/>
          </a:p>
          <a:p>
            <a:pPr indent="0" marL="0">
              <a:spcAft>
                <a:spcPts val="600"/>
              </a:spcAft>
              <a:buNone/>
            </a:pPr>
            <a:r>
              <a:rPr lang="en-US" sz="1300" b="1" dirty="0">
                <a:solidFill>
                  <a:schemeClr val="accent2"/>
                </a:solidFill>
              </a:rPr>
              <a:t>Chat-Modell: bewusst vereinheitlicht </a:t>
            </a:r>
            <a:pPr indent="0" marL="0">
              <a:spcAft>
                <a:spcPts val="600"/>
              </a:spcAft>
              <a:buNone/>
            </a:pPr>
            <a:r>
              <a:rPr lang="en-US" sz="1300" dirty="0">
                <a:solidFill>
                  <a:schemeClr val="bg1"/>
                </a:solidFill>
              </a:rPr>
              <a:t>auf gpt-4.1-mini, damit alle Testergebnisse vergleichbar bleiben. Technisch wäre ein anderes Modell möglich.</a:t>
            </a:r>
            <a:endParaRPr lang="en-US" sz="1300" dirty="0"/>
          </a:p>
        </p:txBody>
      </p:sp>
      <p:sp>
        <p:nvSpPr>
          <p:cNvPr id="46" name="Text 36"/>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000" i="1" dirty="0">
                <a:solidFill>
                  <a:schemeClr val="accent5"/>
                </a:solidFill>
              </a:rPr>
              <a:t>Leitsatz: Was sich als Regel aufschreiben lässt, rechnet der Code, nicht das Sprachmodell · jeder Befund nennt seine Fundstelle im Regelwerk</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Governance: Mensch entscheidet, Daten geschützt</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1"/>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Valentin</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sp>
        <p:nvSpPr>
          <p:cNvPr id="8" name="EU AI Act"/>
          <p:cNvSpPr/>
          <p:nvPr/>
        </p:nvSpPr>
        <p:spPr>
          <a:xfrm>
            <a:off x="548640" y="1325880"/>
            <a:ext cx="3566160" cy="4526280"/>
          </a:xfrm>
          <a:prstGeom prst="roundRect">
            <a:avLst>
              <a:gd name="adj" fmla="val 2051"/>
            </a:avLst>
          </a:prstGeom>
          <a:solidFill>
            <a:schemeClr val="bg2"/>
          </a:solidFill>
          <a:ln/>
        </p:spPr>
      </p:sp>
      <p:sp>
        <p:nvSpPr>
          <p:cNvPr id="9" name="Symbolkreis"/>
          <p:cNvSpPr/>
          <p:nvPr/>
        </p:nvSpPr>
        <p:spPr>
          <a:xfrm>
            <a:off x="822960" y="1508760"/>
            <a:ext cx="640080" cy="640080"/>
          </a:xfrm>
          <a:prstGeom prst="ellipse">
            <a:avLst/>
          </a:prstGeom>
          <a:solidFill>
            <a:schemeClr val="accent1"/>
          </a:solidFill>
          <a:ln/>
        </p:spPr>
      </p:sp>
      <p:pic>
        <p:nvPicPr>
          <p:cNvPr id="10" name="Symbol" descr="preencoded.png">    </p:cNvPr>
          <p:cNvPicPr>
            <a:picLocks noChangeAspect="1"/>
          </p:cNvPicPr>
          <p:nvPr/>
        </p:nvPicPr>
        <p:blipFill>
          <a:blip r:embed="rId2"/>
          <a:stretch>
            <a:fillRect/>
          </a:stretch>
        </p:blipFill>
        <p:spPr>
          <a:xfrm>
            <a:off x="982980" y="1668780"/>
            <a:ext cx="320040" cy="320040"/>
          </a:xfrm>
          <a:prstGeom prst="rect">
            <a:avLst/>
          </a:prstGeom>
        </p:spPr>
      </p:pic>
      <p:sp>
        <p:nvSpPr>
          <p:cNvPr id="11" name="Text 7"/>
          <p:cNvSpPr txBox="1"/>
          <p:nvPr/>
        </p:nvSpPr>
        <p:spPr>
          <a:xfrm>
            <a:off x="1600200" y="1508760"/>
            <a:ext cx="2331720" cy="64008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EU AI Act</a:t>
            </a:r>
            <a:endParaRPr lang="en-US" sz="1800" dirty="0"/>
          </a:p>
        </p:txBody>
      </p:sp>
      <p:sp>
        <p:nvSpPr>
          <p:cNvPr id="12" name="Text 8"/>
          <p:cNvSpPr txBox="1"/>
          <p:nvPr/>
        </p:nvSpPr>
        <p:spPr>
          <a:xfrm>
            <a:off x="822960" y="2377440"/>
            <a:ext cx="3063240" cy="32918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Vorläufig kein Hochrisiko-System: prüft Formalien, entscheidet nicht über Behandlung</a:t>
            </a:r>
            <a:endParaRPr lang="en-US" sz="1400" dirty="0"/>
          </a:p>
          <a:p>
            <a:pPr marL="177800" indent="-177800">
              <a:spcAft>
                <a:spcPts val="500"/>
              </a:spcAft>
              <a:buSzPct val="100000"/>
              <a:buChar char="•"/>
            </a:pPr>
            <a:r>
              <a:rPr lang="en-US" sz="1400" dirty="0">
                <a:solidFill>
                  <a:schemeClr val="tx1"/>
                </a:solidFill>
              </a:rPr>
              <a:t>Transparenz: Nutzer wissen, dass sie mit KI arbeiten (Art. 50)</a:t>
            </a:r>
            <a:endParaRPr lang="en-US" sz="1400" dirty="0"/>
          </a:p>
          <a:p>
            <a:pPr marL="177800" indent="-177800">
              <a:spcAft>
                <a:spcPts val="500"/>
              </a:spcAft>
              <a:buSzPct val="100000"/>
              <a:buChar char="•"/>
            </a:pPr>
            <a:r>
              <a:rPr lang="en-US" sz="1400" dirty="0">
                <a:solidFill>
                  <a:schemeClr val="tx1"/>
                </a:solidFill>
              </a:rPr>
              <a:t>KI-Kompetenz: Einweisung der Rezeption (Art. 4)</a:t>
            </a:r>
            <a:endParaRPr lang="en-US" sz="1400" dirty="0"/>
          </a:p>
          <a:p>
            <a:pPr marL="177800" indent="-177800">
              <a:spcAft>
                <a:spcPts val="500"/>
              </a:spcAft>
              <a:buSzPct val="100000"/>
              <a:buChar char="•"/>
            </a:pPr>
            <a:r>
              <a:rPr lang="en-US" sz="1400" dirty="0">
                <a:solidFill>
                  <a:schemeClr val="tx1"/>
                </a:solidFill>
              </a:rPr>
              <a:t>Kein Medizinprodukt (zu bestätigen)</a:t>
            </a:r>
            <a:endParaRPr lang="en-US" sz="1400" dirty="0"/>
          </a:p>
        </p:txBody>
      </p:sp>
      <p:sp>
        <p:nvSpPr>
          <p:cNvPr id="13" name="DSGVO"/>
          <p:cNvSpPr/>
          <p:nvPr/>
        </p:nvSpPr>
        <p:spPr>
          <a:xfrm>
            <a:off x="4297680" y="1325880"/>
            <a:ext cx="3566160" cy="4526280"/>
          </a:xfrm>
          <a:prstGeom prst="roundRect">
            <a:avLst>
              <a:gd name="adj" fmla="val 2051"/>
            </a:avLst>
          </a:prstGeom>
          <a:solidFill>
            <a:schemeClr val="bg2"/>
          </a:solidFill>
          <a:ln/>
        </p:spPr>
      </p:sp>
      <p:sp>
        <p:nvSpPr>
          <p:cNvPr id="14" name="Symbolkreis"/>
          <p:cNvSpPr/>
          <p:nvPr/>
        </p:nvSpPr>
        <p:spPr>
          <a:xfrm>
            <a:off x="4572000" y="1508760"/>
            <a:ext cx="640080" cy="640080"/>
          </a:xfrm>
          <a:prstGeom prst="ellipse">
            <a:avLst/>
          </a:prstGeom>
          <a:solidFill>
            <a:schemeClr val="accent1"/>
          </a:solidFill>
          <a:ln/>
        </p:spPr>
      </p:sp>
      <p:pic>
        <p:nvPicPr>
          <p:cNvPr id="15" name="Symbol" descr="preencoded.png">    </p:cNvPr>
          <p:cNvPicPr>
            <a:picLocks noChangeAspect="1"/>
          </p:cNvPicPr>
          <p:nvPr/>
        </p:nvPicPr>
        <p:blipFill>
          <a:blip r:embed="rId3"/>
          <a:stretch>
            <a:fillRect/>
          </a:stretch>
        </p:blipFill>
        <p:spPr>
          <a:xfrm>
            <a:off x="4732020" y="1668780"/>
            <a:ext cx="320040" cy="320040"/>
          </a:xfrm>
          <a:prstGeom prst="rect">
            <a:avLst/>
          </a:prstGeom>
        </p:spPr>
      </p:pic>
      <p:sp>
        <p:nvSpPr>
          <p:cNvPr id="16" name="Text 11"/>
          <p:cNvSpPr txBox="1"/>
          <p:nvPr/>
        </p:nvSpPr>
        <p:spPr>
          <a:xfrm>
            <a:off x="5349240" y="1508760"/>
            <a:ext cx="2331720" cy="64008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DSGVO</a:t>
            </a:r>
            <a:endParaRPr lang="en-US" sz="1800" dirty="0"/>
          </a:p>
        </p:txBody>
      </p:sp>
      <p:sp>
        <p:nvSpPr>
          <p:cNvPr id="17" name="Text 12"/>
          <p:cNvSpPr txBox="1"/>
          <p:nvPr/>
        </p:nvSpPr>
        <p:spPr>
          <a:xfrm>
            <a:off x="4572000" y="2377440"/>
            <a:ext cx="3063240" cy="32918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Verordnungen sind Gesundheitsdaten (Art. 9)</a:t>
            </a:r>
            <a:endParaRPr lang="en-US" sz="1400" dirty="0"/>
          </a:p>
          <a:p>
            <a:pPr marL="177800" indent="-177800">
              <a:spcAft>
                <a:spcPts val="500"/>
              </a:spcAft>
              <a:buSzPct val="100000"/>
              <a:buChar char="•"/>
            </a:pPr>
            <a:r>
              <a:rPr lang="en-US" sz="1400" dirty="0">
                <a:solidFill>
                  <a:schemeClr val="tx1"/>
                </a:solidFill>
              </a:rPr>
              <a:t>Prototyp: nur synthetische Daten</a:t>
            </a:r>
            <a:endParaRPr lang="en-US" sz="1400" dirty="0"/>
          </a:p>
          <a:p>
            <a:pPr marL="177800" indent="-177800">
              <a:spcAft>
                <a:spcPts val="500"/>
              </a:spcAft>
              <a:buSzPct val="100000"/>
              <a:buChar char="•"/>
            </a:pPr>
            <a:r>
              <a:rPr lang="en-US" sz="1400" dirty="0">
                <a:solidFill>
                  <a:schemeClr val="tx1"/>
                </a:solidFill>
              </a:rPr>
              <a:t>Echtbetrieb: Pseudonym, Auftragsverarbeitung, EU-Hosting, Löschkonzept</a:t>
            </a:r>
            <a:endParaRPr lang="en-US" sz="1400" dirty="0"/>
          </a:p>
          <a:p>
            <a:pPr marL="177800" indent="-177800">
              <a:spcAft>
                <a:spcPts val="500"/>
              </a:spcAft>
              <a:buSzPct val="100000"/>
              <a:buChar char="•"/>
            </a:pPr>
            <a:r>
              <a:rPr lang="en-US" sz="1400" dirty="0">
                <a:solidFill>
                  <a:schemeClr val="tx1"/>
                </a:solidFill>
              </a:rPr>
              <a:t>Datenschutz-Folgenabschätzung prüfen (Art. 35)</a:t>
            </a:r>
            <a:endParaRPr lang="en-US" sz="1400" dirty="0"/>
          </a:p>
        </p:txBody>
      </p:sp>
      <p:sp>
        <p:nvSpPr>
          <p:cNvPr id="18" name="Aufsicht und Sicherheit"/>
          <p:cNvSpPr/>
          <p:nvPr/>
        </p:nvSpPr>
        <p:spPr>
          <a:xfrm>
            <a:off x="8046720" y="1325880"/>
            <a:ext cx="3566160" cy="4526280"/>
          </a:xfrm>
          <a:prstGeom prst="roundRect">
            <a:avLst>
              <a:gd name="adj" fmla="val 2051"/>
            </a:avLst>
          </a:prstGeom>
          <a:solidFill>
            <a:schemeClr val="tx2"/>
          </a:solidFill>
          <a:ln/>
        </p:spPr>
      </p:sp>
      <p:sp>
        <p:nvSpPr>
          <p:cNvPr id="19" name="Symbolkreis"/>
          <p:cNvSpPr/>
          <p:nvPr/>
        </p:nvSpPr>
        <p:spPr>
          <a:xfrm>
            <a:off x="8321040" y="1508760"/>
            <a:ext cx="640080" cy="640080"/>
          </a:xfrm>
          <a:prstGeom prst="ellipse">
            <a:avLst/>
          </a:prstGeom>
          <a:solidFill>
            <a:schemeClr val="accent2"/>
          </a:solidFill>
          <a:ln/>
        </p:spPr>
      </p:sp>
      <p:pic>
        <p:nvPicPr>
          <p:cNvPr id="20" name="Symbol" descr="preencoded.png">    </p:cNvPr>
          <p:cNvPicPr>
            <a:picLocks noChangeAspect="1"/>
          </p:cNvPicPr>
          <p:nvPr/>
        </p:nvPicPr>
        <p:blipFill>
          <a:blip r:embed="rId4"/>
          <a:stretch>
            <a:fillRect/>
          </a:stretch>
        </p:blipFill>
        <p:spPr>
          <a:xfrm>
            <a:off x="8481060" y="1668780"/>
            <a:ext cx="320040" cy="320040"/>
          </a:xfrm>
          <a:prstGeom prst="rect">
            <a:avLst/>
          </a:prstGeom>
        </p:spPr>
      </p:pic>
      <p:sp>
        <p:nvSpPr>
          <p:cNvPr id="21" name="Text 15"/>
          <p:cNvSpPr txBox="1"/>
          <p:nvPr/>
        </p:nvSpPr>
        <p:spPr>
          <a:xfrm>
            <a:off x="9098280" y="1508760"/>
            <a:ext cx="2331720" cy="64008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Aufsicht und Sicherheit</a:t>
            </a:r>
            <a:endParaRPr lang="en-US" sz="1800" dirty="0"/>
          </a:p>
        </p:txBody>
      </p:sp>
      <p:sp>
        <p:nvSpPr>
          <p:cNvPr id="22" name="Text 16"/>
          <p:cNvSpPr txBox="1"/>
          <p:nvPr/>
        </p:nvSpPr>
        <p:spPr>
          <a:xfrm>
            <a:off x="8321040" y="2377440"/>
            <a:ext cx="3063240" cy="32918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Ampel ist eine Empfehlung, die Rezeption entscheidet</a:t>
            </a:r>
            <a:endParaRPr lang="en-US" sz="1400" dirty="0"/>
          </a:p>
          <a:p>
            <a:pPr marL="177800" indent="-177800">
              <a:spcAft>
                <a:spcPts val="500"/>
              </a:spcAft>
              <a:buSzPct val="100000"/>
              <a:buChar char="•"/>
            </a:pPr>
            <a:r>
              <a:rPr lang="en-US" sz="1400" dirty="0">
                <a:solidFill>
                  <a:schemeClr val="bg1"/>
                </a:solidFill>
              </a:rPr>
              <a:t>Jeder Befund nennt seine Fundstelle</a:t>
            </a:r>
            <a:endParaRPr lang="en-US" sz="1400" dirty="0"/>
          </a:p>
          <a:p>
            <a:pPr marL="177800" indent="-177800">
              <a:spcAft>
                <a:spcPts val="500"/>
              </a:spcAft>
              <a:buSzPct val="100000"/>
              <a:buChar char="•"/>
            </a:pPr>
            <a:r>
              <a:rPr lang="en-US" sz="1400" dirty="0">
                <a:solidFill>
                  <a:schemeClr val="bg1"/>
                </a:solidFill>
              </a:rPr>
              <a:t>Jede Prüfung wird protokolliert</a:t>
            </a:r>
            <a:endParaRPr lang="en-US" sz="1400" dirty="0"/>
          </a:p>
          <a:p>
            <a:pPr marL="177800" indent="-177800">
              <a:spcAft>
                <a:spcPts val="500"/>
              </a:spcAft>
              <a:buSzPct val="100000"/>
              <a:buChar char="•"/>
            </a:pPr>
            <a:r>
              <a:rPr lang="en-US" sz="1400" dirty="0">
                <a:solidFill>
                  <a:schemeClr val="bg1"/>
                </a:solidFill>
              </a:rPr>
              <a:t>Chat und Formular erst mit Anmeldung öffentlich, Schlüssel nie im Repository</a:t>
            </a:r>
            <a:endParaRPr lang="en-US" sz="1400" dirty="0"/>
          </a:p>
        </p:txBody>
      </p:sp>
      <p:sp>
        <p:nvSpPr>
          <p:cNvPr id="23" name="Text 17"/>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000" i="1" dirty="0">
                <a:solidFill>
                  <a:schemeClr val="accent5"/>
                </a:solidFill>
              </a:rPr>
              <a:t>Offen: EU-AI-Act-Einordnung prüfen und belegen (Sprint 3)</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Prototyp: Stand 20.10.2026</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Versionen"/>
          <p:cNvSpPr/>
          <p:nvPr/>
        </p:nvSpPr>
        <p:spPr>
          <a:xfrm>
            <a:off x="548640" y="1325880"/>
            <a:ext cx="4206240" cy="4526280"/>
          </a:xfrm>
          <a:prstGeom prst="roundRect">
            <a:avLst>
              <a:gd name="adj" fmla="val 1739"/>
            </a:avLst>
          </a:prstGeom>
          <a:solidFill>
            <a:schemeClr val="bg2"/>
          </a:solidFill>
          <a:ln/>
        </p:spPr>
      </p:sp>
      <p:sp>
        <p:nvSpPr>
          <p:cNvPr id="7" name="Symbolkreis"/>
          <p:cNvSpPr/>
          <p:nvPr/>
        </p:nvSpPr>
        <p:spPr>
          <a:xfrm>
            <a:off x="822960" y="1508760"/>
            <a:ext cx="548640" cy="548640"/>
          </a:xfrm>
          <a:prstGeom prst="ellipse">
            <a:avLst/>
          </a:prstGeom>
          <a:solidFill>
            <a:schemeClr val="accent3"/>
          </a:solidFill>
          <a:ln/>
        </p:spPr>
      </p:sp>
      <p:pic>
        <p:nvPicPr>
          <p:cNvPr id="8" name="Symbol" descr="preencoded.png">    </p:cNvPr>
          <p:cNvPicPr>
            <a:picLocks noChangeAspect="1"/>
          </p:cNvPicPr>
          <p:nvPr/>
        </p:nvPicPr>
        <p:blipFill>
          <a:blip r:embed="rId2"/>
          <a:stretch>
            <a:fillRect/>
          </a:stretch>
        </p:blipFill>
        <p:spPr>
          <a:xfrm>
            <a:off x="960120" y="1645920"/>
            <a:ext cx="274320" cy="274320"/>
          </a:xfrm>
          <a:prstGeom prst="rect">
            <a:avLst/>
          </a:prstGeom>
        </p:spPr>
      </p:pic>
      <p:sp>
        <p:nvSpPr>
          <p:cNvPr id="9" name="Text 5"/>
          <p:cNvSpPr txBox="1"/>
          <p:nvPr/>
        </p:nvSpPr>
        <p:spPr>
          <a:xfrm>
            <a:off x="1508760" y="1508760"/>
            <a:ext cx="3017520" cy="54864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Zwei Workflows</a:t>
            </a:r>
            <a:endParaRPr lang="en-US" sz="1800" dirty="0"/>
          </a:p>
        </p:txBody>
      </p:sp>
      <p:sp>
        <p:nvSpPr>
          <p:cNvPr id="10" name="Text 6"/>
          <p:cNvSpPr txBox="1"/>
          <p:nvPr/>
        </p:nvSpPr>
        <p:spPr>
          <a:xfrm>
            <a:off x="822960" y="2240280"/>
            <a:ext cx="3657600" cy="3474720"/>
          </a:xfrm>
          <a:prstGeom prst="rect">
            <a:avLst/>
          </a:prstGeom>
          <a:noFill/>
          <a:ln/>
        </p:spPr>
        <p:txBody>
          <a:bodyPr wrap="square" lIns="0" tIns="0" rIns="0" bIns="0" rtlCol="0" anchor="t"/>
          <a:lstStyle/>
          <a:p>
            <a:pPr indent="0" marL="0">
              <a:buNone/>
            </a:pPr>
            <a:r>
              <a:rPr lang="en-US" sz="1400" b="1" dirty="0">
                <a:solidFill>
                  <a:schemeClr val="tx2"/>
                </a:solidFill>
              </a:rPr>
              <a:t>Merge-Workflow (neu)</a:t>
            </a:r>
            <a:endParaRPr lang="en-US" sz="1400" dirty="0"/>
          </a:p>
          <a:p>
            <a:pPr indent="0" marL="0">
              <a:buNone/>
            </a:pPr>
            <a:r>
              <a:rPr lang="en-US" sz="1400" dirty="0">
                <a:solidFill>
                  <a:schemeClr val="tx1"/>
                </a:solidFill>
              </a:rPr>
              <a:t>Valentins Formular + vier Prüfer in einem Flow: Chat und Muster-13-Formular, PII-Redaktion, Diagnoseauswahl</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tx2"/>
                </a:solidFill>
              </a:rPr>
              <a:t>Vier Prüfer v4 (Fallback)</a:t>
            </a:r>
            <a:endParaRPr lang="en-US" sz="1400" dirty="0"/>
          </a:p>
          <a:p>
            <a:pPr indent="0" marL="0">
              <a:buNone/>
            </a:pPr>
            <a:r>
              <a:rPr lang="en-US" sz="1400" dirty="0">
                <a:solidFill>
                  <a:schemeClr val="tx1"/>
                </a:solidFill>
              </a:rPr>
              <a:t>unverändert, falls der Merge kurz vor der Prüfung Probleme macht</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accent3"/>
                </a:solidFill>
              </a:rPr>
              <a:t>Noch nicht öffentlich: </a:t>
            </a:r>
            <a:pPr indent="0" marL="0">
              <a:buNone/>
            </a:pPr>
            <a:r>
              <a:rPr lang="en-US" sz="1400" dirty="0">
                <a:solidFill>
                  <a:schemeClr val="tx1"/>
                </a:solidFill>
              </a:rPr>
              <a:t>erst mit aktiver Anmeldung (Kostenrisiko)</a:t>
            </a:r>
            <a:endParaRPr lang="en-US" sz="1400" dirty="0"/>
          </a:p>
        </p:txBody>
      </p:sp>
      <p:sp>
        <p:nvSpPr>
          <p:cNvPr id="11" name="Text 7"/>
          <p:cNvSpPr txBox="1"/>
          <p:nvPr/>
        </p:nvSpPr>
        <p:spPr>
          <a:xfrm>
            <a:off x="4937760" y="1325880"/>
            <a:ext cx="6675120" cy="36576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Tests des Merge-Workflows</a:t>
            </a:r>
            <a:endParaRPr lang="en-US" sz="1600" dirty="0"/>
          </a:p>
        </p:txBody>
      </p:sp>
      <p:sp>
        <p:nvSpPr>
          <p:cNvPr id="12" name="Test"/>
          <p:cNvSpPr/>
          <p:nvPr/>
        </p:nvSpPr>
        <p:spPr>
          <a:xfrm>
            <a:off x="4937760" y="1783080"/>
            <a:ext cx="6702552" cy="822960"/>
          </a:xfrm>
          <a:prstGeom prst="roundRect">
            <a:avLst>
              <a:gd name="adj" fmla="val 8889"/>
            </a:avLst>
          </a:prstGeom>
          <a:solidFill>
            <a:schemeClr val="bg2"/>
          </a:solidFill>
          <a:ln/>
        </p:spPr>
      </p:sp>
      <p:sp>
        <p:nvSpPr>
          <p:cNvPr id="13" name="Ampel"/>
          <p:cNvSpPr/>
          <p:nvPr/>
        </p:nvSpPr>
        <p:spPr>
          <a:xfrm>
            <a:off x="5166360" y="2029968"/>
            <a:ext cx="329184" cy="329184"/>
          </a:xfrm>
          <a:prstGeom prst="ellipse">
            <a:avLst/>
          </a:prstGeom>
          <a:solidFill>
            <a:srgbClr val="2A9D8F"/>
          </a:solidFill>
          <a:ln/>
        </p:spPr>
      </p:sp>
      <p:sp>
        <p:nvSpPr>
          <p:cNvPr id="14" name="Text 10"/>
          <p:cNvSpPr txBox="1"/>
          <p:nvPr/>
        </p:nvSpPr>
        <p:spPr>
          <a:xfrm>
            <a:off x="5715000" y="1874520"/>
            <a:ext cx="5760720" cy="274320"/>
          </a:xfrm>
          <a:prstGeom prst="rect">
            <a:avLst/>
          </a:prstGeom>
          <a:noFill/>
          <a:ln/>
        </p:spPr>
        <p:txBody>
          <a:bodyPr wrap="square" lIns="0" tIns="0" rIns="0" bIns="0" rtlCol="0" anchor="t"/>
          <a:lstStyle/>
          <a:p>
            <a:pPr indent="0" marL="0">
              <a:buNone/>
            </a:pPr>
            <a:r>
              <a:rPr lang="en-US" sz="1400" b="1" dirty="0">
                <a:solidFill>
                  <a:schemeClr val="tx2"/>
                </a:solidFill>
              </a:rPr>
              <a:t>Testfall 1 als Daten (Chat)</a:t>
            </a:r>
            <a:endParaRPr lang="en-US" sz="1400" dirty="0"/>
          </a:p>
        </p:txBody>
      </p:sp>
      <p:sp>
        <p:nvSpPr>
          <p:cNvPr id="15" name="Text 11"/>
          <p:cNvSpPr txBox="1"/>
          <p:nvPr/>
        </p:nvSpPr>
        <p:spPr>
          <a:xfrm>
            <a:off x="5715000" y="2167128"/>
            <a:ext cx="5760720" cy="411480"/>
          </a:xfrm>
          <a:prstGeom prst="rect">
            <a:avLst/>
          </a:prstGeom>
          <a:noFill/>
          <a:ln/>
        </p:spPr>
        <p:txBody>
          <a:bodyPr wrap="square" lIns="0" tIns="0" rIns="0" bIns="0" rtlCol="0" anchor="t"/>
          <a:lstStyle/>
          <a:p>
            <a:pPr indent="0" marL="0">
              <a:buNone/>
            </a:pPr>
            <a:r>
              <a:rPr lang="en-US" sz="1200" dirty="0">
                <a:solidFill>
                  <a:schemeClr val="tx1"/>
                </a:solidFill>
              </a:rPr>
              <a:t>grün, 18 von 18 Befunden ok, ca. 30 s</a:t>
            </a:r>
            <a:endParaRPr lang="en-US" sz="1200" dirty="0"/>
          </a:p>
        </p:txBody>
      </p:sp>
      <p:sp>
        <p:nvSpPr>
          <p:cNvPr id="16" name="Test"/>
          <p:cNvSpPr/>
          <p:nvPr/>
        </p:nvSpPr>
        <p:spPr>
          <a:xfrm>
            <a:off x="4937760" y="2743200"/>
            <a:ext cx="6702552" cy="822960"/>
          </a:xfrm>
          <a:prstGeom prst="roundRect">
            <a:avLst>
              <a:gd name="adj" fmla="val 8889"/>
            </a:avLst>
          </a:prstGeom>
          <a:solidFill>
            <a:schemeClr val="bg2"/>
          </a:solidFill>
          <a:ln/>
        </p:spPr>
      </p:sp>
      <p:sp>
        <p:nvSpPr>
          <p:cNvPr id="17" name="Ampel"/>
          <p:cNvSpPr/>
          <p:nvPr/>
        </p:nvSpPr>
        <p:spPr>
          <a:xfrm>
            <a:off x="5166360" y="2990088"/>
            <a:ext cx="329184" cy="329184"/>
          </a:xfrm>
          <a:prstGeom prst="ellipse">
            <a:avLst/>
          </a:prstGeom>
          <a:solidFill>
            <a:srgbClr val="E76F51"/>
          </a:solidFill>
          <a:ln/>
        </p:spPr>
      </p:sp>
      <p:sp>
        <p:nvSpPr>
          <p:cNvPr id="18" name="Text 14"/>
          <p:cNvSpPr txBox="1"/>
          <p:nvPr/>
        </p:nvSpPr>
        <p:spPr>
          <a:xfrm>
            <a:off x="5715000" y="2834640"/>
            <a:ext cx="5760720" cy="274320"/>
          </a:xfrm>
          <a:prstGeom prst="rect">
            <a:avLst/>
          </a:prstGeom>
          <a:noFill/>
          <a:ln/>
        </p:spPr>
        <p:txBody>
          <a:bodyPr wrap="square" lIns="0" tIns="0" rIns="0" bIns="0" rtlCol="0" anchor="t"/>
          <a:lstStyle/>
          <a:p>
            <a:pPr indent="0" marL="0">
              <a:buNone/>
            </a:pPr>
            <a:r>
              <a:rPr lang="en-US" sz="1400" b="1" dirty="0">
                <a:solidFill>
                  <a:schemeClr val="tx2"/>
                </a:solidFill>
              </a:rPr>
              <a:t>Testfall 3 als Freitext mit Patientendaten</a:t>
            </a:r>
            <a:endParaRPr lang="en-US" sz="1400" dirty="0"/>
          </a:p>
        </p:txBody>
      </p:sp>
      <p:sp>
        <p:nvSpPr>
          <p:cNvPr id="19" name="Text 15"/>
          <p:cNvSpPr txBox="1"/>
          <p:nvPr/>
        </p:nvSpPr>
        <p:spPr>
          <a:xfrm>
            <a:off x="5715000" y="3127248"/>
            <a:ext cx="5760720" cy="411480"/>
          </a:xfrm>
          <a:prstGeom prst="rect">
            <a:avLst/>
          </a:prstGeom>
          <a:noFill/>
          <a:ln/>
        </p:spPr>
        <p:txBody>
          <a:bodyPr wrap="square" lIns="0" tIns="0" rIns="0" bIns="0" rtlCol="0" anchor="t"/>
          <a:lstStyle/>
          <a:p>
            <a:pPr indent="0" marL="0">
              <a:buNone/>
            </a:pPr>
            <a:r>
              <a:rPr lang="en-US" sz="1200" dirty="0">
                <a:solidFill>
                  <a:schemeClr val="tx1"/>
                </a:solidFill>
              </a:rPr>
              <a:t>rot korrekt (WS statt EX), Patientendaten entfernt · aber ein Fehlalarm im Mengen-Prüfer</a:t>
            </a:r>
            <a:endParaRPr lang="en-US" sz="1200" dirty="0"/>
          </a:p>
        </p:txBody>
      </p:sp>
      <p:sp>
        <p:nvSpPr>
          <p:cNvPr id="20" name="Test"/>
          <p:cNvSpPr/>
          <p:nvPr/>
        </p:nvSpPr>
        <p:spPr>
          <a:xfrm>
            <a:off x="4937760" y="3703320"/>
            <a:ext cx="6702552" cy="822960"/>
          </a:xfrm>
          <a:prstGeom prst="roundRect">
            <a:avLst>
              <a:gd name="adj" fmla="val 8889"/>
            </a:avLst>
          </a:prstGeom>
          <a:solidFill>
            <a:schemeClr val="bg2"/>
          </a:solidFill>
          <a:ln/>
        </p:spPr>
      </p:sp>
      <p:sp>
        <p:nvSpPr>
          <p:cNvPr id="21" name="Ampel"/>
          <p:cNvSpPr/>
          <p:nvPr/>
        </p:nvSpPr>
        <p:spPr>
          <a:xfrm>
            <a:off x="5166360" y="3950208"/>
            <a:ext cx="329184" cy="329184"/>
          </a:xfrm>
          <a:prstGeom prst="ellipse">
            <a:avLst/>
          </a:prstGeom>
          <a:solidFill>
            <a:srgbClr val="2A9D8F"/>
          </a:solidFill>
          <a:ln/>
        </p:spPr>
      </p:sp>
      <p:sp>
        <p:nvSpPr>
          <p:cNvPr id="22" name="Text 18"/>
          <p:cNvSpPr txBox="1"/>
          <p:nvPr/>
        </p:nvSpPr>
        <p:spPr>
          <a:xfrm>
            <a:off x="5715000" y="3794760"/>
            <a:ext cx="5760720" cy="274320"/>
          </a:xfrm>
          <a:prstGeom prst="rect">
            <a:avLst/>
          </a:prstGeom>
          <a:noFill/>
          <a:ln/>
        </p:spPr>
        <p:txBody>
          <a:bodyPr wrap="square" lIns="0" tIns="0" rIns="0" bIns="0" rtlCol="0" anchor="t"/>
          <a:lstStyle/>
          <a:p>
            <a:pPr indent="0" marL="0">
              <a:buNone/>
            </a:pPr>
            <a:r>
              <a:rPr lang="en-US" sz="1400" b="1" dirty="0">
                <a:solidFill>
                  <a:schemeClr val="tx2"/>
                </a:solidFill>
              </a:rPr>
              <a:t>Eingabe über das Formular</a:t>
            </a:r>
            <a:endParaRPr lang="en-US" sz="1400" dirty="0"/>
          </a:p>
        </p:txBody>
      </p:sp>
      <p:sp>
        <p:nvSpPr>
          <p:cNvPr id="23" name="Text 19"/>
          <p:cNvSpPr txBox="1"/>
          <p:nvPr/>
        </p:nvSpPr>
        <p:spPr>
          <a:xfrm>
            <a:off x="5715000" y="4087368"/>
            <a:ext cx="5760720" cy="411480"/>
          </a:xfrm>
          <a:prstGeom prst="rect">
            <a:avLst/>
          </a:prstGeom>
          <a:noFill/>
          <a:ln/>
        </p:spPr>
        <p:txBody>
          <a:bodyPr wrap="square" lIns="0" tIns="0" rIns="0" bIns="0" rtlCol="0" anchor="t"/>
          <a:lstStyle/>
          <a:p>
            <a:pPr indent="0" marL="0">
              <a:buNone/>
            </a:pPr>
            <a:r>
              <a:rPr lang="en-US" sz="1200" dirty="0">
                <a:solidFill>
                  <a:schemeClr val="tx1"/>
                </a:solidFill>
              </a:rPr>
              <a:t>grün, 18 von 18 ok, 6 personenbezogene Felder ersetzt</a:t>
            </a:r>
            <a:endParaRPr lang="en-US" sz="1200" dirty="0"/>
          </a:p>
        </p:txBody>
      </p:sp>
      <p:sp>
        <p:nvSpPr>
          <p:cNvPr id="24" name="Nächste Schritte"/>
          <p:cNvSpPr/>
          <p:nvPr/>
        </p:nvSpPr>
        <p:spPr>
          <a:xfrm>
            <a:off x="4937760" y="4709160"/>
            <a:ext cx="6702552" cy="1143000"/>
          </a:xfrm>
          <a:prstGeom prst="roundRect">
            <a:avLst>
              <a:gd name="adj" fmla="val 6400"/>
            </a:avLst>
          </a:prstGeom>
          <a:solidFill>
            <a:schemeClr val="tx2"/>
          </a:solidFill>
          <a:ln/>
        </p:spPr>
      </p:sp>
      <p:sp>
        <p:nvSpPr>
          <p:cNvPr id="25" name="Text 21"/>
          <p:cNvSpPr txBox="1"/>
          <p:nvPr/>
        </p:nvSpPr>
        <p:spPr>
          <a:xfrm>
            <a:off x="5212080" y="4846320"/>
            <a:ext cx="6217920" cy="914400"/>
          </a:xfrm>
          <a:prstGeom prst="rect">
            <a:avLst/>
          </a:prstGeom>
          <a:noFill/>
          <a:ln/>
        </p:spPr>
        <p:txBody>
          <a:bodyPr wrap="square" lIns="0" tIns="0" rIns="0" bIns="0" rtlCol="0" anchor="t"/>
          <a:lstStyle/>
          <a:p>
            <a:pPr indent="0" marL="0">
              <a:buNone/>
            </a:pPr>
            <a:r>
              <a:rPr lang="en-US" sz="1400" b="1" dirty="0">
                <a:solidFill>
                  <a:schemeClr val="accent2"/>
                </a:solidFill>
              </a:rPr>
              <a:t>Diese Woche: </a:t>
            </a:r>
            <a:pPr indent="0" marL="0">
              <a:buNone/>
            </a:pPr>
            <a:r>
              <a:rPr lang="en-US" sz="1400" dirty="0">
                <a:solidFill>
                  <a:schemeClr val="bg1"/>
                </a:solidFill>
              </a:rPr>
              <a:t>Mengen-Prüfer schärfen (nur Mengen bewerten, Diagnose ist nicht sein Mandat), dann Verordnungsfall-Prüfung (v5) mit Historie, Frühwarnung Mi 21.10.</a:t>
            </a:r>
            <a:endParaRPr lang="en-US" sz="1400" dirty="0"/>
          </a:p>
        </p:txBody>
      </p:sp>
      <p:sp>
        <p:nvSpPr>
          <p:cNvPr id="26" name="Text 22"/>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000" i="1" dirty="0">
                <a:solidFill>
                  <a:schemeClr val="accent5"/>
                </a:solidFill>
              </a:rPr>
              <a:t>Tests vom 20.10.2026 · synthetische Testfälle · WS = Wirbelsäule, EX = Extremitäten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Erfolgsmessung: ≥ 98 % auf 50 neuen Fällen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sp>
        <p:nvSpPr>
          <p:cNvPr id="8" name="Zielwert"/>
          <p:cNvSpPr/>
          <p:nvPr/>
        </p:nvSpPr>
        <p:spPr>
          <a:xfrm>
            <a:off x="548640" y="1325880"/>
            <a:ext cx="3566160" cy="4526280"/>
          </a:xfrm>
          <a:prstGeom prst="roundRect">
            <a:avLst>
              <a:gd name="adj" fmla="val 2051"/>
            </a:avLst>
          </a:prstGeom>
          <a:solidFill>
            <a:schemeClr val="tx2"/>
          </a:solidFill>
          <a:ln/>
        </p:spPr>
      </p:sp>
      <p:sp>
        <p:nvSpPr>
          <p:cNvPr id="9" name="Symbolkreis"/>
          <p:cNvSpPr/>
          <p:nvPr/>
        </p:nvSpPr>
        <p:spPr>
          <a:xfrm>
            <a:off x="822960" y="1508760"/>
            <a:ext cx="548640" cy="548640"/>
          </a:xfrm>
          <a:prstGeom prst="ellipse">
            <a:avLst/>
          </a:prstGeom>
          <a:solidFill>
            <a:schemeClr val="accent3"/>
          </a:solidFill>
          <a:ln/>
        </p:spPr>
      </p:sp>
      <p:pic>
        <p:nvPicPr>
          <p:cNvPr id="10" name="Symbol" descr="preencoded.png">    </p:cNvPr>
          <p:cNvPicPr>
            <a:picLocks noChangeAspect="1"/>
          </p:cNvPicPr>
          <p:nvPr/>
        </p:nvPicPr>
        <p:blipFill>
          <a:blip r:embed="rId2"/>
          <a:stretch>
            <a:fillRect/>
          </a:stretch>
        </p:blipFill>
        <p:spPr>
          <a:xfrm>
            <a:off x="960120" y="1645920"/>
            <a:ext cx="274320" cy="274320"/>
          </a:xfrm>
          <a:prstGeom prst="rect">
            <a:avLst/>
          </a:prstGeom>
        </p:spPr>
      </p:pic>
      <p:sp>
        <p:nvSpPr>
          <p:cNvPr id="11" name="Text 7"/>
          <p:cNvSpPr txBox="1"/>
          <p:nvPr/>
        </p:nvSpPr>
        <p:spPr>
          <a:xfrm>
            <a:off x="1508760" y="1508760"/>
            <a:ext cx="2377440" cy="54864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Zielwert</a:t>
            </a:r>
            <a:endParaRPr lang="en-US" sz="1800" dirty="0"/>
          </a:p>
        </p:txBody>
      </p:sp>
      <p:sp>
        <p:nvSpPr>
          <p:cNvPr id="12" name="Text 8"/>
          <p:cNvSpPr txBox="1"/>
          <p:nvPr/>
        </p:nvSpPr>
        <p:spPr>
          <a:xfrm>
            <a:off x="822960" y="2286000"/>
            <a:ext cx="3017520" cy="1005840"/>
          </a:xfrm>
          <a:prstGeom prst="rect">
            <a:avLst/>
          </a:prstGeom>
          <a:noFill/>
          <a:ln/>
        </p:spPr>
        <p:txBody>
          <a:bodyPr wrap="square" lIns="0" tIns="0" rIns="0" bIns="0" rtlCol="0" anchor="t"/>
          <a:lstStyle/>
          <a:p>
            <a:pPr indent="0" marL="0">
              <a:buNone/>
            </a:pPr>
            <a:r>
              <a:rPr lang="en-US" sz="6000" b="1" dirty="0">
                <a:solidFill>
                  <a:schemeClr val="accent2"/>
                </a:solidFill>
                <a:latin typeface="Cambria" pitchFamily="34" charset="0"/>
                <a:ea typeface="Cambria" pitchFamily="34" charset="-122"/>
                <a:cs typeface="Cambria" pitchFamily="34" charset="-120"/>
              </a:rPr>
              <a:t>≥ 98 %</a:t>
            </a:r>
            <a:endParaRPr lang="en-US" sz="6000" dirty="0"/>
          </a:p>
        </p:txBody>
      </p:sp>
      <p:sp>
        <p:nvSpPr>
          <p:cNvPr id="13" name="Text 9"/>
          <p:cNvSpPr txBox="1"/>
          <p:nvPr/>
        </p:nvSpPr>
        <p:spPr>
          <a:xfrm>
            <a:off x="822960" y="3383280"/>
            <a:ext cx="3017520" cy="914400"/>
          </a:xfrm>
          <a:prstGeom prst="rect">
            <a:avLst/>
          </a:prstGeom>
          <a:noFill/>
          <a:ln/>
        </p:spPr>
        <p:txBody>
          <a:bodyPr wrap="square" lIns="0" tIns="0" rIns="0" bIns="0" rtlCol="0" anchor="t"/>
          <a:lstStyle/>
          <a:p>
            <a:pPr indent="0" marL="0">
              <a:buNone/>
            </a:pPr>
            <a:r>
              <a:rPr lang="en-US" sz="1400" dirty="0">
                <a:solidFill>
                  <a:schemeClr val="bg1"/>
                </a:solidFill>
              </a:rPr>
              <a:t>richtige Ampel, höchstens 1 Fehler bei 50 Fällen, jeder Fall 3 Läufe = 150 Prüfungen</a:t>
            </a:r>
            <a:endParaRPr lang="en-US" sz="1400" dirty="0"/>
          </a:p>
        </p:txBody>
      </p:sp>
      <p:sp>
        <p:nvSpPr>
          <p:cNvPr id="14" name="Text 10"/>
          <p:cNvSpPr txBox="1"/>
          <p:nvPr/>
        </p:nvSpPr>
        <p:spPr>
          <a:xfrm>
            <a:off x="822960" y="5029200"/>
            <a:ext cx="3017520" cy="640080"/>
          </a:xfrm>
          <a:prstGeom prst="rect">
            <a:avLst/>
          </a:prstGeom>
          <a:noFill/>
          <a:ln/>
        </p:spPr>
        <p:txBody>
          <a:bodyPr wrap="square" lIns="0" tIns="0" rIns="0" bIns="0" rtlCol="0" anchor="t"/>
          <a:lstStyle/>
          <a:p>
            <a:pPr indent="0" marL="0">
              <a:buNone/>
            </a:pPr>
            <a:r>
              <a:rPr lang="en-US" sz="1200" dirty="0">
                <a:solidFill>
                  <a:schemeClr val="bg2"/>
                </a:solidFill>
              </a:rPr>
              <a:t>Bedingt bereit: 95–98 % · nicht bereit: &lt; 95 %</a:t>
            </a:r>
            <a:endParaRPr lang="en-US" sz="1200" dirty="0"/>
          </a:p>
        </p:txBody>
      </p:sp>
      <p:sp>
        <p:nvSpPr>
          <p:cNvPr id="15" name="Harte Bedingungen"/>
          <p:cNvSpPr/>
          <p:nvPr/>
        </p:nvSpPr>
        <p:spPr>
          <a:xfrm>
            <a:off x="4297680" y="1325880"/>
            <a:ext cx="3657600" cy="4526280"/>
          </a:xfrm>
          <a:prstGeom prst="roundRect">
            <a:avLst>
              <a:gd name="adj" fmla="val 2000"/>
            </a:avLst>
          </a:prstGeom>
          <a:solidFill>
            <a:schemeClr val="bg2"/>
          </a:solidFill>
          <a:ln/>
        </p:spPr>
      </p:sp>
      <p:sp>
        <p:nvSpPr>
          <p:cNvPr id="16" name="Text 12"/>
          <p:cNvSpPr txBox="1"/>
          <p:nvPr/>
        </p:nvSpPr>
        <p:spPr>
          <a:xfrm>
            <a:off x="4572000" y="1481328"/>
            <a:ext cx="3200400" cy="411480"/>
          </a:xfrm>
          <a:prstGeom prst="rect">
            <a:avLst/>
          </a:prstGeom>
          <a:noFill/>
          <a:ln/>
        </p:spPr>
        <p:txBody>
          <a:bodyPr wrap="square" lIns="0" tIns="0" rIns="0" bIns="0" rtlCol="0" anchor="t"/>
          <a:lstStyle/>
          <a:p>
            <a:pPr indent="0" marL="0">
              <a:buNone/>
            </a:pPr>
            <a:r>
              <a:rPr lang="en-US" sz="1600" b="1" dirty="0">
                <a:solidFill>
                  <a:schemeClr val="tx2"/>
                </a:solidFill>
                <a:latin typeface="Cambria" pitchFamily="34" charset="0"/>
                <a:ea typeface="Cambria" pitchFamily="34" charset="-122"/>
                <a:cs typeface="Cambria" pitchFamily="34" charset="-120"/>
              </a:rPr>
              <a:t>Harte Bedingungen</a:t>
            </a:r>
            <a:endParaRPr lang="en-US" sz="1600" dirty="0"/>
          </a:p>
        </p:txBody>
      </p:sp>
      <p:sp>
        <p:nvSpPr>
          <p:cNvPr id="17" name="Text 13"/>
          <p:cNvSpPr txBox="1"/>
          <p:nvPr/>
        </p:nvSpPr>
        <p:spPr>
          <a:xfrm>
            <a:off x="4572000" y="2011680"/>
            <a:ext cx="3200400" cy="35661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0 übersehene rote Verordnungen</a:t>
            </a:r>
            <a:endParaRPr lang="en-US" sz="1400" dirty="0"/>
          </a:p>
          <a:p>
            <a:pPr marL="177800" indent="-177800">
              <a:spcAft>
                <a:spcPts val="500"/>
              </a:spcAft>
              <a:buSzPct val="100000"/>
              <a:buChar char="•"/>
            </a:pPr>
            <a:r>
              <a:rPr lang="en-US" sz="1400" dirty="0">
                <a:solidFill>
                  <a:schemeClr val="tx1"/>
                </a:solidFill>
              </a:rPr>
              <a:t>≤ 1 kritischer Fehlalarm</a:t>
            </a:r>
            <a:endParaRPr lang="en-US" sz="1400" dirty="0"/>
          </a:p>
          <a:p>
            <a:pPr marL="177800" indent="-177800">
              <a:spcAft>
                <a:spcPts val="500"/>
              </a:spcAft>
              <a:buSzPct val="100000"/>
              <a:buChar char="•"/>
            </a:pPr>
            <a:r>
              <a:rPr lang="en-US" sz="1400" dirty="0">
                <a:solidFill>
                  <a:schemeClr val="tx1"/>
                </a:solidFill>
              </a:rPr>
              <a:t>Verordnungsfall-Summe 100 % exakt</a:t>
            </a:r>
            <a:endParaRPr lang="en-US" sz="1400" dirty="0"/>
          </a:p>
          <a:p>
            <a:pPr marL="177800" indent="-177800">
              <a:spcAft>
                <a:spcPts val="500"/>
              </a:spcAft>
              <a:buSzPct val="100000"/>
              <a:buChar char="•"/>
            </a:pPr>
            <a:r>
              <a:rPr lang="en-US" sz="1400" dirty="0">
                <a:solidFill>
                  <a:schemeClr val="tx1"/>
                </a:solidFill>
              </a:rPr>
              <a:t>Fundstelle bei 100 % der Befunde</a:t>
            </a:r>
            <a:endParaRPr lang="en-US" sz="1400" dirty="0"/>
          </a:p>
          <a:p>
            <a:pPr marL="177800" indent="-177800">
              <a:spcAft>
                <a:spcPts val="500"/>
              </a:spcAft>
              <a:buSzPct val="100000"/>
              <a:buChar char="•"/>
            </a:pPr>
            <a:r>
              <a:rPr lang="en-US" sz="1400" dirty="0">
                <a:solidFill>
                  <a:schemeClr val="tx1"/>
                </a:solidFill>
              </a:rPr>
              <a:t>Stabilität ≥ 95 % über 3 Läufe</a:t>
            </a:r>
            <a:endParaRPr lang="en-US" sz="1400" dirty="0"/>
          </a:p>
          <a:p>
            <a:pPr marL="177800" indent="-177800">
              <a:spcAft>
                <a:spcPts val="500"/>
              </a:spcAft>
              <a:buSzPct val="100000"/>
              <a:buChar char="•"/>
            </a:pPr>
            <a:r>
              <a:rPr lang="en-US" sz="1400" dirty="0">
                <a:solidFill>
                  <a:schemeClr val="tx1"/>
                </a:solidFill>
              </a:rPr>
              <a:t>≤ 30 s und ≤ 5 Cent je Prüfung</a:t>
            </a:r>
            <a:endParaRPr lang="en-US" sz="1400" dirty="0"/>
          </a:p>
        </p:txBody>
      </p:sp>
      <p:sp>
        <p:nvSpPr>
          <p:cNvPr id="18" name="Bisher"/>
          <p:cNvSpPr/>
          <p:nvPr/>
        </p:nvSpPr>
        <p:spPr>
          <a:xfrm>
            <a:off x="8138160" y="1325880"/>
            <a:ext cx="3593592" cy="2103120"/>
          </a:xfrm>
          <a:prstGeom prst="roundRect">
            <a:avLst>
              <a:gd name="adj" fmla="val 3478"/>
            </a:avLst>
          </a:prstGeom>
          <a:solidFill>
            <a:schemeClr val="bg2"/>
          </a:solidFill>
          <a:ln/>
        </p:spPr>
      </p:sp>
      <p:sp>
        <p:nvSpPr>
          <p:cNvPr id="19" name="Text 15"/>
          <p:cNvSpPr txBox="1"/>
          <p:nvPr/>
        </p:nvSpPr>
        <p:spPr>
          <a:xfrm>
            <a:off x="8412480" y="1463040"/>
            <a:ext cx="3108960" cy="365760"/>
          </a:xfrm>
          <a:prstGeom prst="rect">
            <a:avLst/>
          </a:prstGeom>
          <a:noFill/>
          <a:ln/>
        </p:spPr>
        <p:txBody>
          <a:bodyPr wrap="square" lIns="0" tIns="0" rIns="0" bIns="0" rtlCol="0" anchor="t"/>
          <a:lstStyle/>
          <a:p>
            <a:pPr indent="0" marL="0">
              <a:buNone/>
            </a:pPr>
            <a:r>
              <a:rPr lang="en-US" sz="1500" b="1" dirty="0">
                <a:solidFill>
                  <a:schemeClr val="tx2"/>
                </a:solidFill>
              </a:rPr>
              <a:t>Bisher (v4, 10 Fälle)</a:t>
            </a:r>
            <a:endParaRPr lang="en-US" sz="1500" dirty="0"/>
          </a:p>
        </p:txBody>
      </p:sp>
      <p:sp>
        <p:nvSpPr>
          <p:cNvPr id="20" name="Text 16"/>
          <p:cNvSpPr txBox="1"/>
          <p:nvPr/>
        </p:nvSpPr>
        <p:spPr>
          <a:xfrm>
            <a:off x="8412480" y="1828800"/>
            <a:ext cx="3108960" cy="68580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10 / 10</a:t>
            </a:r>
            <a:endParaRPr lang="en-US" sz="3600" dirty="0"/>
          </a:p>
        </p:txBody>
      </p:sp>
      <p:sp>
        <p:nvSpPr>
          <p:cNvPr id="21" name="Text 17"/>
          <p:cNvSpPr txBox="1"/>
          <p:nvPr/>
        </p:nvSpPr>
        <p:spPr>
          <a:xfrm>
            <a:off x="8412480" y="2542032"/>
            <a:ext cx="3108960" cy="777240"/>
          </a:xfrm>
          <a:prstGeom prst="rect">
            <a:avLst/>
          </a:prstGeom>
          <a:noFill/>
          <a:ln/>
        </p:spPr>
        <p:txBody>
          <a:bodyPr wrap="square" lIns="0" tIns="0" rIns="0" bIns="0" rtlCol="0" anchor="t"/>
          <a:lstStyle/>
          <a:p>
            <a:pPr indent="0" marL="0">
              <a:buNone/>
            </a:pPr>
            <a:r>
              <a:rPr lang="en-US" sz="1200" dirty="0">
                <a:solidFill>
                  <a:schemeClr val="tx1"/>
                </a:solidFill>
              </a:rPr>
              <a:t>Ampeln korrekt, 0 kritische Fehlalarme (Start: 12) · zählt nicht als formale Evaluation</a:t>
            </a:r>
            <a:endParaRPr lang="en-US" sz="1200" dirty="0"/>
          </a:p>
        </p:txBody>
      </p:sp>
      <p:sp>
        <p:nvSpPr>
          <p:cNvPr id="22" name="Testset"/>
          <p:cNvSpPr/>
          <p:nvPr/>
        </p:nvSpPr>
        <p:spPr>
          <a:xfrm>
            <a:off x="8138160" y="3566160"/>
            <a:ext cx="3593592" cy="2286000"/>
          </a:xfrm>
          <a:prstGeom prst="roundRect">
            <a:avLst>
              <a:gd name="adj" fmla="val 3200"/>
            </a:avLst>
          </a:prstGeom>
          <a:solidFill>
            <a:schemeClr val="bg2"/>
          </a:solidFill>
          <a:ln/>
        </p:spPr>
      </p:sp>
      <p:sp>
        <p:nvSpPr>
          <p:cNvPr id="23" name="Text 19"/>
          <p:cNvSpPr txBox="1"/>
          <p:nvPr/>
        </p:nvSpPr>
        <p:spPr>
          <a:xfrm>
            <a:off x="8412480" y="3685032"/>
            <a:ext cx="3108960" cy="365760"/>
          </a:xfrm>
          <a:prstGeom prst="rect">
            <a:avLst/>
          </a:prstGeom>
          <a:noFill/>
          <a:ln/>
        </p:spPr>
        <p:txBody>
          <a:bodyPr wrap="square" lIns="0" tIns="0" rIns="0" bIns="0" rtlCol="0" anchor="t"/>
          <a:lstStyle/>
          <a:p>
            <a:pPr indent="0" marL="0">
              <a:buNone/>
            </a:pPr>
            <a:r>
              <a:rPr lang="en-US" sz="1500" b="1" dirty="0">
                <a:solidFill>
                  <a:schemeClr val="tx2"/>
                </a:solidFill>
              </a:rPr>
              <a:t>Testset Sprint 3 (26.–30.10.)</a:t>
            </a:r>
            <a:endParaRPr lang="en-US" sz="1500" dirty="0"/>
          </a:p>
        </p:txBody>
      </p:sp>
      <p:sp>
        <p:nvSpPr>
          <p:cNvPr id="24" name="Ampel"/>
          <p:cNvSpPr/>
          <p:nvPr/>
        </p:nvSpPr>
        <p:spPr>
          <a:xfrm>
            <a:off x="8412480" y="4233672"/>
            <a:ext cx="274320" cy="274320"/>
          </a:xfrm>
          <a:prstGeom prst="ellipse">
            <a:avLst/>
          </a:prstGeom>
          <a:solidFill>
            <a:srgbClr val="2A9D8F"/>
          </a:solidFill>
          <a:ln/>
        </p:spPr>
      </p:sp>
      <p:sp>
        <p:nvSpPr>
          <p:cNvPr id="25" name="Text 21"/>
          <p:cNvSpPr txBox="1"/>
          <p:nvPr/>
        </p:nvSpPr>
        <p:spPr>
          <a:xfrm>
            <a:off x="8778240" y="4160520"/>
            <a:ext cx="1097280" cy="411480"/>
          </a:xfrm>
          <a:prstGeom prst="rect">
            <a:avLst/>
          </a:prstGeom>
          <a:noFill/>
          <a:ln/>
        </p:spPr>
        <p:txBody>
          <a:bodyPr wrap="square" lIns="0" tIns="0" rIns="0" bIns="0" rtlCol="0" anchor="ctr"/>
          <a:lstStyle/>
          <a:p>
            <a:pPr indent="0" marL="0">
              <a:buNone/>
            </a:pPr>
            <a:r>
              <a:rPr lang="en-US" sz="2000" b="1" dirty="0">
                <a:solidFill>
                  <a:schemeClr val="tx2"/>
                </a:solidFill>
              </a:rPr>
              <a:t>≥ 12</a:t>
            </a:r>
            <a:endParaRPr lang="en-US" sz="2000" dirty="0"/>
          </a:p>
        </p:txBody>
      </p:sp>
      <p:sp>
        <p:nvSpPr>
          <p:cNvPr id="26" name="Text 22"/>
          <p:cNvSpPr txBox="1"/>
          <p:nvPr/>
        </p:nvSpPr>
        <p:spPr>
          <a:xfrm>
            <a:off x="8778240" y="4544568"/>
            <a:ext cx="1188720" cy="274320"/>
          </a:xfrm>
          <a:prstGeom prst="rect">
            <a:avLst/>
          </a:prstGeom>
          <a:noFill/>
          <a:ln/>
        </p:spPr>
        <p:txBody>
          <a:bodyPr wrap="square" lIns="0" tIns="0" rIns="0" bIns="0" rtlCol="0" anchor="t"/>
          <a:lstStyle/>
          <a:p>
            <a:pPr indent="0" marL="0">
              <a:buNone/>
            </a:pPr>
            <a:r>
              <a:rPr lang="en-US" sz="1100" dirty="0">
                <a:solidFill>
                  <a:schemeClr val="accent5"/>
                </a:solidFill>
              </a:rPr>
              <a:t>grün</a:t>
            </a:r>
            <a:endParaRPr lang="en-US" sz="1100" dirty="0"/>
          </a:p>
        </p:txBody>
      </p:sp>
      <p:sp>
        <p:nvSpPr>
          <p:cNvPr id="27" name="Ampel"/>
          <p:cNvSpPr/>
          <p:nvPr/>
        </p:nvSpPr>
        <p:spPr>
          <a:xfrm>
            <a:off x="10012680" y="4233672"/>
            <a:ext cx="274320" cy="274320"/>
          </a:xfrm>
          <a:prstGeom prst="ellipse">
            <a:avLst/>
          </a:prstGeom>
          <a:solidFill>
            <a:srgbClr val="E9C46A"/>
          </a:solidFill>
          <a:ln/>
        </p:spPr>
      </p:sp>
      <p:sp>
        <p:nvSpPr>
          <p:cNvPr id="28" name="Text 24"/>
          <p:cNvSpPr txBox="1"/>
          <p:nvPr/>
        </p:nvSpPr>
        <p:spPr>
          <a:xfrm>
            <a:off x="10378440" y="4160520"/>
            <a:ext cx="1097280" cy="411480"/>
          </a:xfrm>
          <a:prstGeom prst="rect">
            <a:avLst/>
          </a:prstGeom>
          <a:noFill/>
          <a:ln/>
        </p:spPr>
        <p:txBody>
          <a:bodyPr wrap="square" lIns="0" tIns="0" rIns="0" bIns="0" rtlCol="0" anchor="ctr"/>
          <a:lstStyle/>
          <a:p>
            <a:pPr indent="0" marL="0">
              <a:buNone/>
            </a:pPr>
            <a:r>
              <a:rPr lang="en-US" sz="2000" b="1" dirty="0">
                <a:solidFill>
                  <a:schemeClr val="tx2"/>
                </a:solidFill>
              </a:rPr>
              <a:t>≥ 8</a:t>
            </a:r>
            <a:endParaRPr lang="en-US" sz="2000" dirty="0"/>
          </a:p>
        </p:txBody>
      </p:sp>
      <p:sp>
        <p:nvSpPr>
          <p:cNvPr id="29" name="Text 25"/>
          <p:cNvSpPr txBox="1"/>
          <p:nvPr/>
        </p:nvSpPr>
        <p:spPr>
          <a:xfrm>
            <a:off x="10378440" y="4544568"/>
            <a:ext cx="1188720" cy="274320"/>
          </a:xfrm>
          <a:prstGeom prst="rect">
            <a:avLst/>
          </a:prstGeom>
          <a:noFill/>
          <a:ln/>
        </p:spPr>
        <p:txBody>
          <a:bodyPr wrap="square" lIns="0" tIns="0" rIns="0" bIns="0" rtlCol="0" anchor="t"/>
          <a:lstStyle/>
          <a:p>
            <a:pPr indent="0" marL="0">
              <a:buNone/>
            </a:pPr>
            <a:r>
              <a:rPr lang="en-US" sz="1100" dirty="0">
                <a:solidFill>
                  <a:schemeClr val="accent5"/>
                </a:solidFill>
              </a:rPr>
              <a:t>gelb</a:t>
            </a:r>
            <a:endParaRPr lang="en-US" sz="1100" dirty="0"/>
          </a:p>
        </p:txBody>
      </p:sp>
      <p:sp>
        <p:nvSpPr>
          <p:cNvPr id="30" name="Ampel"/>
          <p:cNvSpPr/>
          <p:nvPr/>
        </p:nvSpPr>
        <p:spPr>
          <a:xfrm>
            <a:off x="8412480" y="5010912"/>
            <a:ext cx="274320" cy="274320"/>
          </a:xfrm>
          <a:prstGeom prst="ellipse">
            <a:avLst/>
          </a:prstGeom>
          <a:solidFill>
            <a:srgbClr val="E76F51"/>
          </a:solidFill>
          <a:ln/>
        </p:spPr>
      </p:sp>
      <p:sp>
        <p:nvSpPr>
          <p:cNvPr id="31" name="Text 27"/>
          <p:cNvSpPr txBox="1"/>
          <p:nvPr/>
        </p:nvSpPr>
        <p:spPr>
          <a:xfrm>
            <a:off x="8778240" y="4937760"/>
            <a:ext cx="1097280" cy="411480"/>
          </a:xfrm>
          <a:prstGeom prst="rect">
            <a:avLst/>
          </a:prstGeom>
          <a:noFill/>
          <a:ln/>
        </p:spPr>
        <p:txBody>
          <a:bodyPr wrap="square" lIns="0" tIns="0" rIns="0" bIns="0" rtlCol="0" anchor="ctr"/>
          <a:lstStyle/>
          <a:p>
            <a:pPr indent="0" marL="0">
              <a:buNone/>
            </a:pPr>
            <a:r>
              <a:rPr lang="en-US" sz="2000" b="1" dirty="0">
                <a:solidFill>
                  <a:schemeClr val="tx2"/>
                </a:solidFill>
              </a:rPr>
              <a:t>≥ 25</a:t>
            </a:r>
            <a:endParaRPr lang="en-US" sz="2000" dirty="0"/>
          </a:p>
        </p:txBody>
      </p:sp>
      <p:sp>
        <p:nvSpPr>
          <p:cNvPr id="32" name="Text 28"/>
          <p:cNvSpPr txBox="1"/>
          <p:nvPr/>
        </p:nvSpPr>
        <p:spPr>
          <a:xfrm>
            <a:off x="8778240" y="5321808"/>
            <a:ext cx="1188720" cy="274320"/>
          </a:xfrm>
          <a:prstGeom prst="rect">
            <a:avLst/>
          </a:prstGeom>
          <a:noFill/>
          <a:ln/>
        </p:spPr>
        <p:txBody>
          <a:bodyPr wrap="square" lIns="0" tIns="0" rIns="0" bIns="0" rtlCol="0" anchor="t"/>
          <a:lstStyle/>
          <a:p>
            <a:pPr indent="0" marL="0">
              <a:buNone/>
            </a:pPr>
            <a:r>
              <a:rPr lang="en-US" sz="1100" dirty="0">
                <a:solidFill>
                  <a:schemeClr val="accent5"/>
                </a:solidFill>
              </a:rPr>
              <a:t>rot</a:t>
            </a:r>
            <a:endParaRPr lang="en-US" sz="1100" dirty="0"/>
          </a:p>
        </p:txBody>
      </p:sp>
      <p:sp>
        <p:nvSpPr>
          <p:cNvPr id="33" name="Ampel"/>
          <p:cNvSpPr/>
          <p:nvPr/>
        </p:nvSpPr>
        <p:spPr>
          <a:xfrm>
            <a:off x="10012680" y="5010912"/>
            <a:ext cx="274320" cy="274320"/>
          </a:xfrm>
          <a:prstGeom prst="ellipse">
            <a:avLst/>
          </a:prstGeom>
          <a:solidFill>
            <a:srgbClr val="5C6B73"/>
          </a:solidFill>
          <a:ln/>
        </p:spPr>
      </p:sp>
      <p:sp>
        <p:nvSpPr>
          <p:cNvPr id="34" name="Text 30"/>
          <p:cNvSpPr txBox="1"/>
          <p:nvPr/>
        </p:nvSpPr>
        <p:spPr>
          <a:xfrm>
            <a:off x="10378440" y="4937760"/>
            <a:ext cx="1097280" cy="411480"/>
          </a:xfrm>
          <a:prstGeom prst="rect">
            <a:avLst/>
          </a:prstGeom>
          <a:noFill/>
          <a:ln/>
        </p:spPr>
        <p:txBody>
          <a:bodyPr wrap="square" lIns="0" tIns="0" rIns="0" bIns="0" rtlCol="0" anchor="ctr"/>
          <a:lstStyle/>
          <a:p>
            <a:pPr indent="0" marL="0">
              <a:buNone/>
            </a:pPr>
            <a:r>
              <a:rPr lang="en-US" sz="2000" b="1" dirty="0">
                <a:solidFill>
                  <a:schemeClr val="tx2"/>
                </a:solidFill>
              </a:rPr>
              <a:t>≥ 5</a:t>
            </a:r>
            <a:endParaRPr lang="en-US" sz="2000" dirty="0"/>
          </a:p>
        </p:txBody>
      </p:sp>
      <p:sp>
        <p:nvSpPr>
          <p:cNvPr id="35" name="Text 31"/>
          <p:cNvSpPr txBox="1"/>
          <p:nvPr/>
        </p:nvSpPr>
        <p:spPr>
          <a:xfrm>
            <a:off x="10378440" y="5321808"/>
            <a:ext cx="1188720" cy="274320"/>
          </a:xfrm>
          <a:prstGeom prst="rect">
            <a:avLst/>
          </a:prstGeom>
          <a:noFill/>
          <a:ln/>
        </p:spPr>
        <p:txBody>
          <a:bodyPr wrap="square" lIns="0" tIns="0" rIns="0" bIns="0" rtlCol="0" anchor="t"/>
          <a:lstStyle/>
          <a:p>
            <a:pPr indent="0" marL="0">
              <a:buNone/>
            </a:pPr>
            <a:r>
              <a:rPr lang="en-US" sz="1100" dirty="0">
                <a:solidFill>
                  <a:schemeClr val="accent5"/>
                </a:solidFill>
              </a:rPr>
              <a:t>Grenzfall</a:t>
            </a:r>
            <a:endParaRPr lang="en-US" sz="1100" dirty="0"/>
          </a:p>
        </p:txBody>
      </p:sp>
      <p:sp>
        <p:nvSpPr>
          <p:cNvPr id="36" name="Text 32"/>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000" i="1" dirty="0">
                <a:solidFill>
                  <a:schemeClr val="accent5"/>
                </a:solidFill>
              </a:rPr>
              <a:t>Referenzstandard: ausschließlich die Regelwerke · Soll-Ampel und Fundstelle je Fall vorher festgelegt · Ergebnis folgt nach Sprint 3</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Einsatzplanung: vom Parallelbetrieb zum Regelbetrieb</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accent3"/>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Derk</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sp>
        <p:nvSpPr>
          <p:cNvPr id="8" name="Phase"/>
          <p:cNvSpPr/>
          <p:nvPr/>
        </p:nvSpPr>
        <p:spPr>
          <a:xfrm>
            <a:off x="548640" y="1325880"/>
            <a:ext cx="2651760" cy="3657600"/>
          </a:xfrm>
          <a:prstGeom prst="roundRect">
            <a:avLst>
              <a:gd name="adj" fmla="val 2759"/>
            </a:avLst>
          </a:prstGeom>
          <a:solidFill>
            <a:schemeClr val="bg2"/>
          </a:solidFill>
          <a:ln/>
        </p:spPr>
      </p:sp>
      <p:sp>
        <p:nvSpPr>
          <p:cNvPr id="9" name="Text 6"/>
          <p:cNvSpPr txBox="1"/>
          <p:nvPr/>
        </p:nvSpPr>
        <p:spPr>
          <a:xfrm>
            <a:off x="777240" y="1463040"/>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0 · Vorbereitung</a:t>
            </a:r>
            <a:endParaRPr lang="en-US" sz="1700" dirty="0"/>
          </a:p>
        </p:txBody>
      </p:sp>
      <p:sp>
        <p:nvSpPr>
          <p:cNvPr id="10" name="Dauer"/>
          <p:cNvSpPr/>
          <p:nvPr/>
        </p:nvSpPr>
        <p:spPr>
          <a:xfrm>
            <a:off x="777240" y="1938528"/>
            <a:ext cx="1234440" cy="310896"/>
          </a:xfrm>
          <a:prstGeom prst="roundRect">
            <a:avLst>
              <a:gd name="adj" fmla="val 50000"/>
            </a:avLst>
          </a:prstGeom>
          <a:solidFill>
            <a:schemeClr val="accent3"/>
          </a:solidFill>
          <a:ln/>
        </p:spPr>
      </p:sp>
      <p:sp>
        <p:nvSpPr>
          <p:cNvPr id="11" name="Text 8"/>
          <p:cNvSpPr txBox="1"/>
          <p:nvPr/>
        </p:nvSpPr>
        <p:spPr>
          <a:xfrm>
            <a:off x="777240"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2 Wochen</a:t>
            </a:r>
            <a:endParaRPr lang="en-US" sz="1200" dirty="0"/>
          </a:p>
        </p:txBody>
      </p:sp>
      <p:sp>
        <p:nvSpPr>
          <p:cNvPr id="12" name="Text 9"/>
          <p:cNvSpPr txBox="1"/>
          <p:nvPr/>
        </p:nvSpPr>
        <p:spPr>
          <a:xfrm>
            <a:off x="777240"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Chat mit Anmeldung</a:t>
            </a:r>
            <a:endParaRPr lang="en-US" sz="1400" dirty="0"/>
          </a:p>
          <a:p>
            <a:pPr marL="177800" indent="-177800">
              <a:spcAft>
                <a:spcPts val="500"/>
              </a:spcAft>
              <a:buSzPct val="100000"/>
              <a:buChar char="•"/>
            </a:pPr>
            <a:r>
              <a:rPr lang="en-US" sz="1400" dirty="0">
                <a:solidFill>
                  <a:schemeClr val="tx1"/>
                </a:solidFill>
              </a:rPr>
              <a:t>Auftragsverarbeitung geklärt</a:t>
            </a:r>
            <a:endParaRPr lang="en-US" sz="1400" dirty="0"/>
          </a:p>
          <a:p>
            <a:pPr marL="177800" indent="-177800">
              <a:spcAft>
                <a:spcPts val="500"/>
              </a:spcAft>
              <a:buSzPct val="100000"/>
              <a:buChar char="•"/>
            </a:pPr>
            <a:r>
              <a:rPr lang="en-US" sz="1400" dirty="0">
                <a:solidFill>
                  <a:schemeClr val="tx1"/>
                </a:solidFill>
              </a:rPr>
              <a:t>Einweisung Inhaberin und Rezeption</a:t>
            </a:r>
            <a:endParaRPr lang="en-US" sz="1400" dirty="0"/>
          </a:p>
        </p:txBody>
      </p:sp>
      <p:sp>
        <p:nvSpPr>
          <p:cNvPr id="13" name="Text 10"/>
          <p:cNvSpPr txBox="1"/>
          <p:nvPr/>
        </p:nvSpPr>
        <p:spPr>
          <a:xfrm>
            <a:off x="777240" y="4069080"/>
            <a:ext cx="2194560" cy="274320"/>
          </a:xfrm>
          <a:prstGeom prst="rect">
            <a:avLst/>
          </a:prstGeom>
          <a:noFill/>
          <a:ln/>
        </p:spPr>
        <p:txBody>
          <a:bodyPr wrap="square" lIns="0" tIns="0" rIns="0" bIns="0" rtlCol="0" anchor="t"/>
          <a:lstStyle/>
          <a:p>
            <a:pPr indent="0" marL="0">
              <a:buNone/>
            </a:pPr>
            <a:r>
              <a:rPr lang="en-US" sz="1100" dirty="0">
                <a:solidFill>
                  <a:schemeClr val="accent5"/>
                </a:solidFill>
              </a:rPr>
              <a:t>Weiter, wenn:</a:t>
            </a:r>
            <a:endParaRPr lang="en-US" sz="1100" dirty="0"/>
          </a:p>
        </p:txBody>
      </p:sp>
      <p:sp>
        <p:nvSpPr>
          <p:cNvPr id="14" name="Text 11"/>
          <p:cNvSpPr txBox="1"/>
          <p:nvPr/>
        </p:nvSpPr>
        <p:spPr>
          <a:xfrm>
            <a:off x="777240" y="4315968"/>
            <a:ext cx="2194560" cy="594360"/>
          </a:xfrm>
          <a:prstGeom prst="rect">
            <a:avLst/>
          </a:prstGeom>
          <a:noFill/>
          <a:ln/>
        </p:spPr>
        <p:txBody>
          <a:bodyPr wrap="square" lIns="0" tIns="0" rIns="0" bIns="0" rtlCol="0" anchor="t"/>
          <a:lstStyle/>
          <a:p>
            <a:pPr indent="0" marL="0">
              <a:buNone/>
            </a:pPr>
            <a:r>
              <a:rPr lang="en-US" sz="1300" b="1" dirty="0">
                <a:solidFill>
                  <a:schemeClr val="accent1"/>
                </a:solidFill>
              </a:rPr>
              <a:t>Datenschutz freigegeben</a:t>
            </a:r>
            <a:endParaRPr lang="en-US" sz="1300" dirty="0"/>
          </a:p>
        </p:txBody>
      </p:sp>
      <p:sp>
        <p:nvSpPr>
          <p:cNvPr id="15" name="Phase"/>
          <p:cNvSpPr/>
          <p:nvPr/>
        </p:nvSpPr>
        <p:spPr>
          <a:xfrm>
            <a:off x="3355848" y="1325880"/>
            <a:ext cx="2651760" cy="3657600"/>
          </a:xfrm>
          <a:prstGeom prst="roundRect">
            <a:avLst>
              <a:gd name="adj" fmla="val 2759"/>
            </a:avLst>
          </a:prstGeom>
          <a:solidFill>
            <a:schemeClr val="tx2"/>
          </a:solidFill>
          <a:ln/>
        </p:spPr>
      </p:sp>
      <p:sp>
        <p:nvSpPr>
          <p:cNvPr id="16" name="Text 13"/>
          <p:cNvSpPr txBox="1"/>
          <p:nvPr/>
        </p:nvSpPr>
        <p:spPr>
          <a:xfrm>
            <a:off x="3584448" y="1463040"/>
            <a:ext cx="2194560" cy="411480"/>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1 · Parallelbetrieb</a:t>
            </a:r>
            <a:endParaRPr lang="en-US" sz="1700" dirty="0"/>
          </a:p>
        </p:txBody>
      </p:sp>
      <p:sp>
        <p:nvSpPr>
          <p:cNvPr id="17" name="Dauer"/>
          <p:cNvSpPr/>
          <p:nvPr/>
        </p:nvSpPr>
        <p:spPr>
          <a:xfrm>
            <a:off x="3584448" y="1938528"/>
            <a:ext cx="1234440" cy="310896"/>
          </a:xfrm>
          <a:prstGeom prst="roundRect">
            <a:avLst>
              <a:gd name="adj" fmla="val 50000"/>
            </a:avLst>
          </a:prstGeom>
          <a:solidFill>
            <a:schemeClr val="accent3"/>
          </a:solidFill>
          <a:ln/>
        </p:spPr>
      </p:sp>
      <p:sp>
        <p:nvSpPr>
          <p:cNvPr id="18" name="Text 15"/>
          <p:cNvSpPr txBox="1"/>
          <p:nvPr/>
        </p:nvSpPr>
        <p:spPr>
          <a:xfrm>
            <a:off x="3584448"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6 Wochen</a:t>
            </a:r>
            <a:endParaRPr lang="en-US" sz="1200" dirty="0"/>
          </a:p>
        </p:txBody>
      </p:sp>
      <p:sp>
        <p:nvSpPr>
          <p:cNvPr id="19" name="Text 16"/>
          <p:cNvSpPr txBox="1"/>
          <p:nvPr/>
        </p:nvSpPr>
        <p:spPr>
          <a:xfrm>
            <a:off x="3584448"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Rezeption prüft wie bisher</a:t>
            </a:r>
            <a:endParaRPr lang="en-US" sz="1400" dirty="0"/>
          </a:p>
          <a:p>
            <a:pPr marL="177800" indent="-177800">
              <a:spcAft>
                <a:spcPts val="500"/>
              </a:spcAft>
              <a:buSzPct val="100000"/>
              <a:buChar char="•"/>
            </a:pPr>
            <a:r>
              <a:rPr lang="en-US" sz="1400" dirty="0">
                <a:solidFill>
                  <a:schemeClr val="bg1"/>
                </a:solidFill>
              </a:rPr>
              <a:t>System läuft mit</a:t>
            </a:r>
            <a:endParaRPr lang="en-US" sz="1400" dirty="0"/>
          </a:p>
          <a:p>
            <a:pPr marL="177800" indent="-177800">
              <a:spcAft>
                <a:spcPts val="500"/>
              </a:spcAft>
              <a:buSzPct val="100000"/>
              <a:buChar char="•"/>
            </a:pPr>
            <a:r>
              <a:rPr lang="en-US" sz="1400" dirty="0">
                <a:solidFill>
                  <a:schemeClr val="bg1"/>
                </a:solidFill>
              </a:rPr>
              <a:t>Abweichungen werden protokolliert</a:t>
            </a:r>
            <a:endParaRPr lang="en-US" sz="1400" dirty="0"/>
          </a:p>
        </p:txBody>
      </p:sp>
      <p:sp>
        <p:nvSpPr>
          <p:cNvPr id="20" name="Text 17"/>
          <p:cNvSpPr txBox="1"/>
          <p:nvPr/>
        </p:nvSpPr>
        <p:spPr>
          <a:xfrm>
            <a:off x="3584448" y="4069080"/>
            <a:ext cx="2194560" cy="274320"/>
          </a:xfrm>
          <a:prstGeom prst="rect">
            <a:avLst/>
          </a:prstGeom>
          <a:noFill/>
          <a:ln/>
        </p:spPr>
        <p:txBody>
          <a:bodyPr wrap="square" lIns="0" tIns="0" rIns="0" bIns="0" rtlCol="0" anchor="t"/>
          <a:lstStyle/>
          <a:p>
            <a:pPr indent="0" marL="0">
              <a:buNone/>
            </a:pPr>
            <a:r>
              <a:rPr lang="en-US" sz="1100" dirty="0">
                <a:solidFill>
                  <a:schemeClr val="bg2"/>
                </a:solidFill>
              </a:rPr>
              <a:t>Weiter, wenn:</a:t>
            </a:r>
            <a:endParaRPr lang="en-US" sz="1100" dirty="0"/>
          </a:p>
        </p:txBody>
      </p:sp>
      <p:sp>
        <p:nvSpPr>
          <p:cNvPr id="21" name="Text 18"/>
          <p:cNvSpPr txBox="1"/>
          <p:nvPr/>
        </p:nvSpPr>
        <p:spPr>
          <a:xfrm>
            <a:off x="3584448" y="4315968"/>
            <a:ext cx="2194560" cy="594360"/>
          </a:xfrm>
          <a:prstGeom prst="rect">
            <a:avLst/>
          </a:prstGeom>
          <a:noFill/>
          <a:ln/>
        </p:spPr>
        <p:txBody>
          <a:bodyPr wrap="square" lIns="0" tIns="0" rIns="0" bIns="0" rtlCol="0" anchor="t"/>
          <a:lstStyle/>
          <a:p>
            <a:pPr indent="0" marL="0">
              <a:buNone/>
            </a:pPr>
            <a:r>
              <a:rPr lang="en-US" sz="1300" b="1" dirty="0">
                <a:solidFill>
                  <a:schemeClr val="accent2"/>
                </a:solidFill>
              </a:rPr>
              <a:t>≥ 98 % Übereinstimmung, 0 übersehene rote</a:t>
            </a:r>
            <a:endParaRPr lang="en-US" sz="1300" dirty="0"/>
          </a:p>
        </p:txBody>
      </p:sp>
      <p:sp>
        <p:nvSpPr>
          <p:cNvPr id="22" name="Phase"/>
          <p:cNvSpPr/>
          <p:nvPr/>
        </p:nvSpPr>
        <p:spPr>
          <a:xfrm>
            <a:off x="6163056" y="1325880"/>
            <a:ext cx="2651760" cy="3657600"/>
          </a:xfrm>
          <a:prstGeom prst="roundRect">
            <a:avLst>
              <a:gd name="adj" fmla="val 2759"/>
            </a:avLst>
          </a:prstGeom>
          <a:solidFill>
            <a:schemeClr val="bg2"/>
          </a:solidFill>
          <a:ln/>
        </p:spPr>
      </p:sp>
      <p:sp>
        <p:nvSpPr>
          <p:cNvPr id="23" name="Text 20"/>
          <p:cNvSpPr txBox="1"/>
          <p:nvPr/>
        </p:nvSpPr>
        <p:spPr>
          <a:xfrm>
            <a:off x="6391656" y="1463040"/>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2 · Unterstützt</a:t>
            </a:r>
            <a:endParaRPr lang="en-US" sz="1700" dirty="0"/>
          </a:p>
        </p:txBody>
      </p:sp>
      <p:sp>
        <p:nvSpPr>
          <p:cNvPr id="24" name="Dauer"/>
          <p:cNvSpPr/>
          <p:nvPr/>
        </p:nvSpPr>
        <p:spPr>
          <a:xfrm>
            <a:off x="6391656" y="1938528"/>
            <a:ext cx="1234440" cy="310896"/>
          </a:xfrm>
          <a:prstGeom prst="roundRect">
            <a:avLst>
              <a:gd name="adj" fmla="val 50000"/>
            </a:avLst>
          </a:prstGeom>
          <a:solidFill>
            <a:schemeClr val="accent3"/>
          </a:solidFill>
          <a:ln/>
        </p:spPr>
      </p:sp>
      <p:sp>
        <p:nvSpPr>
          <p:cNvPr id="25" name="Text 22"/>
          <p:cNvSpPr txBox="1"/>
          <p:nvPr/>
        </p:nvSpPr>
        <p:spPr>
          <a:xfrm>
            <a:off x="6391656"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bis Ende Q2</a:t>
            </a:r>
            <a:endParaRPr lang="en-US" sz="1200" dirty="0"/>
          </a:p>
        </p:txBody>
      </p:sp>
      <p:sp>
        <p:nvSpPr>
          <p:cNvPr id="26" name="Text 23"/>
          <p:cNvSpPr txBox="1"/>
          <p:nvPr/>
        </p:nvSpPr>
        <p:spPr>
          <a:xfrm>
            <a:off x="6391656"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System prüft zuerst</a:t>
            </a:r>
            <a:endParaRPr lang="en-US" sz="1400" dirty="0"/>
          </a:p>
          <a:p>
            <a:pPr marL="177800" indent="-177800">
              <a:spcAft>
                <a:spcPts val="500"/>
              </a:spcAft>
              <a:buSzPct val="100000"/>
              <a:buChar char="•"/>
            </a:pPr>
            <a:r>
              <a:rPr lang="en-US" sz="1400" dirty="0">
                <a:solidFill>
                  <a:schemeClr val="tx1"/>
                </a:solidFill>
              </a:rPr>
              <a:t>Mensch bestätigt die Ampel</a:t>
            </a:r>
            <a:endParaRPr lang="en-US" sz="1400" dirty="0"/>
          </a:p>
          <a:p>
            <a:pPr marL="177800" indent="-177800">
              <a:spcAft>
                <a:spcPts val="500"/>
              </a:spcAft>
              <a:buSzPct val="100000"/>
              <a:buChar char="•"/>
            </a:pPr>
            <a:r>
              <a:rPr lang="en-US" sz="1400" dirty="0">
                <a:solidFill>
                  <a:schemeClr val="tx1"/>
                </a:solidFill>
              </a:rPr>
              <a:t>Schlussprüfung bleibt</a:t>
            </a:r>
            <a:endParaRPr lang="en-US" sz="1400" dirty="0"/>
          </a:p>
        </p:txBody>
      </p:sp>
      <p:sp>
        <p:nvSpPr>
          <p:cNvPr id="27" name="Text 24"/>
          <p:cNvSpPr txBox="1"/>
          <p:nvPr/>
        </p:nvSpPr>
        <p:spPr>
          <a:xfrm>
            <a:off x="6391656" y="4069080"/>
            <a:ext cx="2194560" cy="274320"/>
          </a:xfrm>
          <a:prstGeom prst="rect">
            <a:avLst/>
          </a:prstGeom>
          <a:noFill/>
          <a:ln/>
        </p:spPr>
        <p:txBody>
          <a:bodyPr wrap="square" lIns="0" tIns="0" rIns="0" bIns="0" rtlCol="0" anchor="t"/>
          <a:lstStyle/>
          <a:p>
            <a:pPr indent="0" marL="0">
              <a:buNone/>
            </a:pPr>
            <a:r>
              <a:rPr lang="en-US" sz="1100" dirty="0">
                <a:solidFill>
                  <a:schemeClr val="accent5"/>
                </a:solidFill>
              </a:rPr>
              <a:t>Weiter, wenn:</a:t>
            </a:r>
            <a:endParaRPr lang="en-US" sz="1100" dirty="0"/>
          </a:p>
        </p:txBody>
      </p:sp>
      <p:sp>
        <p:nvSpPr>
          <p:cNvPr id="28" name="Text 25"/>
          <p:cNvSpPr txBox="1"/>
          <p:nvPr/>
        </p:nvSpPr>
        <p:spPr>
          <a:xfrm>
            <a:off x="6391656" y="4315968"/>
            <a:ext cx="2194560" cy="594360"/>
          </a:xfrm>
          <a:prstGeom prst="rect">
            <a:avLst/>
          </a:prstGeom>
          <a:noFill/>
          <a:ln/>
        </p:spPr>
        <p:txBody>
          <a:bodyPr wrap="square" lIns="0" tIns="0" rIns="0" bIns="0" rtlCol="0" anchor="t"/>
          <a:lstStyle/>
          <a:p>
            <a:pPr indent="0" marL="0">
              <a:buNone/>
            </a:pPr>
            <a:r>
              <a:rPr lang="en-US" sz="1300" b="1" dirty="0">
                <a:solidFill>
                  <a:schemeClr val="accent1"/>
                </a:solidFill>
              </a:rPr>
              <a:t>Prüfzeit −50 %</a:t>
            </a:r>
            <a:endParaRPr lang="en-US" sz="1300" dirty="0"/>
          </a:p>
        </p:txBody>
      </p:sp>
      <p:sp>
        <p:nvSpPr>
          <p:cNvPr id="29" name="Phase"/>
          <p:cNvSpPr/>
          <p:nvPr/>
        </p:nvSpPr>
        <p:spPr>
          <a:xfrm>
            <a:off x="8970264" y="1325880"/>
            <a:ext cx="2651760" cy="3657600"/>
          </a:xfrm>
          <a:prstGeom prst="roundRect">
            <a:avLst>
              <a:gd name="adj" fmla="val 2759"/>
            </a:avLst>
          </a:prstGeom>
          <a:solidFill>
            <a:schemeClr val="bg2"/>
          </a:solidFill>
          <a:ln/>
        </p:spPr>
      </p:sp>
      <p:sp>
        <p:nvSpPr>
          <p:cNvPr id="30" name="Text 27"/>
          <p:cNvSpPr txBox="1"/>
          <p:nvPr/>
        </p:nvSpPr>
        <p:spPr>
          <a:xfrm>
            <a:off x="9198864" y="1463040"/>
            <a:ext cx="219456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3 · Regelbetrieb</a:t>
            </a:r>
            <a:endParaRPr lang="en-US" sz="1700" dirty="0"/>
          </a:p>
        </p:txBody>
      </p:sp>
      <p:sp>
        <p:nvSpPr>
          <p:cNvPr id="31" name="Dauer"/>
          <p:cNvSpPr/>
          <p:nvPr/>
        </p:nvSpPr>
        <p:spPr>
          <a:xfrm>
            <a:off x="9198864" y="1938528"/>
            <a:ext cx="1234440" cy="310896"/>
          </a:xfrm>
          <a:prstGeom prst="roundRect">
            <a:avLst>
              <a:gd name="adj" fmla="val 50000"/>
            </a:avLst>
          </a:prstGeom>
          <a:solidFill>
            <a:schemeClr val="accent3"/>
          </a:solidFill>
          <a:ln/>
        </p:spPr>
      </p:sp>
      <p:sp>
        <p:nvSpPr>
          <p:cNvPr id="32" name="Text 29"/>
          <p:cNvSpPr txBox="1"/>
          <p:nvPr/>
        </p:nvSpPr>
        <p:spPr>
          <a:xfrm>
            <a:off x="9198864" y="1938528"/>
            <a:ext cx="1234440" cy="310896"/>
          </a:xfrm>
          <a:prstGeom prst="rect">
            <a:avLst/>
          </a:prstGeom>
          <a:noFill/>
          <a:ln/>
        </p:spPr>
        <p:txBody>
          <a:bodyPr wrap="square" lIns="0" tIns="0" rIns="0" bIns="0" rtlCol="0" anchor="ctr"/>
          <a:lstStyle/>
          <a:p>
            <a:pPr algn="ctr" indent="0" marL="0">
              <a:buNone/>
            </a:pPr>
            <a:r>
              <a:rPr lang="en-US" sz="1200" b="1" dirty="0">
                <a:solidFill>
                  <a:schemeClr val="bg1"/>
                </a:solidFill>
              </a:rPr>
              <a:t>ab Q3</a:t>
            </a:r>
            <a:endParaRPr lang="en-US" sz="1200" dirty="0"/>
          </a:p>
        </p:txBody>
      </p:sp>
      <p:sp>
        <p:nvSpPr>
          <p:cNvPr id="33" name="Text 30"/>
          <p:cNvSpPr txBox="1"/>
          <p:nvPr/>
        </p:nvSpPr>
        <p:spPr>
          <a:xfrm>
            <a:off x="9198864" y="2423160"/>
            <a:ext cx="2240280" cy="15544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Doppelabrechnungs-Prüfung</a:t>
            </a:r>
            <a:endParaRPr lang="en-US" sz="1400" dirty="0"/>
          </a:p>
          <a:p>
            <a:pPr marL="177800" indent="-177800">
              <a:spcAft>
                <a:spcPts val="500"/>
              </a:spcAft>
              <a:buSzPct val="100000"/>
              <a:buChar char="•"/>
            </a:pPr>
            <a:r>
              <a:rPr lang="en-US" sz="1400" dirty="0">
                <a:solidFill>
                  <a:schemeClr val="tx1"/>
                </a:solidFill>
              </a:rPr>
              <a:t>Foto-Upload der Verordnung</a:t>
            </a:r>
            <a:endParaRPr lang="en-US" sz="1400" dirty="0"/>
          </a:p>
          <a:p>
            <a:pPr marL="177800" indent="-177800">
              <a:spcAft>
                <a:spcPts val="500"/>
              </a:spcAft>
              <a:buSzPct val="100000"/>
              <a:buChar char="•"/>
            </a:pPr>
            <a:r>
              <a:rPr lang="en-US" sz="1400" dirty="0">
                <a:solidFill>
                  <a:schemeClr val="tx1"/>
                </a:solidFill>
              </a:rPr>
              <a:t>Monatlicher Qualitätsbericht</a:t>
            </a:r>
            <a:endParaRPr lang="en-US" sz="1400" dirty="0"/>
          </a:p>
        </p:txBody>
      </p:sp>
      <p:sp>
        <p:nvSpPr>
          <p:cNvPr id="34" name="Text 31"/>
          <p:cNvSpPr txBox="1"/>
          <p:nvPr/>
        </p:nvSpPr>
        <p:spPr>
          <a:xfrm>
            <a:off x="9198864" y="4069080"/>
            <a:ext cx="2194560" cy="274320"/>
          </a:xfrm>
          <a:prstGeom prst="rect">
            <a:avLst/>
          </a:prstGeom>
          <a:noFill/>
          <a:ln/>
        </p:spPr>
        <p:txBody>
          <a:bodyPr wrap="square" lIns="0" tIns="0" rIns="0" bIns="0" rtlCol="0" anchor="t"/>
          <a:lstStyle/>
          <a:p>
            <a:pPr indent="0" marL="0">
              <a:buNone/>
            </a:pPr>
            <a:r>
              <a:rPr lang="en-US" sz="1100" dirty="0">
                <a:solidFill>
                  <a:schemeClr val="accent5"/>
                </a:solidFill>
              </a:rPr>
              <a:t>Weiter, wenn:</a:t>
            </a:r>
            <a:endParaRPr lang="en-US" sz="1100" dirty="0"/>
          </a:p>
        </p:txBody>
      </p:sp>
      <p:sp>
        <p:nvSpPr>
          <p:cNvPr id="35" name="Text 32"/>
          <p:cNvSpPr txBox="1"/>
          <p:nvPr/>
        </p:nvSpPr>
        <p:spPr>
          <a:xfrm>
            <a:off x="9198864" y="4315968"/>
            <a:ext cx="2194560" cy="594360"/>
          </a:xfrm>
          <a:prstGeom prst="rect">
            <a:avLst/>
          </a:prstGeom>
          <a:noFill/>
          <a:ln/>
        </p:spPr>
        <p:txBody>
          <a:bodyPr wrap="square" lIns="0" tIns="0" rIns="0" bIns="0" rtlCol="0" anchor="t"/>
          <a:lstStyle/>
          <a:p>
            <a:pPr indent="0" marL="0">
              <a:buNone/>
            </a:pPr>
            <a:r>
              <a:rPr lang="en-US" sz="1300" b="1" dirty="0">
                <a:solidFill>
                  <a:schemeClr val="accent1"/>
                </a:solidFill>
              </a:rPr>
              <a:t>Prüfzeit −75 %</a:t>
            </a:r>
            <a:endParaRPr lang="en-US" sz="1300" dirty="0"/>
          </a:p>
        </p:txBody>
      </p:sp>
      <p:sp>
        <p:nvSpPr>
          <p:cNvPr id="36" name="Rahmen"/>
          <p:cNvSpPr/>
          <p:nvPr/>
        </p:nvSpPr>
        <p:spPr>
          <a:xfrm>
            <a:off x="548640" y="5166360"/>
            <a:ext cx="11091672" cy="731520"/>
          </a:xfrm>
          <a:prstGeom prst="roundRect">
            <a:avLst>
              <a:gd name="adj" fmla="val 10000"/>
            </a:avLst>
          </a:prstGeom>
          <a:solidFill>
            <a:schemeClr val="bg2"/>
          </a:solidFill>
          <a:ln/>
        </p:spPr>
      </p:sp>
      <p:sp>
        <p:nvSpPr>
          <p:cNvPr id="37" name="Symbolkreis"/>
          <p:cNvSpPr/>
          <p:nvPr/>
        </p:nvSpPr>
        <p:spPr>
          <a:xfrm>
            <a:off x="731520" y="5257800"/>
            <a:ext cx="548640" cy="548640"/>
          </a:xfrm>
          <a:prstGeom prst="ellipse">
            <a:avLst/>
          </a:prstGeom>
          <a:solidFill>
            <a:schemeClr val="accent3"/>
          </a:solidFill>
          <a:ln/>
        </p:spPr>
      </p:sp>
      <p:pic>
        <p:nvPicPr>
          <p:cNvPr id="38" name="Symbol" descr="preencoded.png">    </p:cNvPr>
          <p:cNvPicPr>
            <a:picLocks noChangeAspect="1"/>
          </p:cNvPicPr>
          <p:nvPr/>
        </p:nvPicPr>
        <p:blipFill>
          <a:blip r:embed="rId2"/>
          <a:stretch>
            <a:fillRect/>
          </a:stretch>
        </p:blipFill>
        <p:spPr>
          <a:xfrm>
            <a:off x="868680" y="5394960"/>
            <a:ext cx="274320" cy="274320"/>
          </a:xfrm>
          <a:prstGeom prst="rect">
            <a:avLst/>
          </a:prstGeom>
        </p:spPr>
      </p:pic>
      <p:sp>
        <p:nvSpPr>
          <p:cNvPr id="39" name="Text 35"/>
          <p:cNvSpPr txBox="1"/>
          <p:nvPr/>
        </p:nvSpPr>
        <p:spPr>
          <a:xfrm>
            <a:off x="1463040" y="5257800"/>
            <a:ext cx="9966960" cy="548640"/>
          </a:xfrm>
          <a:prstGeom prst="rect">
            <a:avLst/>
          </a:prstGeom>
          <a:noFill/>
          <a:ln/>
        </p:spPr>
        <p:txBody>
          <a:bodyPr wrap="square" lIns="0" tIns="0" rIns="0" bIns="0" rtlCol="0" anchor="ctr"/>
          <a:lstStyle/>
          <a:p>
            <a:pPr indent="0" marL="0">
              <a:buNone/>
            </a:pPr>
            <a:r>
              <a:rPr lang="en-US" sz="1400" dirty="0">
                <a:solidFill>
                  <a:schemeClr val="tx2"/>
                </a:solidFill>
              </a:rPr>
              <a:t>Verantwortlich in der Praxis: Inhaberin · Parallelbetrieb von der Praxis zugesagt (Field Study) · Rückfallebene: Prüfung wie heute, ohne System</a:t>
            </a:r>
            <a:endParaRPr lang="en-US" sz="1400" dirty="0"/>
          </a:p>
        </p:txBody>
      </p:sp>
      <p:sp>
        <p:nvSpPr>
          <p:cNvPr id="40" name="Text 36"/>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000" i="1" dirty="0">
                <a:solidFill>
                  <a:schemeClr val="accent5"/>
                </a:solidFill>
              </a:rPr>
              <a:t>Phasen entsprechen dem Einsparziel 50 % / 75 % · Dauer der Phasen noch mit der Praxis abzustimmen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tx2"/>
                </a:solidFill>
                <a:latin typeface="Cambria" pitchFamily="34" charset="0"/>
                <a:ea typeface="Cambria" pitchFamily="34" charset="-122"/>
                <a:cs typeface="Cambria" pitchFamily="34" charset="-120"/>
              </a:rPr>
              <a:t>Reflexion: Was wir gelernt haben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tx2"/>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bg1"/>
                </a:solidFill>
              </a:rPr>
              <a:t>Thomas</a:t>
            </a:r>
            <a:endParaRPr lang="en-US" sz="1500" dirty="0"/>
          </a:p>
        </p:txBody>
      </p:sp>
      <p:sp>
        <p:nvSpPr>
          <p:cNvPr id="6" name="Status-Etikett"/>
          <p:cNvSpPr/>
          <p:nvPr/>
        </p:nvSpPr>
        <p:spPr>
          <a:xfrm>
            <a:off x="10515600" y="950976"/>
            <a:ext cx="1143000" cy="292608"/>
          </a:xfrm>
          <a:prstGeom prst="roundRect">
            <a:avLst>
              <a:gd name="adj" fmla="val 50000"/>
            </a:avLst>
          </a:prstGeom>
          <a:solidFill>
            <a:srgbClr val="E9C46A"/>
          </a:solidFill>
          <a:ln/>
        </p:spPr>
      </p:sp>
      <p:sp>
        <p:nvSpPr>
          <p:cNvPr id="7" name="Text 4"/>
          <p:cNvSpPr txBox="1"/>
          <p:nvPr/>
        </p:nvSpPr>
        <p:spPr>
          <a:xfrm>
            <a:off x="10515600" y="950976"/>
            <a:ext cx="1143000" cy="292608"/>
          </a:xfrm>
          <a:prstGeom prst="rect">
            <a:avLst/>
          </a:prstGeom>
          <a:noFill/>
          <a:ln/>
        </p:spPr>
        <p:txBody>
          <a:bodyPr wrap="square" lIns="0" tIns="0" rIns="0" bIns="0" rtlCol="0" anchor="ctr"/>
          <a:lstStyle/>
          <a:p>
            <a:pPr algn="ctr" indent="0" marL="0">
              <a:buNone/>
            </a:pPr>
            <a:r>
              <a:rPr lang="en-US" sz="1100" b="1" dirty="0">
                <a:solidFill>
                  <a:schemeClr val="tx1"/>
                </a:solidFill>
              </a:rPr>
              <a:t>ENTWURF</a:t>
            </a:r>
            <a:endParaRPr lang="en-US" sz="1100" dirty="0"/>
          </a:p>
        </p:txBody>
      </p:sp>
      <p:sp>
        <p:nvSpPr>
          <p:cNvPr id="8" name="Lernpunkt"/>
          <p:cNvSpPr/>
          <p:nvPr/>
        </p:nvSpPr>
        <p:spPr>
          <a:xfrm>
            <a:off x="548640" y="1325880"/>
            <a:ext cx="3611880" cy="2103120"/>
          </a:xfrm>
          <a:prstGeom prst="roundRect">
            <a:avLst>
              <a:gd name="adj" fmla="val 3478"/>
            </a:avLst>
          </a:prstGeom>
          <a:solidFill>
            <a:schemeClr val="bg2"/>
          </a:solidFill>
          <a:ln/>
        </p:spPr>
      </p:sp>
      <p:sp>
        <p:nvSpPr>
          <p:cNvPr id="9" name="Symbolkreis"/>
          <p:cNvSpPr/>
          <p:nvPr/>
        </p:nvSpPr>
        <p:spPr>
          <a:xfrm>
            <a:off x="777240" y="1554480"/>
            <a:ext cx="548640" cy="548640"/>
          </a:xfrm>
          <a:prstGeom prst="ellipse">
            <a:avLst/>
          </a:prstGeom>
          <a:solidFill>
            <a:schemeClr val="accent1"/>
          </a:solidFill>
          <a:ln/>
        </p:spPr>
      </p:sp>
      <p:pic>
        <p:nvPicPr>
          <p:cNvPr id="10" name="Symbol" descr="preencoded.png">    </p:cNvPr>
          <p:cNvPicPr>
            <a:picLocks noChangeAspect="1"/>
          </p:cNvPicPr>
          <p:nvPr/>
        </p:nvPicPr>
        <p:blipFill>
          <a:blip r:embed="rId2"/>
          <a:stretch>
            <a:fillRect/>
          </a:stretch>
        </p:blipFill>
        <p:spPr>
          <a:xfrm>
            <a:off x="914400" y="1691640"/>
            <a:ext cx="274320" cy="274320"/>
          </a:xfrm>
          <a:prstGeom prst="rect">
            <a:avLst/>
          </a:prstGeom>
        </p:spPr>
      </p:pic>
      <p:sp>
        <p:nvSpPr>
          <p:cNvPr id="11" name="Text 7"/>
          <p:cNvSpPr txBox="1"/>
          <p:nvPr/>
        </p:nvSpPr>
        <p:spPr>
          <a:xfrm>
            <a:off x="1463040" y="1508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Fehler finden war leicht, Fehlalarme senken war die Arbeit</a:t>
            </a:r>
            <a:endParaRPr lang="en-US" sz="1500" dirty="0"/>
          </a:p>
        </p:txBody>
      </p:sp>
      <p:sp>
        <p:nvSpPr>
          <p:cNvPr id="12" name="Text 8"/>
          <p:cNvSpPr txBox="1"/>
          <p:nvPr/>
        </p:nvSpPr>
        <p:spPr>
          <a:xfrm>
            <a:off x="777240" y="2423160"/>
            <a:ext cx="3200400" cy="914400"/>
          </a:xfrm>
          <a:prstGeom prst="rect">
            <a:avLst/>
          </a:prstGeom>
          <a:noFill/>
          <a:ln/>
        </p:spPr>
        <p:txBody>
          <a:bodyPr wrap="square" lIns="0" tIns="0" rIns="0" bIns="0" rtlCol="0" anchor="t"/>
          <a:lstStyle/>
          <a:p>
            <a:pPr indent="0" marL="0">
              <a:buNone/>
            </a:pPr>
            <a:r>
              <a:rPr lang="en-US" sz="1300" dirty="0">
                <a:solidFill>
                  <a:schemeClr val="tx1"/>
                </a:solidFill>
              </a:rPr>
              <a:t>Baseline: alle 8 Fehler erkannt, aber 12 kritische Fehlalarme</a:t>
            </a:r>
            <a:endParaRPr lang="en-US" sz="1300" dirty="0"/>
          </a:p>
        </p:txBody>
      </p:sp>
      <p:sp>
        <p:nvSpPr>
          <p:cNvPr id="13" name="Lernpunkt"/>
          <p:cNvSpPr/>
          <p:nvPr/>
        </p:nvSpPr>
        <p:spPr>
          <a:xfrm>
            <a:off x="4343400" y="1325880"/>
            <a:ext cx="3611880" cy="2103120"/>
          </a:xfrm>
          <a:prstGeom prst="roundRect">
            <a:avLst>
              <a:gd name="adj" fmla="val 3478"/>
            </a:avLst>
          </a:prstGeom>
          <a:solidFill>
            <a:schemeClr val="bg2"/>
          </a:solidFill>
          <a:ln/>
        </p:spPr>
      </p:sp>
      <p:sp>
        <p:nvSpPr>
          <p:cNvPr id="14" name="Symbolkreis"/>
          <p:cNvSpPr/>
          <p:nvPr/>
        </p:nvSpPr>
        <p:spPr>
          <a:xfrm>
            <a:off x="4572000" y="1554480"/>
            <a:ext cx="548640" cy="548640"/>
          </a:xfrm>
          <a:prstGeom prst="ellipse">
            <a:avLst/>
          </a:prstGeom>
          <a:solidFill>
            <a:schemeClr val="accent1"/>
          </a:solidFill>
          <a:ln/>
        </p:spPr>
      </p:sp>
      <p:pic>
        <p:nvPicPr>
          <p:cNvPr id="15" name="Symbol" descr="preencoded.png">    </p:cNvPr>
          <p:cNvPicPr>
            <a:picLocks noChangeAspect="1"/>
          </p:cNvPicPr>
          <p:nvPr/>
        </p:nvPicPr>
        <p:blipFill>
          <a:blip r:embed="rId3"/>
          <a:stretch>
            <a:fillRect/>
          </a:stretch>
        </p:blipFill>
        <p:spPr>
          <a:xfrm>
            <a:off x="4709160" y="1691640"/>
            <a:ext cx="274320" cy="274320"/>
          </a:xfrm>
          <a:prstGeom prst="rect">
            <a:avLst/>
          </a:prstGeom>
        </p:spPr>
      </p:pic>
      <p:sp>
        <p:nvSpPr>
          <p:cNvPr id="16" name="Text 11"/>
          <p:cNvSpPr txBox="1"/>
          <p:nvPr/>
        </p:nvSpPr>
        <p:spPr>
          <a:xfrm>
            <a:off x="5257800" y="1508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Regeln gehören in den Code</a:t>
            </a:r>
            <a:endParaRPr lang="en-US" sz="1500" dirty="0"/>
          </a:p>
        </p:txBody>
      </p:sp>
      <p:sp>
        <p:nvSpPr>
          <p:cNvPr id="17" name="Text 12"/>
          <p:cNvSpPr txBox="1"/>
          <p:nvPr/>
        </p:nvSpPr>
        <p:spPr>
          <a:xfrm>
            <a:off x="4572000" y="2423160"/>
            <a:ext cx="3200400" cy="914400"/>
          </a:xfrm>
          <a:prstGeom prst="rect">
            <a:avLst/>
          </a:prstGeom>
          <a:noFill/>
          <a:ln/>
        </p:spPr>
        <p:txBody>
          <a:bodyPr wrap="square" lIns="0" tIns="0" rIns="0" bIns="0" rtlCol="0" anchor="t"/>
          <a:lstStyle/>
          <a:p>
            <a:pPr indent="0" marL="0">
              <a:buNone/>
            </a:pPr>
            <a:r>
              <a:rPr lang="en-US" sz="1300" dirty="0">
                <a:solidFill>
                  <a:schemeClr val="tx1"/>
                </a:solidFill>
              </a:rPr>
              <a:t>Das Sprachmodell nur dort, wo Sprachverständnis nötig ist</a:t>
            </a:r>
            <a:endParaRPr lang="en-US" sz="1300" dirty="0"/>
          </a:p>
        </p:txBody>
      </p:sp>
      <p:sp>
        <p:nvSpPr>
          <p:cNvPr id="18" name="Lernpunkt"/>
          <p:cNvSpPr/>
          <p:nvPr/>
        </p:nvSpPr>
        <p:spPr>
          <a:xfrm>
            <a:off x="548640" y="3611880"/>
            <a:ext cx="3611880" cy="2103120"/>
          </a:xfrm>
          <a:prstGeom prst="roundRect">
            <a:avLst>
              <a:gd name="adj" fmla="val 3478"/>
            </a:avLst>
          </a:prstGeom>
          <a:solidFill>
            <a:schemeClr val="bg2"/>
          </a:solidFill>
          <a:ln/>
        </p:spPr>
      </p:sp>
      <p:sp>
        <p:nvSpPr>
          <p:cNvPr id="19" name="Symbolkreis"/>
          <p:cNvSpPr/>
          <p:nvPr/>
        </p:nvSpPr>
        <p:spPr>
          <a:xfrm>
            <a:off x="777240" y="3840480"/>
            <a:ext cx="548640" cy="548640"/>
          </a:xfrm>
          <a:prstGeom prst="ellipse">
            <a:avLst/>
          </a:prstGeom>
          <a:solidFill>
            <a:schemeClr val="accent1"/>
          </a:solidFill>
          <a:ln/>
        </p:spPr>
      </p:sp>
      <p:pic>
        <p:nvPicPr>
          <p:cNvPr id="20" name="Symbol" descr="preencoded.png">    </p:cNvPr>
          <p:cNvPicPr>
            <a:picLocks noChangeAspect="1"/>
          </p:cNvPicPr>
          <p:nvPr/>
        </p:nvPicPr>
        <p:blipFill>
          <a:blip r:embed="rId4"/>
          <a:stretch>
            <a:fillRect/>
          </a:stretch>
        </p:blipFill>
        <p:spPr>
          <a:xfrm>
            <a:off x="914400" y="3977640"/>
            <a:ext cx="274320" cy="274320"/>
          </a:xfrm>
          <a:prstGeom prst="rect">
            <a:avLst/>
          </a:prstGeom>
        </p:spPr>
      </p:pic>
      <p:sp>
        <p:nvSpPr>
          <p:cNvPr id="21" name="Text 15"/>
          <p:cNvSpPr txBox="1"/>
          <p:nvPr/>
        </p:nvSpPr>
        <p:spPr>
          <a:xfrm>
            <a:off x="1463040" y="3794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Die Field Study hat den Schwerpunkt verschoben</a:t>
            </a:r>
            <a:endParaRPr lang="en-US" sz="1500" dirty="0"/>
          </a:p>
        </p:txBody>
      </p:sp>
      <p:sp>
        <p:nvSpPr>
          <p:cNvPr id="22" name="Text 16"/>
          <p:cNvSpPr txBox="1"/>
          <p:nvPr/>
        </p:nvSpPr>
        <p:spPr>
          <a:xfrm>
            <a:off x="777240" y="4709160"/>
            <a:ext cx="3200400" cy="914400"/>
          </a:xfrm>
          <a:prstGeom prst="rect">
            <a:avLst/>
          </a:prstGeom>
          <a:noFill/>
          <a:ln/>
        </p:spPr>
        <p:txBody>
          <a:bodyPr wrap="square" lIns="0" tIns="0" rIns="0" bIns="0" rtlCol="0" anchor="t"/>
          <a:lstStyle/>
          <a:p>
            <a:pPr indent="0" marL="0">
              <a:buNone/>
            </a:pPr>
            <a:r>
              <a:rPr lang="en-US" sz="1300" dirty="0">
                <a:solidFill>
                  <a:schemeClr val="tx1"/>
                </a:solidFill>
              </a:rPr>
              <a:t>90 % der Fehler bei Folgeverordnungen → Verordnungsfall-Prüfung zuerst</a:t>
            </a:r>
            <a:endParaRPr lang="en-US" sz="1300" dirty="0"/>
          </a:p>
        </p:txBody>
      </p:sp>
      <p:sp>
        <p:nvSpPr>
          <p:cNvPr id="23" name="Lernpunkt"/>
          <p:cNvSpPr/>
          <p:nvPr/>
        </p:nvSpPr>
        <p:spPr>
          <a:xfrm>
            <a:off x="4343400" y="3611880"/>
            <a:ext cx="3611880" cy="2103120"/>
          </a:xfrm>
          <a:prstGeom prst="roundRect">
            <a:avLst>
              <a:gd name="adj" fmla="val 3478"/>
            </a:avLst>
          </a:prstGeom>
          <a:solidFill>
            <a:schemeClr val="bg2"/>
          </a:solidFill>
          <a:ln/>
        </p:spPr>
      </p:sp>
      <p:sp>
        <p:nvSpPr>
          <p:cNvPr id="24" name="Symbolkreis"/>
          <p:cNvSpPr/>
          <p:nvPr/>
        </p:nvSpPr>
        <p:spPr>
          <a:xfrm>
            <a:off x="4572000" y="3840480"/>
            <a:ext cx="548640" cy="548640"/>
          </a:xfrm>
          <a:prstGeom prst="ellipse">
            <a:avLst/>
          </a:prstGeom>
          <a:solidFill>
            <a:schemeClr val="accent1"/>
          </a:solidFill>
          <a:ln/>
        </p:spPr>
      </p:sp>
      <p:pic>
        <p:nvPicPr>
          <p:cNvPr id="25" name="Symbol" descr="preencoded.png">    </p:cNvPr>
          <p:cNvPicPr>
            <a:picLocks noChangeAspect="1"/>
          </p:cNvPicPr>
          <p:nvPr/>
        </p:nvPicPr>
        <p:blipFill>
          <a:blip r:embed="rId5"/>
          <a:stretch>
            <a:fillRect/>
          </a:stretch>
        </p:blipFill>
        <p:spPr>
          <a:xfrm>
            <a:off x="4709160" y="3977640"/>
            <a:ext cx="274320" cy="274320"/>
          </a:xfrm>
          <a:prstGeom prst="rect">
            <a:avLst/>
          </a:prstGeom>
        </p:spPr>
      </p:pic>
      <p:sp>
        <p:nvSpPr>
          <p:cNvPr id="26" name="Text 19"/>
          <p:cNvSpPr txBox="1"/>
          <p:nvPr/>
        </p:nvSpPr>
        <p:spPr>
          <a:xfrm>
            <a:off x="5257800" y="3794760"/>
            <a:ext cx="2514600" cy="868680"/>
          </a:xfrm>
          <a:prstGeom prst="rect">
            <a:avLst/>
          </a:prstGeom>
          <a:noFill/>
          <a:ln/>
        </p:spPr>
        <p:txBody>
          <a:bodyPr wrap="square" lIns="0" tIns="0" rIns="0" bIns="0" rtlCol="0" anchor="ctr"/>
          <a:lstStyle/>
          <a:p>
            <a:pPr indent="0" marL="0">
              <a:buNone/>
            </a:pPr>
            <a:r>
              <a:rPr lang="en-US" sz="1500" b="1" dirty="0">
                <a:solidFill>
                  <a:schemeClr val="tx2"/>
                </a:solidFill>
              </a:rPr>
              <a:t>Zusammenführen braucht Kompatibilität</a:t>
            </a:r>
            <a:endParaRPr lang="en-US" sz="1500" dirty="0"/>
          </a:p>
        </p:txBody>
      </p:sp>
      <p:sp>
        <p:nvSpPr>
          <p:cNvPr id="27" name="Text 20"/>
          <p:cNvSpPr txBox="1"/>
          <p:nvPr/>
        </p:nvSpPr>
        <p:spPr>
          <a:xfrm>
            <a:off x="4572000" y="4709160"/>
            <a:ext cx="3200400" cy="914400"/>
          </a:xfrm>
          <a:prstGeom prst="rect">
            <a:avLst/>
          </a:prstGeom>
          <a:noFill/>
          <a:ln/>
        </p:spPr>
        <p:txBody>
          <a:bodyPr wrap="square" lIns="0" tIns="0" rIns="0" bIns="0" rtlCol="0" anchor="t"/>
          <a:lstStyle/>
          <a:p>
            <a:pPr indent="0" marL="0">
              <a:buNone/>
            </a:pPr>
            <a:r>
              <a:rPr lang="en-US" sz="1300" dirty="0">
                <a:solidFill>
                  <a:schemeClr val="tx1"/>
                </a:solidFill>
              </a:rPr>
              <a:t>Embedding-Modell und Wissensbasis gehören zusammen; Fallback-Version behalten</a:t>
            </a:r>
            <a:endParaRPr lang="en-US" sz="1300" dirty="0"/>
          </a:p>
        </p:txBody>
      </p:sp>
      <p:sp>
        <p:nvSpPr>
          <p:cNvPr id="28" name="Künftiges Vorgehen"/>
          <p:cNvSpPr/>
          <p:nvPr/>
        </p:nvSpPr>
        <p:spPr>
          <a:xfrm>
            <a:off x="8138160" y="1325880"/>
            <a:ext cx="3502152" cy="4389120"/>
          </a:xfrm>
          <a:prstGeom prst="roundRect">
            <a:avLst>
              <a:gd name="adj" fmla="val 2089"/>
            </a:avLst>
          </a:prstGeom>
          <a:solidFill>
            <a:schemeClr val="tx2"/>
          </a:solidFill>
          <a:ln/>
        </p:spPr>
      </p:sp>
      <p:sp>
        <p:nvSpPr>
          <p:cNvPr id="29" name="Symbolkreis"/>
          <p:cNvSpPr/>
          <p:nvPr/>
        </p:nvSpPr>
        <p:spPr>
          <a:xfrm>
            <a:off x="8366760" y="1508760"/>
            <a:ext cx="548640" cy="548640"/>
          </a:xfrm>
          <a:prstGeom prst="ellipse">
            <a:avLst/>
          </a:prstGeom>
          <a:solidFill>
            <a:schemeClr val="accent2"/>
          </a:solidFill>
          <a:ln/>
        </p:spPr>
      </p:sp>
      <p:pic>
        <p:nvPicPr>
          <p:cNvPr id="30" name="Symbol" descr="preencoded.png">    </p:cNvPr>
          <p:cNvPicPr>
            <a:picLocks noChangeAspect="1"/>
          </p:cNvPicPr>
          <p:nvPr/>
        </p:nvPicPr>
        <p:blipFill>
          <a:blip r:embed="rId6"/>
          <a:stretch>
            <a:fillRect/>
          </a:stretch>
        </p:blipFill>
        <p:spPr>
          <a:xfrm>
            <a:off x="8503920" y="1645920"/>
            <a:ext cx="274320" cy="274320"/>
          </a:xfrm>
          <a:prstGeom prst="rect">
            <a:avLst/>
          </a:prstGeom>
        </p:spPr>
      </p:pic>
      <p:sp>
        <p:nvSpPr>
          <p:cNvPr id="31" name="Text 23"/>
          <p:cNvSpPr txBox="1"/>
          <p:nvPr/>
        </p:nvSpPr>
        <p:spPr>
          <a:xfrm>
            <a:off x="9052560" y="1508760"/>
            <a:ext cx="2468880" cy="548640"/>
          </a:xfrm>
          <a:prstGeom prst="rect">
            <a:avLst/>
          </a:prstGeom>
          <a:noFill/>
          <a:ln/>
        </p:spPr>
        <p:txBody>
          <a:bodyPr wrap="square" lIns="0" tIns="0" rIns="0" bIns="0" rtlCol="0" anchor="ctr"/>
          <a:lstStyle/>
          <a:p>
            <a:pPr indent="0" marL="0">
              <a:buNone/>
            </a:pPr>
            <a:r>
              <a:rPr lang="en-US" sz="1600" b="1" dirty="0">
                <a:solidFill>
                  <a:schemeClr val="bg1"/>
                </a:solidFill>
                <a:latin typeface="Cambria" pitchFamily="34" charset="0"/>
                <a:ea typeface="Cambria" pitchFamily="34" charset="-122"/>
                <a:cs typeface="Cambria" pitchFamily="34" charset="-120"/>
              </a:rPr>
              <a:t>Für künftige Projekte</a:t>
            </a:r>
            <a:endParaRPr lang="en-US" sz="1600" dirty="0"/>
          </a:p>
        </p:txBody>
      </p:sp>
      <p:sp>
        <p:nvSpPr>
          <p:cNvPr id="32" name="Text 24"/>
          <p:cNvSpPr txBox="1"/>
          <p:nvPr/>
        </p:nvSpPr>
        <p:spPr>
          <a:xfrm>
            <a:off x="8366760" y="2240280"/>
            <a:ext cx="3063240" cy="338328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Erst Field Study, dann bauen</a:t>
            </a:r>
            <a:endParaRPr lang="en-US" sz="1400" dirty="0"/>
          </a:p>
          <a:p>
            <a:pPr marL="177800" indent="-177800">
              <a:spcAft>
                <a:spcPts val="500"/>
              </a:spcAft>
              <a:buSzPct val="100000"/>
              <a:buChar char="•"/>
            </a:pPr>
            <a:r>
              <a:rPr lang="en-US" sz="1400" dirty="0">
                <a:solidFill>
                  <a:schemeClr val="bg1"/>
                </a:solidFill>
              </a:rPr>
              <a:t>Früh messen, Testfälle vor dem Tuning trennen</a:t>
            </a:r>
            <a:endParaRPr lang="en-US" sz="1400" dirty="0"/>
          </a:p>
          <a:p>
            <a:pPr marL="177800" indent="-177800">
              <a:spcAft>
                <a:spcPts val="500"/>
              </a:spcAft>
              <a:buSzPct val="100000"/>
              <a:buChar char="•"/>
            </a:pPr>
            <a:r>
              <a:rPr lang="en-US" sz="1400" dirty="0">
                <a:solidFill>
                  <a:schemeClr val="bg1"/>
                </a:solidFill>
              </a:rPr>
              <a:t>Tool-Auswahl regelmäßig überprüfen: E-Verordnung über die TI (Anschlusspflicht ab 1.10.2027) macht Texterkennung zur Übergangslösung</a:t>
            </a:r>
            <a:endParaRPr lang="en-US" sz="1400" dirty="0"/>
          </a:p>
        </p:txBody>
      </p:sp>
      <p:sp>
        <p:nvSpPr>
          <p:cNvPr id="33" name="Text 25"/>
          <p:cNvSpPr txBox="1"/>
          <p:nvPr/>
        </p:nvSpPr>
        <p:spPr>
          <a:xfrm>
            <a:off x="548640" y="6053328"/>
            <a:ext cx="11064240" cy="274320"/>
          </a:xfrm>
          <a:prstGeom prst="rect">
            <a:avLst/>
          </a:prstGeom>
          <a:noFill/>
          <a:ln/>
        </p:spPr>
        <p:txBody>
          <a:bodyPr wrap="square" lIns="0" tIns="0" rIns="0" bIns="0" rtlCol="0" anchor="t"/>
          <a:lstStyle/>
          <a:p>
            <a:pPr indent="0" marL="0">
              <a:buNone/>
            </a:pPr>
            <a:r>
              <a:rPr lang="en-US" sz="1000" i="1" dirty="0">
                <a:solidFill>
                  <a:schemeClr val="accent5"/>
                </a:solidFill>
              </a:rPr>
              <a:t>Umfang von Kapitel 6 (Reflexion, roter Faden, Fazit) noch mit dem Tutor zu klären</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9326880" cy="68580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Fazit: Fehler vor der Behandlung finden</a:t>
            </a:r>
            <a:endParaRPr lang="en-US" sz="2800" dirty="0"/>
          </a:p>
        </p:txBody>
      </p:sp>
      <p:sp>
        <p:nvSpPr>
          <p:cNvPr id="3" name="Rolleninhaber"/>
          <p:cNvSpPr/>
          <p:nvPr/>
        </p:nvSpPr>
        <p:spPr>
          <a:xfrm>
            <a:off x="10195560" y="457200"/>
            <a:ext cx="1463040" cy="438912"/>
          </a:xfrm>
          <a:prstGeom prst="roundRect">
            <a:avLst>
              <a:gd name="adj" fmla="val 50000"/>
            </a:avLst>
          </a:prstGeom>
          <a:solidFill>
            <a:schemeClr val="bg1"/>
          </a:solidFill>
          <a:ln/>
        </p:spPr>
      </p:sp>
      <p:pic>
        <p:nvPicPr>
          <p:cNvPr id="4" name="Personen-Symbol" descr="preencoded.png">    </p:cNvPr>
          <p:cNvPicPr>
            <a:picLocks noChangeAspect="1"/>
          </p:cNvPicPr>
          <p:nvPr/>
        </p:nvPicPr>
        <p:blipFill>
          <a:blip r:embed="rId1"/>
          <a:stretch>
            <a:fillRect/>
          </a:stretch>
        </p:blipFill>
        <p:spPr>
          <a:xfrm>
            <a:off x="10332720" y="548640"/>
            <a:ext cx="256032" cy="256032"/>
          </a:xfrm>
          <a:prstGeom prst="rect">
            <a:avLst/>
          </a:prstGeom>
        </p:spPr>
      </p:pic>
      <p:sp>
        <p:nvSpPr>
          <p:cNvPr id="5" name="Name Rolleninhaber"/>
          <p:cNvSpPr txBox="1"/>
          <p:nvPr/>
        </p:nvSpPr>
        <p:spPr>
          <a:xfrm>
            <a:off x="10625328" y="457200"/>
            <a:ext cx="960120" cy="438912"/>
          </a:xfrm>
          <a:prstGeom prst="rect">
            <a:avLst/>
          </a:prstGeom>
          <a:noFill/>
          <a:ln/>
        </p:spPr>
        <p:txBody>
          <a:bodyPr wrap="square" lIns="0" tIns="0" rIns="0" bIns="0" rtlCol="0" anchor="ctr"/>
          <a:lstStyle/>
          <a:p>
            <a:pPr indent="0" marL="0">
              <a:buNone/>
            </a:pPr>
            <a:r>
              <a:rPr lang="en-US" sz="1500" b="1" dirty="0">
                <a:solidFill>
                  <a:schemeClr val="tx2"/>
                </a:solidFill>
              </a:rPr>
              <a:t>Thomas</a:t>
            </a:r>
            <a:endParaRPr lang="en-US" sz="1500" dirty="0"/>
          </a:p>
        </p:txBody>
      </p:sp>
      <p:sp>
        <p:nvSpPr>
          <p:cNvPr id="6" name="Kennzahl Fazit"/>
          <p:cNvSpPr/>
          <p:nvPr/>
        </p:nvSpPr>
        <p:spPr>
          <a:xfrm>
            <a:off x="548640" y="1371600"/>
            <a:ext cx="3566160" cy="2514600"/>
          </a:xfrm>
          <a:prstGeom prst="roundRect">
            <a:avLst>
              <a:gd name="adj" fmla="val 2909"/>
            </a:avLst>
          </a:prstGeom>
          <a:solidFill>
            <a:schemeClr val="accent6"/>
          </a:solidFill>
          <a:ln/>
        </p:spPr>
      </p:sp>
      <p:sp>
        <p:nvSpPr>
          <p:cNvPr id="7" name="Text 4"/>
          <p:cNvSpPr txBox="1"/>
          <p:nvPr/>
        </p:nvSpPr>
        <p:spPr>
          <a:xfrm>
            <a:off x="822960" y="1508760"/>
            <a:ext cx="3017520" cy="91440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 98 %</a:t>
            </a:r>
            <a:endParaRPr lang="en-US" sz="4400" dirty="0"/>
          </a:p>
        </p:txBody>
      </p:sp>
      <p:sp>
        <p:nvSpPr>
          <p:cNvPr id="8" name="Text 5"/>
          <p:cNvSpPr txBox="1"/>
          <p:nvPr/>
        </p:nvSpPr>
        <p:spPr>
          <a:xfrm>
            <a:off x="822960" y="2423160"/>
            <a:ext cx="3017520" cy="365760"/>
          </a:xfrm>
          <a:prstGeom prst="rect">
            <a:avLst/>
          </a:prstGeom>
          <a:noFill/>
          <a:ln/>
        </p:spPr>
        <p:txBody>
          <a:bodyPr wrap="square" lIns="0" tIns="0" rIns="0" bIns="0" rtlCol="0" anchor="t"/>
          <a:lstStyle/>
          <a:p>
            <a:pPr indent="0" marL="0">
              <a:buNone/>
            </a:pPr>
            <a:r>
              <a:rPr lang="en-US" sz="1600" b="1" dirty="0">
                <a:solidFill>
                  <a:schemeClr val="bg1"/>
                </a:solidFill>
              </a:rPr>
              <a:t>Zielquote des Systems</a:t>
            </a:r>
            <a:endParaRPr lang="en-US" sz="1600" dirty="0"/>
          </a:p>
        </p:txBody>
      </p:sp>
      <p:sp>
        <p:nvSpPr>
          <p:cNvPr id="9" name="Text 6"/>
          <p:cNvSpPr txBox="1"/>
          <p:nvPr/>
        </p:nvSpPr>
        <p:spPr>
          <a:xfrm>
            <a:off x="822960" y="2834640"/>
            <a:ext cx="3017520" cy="914400"/>
          </a:xfrm>
          <a:prstGeom prst="rect">
            <a:avLst/>
          </a:prstGeom>
          <a:noFill/>
          <a:ln/>
        </p:spPr>
        <p:txBody>
          <a:bodyPr wrap="square" lIns="0" tIns="0" rIns="0" bIns="0" rtlCol="0" anchor="t"/>
          <a:lstStyle/>
          <a:p>
            <a:pPr indent="0" marL="0">
              <a:buNone/>
            </a:pPr>
            <a:r>
              <a:rPr lang="en-US" sz="1300" dirty="0">
                <a:solidFill>
                  <a:schemeClr val="bg2"/>
                </a:solidFill>
              </a:rPr>
              <a:t>gegen höchstens ca. 85 % bei menschlicher Doppelkontrolle</a:t>
            </a:r>
            <a:endParaRPr lang="en-US" sz="1300" dirty="0"/>
          </a:p>
        </p:txBody>
      </p:sp>
      <p:sp>
        <p:nvSpPr>
          <p:cNvPr id="10" name="Kennzahl Fazit"/>
          <p:cNvSpPr/>
          <p:nvPr/>
        </p:nvSpPr>
        <p:spPr>
          <a:xfrm>
            <a:off x="4297680" y="1371600"/>
            <a:ext cx="3566160" cy="2514600"/>
          </a:xfrm>
          <a:prstGeom prst="roundRect">
            <a:avLst>
              <a:gd name="adj" fmla="val 2909"/>
            </a:avLst>
          </a:prstGeom>
          <a:solidFill>
            <a:schemeClr val="accent6"/>
          </a:solidFill>
          <a:ln/>
        </p:spPr>
      </p:sp>
      <p:sp>
        <p:nvSpPr>
          <p:cNvPr id="11" name="Text 8"/>
          <p:cNvSpPr txBox="1"/>
          <p:nvPr/>
        </p:nvSpPr>
        <p:spPr>
          <a:xfrm>
            <a:off x="4572000" y="1508760"/>
            <a:ext cx="3017520" cy="91440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vorher</a:t>
            </a:r>
            <a:endParaRPr lang="en-US" sz="4400" dirty="0"/>
          </a:p>
        </p:txBody>
      </p:sp>
      <p:sp>
        <p:nvSpPr>
          <p:cNvPr id="12" name="Text 9"/>
          <p:cNvSpPr txBox="1"/>
          <p:nvPr/>
        </p:nvSpPr>
        <p:spPr>
          <a:xfrm>
            <a:off x="4572000" y="2423160"/>
            <a:ext cx="3017520" cy="365760"/>
          </a:xfrm>
          <a:prstGeom prst="rect">
            <a:avLst/>
          </a:prstGeom>
          <a:noFill/>
          <a:ln/>
        </p:spPr>
        <p:txBody>
          <a:bodyPr wrap="square" lIns="0" tIns="0" rIns="0" bIns="0" rtlCol="0" anchor="t"/>
          <a:lstStyle/>
          <a:p>
            <a:pPr indent="0" marL="0">
              <a:buNone/>
            </a:pPr>
            <a:r>
              <a:rPr lang="en-US" sz="1600" b="1" dirty="0">
                <a:solidFill>
                  <a:schemeClr val="bg1"/>
                </a:solidFill>
              </a:rPr>
              <a:t>statt nachher</a:t>
            </a:r>
            <a:endParaRPr lang="en-US" sz="1600" dirty="0"/>
          </a:p>
        </p:txBody>
      </p:sp>
      <p:sp>
        <p:nvSpPr>
          <p:cNvPr id="13" name="Text 10"/>
          <p:cNvSpPr txBox="1"/>
          <p:nvPr/>
        </p:nvSpPr>
        <p:spPr>
          <a:xfrm>
            <a:off x="4572000" y="2834640"/>
            <a:ext cx="3017520" cy="914400"/>
          </a:xfrm>
          <a:prstGeom prst="rect">
            <a:avLst/>
          </a:prstGeom>
          <a:noFill/>
          <a:ln/>
        </p:spPr>
        <p:txBody>
          <a:bodyPr wrap="square" lIns="0" tIns="0" rIns="0" bIns="0" rtlCol="0" anchor="t"/>
          <a:lstStyle/>
          <a:p>
            <a:pPr indent="0" marL="0">
              <a:buNone/>
            </a:pPr>
            <a:r>
              <a:rPr lang="en-US" sz="1300" dirty="0">
                <a:solidFill>
                  <a:schemeClr val="bg2"/>
                </a:solidFill>
              </a:rPr>
              <a:t>Fehler fallen vor der Behandlung auf, nicht erst bei der Abrechnung</a:t>
            </a:r>
            <a:endParaRPr lang="en-US" sz="1300" dirty="0"/>
          </a:p>
        </p:txBody>
      </p:sp>
      <p:sp>
        <p:nvSpPr>
          <p:cNvPr id="14" name="Kennzahl Fazit"/>
          <p:cNvSpPr/>
          <p:nvPr/>
        </p:nvSpPr>
        <p:spPr>
          <a:xfrm>
            <a:off x="8046720" y="1371600"/>
            <a:ext cx="3566160" cy="2514600"/>
          </a:xfrm>
          <a:prstGeom prst="roundRect">
            <a:avLst>
              <a:gd name="adj" fmla="val 2909"/>
            </a:avLst>
          </a:prstGeom>
          <a:solidFill>
            <a:schemeClr val="accent6"/>
          </a:solidFill>
          <a:ln/>
        </p:spPr>
      </p:sp>
      <p:sp>
        <p:nvSpPr>
          <p:cNvPr id="15" name="Text 12"/>
          <p:cNvSpPr txBox="1"/>
          <p:nvPr/>
        </p:nvSpPr>
        <p:spPr>
          <a:xfrm>
            <a:off x="8321040" y="1508760"/>
            <a:ext cx="3017520" cy="914400"/>
          </a:xfrm>
          <a:prstGeom prst="rect">
            <a:avLst/>
          </a:prstGeom>
          <a:noFill/>
          <a:ln/>
        </p:spPr>
        <p:txBody>
          <a:bodyPr wrap="square" lIns="0" tIns="0" rIns="0" bIns="0" rtlCol="0" anchor="t"/>
          <a:lstStyle/>
          <a:p>
            <a:pPr indent="0" marL="0">
              <a:buNone/>
            </a:pPr>
            <a:r>
              <a:rPr lang="en-US" sz="4400" b="1" dirty="0">
                <a:solidFill>
                  <a:schemeClr val="accent2"/>
                </a:solidFill>
                <a:latin typeface="Cambria" pitchFamily="34" charset="0"/>
                <a:ea typeface="Cambria" pitchFamily="34" charset="-122"/>
                <a:cs typeface="Cambria" pitchFamily="34" charset="-120"/>
              </a:rPr>
              <a:t>≈ 4.300 €</a:t>
            </a:r>
            <a:endParaRPr lang="en-US" sz="4400" dirty="0"/>
          </a:p>
        </p:txBody>
      </p:sp>
      <p:sp>
        <p:nvSpPr>
          <p:cNvPr id="16" name="Text 13"/>
          <p:cNvSpPr txBox="1"/>
          <p:nvPr/>
        </p:nvSpPr>
        <p:spPr>
          <a:xfrm>
            <a:off x="8321040" y="2423160"/>
            <a:ext cx="3017520" cy="365760"/>
          </a:xfrm>
          <a:prstGeom prst="rect">
            <a:avLst/>
          </a:prstGeom>
          <a:noFill/>
          <a:ln/>
        </p:spPr>
        <p:txBody>
          <a:bodyPr wrap="square" lIns="0" tIns="0" rIns="0" bIns="0" rtlCol="0" anchor="t"/>
          <a:lstStyle/>
          <a:p>
            <a:pPr indent="0" marL="0">
              <a:buNone/>
            </a:pPr>
            <a:r>
              <a:rPr lang="en-US" sz="1600" b="1" dirty="0">
                <a:solidFill>
                  <a:schemeClr val="bg1"/>
                </a:solidFill>
              </a:rPr>
              <a:t>pro Jahr ab Jahr 2</a:t>
            </a:r>
            <a:endParaRPr lang="en-US" sz="1600" dirty="0"/>
          </a:p>
        </p:txBody>
      </p:sp>
      <p:sp>
        <p:nvSpPr>
          <p:cNvPr id="17" name="Text 14"/>
          <p:cNvSpPr txBox="1"/>
          <p:nvPr/>
        </p:nvSpPr>
        <p:spPr>
          <a:xfrm>
            <a:off x="8321040" y="2834640"/>
            <a:ext cx="3017520" cy="914400"/>
          </a:xfrm>
          <a:prstGeom prst="rect">
            <a:avLst/>
          </a:prstGeom>
          <a:noFill/>
          <a:ln/>
        </p:spPr>
        <p:txBody>
          <a:bodyPr wrap="square" lIns="0" tIns="0" rIns="0" bIns="0" rtlCol="0" anchor="t"/>
          <a:lstStyle/>
          <a:p>
            <a:pPr indent="0" marL="0">
              <a:buNone/>
            </a:pPr>
            <a:r>
              <a:rPr lang="en-US" sz="1300" dirty="0">
                <a:solidFill>
                  <a:schemeClr val="bg2"/>
                </a:solidFill>
              </a:rPr>
              <a:t>etwa ½ Minijob an Prüfzeit frei für Patienten und Telefon</a:t>
            </a:r>
            <a:endParaRPr lang="en-US" sz="1300" dirty="0"/>
          </a:p>
        </p:txBody>
      </p:sp>
      <p:sp>
        <p:nvSpPr>
          <p:cNvPr id="18" name="Empfehlung"/>
          <p:cNvSpPr/>
          <p:nvPr/>
        </p:nvSpPr>
        <p:spPr>
          <a:xfrm>
            <a:off x="548640" y="4114800"/>
            <a:ext cx="11091672" cy="1737360"/>
          </a:xfrm>
          <a:prstGeom prst="roundRect">
            <a:avLst>
              <a:gd name="adj" fmla="val 4211"/>
            </a:avLst>
          </a:prstGeom>
          <a:solidFill>
            <a:schemeClr val="bg1"/>
          </a:solidFill>
          <a:ln/>
        </p:spPr>
      </p:sp>
      <p:sp>
        <p:nvSpPr>
          <p:cNvPr id="19" name="Symbolkreis"/>
          <p:cNvSpPr/>
          <p:nvPr/>
        </p:nvSpPr>
        <p:spPr>
          <a:xfrm>
            <a:off x="822960" y="4343400"/>
            <a:ext cx="640080" cy="640080"/>
          </a:xfrm>
          <a:prstGeom prst="ellipse">
            <a:avLst/>
          </a:prstGeom>
          <a:solidFill>
            <a:schemeClr val="accent1"/>
          </a:solidFill>
          <a:ln/>
        </p:spPr>
      </p:sp>
      <p:pic>
        <p:nvPicPr>
          <p:cNvPr id="20" name="Symbol" descr="preencoded.png">    </p:cNvPr>
          <p:cNvPicPr>
            <a:picLocks noChangeAspect="1"/>
          </p:cNvPicPr>
          <p:nvPr/>
        </p:nvPicPr>
        <p:blipFill>
          <a:blip r:embed="rId2"/>
          <a:stretch>
            <a:fillRect/>
          </a:stretch>
        </p:blipFill>
        <p:spPr>
          <a:xfrm>
            <a:off x="982980" y="4503420"/>
            <a:ext cx="320040" cy="320040"/>
          </a:xfrm>
          <a:prstGeom prst="rect">
            <a:avLst/>
          </a:prstGeom>
        </p:spPr>
      </p:pic>
      <p:sp>
        <p:nvSpPr>
          <p:cNvPr id="21" name="Text 17"/>
          <p:cNvSpPr txBox="1"/>
          <p:nvPr/>
        </p:nvSpPr>
        <p:spPr>
          <a:xfrm>
            <a:off x="1645920" y="4315968"/>
            <a:ext cx="548640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Unsere Empfehlung</a:t>
            </a:r>
            <a:endParaRPr lang="en-US" sz="1800" dirty="0"/>
          </a:p>
        </p:txBody>
      </p:sp>
      <p:sp>
        <p:nvSpPr>
          <p:cNvPr id="22" name="Text 18"/>
          <p:cNvSpPr txBox="1"/>
          <p:nvPr/>
        </p:nvSpPr>
        <p:spPr>
          <a:xfrm>
            <a:off x="1645920" y="4754880"/>
            <a:ext cx="9692640" cy="914400"/>
          </a:xfrm>
          <a:prstGeom prst="rect">
            <a:avLst/>
          </a:prstGeom>
          <a:noFill/>
          <a:ln/>
        </p:spPr>
        <p:txBody>
          <a:bodyPr wrap="square" lIns="0" tIns="0" rIns="0" bIns="0" rtlCol="0" anchor="t"/>
          <a:lstStyle/>
          <a:p>
            <a:pPr indent="0" marL="0">
              <a:buNone/>
            </a:pPr>
            <a:r>
              <a:rPr lang="en-US" sz="1500" dirty="0">
                <a:solidFill>
                  <a:schemeClr val="tx1"/>
                </a:solidFill>
              </a:rPr>
              <a:t>Pilot im Parallelbetrieb starten: sechs Wochen mitlaufen lassen, messen, dann entscheiden. Die Rezeption behält die Entscheidung und gewinnt Zeit für die Patienten.</a:t>
            </a:r>
            <a:endParaRPr lang="en-US" sz="15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Verordnungs-Check">
  <a:themeElements>
    <a:clrScheme name="Verordnungs-Check">
      <a:dk1>
        <a:srgbClr val="1B2B30"/>
      </a:dk1>
      <a:lt1>
        <a:srgbClr val="FFFFFF"/>
      </a:lt1>
      <a:dk2>
        <a:srgbClr val="12343B"/>
      </a:dk2>
      <a:lt2>
        <a:srgbClr val="EEF4F3"/>
      </a:lt2>
      <a:accent1>
        <a:srgbClr val="2A9D8F"/>
      </a:accent1>
      <a:accent2>
        <a:srgbClr val="E9C46A"/>
      </a:accent2>
      <a:accent3>
        <a:srgbClr val="E76F51"/>
      </a:accent3>
      <a:accent4>
        <a:srgbClr val="8AB17D"/>
      </a:accent4>
      <a:accent5>
        <a:srgbClr val="5C6B73"/>
      </a:accent5>
      <a:accent6>
        <a:srgbClr val="264653"/>
      </a:accent6>
      <a:hlink>
        <a:srgbClr val="2A9D8F"/>
      </a:hlink>
      <a:folHlink>
        <a:srgbClr val="5C6B73"/>
      </a:folHlink>
    </a:clrScheme>
    <a:fontScheme name="Verordnungs-Che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Verordnungs-Check – Testdeck IHK-Präsentation</dc:title>
  <dc:subject>PptxGenJS Presentation</dc:subject>
  <dc:creator>Thomas Kullmann, Valentin Klamka, Derk Ermler</dc:creator>
  <cp:lastModifiedBy>Thomas Kullmann, Valentin Klamka, Derk Ermler</cp:lastModifiedBy>
  <cp:revision>1</cp:revision>
  <dcterms:created xsi:type="dcterms:W3CDTF">2026-10-20T13:45:54Z</dcterms:created>
  <dcterms:modified xsi:type="dcterms:W3CDTF">2026-10-20T13:45:54Z</dcterms:modified>
</cp:coreProperties>
</file>