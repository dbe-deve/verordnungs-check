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tus" id="{707a7c2b-5e30-ad81-f206-269e3962f5a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Ist/Soll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Einsatzfelder</c:v>
                </c:pt>
              </c:strCache>
            </c:strRef>
          </c:tx>
          <c:spPr>
            <a:solidFill>
              <a:srgbClr val="5C6B7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Roter Faden</c:v>
                </c:pt>
              </c:strCache>
            </c:strRef>
          </c:tx>
          <c:spPr>
            <a:solidFill>
              <a:srgbClr val="7A8C9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Tool-Vergleich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Tool-Auswahl &amp; Einsatzplanung</c:v>
                </c:pt>
              </c:strCache>
            </c:strRef>
          </c:tx>
          <c:spPr>
            <a:solidFill>
              <a:srgbClr val="5FB8AC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Erfolgsmessung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Orthografie &amp; Schreibstil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34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Der Verordnungs-Check · Statusmeldung an MSIT · 19.10.2026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Der Verordnungs-Check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KI-gestützte Prüfung von Heilmittelverordnungen · Statusmeldung an MSIT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Thomas · Valentin · Derk  |  Stand 19.10.2026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Scope: ein Prüfschritt, bevor behandelt wird</a:t>
            </a:r>
            <a:endParaRPr lang="en-US" sz="3200" dirty="0"/>
          </a:p>
        </p:txBody>
      </p:sp>
      <p:sp>
        <p:nvSpPr>
          <p:cNvPr id="3" name="Scope innen"/>
          <p:cNvSpPr/>
          <p:nvPr/>
        </p:nvSpPr>
        <p:spPr>
          <a:xfrm>
            <a:off x="548640" y="1325880"/>
            <a:ext cx="667512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ope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cope icon" descr="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das System leistet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Problem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423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Fehlerhafte Verordnungen fallen erst bei der Abrechnung auf. Die Leistung ist erbracht, die Kasse kürzt oder setzt ab.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192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Für wen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33192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Rezeption einer Physiotherapie-Praxis (anonymisiert), ca. 40 neue Kassenverordnungen pro Woche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153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42153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Prüft eine GKV-Verordnung (Muster 13) gegen Heilmittel-Richtlinie, Heilmittelkatalog und KBV-Diagnoseliste: Ampel, Korrekturhinweis, Fundstelle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11149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Ziel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511149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≥ 98 % richtige Ampeln bei ≥ 50 ungesehenen Testverordnungen, keine rote übersehen</a:t>
            </a:r>
            <a:endParaRPr lang="en-US" sz="1400" dirty="0"/>
          </a:p>
        </p:txBody>
      </p:sp>
      <p:sp>
        <p:nvSpPr>
          <p:cNvPr id="15" name="Scope außen"/>
          <p:cNvSpPr/>
          <p:nvPr/>
        </p:nvSpPr>
        <p:spPr>
          <a:xfrm>
            <a:off x="7589520" y="1325880"/>
            <a:ext cx="4023360" cy="48006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cope außen Rahmen"/>
          <p:cNvSpPr/>
          <p:nvPr/>
        </p:nvSpPr>
        <p:spPr>
          <a:xfrm>
            <a:off x="7589520" y="1325880"/>
            <a:ext cx="4023360" cy="48006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Ausdrücklich nicht</a:t>
            </a:r>
            <a:endParaRPr lang="en-US" sz="2000" dirty="0"/>
          </a:p>
        </p:txBody>
      </p:sp>
      <p:pic>
        <p:nvPicPr>
          <p:cNvPr id="18" name="Ausschluss 1" descr="Ausschlu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automatische Ablehnung – die Rezeption entscheidet</a:t>
            </a:r>
            <a:endParaRPr lang="en-US" sz="1400" dirty="0"/>
          </a:p>
        </p:txBody>
      </p:sp>
      <p:pic>
        <p:nvPicPr>
          <p:cNvPr id="20" name="Ausschluss 2" descr="Ausschlu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90779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Anbindung an die Praxissoftware</a:t>
            </a:r>
            <a:endParaRPr lang="en-US" sz="1400" dirty="0"/>
          </a:p>
        </p:txBody>
      </p:sp>
      <p:pic>
        <p:nvPicPr>
          <p:cNvPr id="22" name="Ausschluss 3" descr="Ausschlu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52958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0" y="34838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Abrechnung</a:t>
            </a:r>
            <a:endParaRPr lang="en-US" sz="1400" dirty="0"/>
          </a:p>
        </p:txBody>
      </p:sp>
      <p:pic>
        <p:nvPicPr>
          <p:cNvPr id="24" name="Ausschluss 4" descr="Ausschlu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15137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29600" y="41056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Nur Physiotherapie, nur GKV</a:t>
            </a:r>
            <a:endParaRPr lang="en-US" sz="1400" dirty="0"/>
          </a:p>
        </p:txBody>
      </p:sp>
      <p:pic>
        <p:nvPicPr>
          <p:cNvPr id="26" name="Ausschluss 5" descr="Ausschlu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77316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29600" y="4727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medizinische Beurteilung</a:t>
            </a:r>
            <a:endParaRPr lang="en-US" sz="1400" dirty="0"/>
          </a:p>
        </p:txBody>
      </p:sp>
      <p:pic>
        <p:nvPicPr>
          <p:cNvPr id="28" name="Ausschluss 6" descr="Ausschlu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5394960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2296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echten Patientendaten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Rollen im Team: seit 19.10. zu dritt</a:t>
            </a:r>
            <a:endParaRPr lang="en-US" sz="3200" dirty="0"/>
          </a:p>
        </p:txBody>
      </p:sp>
      <p:sp>
        <p:nvSpPr>
          <p:cNvPr id="3" name="Rolle Thomas"/>
          <p:cNvSpPr/>
          <p:nvPr/>
        </p:nvSpPr>
        <p:spPr>
          <a:xfrm>
            <a:off x="548640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lle Thomas circle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Rolle Thomas icon" descr="Rolle Thom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Thomas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Koordination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Ist/Soll-Analyse und Field Study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Einsatzfelder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 Case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Roter Faden der Präsentation</a:t>
            </a:r>
            <a:endParaRPr lang="en-US" sz="1600" dirty="0"/>
          </a:p>
        </p:txBody>
      </p:sp>
      <p:sp>
        <p:nvSpPr>
          <p:cNvPr id="9" name="Rolle Valentin"/>
          <p:cNvSpPr/>
          <p:nvPr/>
        </p:nvSpPr>
        <p:spPr>
          <a:xfrm>
            <a:off x="4325112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olle Valentin circle"/>
          <p:cNvSpPr/>
          <p:nvPr/>
        </p:nvSpPr>
        <p:spPr>
          <a:xfrm>
            <a:off x="4645152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Rolle Valentin icon" descr="Rolle Valent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18973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50992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Valentin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650992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Tools, Architektur &amp; Governance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90872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Tool-Vergleich und Tool-Auswahl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Architektur und Trade-offs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 AI Act, DSGVO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IHK-Deck</a:t>
            </a:r>
            <a:endParaRPr lang="en-US" sz="1600" dirty="0"/>
          </a:p>
        </p:txBody>
      </p:sp>
      <p:sp>
        <p:nvSpPr>
          <p:cNvPr id="15" name="Rolle Derk"/>
          <p:cNvSpPr/>
          <p:nvPr/>
        </p:nvSpPr>
        <p:spPr>
          <a:xfrm>
            <a:off x="8101584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olle Derk circle"/>
          <p:cNvSpPr/>
          <p:nvPr/>
        </p:nvSpPr>
        <p:spPr>
          <a:xfrm>
            <a:off x="8421624" y="16916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Rolle Derk icon" descr="Rolle De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18973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27464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Derk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427464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Build, Demo &amp; Evaluation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67344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n8n-Workflow und Supabase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Verordnungsfall-Prüfung (v5)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Evaluation mit 50 Testfällen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Einsatzplanung und Pilot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Gemeinsam: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Orthografie und Schreibstil im Vier-Augen-Prinzip. Jede Person präsentiert in der IHK-Prüfung einen eigenen Block.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IHK-Bewertung: wer welche Punkte verantwortet</a:t>
            </a:r>
            <a:endParaRPr lang="en-US" sz="3200" dirty="0"/>
          </a:p>
        </p:txBody>
      </p:sp>
      <p:graphicFrame>
        <p:nvGraphicFramePr>
          <p:cNvPr id="3" name="Punkteverteilung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ummen"/>
          <p:cNvSpPr/>
          <p:nvPr/>
        </p:nvSpPr>
        <p:spPr>
          <a:xfrm>
            <a:off x="8595360" y="1280160"/>
            <a:ext cx="3017520" cy="48463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Punkte je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Thomas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852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Valentin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28529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3602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Derk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36027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43525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Gemeinsam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435254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5166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Inhalt 60 + Form 40 = 100 Punkte. Redezeit ca. 15 min je Person.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Architektur: Regeln rechnet der Code, Sprache das Modell</a:t>
            </a:r>
            <a:endParaRPr lang="en-US" sz="3200" dirty="0"/>
          </a:p>
        </p:txBody>
      </p:sp>
      <p:sp>
        <p:nvSpPr>
          <p:cNvPr id="3" name="Schritt Chat"/>
          <p:cNvSpPr/>
          <p:nvPr/>
        </p:nvSpPr>
        <p:spPr>
          <a:xfrm>
            <a:off x="548640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hritt Chat circle"/>
          <p:cNvSpPr/>
          <p:nvPr/>
        </p:nvSpPr>
        <p:spPr>
          <a:xfrm>
            <a:off x="1211580" y="164592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Schritt Chat icon" descr="Schritt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Rezeption gibt die Verordnung ein</a:t>
            </a:r>
            <a:endParaRPr lang="en-US" sz="1200" dirty="0"/>
          </a:p>
        </p:txBody>
      </p:sp>
      <p:sp>
        <p:nvSpPr>
          <p:cNvPr id="8" name="Pfeil 1"/>
          <p:cNvSpPr/>
          <p:nvPr/>
        </p:nvSpPr>
        <p:spPr>
          <a:xfrm>
            <a:off x="2551176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chritt Erfassen"/>
          <p:cNvSpPr/>
          <p:nvPr/>
        </p:nvSpPr>
        <p:spPr>
          <a:xfrm>
            <a:off x="2825496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hritt Erfassen circle"/>
          <p:cNvSpPr/>
          <p:nvPr/>
        </p:nvSpPr>
        <p:spPr>
          <a:xfrm>
            <a:off x="3488436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Schritt Erfassen icon" descr="Schritt Erfass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62656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Erfassen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62656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überführt Text in festes Schema</a:t>
            </a:r>
            <a:endParaRPr lang="en-US" sz="1200" dirty="0"/>
          </a:p>
        </p:txBody>
      </p:sp>
      <p:sp>
        <p:nvSpPr>
          <p:cNvPr id="14" name="Pfeil 2"/>
          <p:cNvSpPr/>
          <p:nvPr/>
        </p:nvSpPr>
        <p:spPr>
          <a:xfrm>
            <a:off x="4828032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chritt Fakten"/>
          <p:cNvSpPr/>
          <p:nvPr/>
        </p:nvSpPr>
        <p:spPr>
          <a:xfrm>
            <a:off x="5102352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chritt Fakten circle"/>
          <p:cNvSpPr/>
          <p:nvPr/>
        </p:nvSpPr>
        <p:spPr>
          <a:xfrm>
            <a:off x="5765292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chritt Fakten icon" descr="Schritt Fakt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8059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39512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Fakten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239512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Code: Fristen, Formate, ICD → Diagnosegruppe</a:t>
            </a:r>
            <a:endParaRPr lang="en-US" sz="1200" dirty="0"/>
          </a:p>
        </p:txBody>
      </p:sp>
      <p:sp>
        <p:nvSpPr>
          <p:cNvPr id="20" name="Pfeil 3"/>
          <p:cNvSpPr/>
          <p:nvPr/>
        </p:nvSpPr>
        <p:spPr>
          <a:xfrm>
            <a:off x="7104888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chritt 4 Prüfer"/>
          <p:cNvSpPr/>
          <p:nvPr/>
        </p:nvSpPr>
        <p:spPr>
          <a:xfrm>
            <a:off x="7379208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chritt 4 Prüfer circle"/>
          <p:cNvSpPr/>
          <p:nvPr/>
        </p:nvSpPr>
        <p:spPr>
          <a:xfrm>
            <a:off x="8042148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chritt 4 Prüfer icon" descr="Schritt 4 Prüf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8059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16368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Prüfer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516368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Formal · Diagnose · Mengen · Fristen</a:t>
            </a:r>
            <a:endParaRPr lang="en-US" sz="1200" dirty="0"/>
          </a:p>
        </p:txBody>
      </p:sp>
      <p:sp>
        <p:nvSpPr>
          <p:cNvPr id="26" name="Pfeil 4"/>
          <p:cNvSpPr/>
          <p:nvPr/>
        </p:nvSpPr>
        <p:spPr>
          <a:xfrm>
            <a:off x="9381744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Schritt Ampel"/>
          <p:cNvSpPr/>
          <p:nvPr/>
        </p:nvSpPr>
        <p:spPr>
          <a:xfrm>
            <a:off x="9656064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chritt Ampel circle"/>
          <p:cNvSpPr/>
          <p:nvPr/>
        </p:nvSpPr>
        <p:spPr>
          <a:xfrm>
            <a:off x="10319004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chritt Ampel icon" descr="Schritt Amp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024" y="180594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93224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Ampel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793224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Code: rot / gelb / grün, Absetzungsrisiko</a:t>
            </a:r>
            <a:endParaRPr lang="en-US" sz="1200" dirty="0"/>
          </a:p>
        </p:txBody>
      </p:sp>
      <p:sp>
        <p:nvSpPr>
          <p:cNvPr id="32" name="Supabase"/>
          <p:cNvSpPr/>
          <p:nvPr/>
        </p:nvSpPr>
        <p:spPr>
          <a:xfrm>
            <a:off x="548640" y="4160520"/>
            <a:ext cx="67665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Supabase Rahmen"/>
          <p:cNvSpPr/>
          <p:nvPr/>
        </p:nvSpPr>
        <p:spPr>
          <a:xfrm>
            <a:off x="548640" y="4160520"/>
            <a:ext cx="67665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34" name="Supabase circle"/>
          <p:cNvSpPr/>
          <p:nvPr/>
        </p:nvSpPr>
        <p:spPr>
          <a:xfrm>
            <a:off x="777240" y="4389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Supabase icon" descr="Sup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537710"/>
            <a:ext cx="297180" cy="2971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54480" y="4434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Supabase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554480" y="48463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Wissensbasis (RAG): HeilM-RL, Heilmittelkatalog, KBV-Diagnoseliste, rund 380 Abschnitte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Protokoll jeder Prüfung und jedes Befunds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Neu in Sprint 2: Verordnungshistorie für die Verordnungsfall-Prüfung</a:t>
            </a:r>
            <a:endParaRPr lang="en-US" sz="1200" dirty="0"/>
          </a:p>
        </p:txBody>
      </p:sp>
      <p:sp>
        <p:nvSpPr>
          <p:cNvPr id="38" name="Stack"/>
          <p:cNvSpPr/>
          <p:nvPr/>
        </p:nvSpPr>
        <p:spPr>
          <a:xfrm>
            <a:off x="7589520" y="41605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8638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Stack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7863840" y="4800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n8n Cloud (Workflow, Chat)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OpenAI gpt-4.1-mini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Supabase (pgvector, EU)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GitHub: Exporte, Tests, Doku</a:t>
            </a:r>
            <a:endParaRPr lang="en-US" sz="1200" dirty="0"/>
          </a:p>
        </p:txBody>
      </p:sp>
      <p:sp>
        <p:nvSpPr>
          <p:cNvPr id="41" name="RAG Verbindung"/>
          <p:cNvSpPr/>
          <p:nvPr/>
        </p:nvSpPr>
        <p:spPr>
          <a:xfrm>
            <a:off x="8362188" y="3566160"/>
            <a:ext cx="0" cy="59436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</p:sp>
      <p:sp>
        <p:nvSpPr>
          <p:cNvPr id="42" name="Text 34"/>
          <p:cNvSpPr txBox="1"/>
          <p:nvPr/>
        </p:nvSpPr>
        <p:spPr>
          <a:xfrm>
            <a:off x="8453628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RAG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Field Study: Ist-Interview mit der Praxis (16.10.)</a:t>
            </a:r>
            <a:endParaRPr lang="en-US" sz="3200" dirty="0"/>
          </a:p>
        </p:txBody>
      </p:sp>
      <p:sp>
        <p:nvSpPr>
          <p:cNvPr id="3" name="Befund 1"/>
          <p:cNvSpPr/>
          <p:nvPr/>
        </p:nvSpPr>
        <p:spPr>
          <a:xfrm>
            <a:off x="548640" y="1325880"/>
            <a:ext cx="3200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 Fehler entstehen bei Doppel- und Folgeverordnungen</a:t>
            </a:r>
            <a:endParaRPr lang="en-US" sz="1400" dirty="0"/>
          </a:p>
        </p:txBody>
      </p:sp>
      <p:sp>
        <p:nvSpPr>
          <p:cNvPr id="6" name="Befund 2"/>
          <p:cNvSpPr/>
          <p:nvPr/>
        </p:nvSpPr>
        <p:spPr>
          <a:xfrm>
            <a:off x="3977640" y="1325880"/>
            <a:ext cx="3200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423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neue Kassenverordnungen pro Woche</a:t>
            </a:r>
            <a:endParaRPr lang="en-US" sz="1400" dirty="0"/>
          </a:p>
        </p:txBody>
      </p:sp>
      <p:sp>
        <p:nvSpPr>
          <p:cNvPr id="9" name="Befund 3"/>
          <p:cNvSpPr/>
          <p:nvPr/>
        </p:nvSpPr>
        <p:spPr>
          <a:xfrm>
            <a:off x="548640" y="3794760"/>
            <a:ext cx="3200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Prüfung je Verordnung (6 bei Annahme + 2 vor Abrechnung) = ca. 5,3 Std./Woche</a:t>
            </a:r>
            <a:endParaRPr lang="en-US" sz="1400" dirty="0"/>
          </a:p>
        </p:txBody>
      </p:sp>
      <p:sp>
        <p:nvSpPr>
          <p:cNvPr id="12" name="Befund 4"/>
          <p:cNvSpPr/>
          <p:nvPr/>
        </p:nvSpPr>
        <p:spPr>
          <a:xfrm>
            <a:off x="3977640" y="3794760"/>
            <a:ext cx="3200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32 €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4892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Vergütung je Einheit im Schnitt (bisherige Annahme 28 €)</a:t>
            </a:r>
            <a:endParaRPr lang="en-US" sz="1400" dirty="0"/>
          </a:p>
        </p:txBody>
      </p:sp>
      <p:sp>
        <p:nvSpPr>
          <p:cNvPr id="15" name="Folgerungen"/>
          <p:cNvSpPr/>
          <p:nvPr/>
        </p:nvSpPr>
        <p:spPr>
          <a:xfrm>
            <a:off x="7589520" y="1325880"/>
            <a:ext cx="4023360" cy="47091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olgerungen circle"/>
          <p:cNvSpPr/>
          <p:nvPr/>
        </p:nvSpPr>
        <p:spPr>
          <a:xfrm>
            <a:off x="786384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Folgerungen icon" descr="Folgerun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2430" y="1703070"/>
            <a:ext cx="297180" cy="2971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5953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daraus folgt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233172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Verordnungsfall-Prüfung bestätigt als Priorität (Sprint 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Doppelverordnungs-Prüfung wird als nächster Kandidat bewertet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Business Case: Hebel sind Prüfzeit und Qualität. Absetzungen nur ca. 500 € pro Jahr, den Rest fängt ein Abrechnungsdienstleister ab (3–6 % vom Umsatz)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Pilot: Parallelbetrieb zugesagt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Ziel 98 %: menschliche Doppelkontrolle ist laut Praxis höchstens ca. 85 % wirksam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 und nächste Schritte</a:t>
            </a:r>
            <a:endParaRPr lang="en-US" sz="3200" dirty="0"/>
          </a:p>
        </p:txBody>
      </p:sp>
      <p:sp>
        <p:nvSpPr>
          <p:cNvPr id="3" name="Kennzahl 1"/>
          <p:cNvSpPr/>
          <p:nvPr/>
        </p:nvSpPr>
        <p:spPr>
          <a:xfrm>
            <a:off x="548640" y="137160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Ampeln korrekt im Prototyp (v4)</a:t>
            </a:r>
            <a:endParaRPr lang="en-US" sz="1400" dirty="0"/>
          </a:p>
        </p:txBody>
      </p:sp>
      <p:sp>
        <p:nvSpPr>
          <p:cNvPr id="6" name="Kennzahl 2"/>
          <p:cNvSpPr/>
          <p:nvPr/>
        </p:nvSpPr>
        <p:spPr>
          <a:xfrm>
            <a:off x="548640" y="297180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kritische Fehlalarme (Start: 12)</a:t>
            </a:r>
            <a:endParaRPr lang="en-US" sz="1400" dirty="0"/>
          </a:p>
        </p:txBody>
      </p:sp>
      <p:sp>
        <p:nvSpPr>
          <p:cNvPr id="9" name="Kennzahl 3"/>
          <p:cNvSpPr/>
          <p:nvPr/>
        </p:nvSpPr>
        <p:spPr>
          <a:xfrm>
            <a:off x="548640" y="457200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je Prüfung, ca. 3–4 Cent</a:t>
            </a:r>
            <a:endParaRPr lang="en-US" sz="1400" dirty="0"/>
          </a:p>
        </p:txBody>
      </p:sp>
      <p:sp>
        <p:nvSpPr>
          <p:cNvPr id="12" name="Zeitachse"/>
          <p:cNvSpPr/>
          <p:nvPr/>
        </p:nvSpPr>
        <p:spPr>
          <a:xfrm>
            <a:off x="5394960" y="1554480"/>
            <a:ext cx="0" cy="4297680"/>
          </a:xfrm>
          <a:prstGeom prst="line">
            <a:avLst/>
          </a:prstGeom>
          <a:noFill/>
          <a:ln w="25400">
            <a:solidFill>
              <a:srgbClr val="C9D6D4"/>
            </a:solidFill>
            <a:prstDash val="solid"/>
          </a:ln>
        </p:spPr>
      </p:sp>
      <p:sp>
        <p:nvSpPr>
          <p:cNvPr id="13" name="Meilenstein 1"/>
          <p:cNvSpPr/>
          <p:nvPr/>
        </p:nvSpPr>
        <p:spPr>
          <a:xfrm>
            <a:off x="5212080" y="1481328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bis 16.10.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Sprint 1  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Design-Briefing im Repo: Scope, Erfolgskriterien, Architektur, Build-Plan</a:t>
            </a:r>
            <a:endParaRPr lang="en-US" sz="1200" dirty="0"/>
          </a:p>
        </p:txBody>
      </p:sp>
      <p:sp>
        <p:nvSpPr>
          <p:cNvPr id="17" name="Meilenstein 2"/>
          <p:cNvSpPr/>
          <p:nvPr/>
        </p:nvSpPr>
        <p:spPr>
          <a:xfrm>
            <a:off x="5212080" y="2395728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19.–23.10.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Sprint 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Workflow v5 mit Verordnungsfall-Prüfung, Business Case (erste Fassung)</a:t>
            </a:r>
            <a:endParaRPr lang="en-US" sz="1200" dirty="0"/>
          </a:p>
        </p:txBody>
      </p:sp>
      <p:sp>
        <p:nvSpPr>
          <p:cNvPr id="21" name="Meilenstein 3"/>
          <p:cNvSpPr/>
          <p:nvPr/>
        </p:nvSpPr>
        <p:spPr>
          <a:xfrm>
            <a:off x="5212080" y="3310128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26.–30.10.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Sprint 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Formale Evaluation: ≥ 50 neue Fälle, je 3 Läufe, Ziel ≥ 98 %. Governance, IHK-Deck-Entwurf</a:t>
            </a:r>
            <a:endParaRPr lang="en-US" sz="1200" dirty="0"/>
          </a:p>
        </p:txBody>
      </p:sp>
      <p:sp>
        <p:nvSpPr>
          <p:cNvPr id="25" name="Meilenstein 4"/>
          <p:cNvSpPr/>
          <p:nvPr/>
        </p:nvSpPr>
        <p:spPr>
          <a:xfrm>
            <a:off x="5212080" y="4224528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03.11.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MSIT-Prüfung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Empfehlung zur IHK-Zulassung</a:t>
            </a:r>
            <a:endParaRPr lang="en-US" sz="1200" dirty="0"/>
          </a:p>
        </p:txBody>
      </p:sp>
      <p:sp>
        <p:nvSpPr>
          <p:cNvPr id="29" name="Meilenstein 5"/>
          <p:cNvSpPr/>
          <p:nvPr/>
        </p:nvSpPr>
        <p:spPr>
          <a:xfrm>
            <a:off x="5212080" y="5138928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0720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05.11.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5074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IHK-Prüfung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Präsentation und Fachdiskussion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Repository: github.com/thomaskullmann-wq/verordnungs-check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IHK">
  <a:themeElements>
    <a:clrScheme name="Capstone IHK">
      <a:dk1>
        <a:srgbClr val="1B2B30"/>
      </a:dk1>
      <a:lt1>
        <a:srgbClr val="FFFFFF"/>
      </a:lt1>
      <a:dk2>
        <a:srgbClr val="12343B"/>
      </a:dk2>
      <a:lt2>
        <a:srgbClr val="EEF4F3"/>
      </a:lt2>
      <a:accent1>
        <a:srgbClr val="2A9D8F"/>
      </a:accent1>
      <a:accent2>
        <a:srgbClr val="E9C46A"/>
      </a:accent2>
      <a:accent3>
        <a:srgbClr val="E76F51"/>
      </a:accent3>
      <a:accent4>
        <a:srgbClr val="8AB17D"/>
      </a:accent4>
      <a:accent5>
        <a:srgbClr val="5C6B73"/>
      </a:accent5>
      <a:accent6>
        <a:srgbClr val="264653"/>
      </a:accent6>
      <a:hlink>
        <a:srgbClr val="2A9D8F"/>
      </a:hlink>
      <a:folHlink>
        <a:srgbClr val="264653"/>
      </a:folHlink>
    </a:clrScheme>
    <a:fontScheme name="Capstone IH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Verordnungs-Check – Statusmeldung an MSIT</dc:title>
  <dc:subject>PptxGenJS Presentation</dc:subject>
  <dc:creator>Team Thomas, Valentin, Derk</dc:creator>
  <cp:lastModifiedBy>Team Thomas, Valentin, Derk</cp:lastModifiedBy>
  <cp:revision>1</cp:revision>
  <dcterms:created xsi:type="dcterms:W3CDTF">2026-10-19T11:34:32Z</dcterms:created>
  <dcterms:modified xsi:type="dcterms:W3CDTF">2026-10-19T11:34:32Z</dcterms:modified>
</cp:coreProperties>
</file>